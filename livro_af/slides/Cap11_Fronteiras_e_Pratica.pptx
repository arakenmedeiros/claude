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f85a2ab-067c-72d6-2aaa-7f84d2c9bc34}">
          <p14:sldIdLst>
            <p14:sldId id="256"/>
            <p14:sldId id="257"/>
            <p14:sldId id="258"/>
          </p14:sldIdLst>
        </p14:section>
        <p14:section name="Conteúdo" id="{3c2228af-0e9f-a9fc-d330-64df7bcc7d0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ática e fechamento" id="{a2f43c80-871b-67ec-fac1-deb3b9aaf496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Centroides coincidem até 1e-16; ARI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|cos| entre componentes ≈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Dirichlet α = 0,3, 5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Capítulo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Carlini et al. (2021).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 et al. (2022).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Federado com adaptadores.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experimento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conforme o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Teclados móveis, hospitais, detecção de fraude.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Atualizações podem vazar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11.10.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Praticamente zero, diferença de arredondamento.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W₀ é congelado e já está em todos.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Isso evita impacto no usuário.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IV — ARQUITETURAS E FRONTEIRAS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Fronteiras e Prática: Não Supervisionado, Modelos de Fundação, Ferramentas, Aplicações e Ética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Do K-means ao LoRA: o que já funciona e o que ainda é aberto.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Executar K-means e PCA de forma federada e verificar que reproduzem o resultado centralizado.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por que modelos de fundação pedem ajuste eficiente em parâmetros e como adaptadores de baixo posto reduzem a comunicação.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frameworks de aprendizado federado e escolher um conforme o cenário.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aplicações reais em saúde, dispositivos móveis, IoT e finanças.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Relacionar o aprendizado federado à LGPD, ao GDPR e a princípios de justiça e responsabilidade.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Montar uma lista de verificação para um projeto federado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Não supervisionado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Modelos de fundação e LoRA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Ferramentas e aplicações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Regulação, ética e checklist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Nem tudo precisa de uma rede neural.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Algoritmos baseados em somas viram federados de graça.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federado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cliente atribui seus pontos ao centroide mais próximo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Envia somas e contagens por grupo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servidor recalcula os centroides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Resultado: idêntico ao centralizado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cada sala envia só o total de votos por candidato.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federado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cliente envia média, contagem e covariância local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servidor combina e calcula os autovetores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Variâncias e direções iguais às do centralizado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somar as sombras de cada cliente para reconstruir o objeto.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Wine: clientes desiguais, resultado idêntico</a:t>
            </a:r>
            <a:endParaRPr lang="en-US" sz="3200" dirty="0"/>
          </a:p>
        </p:txBody>
      </p:sp>
      <p:pic>
        <p:nvPicPr>
          <p:cNvPr id="3" name="figura f11_kmeans" descr="f11_kme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83" y="1188720"/>
            <a:ext cx="7673634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À esquerda: dono de cada ponto. À direita: o agrupamento federado.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Somas de estatísticas locais dão versão federada exata.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K-means, PCA, mínimos quadrados, Naive Bayes.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somas também vazam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Um grupo pequeno revela a média exata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Contagens por grupo expõem pessoas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Combine com agregação segura e DP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placar de uma sala com um único aluno entrega a nota dele.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fundação: o desafio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Bilhões de parâmetros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Mandar o modelo todo a cada rodada é inviável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Clientes não têm memória para treinar tudo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Modelos grandes decoram trechos do treino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mudar uma biblioteca inteira de endereço toda semana.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ajuste de baixo posto</a:t>
            </a:r>
            <a:endParaRPr lang="en-US" sz="3200" dirty="0"/>
          </a:p>
        </p:txBody>
      </p:sp>
      <p:pic>
        <p:nvPicPr>
          <p:cNvPr id="3" name="figura f11_lora" descr="f11_l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6" y="1188720"/>
            <a:ext cx="756296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Congela W; treina só as matrizes pequenas A e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e B viajam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Modelo base congelado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Atualização = produto de duas matrizes pequenas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Comunicação cai de forma drástica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posto deve casar com a tarefa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em vez de reescrever o livro, mandar um marcador de página.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adaptador</a:t>
            </a:r>
            <a:endParaRPr lang="en-US" sz="3200" dirty="0"/>
          </a:p>
        </p:txBody>
      </p:sp>
      <p:pic>
        <p:nvPicPr>
          <p:cNvPr id="3" name="figura f11_lora_res" descr="f11_lora_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074" y="1188720"/>
            <a:ext cx="479185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Posto baixo demais não aprende a tarefa nova.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3200" dirty="0"/>
          </a:p>
        </p:txBody>
      </p:sp>
      <p:graphicFrame>
        <p:nvGraphicFramePr>
          <p:cNvPr id="1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Ferramenta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Foco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Flower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Flexível, simulação e produção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TensorFlow Federated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Pesquisa e simulação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PySyft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Privacidade e computação remota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Federado vertical industrial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FedML / FLARE / OpenFL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Plataformas e saúde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3200" dirty="0"/>
          </a:p>
        </p:txBody>
      </p:sp>
      <p:pic>
        <p:nvPicPr>
          <p:cNvPr id="3" name="figura f11_aplicacoes" descr="f11_aplicaco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69" y="1188720"/>
            <a:ext cx="7952662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Saúde, celulares, IoT e finanças.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GDPR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Federado não é anonimização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Finalidade e minimização continuam valendo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Base legal e transparência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Direito de oposição e exclusão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guardar a chave em casa não dispensa a lei do condomínio.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governança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Justiça: quem fica de fora do modelo?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Incentivos: por que participar?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Responsabilidade: quem responde por erros?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Governança: regras acordadas antes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condomínio precisa de regimento, e não só de portaria.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um projeto real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325880"/>
            <a:ext cx="1389888" cy="2514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923544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num passo 1"/>
          <p:cNvSpPr txBox="1"/>
          <p:nvPr/>
        </p:nvSpPr>
        <p:spPr>
          <a:xfrm>
            <a:off x="9235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passo 1"/>
          <p:cNvSpPr txBox="1"/>
          <p:nvPr/>
        </p:nvSpPr>
        <p:spPr>
          <a:xfrm>
            <a:off x="548640" y="2011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 passo 1"/>
          <p:cNvSpPr txBox="1"/>
          <p:nvPr/>
        </p:nvSpPr>
        <p:spPr>
          <a:xfrm>
            <a:off x="566928" y="2560320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Problema e dados</a:t>
            </a:r>
            <a:endParaRPr lang="en-US" sz="1400" dirty="0"/>
          </a:p>
        </p:txBody>
      </p:sp>
      <p:sp>
        <p:nvSpPr>
          <p:cNvPr id="8" name="seta 1"/>
          <p:cNvSpPr txBox="1"/>
          <p:nvPr/>
        </p:nvSpPr>
        <p:spPr>
          <a:xfrm>
            <a:off x="1847088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passo 2"/>
          <p:cNvSpPr/>
          <p:nvPr/>
        </p:nvSpPr>
        <p:spPr>
          <a:xfrm>
            <a:off x="2167128" y="1325880"/>
            <a:ext cx="1389888" cy="2514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2633472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num passo 2"/>
          <p:cNvSpPr txBox="1"/>
          <p:nvPr/>
        </p:nvSpPr>
        <p:spPr>
          <a:xfrm>
            <a:off x="26334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itulo passo 2"/>
          <p:cNvSpPr txBox="1"/>
          <p:nvPr/>
        </p:nvSpPr>
        <p:spPr>
          <a:xfrm>
            <a:off x="2258568" y="2011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 passo 2"/>
          <p:cNvSpPr txBox="1"/>
          <p:nvPr/>
        </p:nvSpPr>
        <p:spPr>
          <a:xfrm>
            <a:off x="2276856" y="2560320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Ameaças e privacidade</a:t>
            </a:r>
            <a:endParaRPr lang="en-US" sz="1400" dirty="0"/>
          </a:p>
        </p:txBody>
      </p:sp>
      <p:sp>
        <p:nvSpPr>
          <p:cNvPr id="14" name="seta 2"/>
          <p:cNvSpPr txBox="1"/>
          <p:nvPr/>
        </p:nvSpPr>
        <p:spPr>
          <a:xfrm>
            <a:off x="3557016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passo 3"/>
          <p:cNvSpPr/>
          <p:nvPr/>
        </p:nvSpPr>
        <p:spPr>
          <a:xfrm>
            <a:off x="3877056" y="1325880"/>
            <a:ext cx="1389888" cy="2514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icone-fundo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num passo 3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itulo passo 3"/>
          <p:cNvSpPr txBox="1"/>
          <p:nvPr/>
        </p:nvSpPr>
        <p:spPr>
          <a:xfrm>
            <a:off x="3968496" y="2011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o passo 3"/>
          <p:cNvSpPr txBox="1"/>
          <p:nvPr/>
        </p:nvSpPr>
        <p:spPr>
          <a:xfrm>
            <a:off x="3986784" y="2560320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Algoritmo e comunicação</a:t>
            </a:r>
            <a:endParaRPr lang="en-US" sz="1400" dirty="0"/>
          </a:p>
        </p:txBody>
      </p:sp>
      <p:sp>
        <p:nvSpPr>
          <p:cNvPr id="20" name="seta 3"/>
          <p:cNvSpPr txBox="1"/>
          <p:nvPr/>
        </p:nvSpPr>
        <p:spPr>
          <a:xfrm>
            <a:off x="5266944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21" name="passo 4"/>
          <p:cNvSpPr/>
          <p:nvPr/>
        </p:nvSpPr>
        <p:spPr>
          <a:xfrm>
            <a:off x="5586984" y="1325880"/>
            <a:ext cx="1389888" cy="2514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icone-fundo"/>
          <p:cNvSpPr/>
          <p:nvPr/>
        </p:nvSpPr>
        <p:spPr>
          <a:xfrm>
            <a:off x="6053328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num passo 4"/>
          <p:cNvSpPr txBox="1"/>
          <p:nvPr/>
        </p:nvSpPr>
        <p:spPr>
          <a:xfrm>
            <a:off x="605332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itulo passo 4"/>
          <p:cNvSpPr txBox="1"/>
          <p:nvPr/>
        </p:nvSpPr>
        <p:spPr>
          <a:xfrm>
            <a:off x="5678424" y="2011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 passo 4"/>
          <p:cNvSpPr txBox="1"/>
          <p:nvPr/>
        </p:nvSpPr>
        <p:spPr>
          <a:xfrm>
            <a:off x="5696712" y="2560320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Avaliação por cliente</a:t>
            </a:r>
            <a:endParaRPr lang="en-US" sz="1400" dirty="0"/>
          </a:p>
        </p:txBody>
      </p:sp>
      <p:sp>
        <p:nvSpPr>
          <p:cNvPr id="26" name="seta 4"/>
          <p:cNvSpPr txBox="1"/>
          <p:nvPr/>
        </p:nvSpPr>
        <p:spPr>
          <a:xfrm>
            <a:off x="6976872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➜</a:t>
            </a:r>
            <a:endParaRPr lang="en-US" sz="1800" dirty="0"/>
          </a:p>
        </p:txBody>
      </p:sp>
      <p:sp>
        <p:nvSpPr>
          <p:cNvPr id="27" name="passo 5"/>
          <p:cNvSpPr/>
          <p:nvPr/>
        </p:nvSpPr>
        <p:spPr>
          <a:xfrm>
            <a:off x="7296912" y="1325880"/>
            <a:ext cx="1389888" cy="25146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icone-fundo"/>
          <p:cNvSpPr/>
          <p:nvPr/>
        </p:nvSpPr>
        <p:spPr>
          <a:xfrm>
            <a:off x="7763256" y="1463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num passo 5"/>
          <p:cNvSpPr txBox="1"/>
          <p:nvPr/>
        </p:nvSpPr>
        <p:spPr>
          <a:xfrm>
            <a:off x="77632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itulo passo 5"/>
          <p:cNvSpPr txBox="1"/>
          <p:nvPr/>
        </p:nvSpPr>
        <p:spPr>
          <a:xfrm>
            <a:off x="7388352" y="201168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o passo 5"/>
          <p:cNvSpPr txBox="1"/>
          <p:nvPr/>
        </p:nvSpPr>
        <p:spPr>
          <a:xfrm>
            <a:off x="7406640" y="2560320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Governança e legal</a:t>
            </a:r>
            <a:endParaRPr lang="en-US" sz="1400" dirty="0"/>
          </a:p>
        </p:txBody>
      </p:sp>
      <p:sp>
        <p:nvSpPr>
          <p:cNvPr id="32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35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checklist do piloto antes da decolagem.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Federar é projeto de sistema, e não só um algoritmo.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Técnica, lei e ética andam juntas.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experimento com o conjunto Wine, a diferença máxima entre os centroides federados e centralizados foi da ordem de: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10⁻¹⁶.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10⁻¹.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Quais parâmetros trafegam entre cliente e servidor em um LoRA federado?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A e B.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W₀ inteiro.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dados.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rótulos.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sistema de produção descrito por Bonawitz et al. (2019), os dispositivos participavam quando: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carregando, em rede sem franquia de dados e ociosos.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sempre, a qualquer momento.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desligados.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uso intenso.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Escolhendo k no K-means federado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PCA federado nos dígitos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Regressão linear federada exata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posto o adaptador precisa?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Perfil de clientes sem juntar os cadastros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Algoritmos baseados em somas de estatísticas (K-means, PCA) têm versões federadas exatas.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754342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Modelos de fundação pedem ajuste eficiente (adaptadores, LoRA): só A e B trafegam.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274243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capacidade do adaptador (posto) deve casar com a tarefa.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2794145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Frameworks: Flower, TFF, PySyft, FATE, FedML, FLARE, OpenFL. Escolha conforme o cenário.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314047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Aplicações: saúde, celulares, IoT e finanças.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3833949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Federado não é anonimização: respeite LGPD, GDPR, finalidade e minimização.</a:t>
            </a:r>
            <a:endParaRPr lang="en-US" sz="1400" dirty="0"/>
          </a:p>
        </p:txBody>
      </p:sp>
      <p:sp>
        <p:nvSpPr>
          <p:cNvPr id="11" name="resumo 7"/>
          <p:cNvSpPr txBox="1"/>
          <p:nvPr/>
        </p:nvSpPr>
        <p:spPr>
          <a:xfrm>
            <a:off x="457200" y="435385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Justiça, incentivos e governança são parte do projeto, e não um detalhe.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futuro é de quem une técnica, lei e confiança.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projeto integrador final — a Federa Saúde.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11 — Fronteiras e Prática: Não Supervisionado, Modelos de Fundação, Ferramentas, Aplicações e Ética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2026-10-27T00:03:31Z</dcterms:created>
  <dcterms:modified xsi:type="dcterms:W3CDTF">2026-10-27T00:03:31Z</dcterms:modified>
</cp:coreProperties>
</file>