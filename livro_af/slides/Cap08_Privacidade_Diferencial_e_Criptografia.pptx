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cdc4473-6542-3c54-6d7a-fd926fd0dd15}">
          <p14:sldIdLst>
            <p14:sldId id="256"/>
            <p14:sldId id="257"/>
            <p14:sldId id="258"/>
          </p14:sldIdLst>
        </p14:section>
        <p14:section name="Conteúdo" id="{892cfedf-5246-e015-a022-e9b9c65e75a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rática e fechamento" id="{63b23aac-8de3-a9b9-3700-1372518857ce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com a analogia da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 protege o resultado; agregação segura e criptografia protegem o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Experimento: taxa real 0,30; observada 0,41; estimada 0,317.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 mede o vazamento do mecanismo.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Dwork et al. (2006); Dwork e Roth (2014).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que a DP exige: distribuições de saída quase sobrepostas.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uma aplicação e ε &lt; 1: σ = Δ · √(2 ln(1,25/δ)) /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distribuída aproxima a utilidade da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← W + (Σ corte_S(Δk) + N(0, (zS)²)) /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Mironov (2017). Bibliotecas como Opacus fazem contas mais justas.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clientes, z = 3: acurácia 0,87. 100 clientes: 0,93.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ε &lt; 1 seria preciso muito mais ruído e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Bonawitz et al. (2017). Cliente de menor índice soma, o de maior subtrai.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Agregação segura não protege o resultado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com Paillier de brinquedo: 120 + 345 + 77 = 542.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Melhor prática: DP distribuída + agregação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ε = ln da razão das probabilidades = ln(0,75/0,25) = ln 3.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Esconde se o cliente participou do treino.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Mais clientes diluem o ruído na média.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III — PRIVACIDADE E SEGURANÇA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Protegendo os Dados: Privacidade Diferencial, Agregação Segura e Criptografia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Várias camadas de defesa, e nenhuma protege tudo sozinha.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a ideia da privacidade diferencial e interpretar os parâmetros ε e δ.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Aplicar corte (clipping) e ruído gaussiano a atualizações federadas e medir a troca entre privacidade e acurácia.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Calcular um limite de ε com contabilidade de Rényi.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e simular a agregação segura por máscaras que se cancelam.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a criptografia homomórfica aditiva e a computação multipartidária.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Combinar defesas e reconhecer o que cada uma protege e o que não protege.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Pesquisa da moeda e DP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DP-FedAvg e ε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Agregação segura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Homomórfica e SMPC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Proteger dados é como proteger uma casa: várias camadas.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Portão, fechadura, alarme, câmera.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de defesa</a:t>
            </a:r>
            <a:endParaRPr lang="en-US" sz="3200" dirty="0"/>
          </a:p>
        </p:txBody>
      </p:sp>
      <p:pic>
        <p:nvPicPr>
          <p:cNvPr id="3" name="figura f8_camadas" descr="f8_cam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702" y="1188720"/>
            <a:ext cx="661459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Cada camada protege um trecho diferente do caminho.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da moeda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Cara: responde a verdade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Coroa: joga outra moeda e responde ao acaso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pessoa tem negação plausível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Mesmo assim se estima a fração real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estimado = 2 · observado − 0,5.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ε da pesquisa da moeda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0,75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P(sim | fez)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0,25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P(sim | não fez)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ln 3 ≈ 1,1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ε = logaritmo da razão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quanto mais as respostas se parecem, mais o indivíduo se esconde.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diferencial em uma frase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saída quase não muda se uma pessoa entra ou sai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ε menor = mais privacidade (0,1 a 1: forte; &gt; 10: fraca)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δ: probabilidade pequena de falha da garantia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Vale para qualquer adversário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ninguém consegue dizer se você estava na festa pelo som que ouve.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esconde a pessoa</a:t>
            </a:r>
            <a:endParaRPr lang="en-US" sz="3200" dirty="0"/>
          </a:p>
        </p:txBody>
      </p:sp>
      <p:pic>
        <p:nvPicPr>
          <p:cNvPr id="3" name="figura f8_dp" descr="f8_d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488"/>
            <a:ext cx="8229600" cy="2723983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Pouco ruído: distinguível. Muito ruído: quase igual.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e o mecanismo gaussiano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Sensibilidade Δ: máximo que a saída muda com uma pessoa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Ruído gaussiano com σ = z · Δ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z: multiplicador de ruído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Mais z: mais privacidade, menos utilidade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volume do ruído precisa cobrir o barulho de uma pessoa.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central e distribuída</a:t>
            </a:r>
            <a:endParaRPr lang="en-US" sz="3200" dirty="0"/>
          </a:p>
        </p:txBody>
      </p:sp>
      <p:graphicFrame>
        <p:nvGraphicFramePr>
          <p:cNvPr id="1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Quem põe ruído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Confiança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Cada cliente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Nenhuma no servidor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Central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 servidor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Servidor confiável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Distribuída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Clientes + agregação segura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Servidor só vê a soma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DP-FedAvg: corte e ruído</a:t>
            </a:r>
            <a:endParaRPr lang="en-US" sz="3200" dirty="0"/>
          </a:p>
        </p:txBody>
      </p:sp>
      <p:pic>
        <p:nvPicPr>
          <p:cNvPr id="3" name="figura f8_dpfedavg" descr="f8_dpfeda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912" y="1188720"/>
            <a:ext cx="722217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Cada cliente corta a atualização à norma S; o servidor soma e adiciona ruído.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Contabilidade: os ε se acumulam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rodada gasta um pouco do orçamento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Contabilidade de Rényi: ε(α) = Tα/(2z²) + ln(1/δ)/(α−1)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 = 3, 30 rodadas: ε ≈ 10,4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Cálculo conservador (sem amplificação por sorteio)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cada compra no cartão diminui o limite.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× utilidade</a:t>
            </a:r>
            <a:endParaRPr lang="en-US" sz="3200" dirty="0"/>
          </a:p>
        </p:txBody>
      </p:sp>
      <p:pic>
        <p:nvPicPr>
          <p:cNvPr id="3" name="figura f8_tradeoff" descr="f8_trade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170" y="1188720"/>
            <a:ext cx="4779660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Com mais clientes, o mesmo ruído pesa menos na média.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forte exige muitos clientes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0,87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clientes, z = 3 (ε ≈ 10)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0,93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 clientes, z = 3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ε ≈ 10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ainda é garantia fraca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mesmo grito se perde em um estádio cheio.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segura: máscaras que se cancelam</a:t>
            </a:r>
            <a:endParaRPr lang="en-US" sz="3200" dirty="0"/>
          </a:p>
        </p:txBody>
      </p:sp>
      <p:pic>
        <p:nvPicPr>
          <p:cNvPr id="3" name="figura f8_secagg" descr="f8_secag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572" y="1188720"/>
            <a:ext cx="6294857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Cada mensagem parece ruído; na soma, as máscaras somem.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protocolo real resolve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Acordo de chaves (Diffie-Hellman)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Clientes que somem (compartilhamento de segredos)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Servidor malicioso (dupla máscara)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Custo cresce com o quadrado de clientes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se um convidado some, é preciso refazer as contas do bolo.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homomórfica e SMPC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Somar valores cifrados sem decifrá-los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Paillier: parcialmente homomórfica (soma)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SMPC: calcular juntos sem revelar as entradas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TEE: área protegida do processador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trabalhar com luvas dentro de um cofre trancado.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protege o quê</a:t>
            </a:r>
            <a:endParaRPr lang="en-US" sz="3200" dirty="0"/>
          </a:p>
        </p:txBody>
      </p:sp>
      <p:graphicFrame>
        <p:nvGraphicFramePr>
          <p:cNvPr id="2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Defesa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Protege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Custo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Resultado e atualizações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Perda de acurácia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Agregação segura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Atualizações individuais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Comunicação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Homomórfica / SMPC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Atualizações / entradas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Computação alta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Operador da máquina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Confiar no fabricante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DP protege o produto. Agregação segura protege o caminho.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Use as duas.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 resposta aleatorizada com duas moedas, P(sim | fez) = 0,75 e P(sim | não fez) = 0,25. Qual o valor de ε?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ln 3 ≈ 1,1.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DP no nível do cliente protege: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participação inteira de um cliente, com todos os seus dados.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um exemplo.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servidor.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rótulos.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 100 clientes e z = 3, a acurácia foi cerca de: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0,93.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0,50.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0,10.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0,70.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Resposta aleatorizada: privacidade contra precisão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 ruído preciso para ε = 2?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Escolhendo a norma de corte 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Agregação segura e clientes que desistem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Orçamento de privacidade da clínica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DP: a saída quase não muda se uma pessoa entra ou sai. ε menor = mais privacidade.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754342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DP-FedAvg: corte da atualização à norma S + ruído gaussiano z·S.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274243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Contabilidade de Rényi: ε cresce com o número de rodadas e diminui com z.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2794145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Privacidade forte exige muitos clientes; há um preço em acurácia.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314047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Agregação segura: máscaras de pares que se cancelam na soma.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3833949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Homomórfica: somar cifrados = cifrar a soma. SMPC: compartilhamento de segredos.</a:t>
            </a:r>
            <a:endParaRPr lang="en-US" sz="1400" dirty="0"/>
          </a:p>
        </p:txBody>
      </p:sp>
      <p:sp>
        <p:nvSpPr>
          <p:cNvPr id="11" name="resumo 7"/>
          <p:cNvSpPr txBox="1"/>
          <p:nvPr/>
        </p:nvSpPr>
        <p:spPr>
          <a:xfrm>
            <a:off x="457200" y="435385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Defesas se combinam: nenhuma protege tudo.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Nenhuma camada protege tudo. Combine.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quando alguém trapaceia — robustez e envenenamento.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8 — Protegendo os Dados: Privacidade Diferencial, Agregação Segura e Criptografia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2026-10-27T00:03:30Z</dcterms:created>
  <dcterms:modified xsi:type="dcterms:W3CDTF">2026-10-27T00:03:30Z</dcterms:modified>
</cp:coreProperties>
</file>