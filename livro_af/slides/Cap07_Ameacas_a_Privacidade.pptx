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494761f-d51f-9ae2-0d08-4dcdc1e0e233}">
          <p14:sldIdLst>
            <p14:sldId id="256"/>
            <p14:sldId id="257"/>
            <p14:sldId id="258"/>
          </p14:sldIdLst>
        </p14:section>
        <p14:section name="Conteúdo" id="{f11353e9-0d0e-51a9-f7be-f275df798fe2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Prática e fechamento" id="{4847d6bf-356a-8825-201a-ef7033bd924c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ajuste 'tirar toda a pimenta' revela algo da receita.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Aviso ético: ataques só em dados públicos, em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Adversários: servidor curioso ou malicioso, cliente malicioso, observador de rede, usuário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Zhu et al. (2019) fizeram em redes profundas; na softmax a conta é exata.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Correlação: 1,00; 0,97; 0,85; 0,82 conforme o lote cresce de 1 a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linear, um passo, gradiente puro. Em redes profundas é mais difícil, mas não impossível.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Referências: Yeom et al. (2018), Shokri et al. (2017).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Sobreajuste e privacidade andam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3: mais rodadas elevam a AUC e a acurácia de teste estaciona.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Referências: Melis et al. (2019), Carlini et al. (2021), Fowl et al. (2022).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Mitigações reduzem risco sem prova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fixação.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Pode desviar-se do protocolo para extrair mais informação.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Pergunta se o exemplo z fez parte dos dados de treino.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Fowl et al. (2022) inseriram camadas para capturar dados dos clientes.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DE68A"/>
                </a:solidFill>
              </a:rPr>
              <a:t>PARTE III — PRIVACIDADE E SEGURANÇA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 Que Pode Vazar: Ameaças à Privacidade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Os ajustes não são os dados, mas carregam pistas.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Descrever o que um adversário consegue observar em um sistema federado e quem pode atacar.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Classificar as principais famílias de ataques: reconstrução, inferência de pertencimento, inferência de propriedades, memorização e ataques ativos.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 por que o gradiente de um único exemplo pode revelar a entrada.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Executar uma inversão de gradientes e uma inferência de pertencimento em modelos simples.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Relacionar o risco de vazamento ao sobreajuste, ao tamanho dos dados e ao tamanho do lote.</a:t>
            </a:r>
            <a:endParaRPr lang="en-US" sz="1400" dirty="0"/>
          </a:p>
        </p:txBody>
      </p:sp>
      <p:sp>
        <p:nvSpPr>
          <p:cNvPr id="18" name="icone-fundo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14" y="4203314"/>
            <a:ext cx="225308" cy="225308"/>
          </a:xfrm>
          <a:prstGeom prst="rect">
            <a:avLst/>
          </a:prstGeom>
        </p:spPr>
      </p:pic>
      <p:sp>
        <p:nvSpPr>
          <p:cNvPr id="20" name="objetivo 6"/>
          <p:cNvSpPr txBox="1"/>
          <p:nvPr/>
        </p:nvSpPr>
        <p:spPr>
          <a:xfrm>
            <a:off x="1051560" y="40782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Distinguir mitigação de garantia de privacidade.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Quem ataca e o que enxerga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Inversão de gradientes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Inferência de pertencimento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Mitigar não é garantir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Atualizações não são os dados. Mas carregam pistas sobre eles.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Quem recebe 'tirar toda a pimenta' deduz que a receita tinha muita pimenta.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compras do mercado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Leite sem lactose, fraldas e ração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Dá para adivinhar muito sobre a casa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Sem nunca ter entrado nela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Atualizações são a lista de compras dos dados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ver só o carrinho já conta muito sobre quem compra.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ataca e o que vê</a:t>
            </a:r>
            <a:endParaRPr lang="en-US" sz="3200" dirty="0"/>
          </a:p>
        </p:txBody>
      </p:sp>
      <p:pic>
        <p:nvPicPr>
          <p:cNvPr id="3" name="figura f7_ameacas" descr="f7_ameac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619" y="1188720"/>
            <a:ext cx="6342763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O servidor honesto-mas-curioso vê cada atualização individual.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famílias de ataque</a:t>
            </a:r>
            <a:endParaRPr lang="en-US" sz="3200" dirty="0"/>
          </a:p>
        </p:txBody>
      </p:sp>
      <p:graphicFrame>
        <p:nvGraphicFramePr>
          <p:cNvPr id="8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Ataque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Pergunta do adversário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Reconstrução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Quais eram os dados?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Pertencimento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Este exemplo estava no treino?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Propriedades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 conjunto tem esta característica?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Memorização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Que trechos o modelo decorou?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Ativos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Posso manipular o modelo para vazar mais?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gradiente entrega a entrada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Para um exemplo: ∇W = x ⊗ (p − y)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Gradiente do viés: (p − y)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Divida uma coluna pelo viés correspondente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Resultado: x recuperado exatamente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a impressão digital do dado está no ajuste.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Reconstruindo dígitos pelo gradiente</a:t>
            </a:r>
            <a:endParaRPr lang="en-US" sz="3200" dirty="0"/>
          </a:p>
        </p:txBody>
      </p:sp>
      <p:pic>
        <p:nvPicPr>
          <p:cNvPr id="3" name="figura f7_inversao" descr="f7_invers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6506" y="1188720"/>
            <a:ext cx="5550988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Lote 1: perfeito. Lotes maiores: mistura parecida com algum exemplo.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caso para o atacante</a:t>
            </a:r>
            <a:endParaRPr lang="en-US" sz="3200" dirty="0"/>
          </a:p>
        </p:txBody>
      </p:sp>
      <p:sp>
        <p:nvSpPr>
          <p:cNvPr id="3" name="cartao numero 1"/>
          <p:cNvSpPr/>
          <p:nvPr/>
        </p:nvSpPr>
        <p:spPr>
          <a:xfrm>
            <a:off x="45720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numero 1"/>
          <p:cNvSpPr txBox="1"/>
          <p:nvPr/>
        </p:nvSpPr>
        <p:spPr>
          <a:xfrm>
            <a:off x="45720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1,00</a:t>
            </a:r>
            <a:endParaRPr lang="en-US" sz="4800" dirty="0"/>
          </a:p>
        </p:txBody>
      </p:sp>
      <p:sp>
        <p:nvSpPr>
          <p:cNvPr id="5" name="rotulo 1"/>
          <p:cNvSpPr txBox="1"/>
          <p:nvPr/>
        </p:nvSpPr>
        <p:spPr>
          <a:xfrm>
            <a:off x="59436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correlação com lote de 1 exemplo</a:t>
            </a:r>
            <a:endParaRPr lang="en-US" sz="1400" dirty="0"/>
          </a:p>
        </p:txBody>
      </p:sp>
      <p:sp>
        <p:nvSpPr>
          <p:cNvPr id="6" name="cartao numero 2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7" name="numero 2"/>
          <p:cNvSpPr txBox="1"/>
          <p:nvPr/>
        </p:nvSpPr>
        <p:spPr>
          <a:xfrm>
            <a:off x="32918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0,82</a:t>
            </a:r>
            <a:endParaRPr lang="en-US" sz="4800" dirty="0"/>
          </a:p>
        </p:txBody>
      </p:sp>
      <p:sp>
        <p:nvSpPr>
          <p:cNvPr id="8" name="rotulo 2"/>
          <p:cNvSpPr txBox="1"/>
          <p:nvPr/>
        </p:nvSpPr>
        <p:spPr>
          <a:xfrm>
            <a:off x="342900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ainda com lote de 32 exemplos</a:t>
            </a:r>
            <a:endParaRPr lang="en-US" sz="1400" dirty="0"/>
          </a:p>
        </p:txBody>
      </p:sp>
      <p:sp>
        <p:nvSpPr>
          <p:cNvPr id="9" name="cartao numero 3"/>
          <p:cNvSpPr/>
          <p:nvPr/>
        </p:nvSpPr>
        <p:spPr>
          <a:xfrm>
            <a:off x="612648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0" name="numero 3"/>
          <p:cNvSpPr txBox="1"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4444"/>
                </a:solidFill>
              </a:rPr>
              <a:t>≈ 1e-16</a:t>
            </a:r>
            <a:endParaRPr lang="en-US" sz="4800" dirty="0"/>
          </a:p>
        </p:txBody>
      </p:sp>
      <p:sp>
        <p:nvSpPr>
          <p:cNvPr id="11" name="rotulo 3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erro máximo da reconstrução exata</a:t>
            </a:r>
            <a:endParaRPr lang="en-US" sz="1400" dirty="0"/>
          </a:p>
        </p:txBody>
      </p:sp>
      <p:sp>
        <p:nvSpPr>
          <p:cNvPr id="12" name="cartao analogia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icone-fundo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169664"/>
            <a:ext cx="256032" cy="256032"/>
          </a:xfrm>
          <a:prstGeom prst="rect">
            <a:avLst/>
          </a:prstGeom>
        </p:spPr>
      </p:pic>
      <p:sp>
        <p:nvSpPr>
          <p:cNvPr id="15" name="analogia"/>
          <p:cNvSpPr txBox="1"/>
          <p:nvPr/>
        </p:nvSpPr>
        <p:spPr>
          <a:xfrm>
            <a:off x="1188720" y="3968496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mesmo uma salada de fotos deixa pistas de cada foto.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de pertencimento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Pergunta: este exemplo foi usado no treino?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Saber isso pode revelar que alguém é paciente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Ataque simples: perda baixa ⇒ 'membro'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Mede-se pela AUC: 0,5 é chute, 1,0 é perfeito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quem decorou a prova de treino responde rápido às perguntas do treino.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dados, mais vazamento</a:t>
            </a:r>
            <a:endParaRPr lang="en-US" sz="3200" dirty="0"/>
          </a:p>
        </p:txBody>
      </p:sp>
      <p:pic>
        <p:nvPicPr>
          <p:cNvPr id="3" name="figura f7_membership" descr="f7_members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9" y="1188720"/>
            <a:ext cx="8093943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AUC cai de 0,64 para 0,53 quando há mais dados de treino.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risco de pertencimento sobe</a:t>
            </a:r>
            <a:endParaRPr lang="en-US" sz="3200" dirty="0"/>
          </a:p>
        </p:txBody>
      </p:sp>
      <p:graphicFrame>
        <p:nvGraphicFramePr>
          <p:cNvPr id="14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Aumenta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Diminui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Poucos dados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Mais dados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Muitas épocas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Parada antecipada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Modelo grande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Regularização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Sobreajuste forte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Modelo mais simples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decorar demais é entregar a resposta.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riscos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Propriedades: inferir o que não tem relação com a tarefa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Memorização: modelos de linguagem repetem trechos do treino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Ataques ativos: servidor manda modelo-armadilha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Servidor malicioso: 'não basta confiar'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ajuda e o que garante</a:t>
            </a:r>
            <a:endParaRPr lang="en-US" sz="3200" dirty="0"/>
          </a:p>
        </p:txBody>
      </p:sp>
      <p:graphicFrame>
        <p:nvGraphicFramePr>
          <p:cNvPr id="1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Prática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Efeito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Lotes maiores, mais passos locais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Dificultam a reconstrução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Regularização, parada antecipada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Menos memorização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Compressão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Menos informação enviada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Agregação segura, DP, homomórfica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Defesas do Capítulo 8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mitigar é trancar a porta; garantir é provar que a chave não existe.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Mitigar reduz o risco. Garantir exige privacidade diferencial.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Defesas se combinam.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Um servidor malicioso difere do honesto-mas-curioso porque: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pode quebrar o protocolo, por exemplo, enviando modelos manipulados.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não tem acesso às atualizações.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 sempre um cliente.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atua depois do treino.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Qual o objetivo da inferência de pertencimento?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Descobrir se um exemplo específico foi usado no treino.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Reconstruir todas as imagens.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Medir a acurácia.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Escolher hiperparâmetros.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Em um ataque ativo, um servidor malicioso pode: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enviar modelos construídos para facilitar o vazamento.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apenas observar.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apagar clientes.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corrigir rótulos.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exercicio 1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exercicio 1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Reconstruindo cinco dígitos, um por vez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7" name="exercicio 2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exercicio 2"/>
          <p:cNvSpPr txBox="1"/>
          <p:nvPr/>
        </p:nvSpPr>
        <p:spPr>
          <a:xfrm>
            <a:off x="640080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Atualização com vários passos locais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9" name="exercicio 3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exercicio 3"/>
          <p:cNvSpPr txBox="1"/>
          <p:nvPr/>
        </p:nvSpPr>
        <p:spPr>
          <a:xfrm>
            <a:off x="640080" y="24140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Quanto tempo de treino é demais?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1" name="exercicio 4"/>
          <p:cNvSpPr/>
          <p:nvPr/>
        </p:nvSpPr>
        <p:spPr>
          <a:xfrm>
            <a:off x="457200" y="298094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 exercicio 4"/>
          <p:cNvSpPr txBox="1"/>
          <p:nvPr/>
        </p:nvSpPr>
        <p:spPr>
          <a:xfrm>
            <a:off x="640080" y="298094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Exercício 4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Escolhendo o limiar do atacante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3" name="projeto"/>
          <p:cNvSpPr/>
          <p:nvPr/>
        </p:nvSpPr>
        <p:spPr>
          <a:xfrm>
            <a:off x="457200" y="359359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itulo projeto"/>
          <p:cNvSpPr txBox="1"/>
          <p:nvPr/>
        </p:nvSpPr>
        <p:spPr>
          <a:xfrm>
            <a:off x="685800" y="35935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Auditoria de privacidade: qual configuração aprovar?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Atualizações não são os dados, mas carregam pistas.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834896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Adversários: servidor curioso ou malicioso, clientes maliciosos, observadores e usuários do modelo.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43535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Ataques: reconstrução, pertencimento, propriedades, memorização e ativos.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3035808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Na softmax, o gradiente de um exemplo é x ⊗ (p − y): a entrada é recuperada exatamente.</a:t>
            </a:r>
            <a:endParaRPr lang="en-US" sz="1400" dirty="0"/>
          </a:p>
        </p:txBody>
      </p:sp>
      <p:sp>
        <p:nvSpPr>
          <p:cNvPr id="9" name="resumo 5"/>
          <p:cNvSpPr txBox="1"/>
          <p:nvPr/>
        </p:nvSpPr>
        <p:spPr>
          <a:xfrm>
            <a:off x="457200" y="3636264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inferência de pertencimento explora a perda menor nos exemplos de treino. Aumenta com sobreajuste e poucos dados.</a:t>
            </a:r>
            <a:endParaRPr lang="en-US" sz="1400" dirty="0"/>
          </a:p>
        </p:txBody>
      </p:sp>
      <p:sp>
        <p:nvSpPr>
          <p:cNvPr id="10" name="resumo 6"/>
          <p:cNvSpPr txBox="1"/>
          <p:nvPr/>
        </p:nvSpPr>
        <p:spPr>
          <a:xfrm>
            <a:off x="457200" y="423672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Mitigações reduzem o risco; garantias exigem privacidade diferencial e agregação segura.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Só quem conhece o ataque consegue se proteger dele.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Próximo capítulo: privacidade diferencial, agregação segura e criptografia.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7 — O Que Pode Vazar: Ameaças à Privacidade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2026-10-27T00:03:30Z</dcterms:created>
  <dcterms:modified xsi:type="dcterms:W3CDTF">2026-10-27T00:03:30Z</dcterms:modified>
</cp:coreProperties>
</file>