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8406adaf-5d8d-dbe9-dbeb-69a2a0263ab8}">
          <p14:sldIdLst>
            <p14:sldId id="256"/>
            <p14:sldId id="257"/>
            <p14:sldId id="258"/>
          </p14:sldIdLst>
        </p14:section>
        <p14:section name="Conteúdo" id="{f4e0a8a7-2221-2e02-aa8c-aa81a4f658b0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rática e fechamento" id="{96f9e3fc-09c3-b8c8-bfc9-029d7a4dbd1e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Leia o gancho em voz alta e pergunte à turma o que esperam aprender neste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leia os objetivos em silêncio e marque o que já sabe. No fim da aula, volte a esta lista.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 caminho da aula. Cada bloco leva de 8 a 12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abertura. Deixe-a na tela por alguns segundos e pergunte: por que alguém faria isso?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 a história devagar. É a base de todas as analogias do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Introduza a palavra silo de dados: armazém fechado controlado por um dono.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exemplos de dados que a turma não entregaria a uma empresa.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Reforce: o livro não é aconselhamento jurídico. Cada projeto precisa de análise com especialistas.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Aponte as setas vermelhas (dados) e as verdes (modelos).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Peça que a turma associe cada termo a um personagem da história.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o ciclo mais importante do livro. Peça que um aluno o recite de memória.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se prenda à notação; foque na ideia de média ponderada.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Linha do tempo resumida. A palavra-chave é FedAvg, tema do Capítulo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Pergunta útil para qualquer artigo: é cross-device ou cross-silo?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os estudos do capítulo: tumores cerebrais e COVID-19 em hospitais de vários países.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a última linha: dados diferentes entre clientes (não-IID) serão o tema do Capítulo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mitos 1 e 3 serão aprofundados nos Capítulos 7 a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Rode o código do livro (seção 1.11) ao vivo, se possível. Pergunte por que o resultado é otimista.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Frase de impacto para fixar o principal alerta do capítulo.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C. O servidor envia o modelo, recebe atualizações e as agrega.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Clientes com mais exemplos têm mais peso na média.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RESPOSTA: B. O capítulo usa o conjunto de câncer de mama, que vem no scikit-learn. Dê 30 segundos para a turma votar levantando a mão e peça que alguém justifique.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enunciados completos e as soluções estão nos Apêndices D e E do livro. Sugestão: resolver o exercício 1 em dupla, em sala.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Revisão em voz alta. Peça a um aluno que explique cada item com uma analogia diferente da usada em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Encerramento. Anuncie a leitura recomendada e o próximo tema.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Aprendizado Federado · Cap.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Aprendizado Federado · Cap. 1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ixa do capitulo" descr="Faixa do capítul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1721877"/>
          </a:xfrm>
          <a:prstGeom prst="rect">
            <a:avLst/>
          </a:prstGeom>
        </p:spPr>
      </p:pic>
      <p:sp>
        <p:nvSpPr>
          <p:cNvPr id="3" name="parte"/>
          <p:cNvSpPr txBox="1"/>
          <p:nvPr/>
        </p:nvSpPr>
        <p:spPr>
          <a:xfrm>
            <a:off x="548640" y="2011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5B4FC"/>
                </a:solidFill>
              </a:rPr>
              <a:t>PARTE I — FUNDAMENTOS</a:t>
            </a:r>
            <a:endParaRPr lang="en-US" sz="1400" dirty="0"/>
          </a:p>
        </p:txBody>
      </p:sp>
      <p:sp>
        <p:nvSpPr>
          <p:cNvPr id="4" name="titulo do capitulo"/>
          <p:cNvSpPr txBox="1"/>
          <p:nvPr/>
        </p:nvSpPr>
        <p:spPr>
          <a:xfrm>
            <a:off x="548640" y="242316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Bem-vindo ao Aprendizado Federado</a:t>
            </a:r>
            <a:endParaRPr lang="en-US" sz="3400" dirty="0"/>
          </a:p>
        </p:txBody>
      </p:sp>
      <p:sp>
        <p:nvSpPr>
          <p:cNvPr id="5" name="gancho"/>
          <p:cNvSpPr txBox="1"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Como treinar um modelo juntos, sem ninguém abrir o seu caderno?</a:t>
            </a:r>
            <a:endParaRPr lang="en-US" sz="1800" dirty="0"/>
          </a:p>
        </p:txBody>
      </p:sp>
      <p:sp>
        <p:nvSpPr>
          <p:cNvPr id="6" name="autor"/>
          <p:cNvSpPr txBox="1"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Araken de Medeiros Santos  ·  Aprendizado Federado: Fundamentos, Prática e Fronteiras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conseguir fazer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5714" y="1368674"/>
            <a:ext cx="225308" cy="225308"/>
          </a:xfrm>
          <a:prstGeom prst="rect">
            <a:avLst/>
          </a:prstGeom>
        </p:spPr>
      </p:pic>
      <p:sp>
        <p:nvSpPr>
          <p:cNvPr id="5" name="objetivo 1"/>
          <p:cNvSpPr txBox="1"/>
          <p:nvPr/>
        </p:nvSpPr>
        <p:spPr>
          <a:xfrm>
            <a:off x="1051560" y="124358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Explicar, com suas palavras, o que é aprendizado federado e por que ele existe.</a:t>
            </a:r>
            <a:endParaRPr lang="en-US" sz="1400" dirty="0"/>
          </a:p>
        </p:txBody>
      </p:sp>
      <p:sp>
        <p:nvSpPr>
          <p:cNvPr id="6" name="icone-fundo"/>
          <p:cNvSpPr/>
          <p:nvPr/>
        </p:nvSpPr>
        <p:spPr>
          <a:xfrm>
            <a:off x="457200" y="1847088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714" y="1935602"/>
            <a:ext cx="225308" cy="225308"/>
          </a:xfrm>
          <a:prstGeom prst="rect">
            <a:avLst/>
          </a:prstGeom>
        </p:spPr>
      </p:pic>
      <p:sp>
        <p:nvSpPr>
          <p:cNvPr id="8" name="objetivo 2"/>
          <p:cNvSpPr txBox="1"/>
          <p:nvPr/>
        </p:nvSpPr>
        <p:spPr>
          <a:xfrm>
            <a:off x="1051560" y="181051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Descrever os problemas de privacidade, custo e legislação que motivam treinar modelos sem juntar os dados.</a:t>
            </a:r>
            <a:endParaRPr lang="en-US" sz="1400" dirty="0"/>
          </a:p>
        </p:txBody>
      </p:sp>
      <p:sp>
        <p:nvSpPr>
          <p:cNvPr id="9" name="icone-fundo"/>
          <p:cNvSpPr/>
          <p:nvPr/>
        </p:nvSpPr>
        <p:spPr>
          <a:xfrm>
            <a:off x="457200" y="2414016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cone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5714" y="2502530"/>
            <a:ext cx="225308" cy="225308"/>
          </a:xfrm>
          <a:prstGeom prst="rect">
            <a:avLst/>
          </a:prstGeom>
        </p:spPr>
      </p:pic>
      <p:sp>
        <p:nvSpPr>
          <p:cNvPr id="11" name="objetivo 3"/>
          <p:cNvSpPr txBox="1"/>
          <p:nvPr/>
        </p:nvSpPr>
        <p:spPr>
          <a:xfrm>
            <a:off x="1051560" y="2377440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Diferenciar aprendizado centralizado, distribuído em data center e federado.</a:t>
            </a:r>
            <a:endParaRPr lang="en-US" sz="1400" dirty="0"/>
          </a:p>
        </p:txBody>
      </p:sp>
      <p:sp>
        <p:nvSpPr>
          <p:cNvPr id="12" name="icone-fundo"/>
          <p:cNvSpPr/>
          <p:nvPr/>
        </p:nvSpPr>
        <p:spPr>
          <a:xfrm>
            <a:off x="457200" y="2980944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3" name="icon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714" y="3069458"/>
            <a:ext cx="225308" cy="225308"/>
          </a:xfrm>
          <a:prstGeom prst="rect">
            <a:avLst/>
          </a:prstGeom>
        </p:spPr>
      </p:pic>
      <p:sp>
        <p:nvSpPr>
          <p:cNvPr id="14" name="objetivo 4"/>
          <p:cNvSpPr txBox="1"/>
          <p:nvPr/>
        </p:nvSpPr>
        <p:spPr>
          <a:xfrm>
            <a:off x="1051560" y="2944368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Distinguir os cenários cross-device e cross-silo.</a:t>
            </a:r>
            <a:endParaRPr lang="en-US" sz="1400" dirty="0"/>
          </a:p>
        </p:txBody>
      </p:sp>
      <p:sp>
        <p:nvSpPr>
          <p:cNvPr id="15" name="icone-fundo"/>
          <p:cNvSpPr/>
          <p:nvPr/>
        </p:nvSpPr>
        <p:spPr>
          <a:xfrm>
            <a:off x="457200" y="3547872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6" name="icone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5714" y="3636386"/>
            <a:ext cx="225308" cy="225308"/>
          </a:xfrm>
          <a:prstGeom prst="rect">
            <a:avLst/>
          </a:prstGeom>
        </p:spPr>
      </p:pic>
      <p:sp>
        <p:nvSpPr>
          <p:cNvPr id="17" name="objetivo 5"/>
          <p:cNvSpPr txBox="1"/>
          <p:nvPr/>
        </p:nvSpPr>
        <p:spPr>
          <a:xfrm>
            <a:off x="1051560" y="3511296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Reconhecer aplicações reais e desfazer mitos comuns sobre privacidade.</a:t>
            </a:r>
            <a:endParaRPr lang="en-US" sz="1400" dirty="0"/>
          </a:p>
        </p:txBody>
      </p:sp>
      <p:sp>
        <p:nvSpPr>
          <p:cNvPr id="18" name="icone-fundo"/>
          <p:cNvSpPr/>
          <p:nvPr/>
        </p:nvSpPr>
        <p:spPr>
          <a:xfrm>
            <a:off x="457200" y="4114800"/>
            <a:ext cx="402336" cy="402336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9" name="icone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714" y="4203314"/>
            <a:ext cx="225308" cy="225308"/>
          </a:xfrm>
          <a:prstGeom prst="rect">
            <a:avLst/>
          </a:prstGeom>
        </p:spPr>
      </p:pic>
      <p:sp>
        <p:nvSpPr>
          <p:cNvPr id="20" name="objetivo 6"/>
          <p:cNvSpPr txBox="1"/>
          <p:nvPr/>
        </p:nvSpPr>
        <p:spPr>
          <a:xfrm>
            <a:off x="1051560" y="4078224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Executar sua primeira simulação federada em Python com scikit-learn.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da aula</a:t>
            </a:r>
            <a:endParaRPr lang="en-US" sz="3200" dirty="0"/>
          </a:p>
        </p:txBody>
      </p:sp>
      <p:sp>
        <p:nvSpPr>
          <p:cNvPr id="3" name="etapa 1"/>
          <p:cNvSpPr/>
          <p:nvPr/>
        </p:nvSpPr>
        <p:spPr>
          <a:xfrm>
            <a:off x="5029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4" name="icone-fundo"/>
          <p:cNvSpPr/>
          <p:nvPr/>
        </p:nvSpPr>
        <p:spPr>
          <a:xfrm>
            <a:off x="12573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numero 1"/>
          <p:cNvSpPr txBox="1"/>
          <p:nvPr/>
        </p:nvSpPr>
        <p:spPr>
          <a:xfrm>
            <a:off x="12573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etapa 1"/>
          <p:cNvSpPr txBox="1"/>
          <p:nvPr/>
        </p:nvSpPr>
        <p:spPr>
          <a:xfrm>
            <a:off x="5943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Por que federar?</a:t>
            </a:r>
            <a:endParaRPr lang="en-US" sz="1500" dirty="0"/>
          </a:p>
        </p:txBody>
      </p:sp>
      <p:sp>
        <p:nvSpPr>
          <p:cNvPr id="7" name="etapa 2"/>
          <p:cNvSpPr/>
          <p:nvPr/>
        </p:nvSpPr>
        <p:spPr>
          <a:xfrm>
            <a:off x="25603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8" name="icone-fundo"/>
          <p:cNvSpPr/>
          <p:nvPr/>
        </p:nvSpPr>
        <p:spPr>
          <a:xfrm>
            <a:off x="33147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" name="numero 2"/>
          <p:cNvSpPr txBox="1"/>
          <p:nvPr/>
        </p:nvSpPr>
        <p:spPr>
          <a:xfrm>
            <a:off x="33147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itulo etapa 2"/>
          <p:cNvSpPr txBox="1"/>
          <p:nvPr/>
        </p:nvSpPr>
        <p:spPr>
          <a:xfrm>
            <a:off x="26517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 que é e como funciona</a:t>
            </a:r>
            <a:endParaRPr lang="en-US" sz="1500" dirty="0"/>
          </a:p>
        </p:txBody>
      </p:sp>
      <p:sp>
        <p:nvSpPr>
          <p:cNvPr id="11" name="etapa 3"/>
          <p:cNvSpPr/>
          <p:nvPr/>
        </p:nvSpPr>
        <p:spPr>
          <a:xfrm>
            <a:off x="46177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2" name="icone-fundo"/>
          <p:cNvSpPr/>
          <p:nvPr/>
        </p:nvSpPr>
        <p:spPr>
          <a:xfrm>
            <a:off x="53721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" name="numero 3"/>
          <p:cNvSpPr txBox="1"/>
          <p:nvPr/>
        </p:nvSpPr>
        <p:spPr>
          <a:xfrm>
            <a:off x="53721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itulo etapa 3"/>
          <p:cNvSpPr txBox="1"/>
          <p:nvPr/>
        </p:nvSpPr>
        <p:spPr>
          <a:xfrm>
            <a:off x="47091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Cenários e aplicações</a:t>
            </a:r>
            <a:endParaRPr lang="en-US" sz="1500" dirty="0"/>
          </a:p>
        </p:txBody>
      </p:sp>
      <p:sp>
        <p:nvSpPr>
          <p:cNvPr id="15" name="etapa 4"/>
          <p:cNvSpPr/>
          <p:nvPr/>
        </p:nvSpPr>
        <p:spPr>
          <a:xfrm>
            <a:off x="6675120" y="1554480"/>
            <a:ext cx="196596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15000"/>
              </a:srgbClr>
            </a:outerShdw>
          </a:effectLst>
        </p:spPr>
      </p:sp>
      <p:sp>
        <p:nvSpPr>
          <p:cNvPr id="16" name="icone-fundo"/>
          <p:cNvSpPr/>
          <p:nvPr/>
        </p:nvSpPr>
        <p:spPr>
          <a:xfrm>
            <a:off x="7429500" y="173736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numero 4"/>
          <p:cNvSpPr txBox="1"/>
          <p:nvPr/>
        </p:nvSpPr>
        <p:spPr>
          <a:xfrm>
            <a:off x="7429500" y="1737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itulo etapa 4"/>
          <p:cNvSpPr txBox="1"/>
          <p:nvPr/>
        </p:nvSpPr>
        <p:spPr>
          <a:xfrm>
            <a:off x="6766560" y="23317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Mitos e primeira prática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Leve o modelo até os dados. Não os dados até o modelo.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Esta é a ideia que sustenta o livro inteiro.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receita das cinco amigas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280160"/>
            <a:ext cx="42976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Cada amiga guarda receitas secretas em um caderno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Elas querem um livro melhor que qualquer caderno sozinho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Ninguém mostra o caderno: só envia os ajustes</a:t>
            </a:r>
            <a:endParaRPr lang="en-US" sz="17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coordenadora junta os ajustes e começa outra rodada</a:t>
            </a:r>
            <a:endParaRPr lang="en-US" sz="1700" dirty="0"/>
          </a:p>
        </p:txBody>
      </p:sp>
      <p:pic>
        <p:nvPicPr>
          <p:cNvPr id="4" name="figura f1_ciclo" descr="f1_cicl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596011"/>
            <a:ext cx="3749040" cy="2020057"/>
          </a:xfrm>
          <a:prstGeom prst="rect">
            <a:avLst/>
          </a:prstGeom>
        </p:spPr>
      </p:pic>
      <p:sp>
        <p:nvSpPr>
          <p:cNvPr id="5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con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8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o caderno é o dado; o ajuste é a atualização do modelo.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dados nascem espalhados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Celulares: mensagens, fotos, hábitos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Hospitais: exames e prontuários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Bancos: transações e perfis de crédito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Sensores: fábricas, carros, redes elétricas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cada fonte é um armazém trancado, com um único dono.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não juntar tudo num só lugar?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Privacidade: copiar aumenta o risco de vazamento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Leis: regras limitam coleta e uso de dados pessoais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Custo: mover petabytes é caro e lento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Confiança: bancos concorrentes não se entregam dados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ninguém entrega o diário inteiro só para treinar um corretor ortográfico.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pano de fundo legal</a:t>
            </a:r>
            <a:endParaRPr lang="en-US" sz="3200" dirty="0"/>
          </a:p>
        </p:txBody>
      </p:sp>
      <p:graphicFrame>
        <p:nvGraphicFramePr>
          <p:cNvPr id="9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377440"/>
                <a:gridCol w="3108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Norma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Onde vale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Ideia-chave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LGPD (Lei 13.709/2018)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Brasil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Finalidade clara, minimização e segurança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GDPR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União Europeia (desde 2018)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Minimização de dados e responsabilização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o federado combina com a minimização, mas não substitui o jurídico.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 × federado</a:t>
            </a:r>
            <a:endParaRPr lang="en-US" sz="3200" dirty="0"/>
          </a:p>
        </p:txBody>
      </p:sp>
      <p:pic>
        <p:nvPicPr>
          <p:cNvPr id="3" name="figura f1_central_vs_fed" descr="f1_central_vs_f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7714" y="1188720"/>
            <a:ext cx="6588572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Os dados brutos ficam com os donos; só os modelos viajam.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palavras que você vai ouvir sempre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Cliente: quem tem os dados e treina localmente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Servidor: quem coordena e combina as contribuições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Rodada: um ciclo completo de envio, treino e agregação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Atualização: a mudança nos parâmetros após o treino local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cliente é o cozinheiro, servidor é a coordenadora e a rodada é uma volta completa do bilhete.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ciclo em quatro passos</a:t>
            </a:r>
            <a:endParaRPr lang="en-US" sz="3200" dirty="0"/>
          </a:p>
        </p:txBody>
      </p:sp>
      <p:sp>
        <p:nvSpPr>
          <p:cNvPr id="3" name="passo 1"/>
          <p:cNvSpPr/>
          <p:nvPr/>
        </p:nvSpPr>
        <p:spPr>
          <a:xfrm>
            <a:off x="45720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4" name="icone-fundo"/>
          <p:cNvSpPr/>
          <p:nvPr/>
        </p:nvSpPr>
        <p:spPr>
          <a:xfrm>
            <a:off x="1137285" y="1463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num passo 1"/>
          <p:cNvSpPr txBox="1"/>
          <p:nvPr/>
        </p:nvSpPr>
        <p:spPr>
          <a:xfrm>
            <a:off x="113728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itulo passo 1"/>
          <p:cNvSpPr txBox="1"/>
          <p:nvPr/>
        </p:nvSpPr>
        <p:spPr>
          <a:xfrm>
            <a:off x="54864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Enviar</a:t>
            </a:r>
            <a:endParaRPr lang="en-US" sz="1600" dirty="0"/>
          </a:p>
        </p:txBody>
      </p:sp>
      <p:sp>
        <p:nvSpPr>
          <p:cNvPr id="7" name="texto passo 1"/>
          <p:cNvSpPr txBox="1"/>
          <p:nvPr/>
        </p:nvSpPr>
        <p:spPr>
          <a:xfrm>
            <a:off x="56692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servidor manda o modelo atual aos clientes sorteados</a:t>
            </a:r>
            <a:endParaRPr lang="en-US" sz="1400" dirty="0"/>
          </a:p>
        </p:txBody>
      </p:sp>
      <p:sp>
        <p:nvSpPr>
          <p:cNvPr id="8" name="seta 1"/>
          <p:cNvSpPr txBox="1"/>
          <p:nvPr/>
        </p:nvSpPr>
        <p:spPr>
          <a:xfrm>
            <a:off x="227457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➜</a:t>
            </a:r>
            <a:endParaRPr lang="en-US" sz="1800" dirty="0"/>
          </a:p>
        </p:txBody>
      </p:sp>
      <p:sp>
        <p:nvSpPr>
          <p:cNvPr id="9" name="passo 2"/>
          <p:cNvSpPr/>
          <p:nvPr/>
        </p:nvSpPr>
        <p:spPr>
          <a:xfrm>
            <a:off x="259461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0" name="icone-fundo"/>
          <p:cNvSpPr/>
          <p:nvPr/>
        </p:nvSpPr>
        <p:spPr>
          <a:xfrm>
            <a:off x="3274695" y="1463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1" name="num passo 2"/>
          <p:cNvSpPr txBox="1"/>
          <p:nvPr/>
        </p:nvSpPr>
        <p:spPr>
          <a:xfrm>
            <a:off x="327469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itulo passo 2"/>
          <p:cNvSpPr txBox="1"/>
          <p:nvPr/>
        </p:nvSpPr>
        <p:spPr>
          <a:xfrm>
            <a:off x="268605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Treinar</a:t>
            </a:r>
            <a:endParaRPr lang="en-US" sz="1600" dirty="0"/>
          </a:p>
        </p:txBody>
      </p:sp>
      <p:sp>
        <p:nvSpPr>
          <p:cNvPr id="13" name="texto passo 2"/>
          <p:cNvSpPr txBox="1"/>
          <p:nvPr/>
        </p:nvSpPr>
        <p:spPr>
          <a:xfrm>
            <a:off x="270433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Cada cliente aprende com seus dados locais</a:t>
            </a:r>
            <a:endParaRPr lang="en-US" sz="1400" dirty="0"/>
          </a:p>
        </p:txBody>
      </p:sp>
      <p:sp>
        <p:nvSpPr>
          <p:cNvPr id="14" name="seta 2"/>
          <p:cNvSpPr txBox="1"/>
          <p:nvPr/>
        </p:nvSpPr>
        <p:spPr>
          <a:xfrm>
            <a:off x="441198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➜</a:t>
            </a:r>
            <a:endParaRPr lang="en-US" sz="1800" dirty="0"/>
          </a:p>
        </p:txBody>
      </p:sp>
      <p:sp>
        <p:nvSpPr>
          <p:cNvPr id="15" name="passo 3"/>
          <p:cNvSpPr/>
          <p:nvPr/>
        </p:nvSpPr>
        <p:spPr>
          <a:xfrm>
            <a:off x="473202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6" name="icone-fundo"/>
          <p:cNvSpPr/>
          <p:nvPr/>
        </p:nvSpPr>
        <p:spPr>
          <a:xfrm>
            <a:off x="5412105" y="1463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" name="num passo 3"/>
          <p:cNvSpPr txBox="1"/>
          <p:nvPr/>
        </p:nvSpPr>
        <p:spPr>
          <a:xfrm>
            <a:off x="541210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itulo passo 3"/>
          <p:cNvSpPr txBox="1"/>
          <p:nvPr/>
        </p:nvSpPr>
        <p:spPr>
          <a:xfrm>
            <a:off x="482346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Devolver</a:t>
            </a:r>
            <a:endParaRPr lang="en-US" sz="1600" dirty="0"/>
          </a:p>
        </p:txBody>
      </p:sp>
      <p:sp>
        <p:nvSpPr>
          <p:cNvPr id="19" name="texto passo 3"/>
          <p:cNvSpPr txBox="1"/>
          <p:nvPr/>
        </p:nvSpPr>
        <p:spPr>
          <a:xfrm>
            <a:off x="484174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Só a atualização volta, nunca os dados</a:t>
            </a:r>
            <a:endParaRPr lang="en-US" sz="1400" dirty="0"/>
          </a:p>
        </p:txBody>
      </p:sp>
      <p:sp>
        <p:nvSpPr>
          <p:cNvPr id="20" name="seta 3"/>
          <p:cNvSpPr txBox="1"/>
          <p:nvPr/>
        </p:nvSpPr>
        <p:spPr>
          <a:xfrm>
            <a:off x="6549390" y="23317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F46E5"/>
                </a:solidFill>
              </a:rPr>
              <a:t>➜</a:t>
            </a:r>
            <a:endParaRPr lang="en-US" sz="1800" dirty="0"/>
          </a:p>
        </p:txBody>
      </p:sp>
      <p:sp>
        <p:nvSpPr>
          <p:cNvPr id="21" name="passo 4"/>
          <p:cNvSpPr/>
          <p:nvPr/>
        </p:nvSpPr>
        <p:spPr>
          <a:xfrm>
            <a:off x="6869430" y="1325880"/>
            <a:ext cx="1817370" cy="2514600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2" name="icone-fundo"/>
          <p:cNvSpPr/>
          <p:nvPr/>
        </p:nvSpPr>
        <p:spPr>
          <a:xfrm>
            <a:off x="7549515" y="1463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num passo 4"/>
          <p:cNvSpPr txBox="1"/>
          <p:nvPr/>
        </p:nvSpPr>
        <p:spPr>
          <a:xfrm>
            <a:off x="7549515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itulo passo 4"/>
          <p:cNvSpPr txBox="1"/>
          <p:nvPr/>
        </p:nvSpPr>
        <p:spPr>
          <a:xfrm>
            <a:off x="6960870" y="2011680"/>
            <a:ext cx="163449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Agregar</a:t>
            </a:r>
            <a:endParaRPr lang="en-US" sz="1600" dirty="0"/>
          </a:p>
        </p:txBody>
      </p:sp>
      <p:sp>
        <p:nvSpPr>
          <p:cNvPr id="25" name="texto passo 4"/>
          <p:cNvSpPr txBox="1"/>
          <p:nvPr/>
        </p:nvSpPr>
        <p:spPr>
          <a:xfrm>
            <a:off x="6979158" y="2560320"/>
            <a:ext cx="159791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servidor combina tudo e abre nova rodada</a:t>
            </a:r>
            <a:endParaRPr lang="en-US" sz="1400" dirty="0"/>
          </a:p>
        </p:txBody>
      </p:sp>
      <p:sp>
        <p:nvSpPr>
          <p:cNvPr id="26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29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mandar a receita-base, testar em casa, devolver os ajustes, juntar.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fórmula do livro, em palavras</a:t>
            </a:r>
            <a:endParaRPr lang="en-US" sz="3200" dirty="0"/>
          </a:p>
        </p:txBody>
      </p:sp>
      <p:sp>
        <p:nvSpPr>
          <p:cNvPr id="3" name="topicos"/>
          <p:cNvSpPr txBox="1"/>
          <p:nvPr/>
        </p:nvSpPr>
        <p:spPr>
          <a:xfrm>
            <a:off x="457200" y="1371600"/>
            <a:ext cx="8229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f(w) = soma de (n_k / n) × F_k(w)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F_k é o erro do modelo nos dados do cliente k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n_k / n é o peso: quem tem mais dados pesa mais</a:t>
            </a:r>
            <a:endParaRPr lang="en-US" sz="22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2200" dirty="0">
                <a:solidFill>
                  <a:schemeClr val="tx1"/>
                </a:solidFill>
              </a:rPr>
              <a:t>Meta: mesmo objetivo do treino centralizado</a:t>
            </a:r>
            <a:endParaRPr lang="en-US" sz="2200" dirty="0"/>
          </a:p>
        </p:txBody>
      </p:sp>
      <p:sp>
        <p:nvSpPr>
          <p:cNvPr id="4" name="cartao analogia"/>
          <p:cNvSpPr/>
          <p:nvPr/>
        </p:nvSpPr>
        <p:spPr>
          <a:xfrm>
            <a:off x="457200" y="4041648"/>
            <a:ext cx="8229600" cy="6858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" name="icone-fundo"/>
          <p:cNvSpPr/>
          <p:nvPr/>
        </p:nvSpPr>
        <p:spPr>
          <a:xfrm>
            <a:off x="594360" y="4155948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6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256532"/>
            <a:ext cx="256032" cy="256032"/>
          </a:xfrm>
          <a:prstGeom prst="rect">
            <a:avLst/>
          </a:prstGeom>
        </p:spPr>
      </p:pic>
      <p:sp>
        <p:nvSpPr>
          <p:cNvPr id="7" name="analogia"/>
          <p:cNvSpPr txBox="1"/>
          <p:nvPr/>
        </p:nvSpPr>
        <p:spPr>
          <a:xfrm>
            <a:off x="1188720" y="4078224"/>
            <a:ext cx="73609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a nota da escola é a média das salas, ponderada pelo número de alunos.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história curta</a:t>
            </a:r>
            <a:endParaRPr lang="en-US" sz="3200" dirty="0"/>
          </a:p>
        </p:txBody>
      </p:sp>
      <p:pic>
        <p:nvPicPr>
          <p:cNvPr id="3" name="figura f1_historia" descr="f1_histor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669" y="1188720"/>
            <a:ext cx="7952662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De 2016 (FedAvg no Google) até os modelos de linguagem federados.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grandes cenários</a:t>
            </a:r>
            <a:endParaRPr lang="en-US" sz="3200" dirty="0"/>
          </a:p>
        </p:txBody>
      </p:sp>
      <p:pic>
        <p:nvPicPr>
          <p:cNvPr id="3" name="figura f1_cross" descr="f1_cr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4702" y="1188720"/>
            <a:ext cx="6614595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Cross-device: milhões de celulares. Cross-silo: poucas organizações.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já é usado</a:t>
            </a:r>
            <a:endParaRPr lang="en-US" sz="3200" dirty="0"/>
          </a:p>
        </p:txBody>
      </p:sp>
      <p:pic>
        <p:nvPicPr>
          <p:cNvPr id="3" name="figura f1_exemplos" descr="f1_exempl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516" y="1188720"/>
            <a:ext cx="7562968" cy="3017520"/>
          </a:xfrm>
          <a:prstGeom prst="rect">
            <a:avLst/>
          </a:prstGeom>
        </p:spPr>
      </p:pic>
      <p:sp>
        <p:nvSpPr>
          <p:cNvPr id="4" name="legenda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Teclado do celular, hospitais e bancos: dados que ficam em casa.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Centralizado, distribuído e federado</a:t>
            </a:r>
            <a:endParaRPr lang="en-US" sz="3200" dirty="0"/>
          </a:p>
        </p:txBody>
      </p:sp>
      <p:graphicFrame>
        <p:nvGraphicFramePr>
          <p:cNvPr id="17" name="tabe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011680"/>
                <a:gridCol w="2194560"/>
                <a:gridCol w="2377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Centralizado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Distribuído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Federado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Dados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 um só lugar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No data center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Com cada dono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Objetivo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Qualidade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Velocidade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Privacidade e colaboração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Comunicação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Rápida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Rápida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Lenta e instável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Dados entre nós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Não se aplica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Parecidos (embaralhados)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Em geral, diferentes</a:t>
                      </a:r>
                      <a:endParaRPr lang="en-US" sz="1400" dirty="0"/>
                    </a:p>
                  </a:txBody>
                  <a:tcPr marL="91440" marR="91440" marT="54864" marB="54864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Mitos e verdades</a:t>
            </a:r>
            <a:endParaRPr lang="en-US" sz="3200" dirty="0"/>
          </a:p>
        </p:txBody>
      </p:sp>
      <p:sp>
        <p:nvSpPr>
          <p:cNvPr id="3" name="coluna Mito"/>
          <p:cNvSpPr/>
          <p:nvPr/>
        </p:nvSpPr>
        <p:spPr>
          <a:xfrm>
            <a:off x="45720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abecalho Mito"/>
          <p:cNvSpPr txBox="1"/>
          <p:nvPr/>
        </p:nvSpPr>
        <p:spPr>
          <a:xfrm>
            <a:off x="64008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</a:rPr>
              <a:t>Mito</a:t>
            </a:r>
            <a:endParaRPr lang="en-US" sz="2000" dirty="0"/>
          </a:p>
        </p:txBody>
      </p:sp>
      <p:sp>
        <p:nvSpPr>
          <p:cNvPr id="5" name="topicos"/>
          <p:cNvSpPr txBox="1"/>
          <p:nvPr/>
        </p:nvSpPr>
        <p:spPr>
          <a:xfrm>
            <a:off x="64008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Privacidade é automática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Federado é sempre pior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Todos os clientes são confiáveis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Basta ter servidor e clientes</a:t>
            </a:r>
            <a:endParaRPr lang="en-US" sz="1500" dirty="0"/>
          </a:p>
        </p:txBody>
      </p:sp>
      <p:sp>
        <p:nvSpPr>
          <p:cNvPr id="6" name="coluna Verdade"/>
          <p:cNvSpPr/>
          <p:nvPr/>
        </p:nvSpPr>
        <p:spPr>
          <a:xfrm>
            <a:off x="4754880" y="1280160"/>
            <a:ext cx="393192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cabecalho Verdade"/>
          <p:cNvSpPr txBox="1"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0B981"/>
                </a:solidFill>
              </a:rPr>
              <a:t>Verdade</a:t>
            </a:r>
            <a:endParaRPr lang="en-US" sz="2000" dirty="0"/>
          </a:p>
        </p:txBody>
      </p:sp>
      <p:sp>
        <p:nvSpPr>
          <p:cNvPr id="8" name="topicos"/>
          <p:cNvSpPr txBox="1"/>
          <p:nvPr/>
        </p:nvSpPr>
        <p:spPr>
          <a:xfrm>
            <a:off x="4937760" y="1920240"/>
            <a:ext cx="3566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Atualizações podem vazar informação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Às vezes é a única forma de treinar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Clientes podem falhar ou trapacear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Rede lenta e dados diferentes complicam</a:t>
            </a:r>
            <a:endParaRPr lang="en-US" sz="1500" dirty="0"/>
          </a:p>
        </p:txBody>
      </p:sp>
      <p:sp>
        <p:nvSpPr>
          <p:cNvPr id="9" name="cartao analogia"/>
          <p:cNvSpPr/>
          <p:nvPr/>
        </p:nvSpPr>
        <p:spPr>
          <a:xfrm>
            <a:off x="457200" y="4114800"/>
            <a:ext cx="8229600" cy="640080"/>
          </a:xfrm>
          <a:prstGeom prst="roundRect">
            <a:avLst>
              <a:gd name="adj" fmla="val 1714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icone-fundo"/>
          <p:cNvSpPr/>
          <p:nvPr/>
        </p:nvSpPr>
        <p:spPr>
          <a:xfrm>
            <a:off x="594360" y="420624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306824"/>
            <a:ext cx="256032" cy="256032"/>
          </a:xfrm>
          <a:prstGeom prst="rect">
            <a:avLst/>
          </a:prstGeom>
        </p:spPr>
      </p:pic>
      <p:sp>
        <p:nvSpPr>
          <p:cNvPr id="12" name="analogia"/>
          <p:cNvSpPr txBox="1"/>
          <p:nvPr/>
        </p:nvSpPr>
        <p:spPr>
          <a:xfrm>
            <a:off x="1188720" y="4151376"/>
            <a:ext cx="7360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827"/>
                </a:solidFill>
              </a:rPr>
              <a:t>Pense assim: </a:t>
            </a:r>
            <a:pPr indent="0" marL="0">
              <a:buNone/>
            </a:pPr>
            <a:r>
              <a:rPr lang="en-US" sz="1400" i="1" dirty="0">
                <a:solidFill>
                  <a:srgbClr val="111827"/>
                </a:solidFill>
              </a:rPr>
              <a:t>esconder o caderno não impede que o ajuste revele a receita.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simulação: 3 hospitais</a:t>
            </a:r>
            <a:endParaRPr lang="en-US" sz="3200" dirty="0"/>
          </a:p>
        </p:txBody>
      </p:sp>
      <p:sp>
        <p:nvSpPr>
          <p:cNvPr id="3" name="fundo codigo"/>
          <p:cNvSpPr/>
          <p:nvPr/>
        </p:nvSpPr>
        <p:spPr>
          <a:xfrm>
            <a:off x="457200" y="1234440"/>
            <a:ext cx="5120640" cy="2834640"/>
          </a:xfrm>
          <a:prstGeom prst="roundRect">
            <a:avLst>
              <a:gd name="adj" fmla="val 258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codigo"/>
          <p:cNvSpPr txBox="1"/>
          <p:nvPr/>
        </p:nvSpPr>
        <p:spPr>
          <a:xfrm>
            <a:off x="594360" y="1325880"/>
            <a:ext cx="48463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cada hospital treina sozinho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locais = [LogisticRegression().fit(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Xtr[h], ytr[h]) for h in hospitais]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servidor: média dos modelos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media.coef_ = np.mean(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[m.coef_ for m in locais], axis=0)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media.intercept_ = np.mean(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[m.intercept_ for m in locais], axis=0)</a:t>
            </a:r>
            <a:endParaRPr lang="en-US" sz="1200" dirty="0"/>
          </a:p>
        </p:txBody>
      </p:sp>
      <p:sp>
        <p:nvSpPr>
          <p:cNvPr id="5" name="fundo saida"/>
          <p:cNvSpPr/>
          <p:nvPr/>
        </p:nvSpPr>
        <p:spPr>
          <a:xfrm>
            <a:off x="5760720" y="1234440"/>
            <a:ext cx="2926080" cy="2834640"/>
          </a:xfrm>
          <a:prstGeom prst="roundRect">
            <a:avLst>
              <a:gd name="adj" fmla="val 2581"/>
            </a:avLst>
          </a:prstGeom>
          <a:solidFill>
            <a:srgbClr val="ECFDF5"/>
          </a:solidFill>
          <a:ln w="12700">
            <a:solidFill>
              <a:srgbClr val="ECFDF5"/>
            </a:solidFill>
            <a:prstDash val="solid"/>
          </a:ln>
        </p:spPr>
      </p:sp>
      <p:sp>
        <p:nvSpPr>
          <p:cNvPr id="6" name="saida"/>
          <p:cNvSpPr txBox="1"/>
          <p:nvPr/>
        </p:nvSpPr>
        <p:spPr>
          <a:xfrm>
            <a:off x="5852160" y="1298448"/>
            <a:ext cx="27432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aparece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 1 sozinho: 0.959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 2 sozinho: 0.959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Hospital 3 sozinho: 0.942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Média dos 3 modelos: 0.977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118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Dados juntos: 0.977</a:t>
            </a:r>
            <a:endParaRPr lang="en-US" sz="1200" dirty="0"/>
          </a:p>
        </p:txBody>
      </p:sp>
      <p:sp>
        <p:nvSpPr>
          <p:cNvPr id="7" name="nota codigo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F46E5"/>
                </a:solidFill>
              </a:rPr>
              <a:t>Atenção: resultado otimista (dados IID, problema simples, uma rodada).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se de impacto"/>
          <p:cNvSpPr txBox="1"/>
          <p:nvPr/>
        </p:nvSpPr>
        <p:spPr>
          <a:xfrm>
            <a:off x="731520" y="1188720"/>
            <a:ext cx="7680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Federado reduz a exposição dos dados. Não garante privacidade sozinho.</a:t>
            </a:r>
            <a:endParaRPr lang="en-US" sz="3800" dirty="0"/>
          </a:p>
        </p:txBody>
      </p:sp>
      <p:sp>
        <p:nvSpPr>
          <p:cNvPr id="3" name="complemento"/>
          <p:cNvSpPr txBox="1"/>
          <p:nvPr/>
        </p:nvSpPr>
        <p:spPr>
          <a:xfrm>
            <a:off x="731520" y="34747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Para garantias formais: privacidade diferencial e agregação segura (Capítulo 8).</a:t>
            </a:r>
            <a:endParaRPr lang="en-US" sz="1800" dirty="0"/>
          </a:p>
        </p:txBody>
      </p:sp>
      <p:sp>
        <p:nvSpPr>
          <p:cNvPr id="5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1/3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 é o papel do servidor (coordenador)?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Guardar os dados brutos de todos os clientes.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Rotular os dados dos clientes.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Organizar o treino e combinar as contribuições dos clientes.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Apagar os modelos antigos dos clientes.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2/3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Na fórmula f(w) = Σ (n_k / n) · F_k(w), o termo n_k / n representa: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taxa de aprendizado.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peso do cliente k, proporcional ao tamanho do seu conjunto de dados.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 número de rodadas.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probabilidade de falha do cliente.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relâmpago 3/3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pergunta"/>
          <p:cNvSpPr txBox="1"/>
          <p:nvPr/>
        </p:nvSpPr>
        <p:spPr>
          <a:xfrm>
            <a:off x="457200" y="11430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Qual conjunto de dados foi usado na primeira simulação do capítulo?</a:t>
            </a:r>
            <a:endParaRPr lang="en-US" sz="1800" dirty="0"/>
          </a:p>
        </p:txBody>
      </p:sp>
      <p:sp>
        <p:nvSpPr>
          <p:cNvPr id="6" name="opcao a"/>
          <p:cNvSpPr/>
          <p:nvPr/>
        </p:nvSpPr>
        <p:spPr>
          <a:xfrm>
            <a:off x="45720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icone-fundo"/>
          <p:cNvSpPr/>
          <p:nvPr/>
        </p:nvSpPr>
        <p:spPr>
          <a:xfrm>
            <a:off x="56692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" name="letra a"/>
          <p:cNvSpPr txBox="1"/>
          <p:nvPr/>
        </p:nvSpPr>
        <p:spPr>
          <a:xfrm>
            <a:off x="56692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</a:t>
            </a:r>
            <a:endParaRPr lang="en-US" sz="1600" dirty="0"/>
          </a:p>
        </p:txBody>
      </p:sp>
      <p:sp>
        <p:nvSpPr>
          <p:cNvPr id="9" name="texto opcao a"/>
          <p:cNvSpPr txBox="1"/>
          <p:nvPr/>
        </p:nvSpPr>
        <p:spPr>
          <a:xfrm>
            <a:off x="114300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MNIST.</a:t>
            </a:r>
            <a:endParaRPr lang="en-US" sz="1400" dirty="0"/>
          </a:p>
        </p:txBody>
      </p:sp>
      <p:sp>
        <p:nvSpPr>
          <p:cNvPr id="10" name="opcao b"/>
          <p:cNvSpPr/>
          <p:nvPr/>
        </p:nvSpPr>
        <p:spPr>
          <a:xfrm>
            <a:off x="4663440" y="219456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icone-fundo"/>
          <p:cNvSpPr/>
          <p:nvPr/>
        </p:nvSpPr>
        <p:spPr>
          <a:xfrm>
            <a:off x="4773168" y="251460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letra b"/>
          <p:cNvSpPr txBox="1"/>
          <p:nvPr/>
        </p:nvSpPr>
        <p:spPr>
          <a:xfrm>
            <a:off x="4773168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</a:t>
            </a:r>
            <a:endParaRPr lang="en-US" sz="1600" dirty="0"/>
          </a:p>
        </p:txBody>
      </p:sp>
      <p:sp>
        <p:nvSpPr>
          <p:cNvPr id="13" name="texto opcao b"/>
          <p:cNvSpPr txBox="1"/>
          <p:nvPr/>
        </p:nvSpPr>
        <p:spPr>
          <a:xfrm>
            <a:off x="5349240" y="224028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Breast Cancer Wisconsin, da UCI, via load_breast_cancer.</a:t>
            </a:r>
            <a:endParaRPr lang="en-US" sz="1400" dirty="0"/>
          </a:p>
        </p:txBody>
      </p:sp>
      <p:sp>
        <p:nvSpPr>
          <p:cNvPr id="14" name="opcao c"/>
          <p:cNvSpPr/>
          <p:nvPr/>
        </p:nvSpPr>
        <p:spPr>
          <a:xfrm>
            <a:off x="45720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icone-fundo"/>
          <p:cNvSpPr/>
          <p:nvPr/>
        </p:nvSpPr>
        <p:spPr>
          <a:xfrm>
            <a:off x="56692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6" name="letra c"/>
          <p:cNvSpPr txBox="1"/>
          <p:nvPr/>
        </p:nvSpPr>
        <p:spPr>
          <a:xfrm>
            <a:off x="56692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C</a:t>
            </a:r>
            <a:endParaRPr lang="en-US" sz="1600" dirty="0"/>
          </a:p>
        </p:txBody>
      </p:sp>
      <p:sp>
        <p:nvSpPr>
          <p:cNvPr id="17" name="texto opcao c"/>
          <p:cNvSpPr txBox="1"/>
          <p:nvPr/>
        </p:nvSpPr>
        <p:spPr>
          <a:xfrm>
            <a:off x="114300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CIFAR-10.</a:t>
            </a:r>
            <a:endParaRPr lang="en-US" sz="1400" dirty="0"/>
          </a:p>
        </p:txBody>
      </p:sp>
      <p:sp>
        <p:nvSpPr>
          <p:cNvPr id="18" name="opcao d"/>
          <p:cNvSpPr/>
          <p:nvPr/>
        </p:nvSpPr>
        <p:spPr>
          <a:xfrm>
            <a:off x="4663440" y="3429000"/>
            <a:ext cx="4023360" cy="1097280"/>
          </a:xfrm>
          <a:prstGeom prst="roundRect">
            <a:avLst>
              <a:gd name="adj" fmla="val 8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icone-fundo"/>
          <p:cNvSpPr/>
          <p:nvPr/>
        </p:nvSpPr>
        <p:spPr>
          <a:xfrm>
            <a:off x="4773168" y="3749040"/>
            <a:ext cx="457200" cy="45720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0" name="letra d"/>
          <p:cNvSpPr txBox="1"/>
          <p:nvPr/>
        </p:nvSpPr>
        <p:spPr>
          <a:xfrm>
            <a:off x="4773168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</a:t>
            </a:r>
            <a:endParaRPr lang="en-US" sz="1600" dirty="0"/>
          </a:p>
        </p:txBody>
      </p:sp>
      <p:sp>
        <p:nvSpPr>
          <p:cNvPr id="21" name="texto opcao d"/>
          <p:cNvSpPr txBox="1"/>
          <p:nvPr/>
        </p:nvSpPr>
        <p:spPr>
          <a:xfrm>
            <a:off x="5349240" y="347472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ImageNet.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Mão na massa: Python + scikit-learn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exercicio 1"/>
          <p:cNvSpPr/>
          <p:nvPr/>
        </p:nvSpPr>
        <p:spPr>
          <a:xfrm>
            <a:off x="457200" y="1280160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o exercicio 1"/>
          <p:cNvSpPr txBox="1"/>
          <p:nvPr/>
        </p:nvSpPr>
        <p:spPr>
          <a:xfrm>
            <a:off x="640080" y="128016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1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Conhecendo os dados dos "hospitais"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7" name="exercicio 2"/>
          <p:cNvSpPr/>
          <p:nvPr/>
        </p:nvSpPr>
        <p:spPr>
          <a:xfrm>
            <a:off x="457200" y="1847088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o exercicio 2"/>
          <p:cNvSpPr txBox="1"/>
          <p:nvPr/>
        </p:nvSpPr>
        <p:spPr>
          <a:xfrm>
            <a:off x="640080" y="184708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2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Quanto o tamanho do hospital importa?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(básico)</a:t>
            </a:r>
            <a:endParaRPr lang="en-US" sz="1400" dirty="0"/>
          </a:p>
        </p:txBody>
      </p:sp>
      <p:sp>
        <p:nvSpPr>
          <p:cNvPr id="9" name="exercicio 3"/>
          <p:cNvSpPr/>
          <p:nvPr/>
        </p:nvSpPr>
        <p:spPr>
          <a:xfrm>
            <a:off x="457200" y="2414016"/>
            <a:ext cx="8229600" cy="475488"/>
          </a:xfrm>
          <a:prstGeom prst="roundRect">
            <a:avLst>
              <a:gd name="adj" fmla="val 1538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o exercicio 3"/>
          <p:cNvSpPr txBox="1"/>
          <p:nvPr/>
        </p:nvSpPr>
        <p:spPr>
          <a:xfrm>
            <a:off x="640080" y="241401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46E5"/>
                </a:solidFill>
              </a:rPr>
              <a:t>Exercício 3 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Repetindo para não se enganar com o acaso</a:t>
            </a:r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   (intermediário)</a:t>
            </a:r>
            <a:endParaRPr lang="en-US" sz="1400" dirty="0"/>
          </a:p>
        </p:txBody>
      </p:sp>
      <p:sp>
        <p:nvSpPr>
          <p:cNvPr id="11" name="projeto"/>
          <p:cNvSpPr/>
          <p:nvPr/>
        </p:nvSpPr>
        <p:spPr>
          <a:xfrm>
            <a:off x="457200" y="3026664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" name="titulo projeto"/>
          <p:cNvSpPr txBox="1"/>
          <p:nvPr/>
        </p:nvSpPr>
        <p:spPr>
          <a:xfrm>
            <a:off x="685800" y="3026664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DE68A"/>
                </a:solidFill>
              </a:rPr>
              <a:t>PROJETO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Rede de Clínicas: vale a pena colaborar?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levar na mochila</a:t>
            </a:r>
            <a:endParaRPr lang="en-US" sz="3200" dirty="0"/>
          </a:p>
        </p:txBody>
      </p:sp>
      <p:sp>
        <p:nvSpPr>
          <p:cNvPr id="3" name="icone-fundo"/>
          <p:cNvSpPr/>
          <p:nvPr/>
        </p:nvSpPr>
        <p:spPr>
          <a:xfrm>
            <a:off x="8138160" y="411480"/>
            <a:ext cx="502920" cy="50292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4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802" y="522122"/>
            <a:ext cx="281635" cy="281635"/>
          </a:xfrm>
          <a:prstGeom prst="rect">
            <a:avLst/>
          </a:prstGeom>
        </p:spPr>
      </p:pic>
      <p:sp>
        <p:nvSpPr>
          <p:cNvPr id="5" name="resumo 1"/>
          <p:cNvSpPr txBox="1"/>
          <p:nvPr/>
        </p:nvSpPr>
        <p:spPr>
          <a:xfrm>
            <a:off x="457200" y="123444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Aprendizado federado treina um modelo com vários donos de dados sem juntar os dados brutos.</a:t>
            </a:r>
            <a:endParaRPr lang="en-US" sz="1400" dirty="0"/>
          </a:p>
        </p:txBody>
      </p:sp>
      <p:sp>
        <p:nvSpPr>
          <p:cNvPr id="6" name="resumo 2"/>
          <p:cNvSpPr txBox="1"/>
          <p:nvPr/>
        </p:nvSpPr>
        <p:spPr>
          <a:xfrm>
            <a:off x="457200" y="1834896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ciclo básico: servidor envia modelo, clientes treinam localmente, devolvem atualizações, servidor agrega.</a:t>
            </a:r>
            <a:endParaRPr lang="en-US" sz="1400" dirty="0"/>
          </a:p>
        </p:txBody>
      </p:sp>
      <p:sp>
        <p:nvSpPr>
          <p:cNvPr id="7" name="resumo 3"/>
          <p:cNvSpPr txBox="1"/>
          <p:nvPr/>
        </p:nvSpPr>
        <p:spPr>
          <a:xfrm>
            <a:off x="457200" y="2435352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Motivos: privacidade, leis (GDPR, LGPD), custo e confiança.</a:t>
            </a:r>
            <a:endParaRPr lang="en-US" sz="1400" dirty="0"/>
          </a:p>
        </p:txBody>
      </p:sp>
      <p:sp>
        <p:nvSpPr>
          <p:cNvPr id="8" name="resumo 4"/>
          <p:cNvSpPr txBox="1"/>
          <p:nvPr/>
        </p:nvSpPr>
        <p:spPr>
          <a:xfrm>
            <a:off x="457200" y="3035808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Cenários: cross-device (muitos clientes pequenos) e cross-silo (poucos clientes grandes).</a:t>
            </a:r>
            <a:endParaRPr lang="en-US" sz="1400" dirty="0"/>
          </a:p>
        </p:txBody>
      </p:sp>
      <p:sp>
        <p:nvSpPr>
          <p:cNvPr id="9" name="resumo 5"/>
          <p:cNvSpPr txBox="1"/>
          <p:nvPr/>
        </p:nvSpPr>
        <p:spPr>
          <a:xfrm>
            <a:off x="457200" y="3636264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Federado não é o mesmo que distribuído em data center, e não garante privacidade sozinho.</a:t>
            </a:r>
            <a:endParaRPr lang="en-US" sz="1400" dirty="0"/>
          </a:p>
        </p:txBody>
      </p:sp>
      <p:sp>
        <p:nvSpPr>
          <p:cNvPr id="10" name="resumo 6"/>
          <p:cNvSpPr txBox="1"/>
          <p:nvPr/>
        </p:nvSpPr>
        <p:spPr>
          <a:xfrm>
            <a:off x="457200" y="4236720"/>
            <a:ext cx="822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</a:rPr>
              <a:t>✔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O objetivo é minimizar o erro global: a média ponderada dos erros locais.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cone-fundo"/>
          <p:cNvSpPr/>
          <p:nvPr/>
        </p:nvSpPr>
        <p:spPr>
          <a:xfrm>
            <a:off x="731520" y="914400"/>
            <a:ext cx="731520" cy="73152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3" name="icone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2454" y="1075334"/>
            <a:ext cx="409651" cy="409651"/>
          </a:xfrm>
          <a:prstGeom prst="rect">
            <a:avLst/>
          </a:prstGeom>
        </p:spPr>
      </p:pic>
      <p:sp>
        <p:nvSpPr>
          <p:cNvPr id="4" name="fechamento"/>
          <p:cNvSpPr txBox="1"/>
          <p:nvPr/>
        </p:nvSpPr>
        <p:spPr>
          <a:xfrm>
            <a:off x="731520" y="182880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Treinar juntos, sem entregar o caderno.</a:t>
            </a:r>
            <a:endParaRPr lang="en-US" sz="3200" dirty="0"/>
          </a:p>
        </p:txBody>
      </p:sp>
      <p:sp>
        <p:nvSpPr>
          <p:cNvPr id="5" name="proximo capitulo"/>
          <p:cNvSpPr txBox="1"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67E8F9"/>
                </a:solidFill>
              </a:rPr>
              <a:t>Próximo capítulo: Preparando o terreno — dados, modelos e otimização.</a:t>
            </a:r>
            <a:endParaRPr lang="en-US" sz="1800" dirty="0"/>
          </a:p>
        </p:txBody>
      </p:sp>
      <p:sp>
        <p:nvSpPr>
          <p:cNvPr id="7" name="Text 1"/>
          <p:cNvSpPr/>
          <p:nvPr>
            <p:ph idx="101" type="title" hasCustomPrompt="1"/>
          </p:nvPr>
        </p:nvSpPr>
        <p:spPr>
          <a:xfrm>
            <a:off x="457200" y="274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CA3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prendizado Federado">
  <a:themeElements>
    <a:clrScheme name="Aprendizado Federado">
      <a:dk1>
        <a:srgbClr val="1F2937"/>
      </a:dk1>
      <a:lt1>
        <a:srgbClr val="FFFFFF"/>
      </a:lt1>
      <a:dk2>
        <a:srgbClr val="111827"/>
      </a:dk2>
      <a:lt2>
        <a:srgbClr val="F3F4F6"/>
      </a:lt2>
      <a:accent1>
        <a:srgbClr val="4F46E5"/>
      </a:accent1>
      <a:accent2>
        <a:srgbClr val="06B6D4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4F46E5"/>
      </a:hlink>
      <a:folHlink>
        <a:srgbClr val="8B5CF6"/>
      </a:folHlink>
    </a:clrScheme>
    <a:fontScheme name="Aprendizado Federado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Cap. 1 — Bem-vindo ao Aprendizado Federado</dc:title>
  <dc:subject>Aprendizado Federado: Fundamentos, Prática e Fronteiras</dc:subject>
  <dc:creator>Araken de Medeiros Santos</dc:creator>
  <cp:lastModifiedBy>Araken de Medeiros Santos</cp:lastModifiedBy>
  <cp:revision>1</cp:revision>
  <dcterms:created xsi:type="dcterms:W3CDTF">2026-10-27T00:03:25Z</dcterms:created>
  <dcterms:modified xsi:type="dcterms:W3CDTF">2026-10-27T00:03:25Z</dcterms:modified>
</cp:coreProperties>
</file>