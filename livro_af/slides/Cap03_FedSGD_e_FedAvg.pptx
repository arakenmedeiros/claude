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1df8ccc-9071-8f7c-278b-5036ca9d3500}">
          <p14:sldIdLst>
            <p14:sldId id="256"/>
            <p14:sldId id="257"/>
            <p14:sldId id="258"/>
          </p14:sldIdLst>
        </p14:section>
        <p14:section name="Conteúdo" id="{f52166e2-d0cb-2a6f-7e9c-355c6c86e2c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ática e fechamento" id="{cb96d5a8-2bf1-692a-6354-45abec67aa80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Frase-resumo do algoritmo central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Google Docs com cópias separadas.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os quatro passos numerados na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Notação: w_t modelo global; S_t clientes sorteados; n_k tamanho dos dados do cliente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Conta: 0,1·0,80 + 0,3·0,60 + 0,6·0,50 = 0,56. O resultado fica perto de quem tem mais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Exemplo: n_k = 200, E = 5, B = 20 dão 50 passos por rodada.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típico reportado: ordens de grandeza a menos de rodadas em alguns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Antecipe o Capítulo 4: com muitos passos locais cada cliente caminha para o seu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de ouro: o servidor envia o mesmo modelo a todos, inclusive o w0.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uma simulação. O Capítulo 11 apresenta frameworks para sistemas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ao vivo. Compare com o LogisticRegression do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por rodadas, pois é o que custa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dados não-IID esta conclusão muda (Capítulo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Conta: 2 × 4 bytes × parâmetros × clientes sorteados.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Apenas mencione; o detalhe está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Devolve-se o modelo local atualizado ou a atualização (delta).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0,3 × 50 = 15.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65 × 10 = 650.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Anatomia de um Sistema Federado: FedSGD e FedAvg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A receita de bolo em equipe vira algoritmo: o FedAvg.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uma rodada de aprendizado federado, passo a passo, com a notação do livro.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a diferença entre FedSGD e FedAvg e o papel de C, E, B e η.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Calcular a agregação por média ponderada.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Entender por que todos os clientes devem partir do mesmo modelo inicial.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a biblioteca didática fedlib.py para simular clientes e servidor.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Estimar o custo de comunicação de um treino federado.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Anatomia de uma rodada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FedSGD e FedAvg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que a média funciona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Simular com a fedlib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Cada cliente melhora o modelo em casa. O servidor tira a média.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Esse é o FedAvg (McMahan et al., 2017).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grupo com versões separadas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coordenadora envia a mesma versão-base a todos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Cada pessoa edita a sua cópia por um tempo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coordenadora junta, ponderando quem escreveu mais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Reenvia a nova versão-base. Repete.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repetir isso é o FedAvg.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rodada</a:t>
            </a:r>
            <a:endParaRPr lang="en-US" sz="3200" dirty="0"/>
          </a:p>
        </p:txBody>
      </p:sp>
      <p:pic>
        <p:nvPicPr>
          <p:cNvPr id="3" name="figura f3_rodada" descr="f3_rod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204" y="1188720"/>
            <a:ext cx="546159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Clientes 3 e 5 não foram sorteados e ficam fora desta rodada.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passos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113728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num passo 1"/>
          <p:cNvSpPr txBox="1"/>
          <p:nvPr/>
        </p:nvSpPr>
        <p:spPr>
          <a:xfrm>
            <a:off x="113728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passo 1"/>
          <p:cNvSpPr txBox="1"/>
          <p:nvPr/>
        </p:nvSpPr>
        <p:spPr>
          <a:xfrm>
            <a:off x="54864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Sortear e enviar</a:t>
            </a:r>
            <a:endParaRPr lang="en-US" sz="1600" dirty="0"/>
          </a:p>
        </p:txBody>
      </p:sp>
      <p:sp>
        <p:nvSpPr>
          <p:cNvPr id="7" name="texto passo 1"/>
          <p:cNvSpPr txBox="1"/>
          <p:nvPr/>
        </p:nvSpPr>
        <p:spPr>
          <a:xfrm>
            <a:off x="56692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 escolhe S_t e manda w_t</a:t>
            </a:r>
            <a:endParaRPr lang="en-US" sz="1400" dirty="0"/>
          </a:p>
        </p:txBody>
      </p:sp>
      <p:sp>
        <p:nvSpPr>
          <p:cNvPr id="8" name="seta 1"/>
          <p:cNvSpPr txBox="1"/>
          <p:nvPr/>
        </p:nvSpPr>
        <p:spPr>
          <a:xfrm>
            <a:off x="227457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passo 2"/>
          <p:cNvSpPr/>
          <p:nvPr/>
        </p:nvSpPr>
        <p:spPr>
          <a:xfrm>
            <a:off x="259461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327469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num passo 2"/>
          <p:cNvSpPr txBox="1"/>
          <p:nvPr/>
        </p:nvSpPr>
        <p:spPr>
          <a:xfrm>
            <a:off x="327469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itulo passo 2"/>
          <p:cNvSpPr txBox="1"/>
          <p:nvPr/>
        </p:nvSpPr>
        <p:spPr>
          <a:xfrm>
            <a:off x="268605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Treinar</a:t>
            </a:r>
            <a:endParaRPr lang="en-US" sz="1600" dirty="0"/>
          </a:p>
        </p:txBody>
      </p:sp>
      <p:sp>
        <p:nvSpPr>
          <p:cNvPr id="13" name="texto passo 2"/>
          <p:cNvSpPr txBox="1"/>
          <p:nvPr/>
        </p:nvSpPr>
        <p:spPr>
          <a:xfrm>
            <a:off x="270433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 épocas, lote B, passo η</a:t>
            </a:r>
            <a:endParaRPr lang="en-US" sz="1400" dirty="0"/>
          </a:p>
        </p:txBody>
      </p:sp>
      <p:sp>
        <p:nvSpPr>
          <p:cNvPr id="14" name="seta 2"/>
          <p:cNvSpPr txBox="1"/>
          <p:nvPr/>
        </p:nvSpPr>
        <p:spPr>
          <a:xfrm>
            <a:off x="441198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passo 3"/>
          <p:cNvSpPr/>
          <p:nvPr/>
        </p:nvSpPr>
        <p:spPr>
          <a:xfrm>
            <a:off x="473202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icone-fundo"/>
          <p:cNvSpPr/>
          <p:nvPr/>
        </p:nvSpPr>
        <p:spPr>
          <a:xfrm>
            <a:off x="541210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num passo 3"/>
          <p:cNvSpPr txBox="1"/>
          <p:nvPr/>
        </p:nvSpPr>
        <p:spPr>
          <a:xfrm>
            <a:off x="541210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itulo passo 3"/>
          <p:cNvSpPr txBox="1"/>
          <p:nvPr/>
        </p:nvSpPr>
        <p:spPr>
          <a:xfrm>
            <a:off x="482346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Devolver</a:t>
            </a:r>
            <a:endParaRPr lang="en-US" sz="1600" dirty="0"/>
          </a:p>
        </p:txBody>
      </p:sp>
      <p:sp>
        <p:nvSpPr>
          <p:cNvPr id="19" name="texto passo 3"/>
          <p:cNvSpPr txBox="1"/>
          <p:nvPr/>
        </p:nvSpPr>
        <p:spPr>
          <a:xfrm>
            <a:off x="484174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cliente manda w_(t+1)^k</a:t>
            </a:r>
            <a:endParaRPr lang="en-US" sz="1400" dirty="0"/>
          </a:p>
        </p:txBody>
      </p:sp>
      <p:sp>
        <p:nvSpPr>
          <p:cNvPr id="20" name="seta 3"/>
          <p:cNvSpPr txBox="1"/>
          <p:nvPr/>
        </p:nvSpPr>
        <p:spPr>
          <a:xfrm>
            <a:off x="654939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21" name="passo 4"/>
          <p:cNvSpPr/>
          <p:nvPr/>
        </p:nvSpPr>
        <p:spPr>
          <a:xfrm>
            <a:off x="686943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icone-fundo"/>
          <p:cNvSpPr/>
          <p:nvPr/>
        </p:nvSpPr>
        <p:spPr>
          <a:xfrm>
            <a:off x="754951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num passo 4"/>
          <p:cNvSpPr txBox="1"/>
          <p:nvPr/>
        </p:nvSpPr>
        <p:spPr>
          <a:xfrm>
            <a:off x="754951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itulo passo 4"/>
          <p:cNvSpPr txBox="1"/>
          <p:nvPr/>
        </p:nvSpPr>
        <p:spPr>
          <a:xfrm>
            <a:off x="696087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Agregar</a:t>
            </a:r>
            <a:endParaRPr lang="en-US" sz="1600" dirty="0"/>
          </a:p>
        </p:txBody>
      </p:sp>
      <p:sp>
        <p:nvSpPr>
          <p:cNvPr id="25" name="texto passo 4"/>
          <p:cNvSpPr txBox="1"/>
          <p:nvPr/>
        </p:nvSpPr>
        <p:spPr>
          <a:xfrm>
            <a:off x="697915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Média ponderada por n_k / n_S</a:t>
            </a:r>
            <a:endParaRPr lang="en-US" sz="1400" dirty="0"/>
          </a:p>
        </p:txBody>
      </p:sp>
      <p:sp>
        <p:nvSpPr>
          <p:cNvPr id="26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29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coordenadora manda, a equipe testa, devolve e ela junta.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 na prática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0,56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resultado com pesos 0,1; 0,3 e 0,6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0,63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resultado da média simples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60%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dados pertencem ao cliente 3 (valor 0,50)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escola pesa a média pelo número de alunos de cada sala.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botões do FedAvg</a:t>
            </a:r>
            <a:endParaRPr lang="en-US" sz="3200" dirty="0"/>
          </a:p>
        </p:txBody>
      </p:sp>
      <p:graphicFrame>
        <p:nvGraphicFramePr>
          <p:cNvPr id="1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Símbolo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Nome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controla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Fração de clientes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Quantos participam por rodada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Épocas locais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Quanto cada um treina antes de devolver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Tamanho do lote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Lote do SGD local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η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Taxa de aprendizado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Tamanho do passo local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passos locais por rodada: u = E · n_k /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FedSGD × FedAvg</a:t>
            </a:r>
            <a:endParaRPr lang="en-US" sz="3200" dirty="0"/>
          </a:p>
        </p:txBody>
      </p:sp>
      <p:sp>
        <p:nvSpPr>
          <p:cNvPr id="3" name="coluna FedSGD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FedSGD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FedSGD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passo de gradiente por rodada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Equivale ao centralizado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Milhares de rodadas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Comunicação cara</a:t>
            </a:r>
            <a:endParaRPr lang="en-US" sz="1500" dirty="0"/>
          </a:p>
        </p:txBody>
      </p:sp>
      <p:sp>
        <p:nvSpPr>
          <p:cNvPr id="6" name="coluna FedAvg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FedAvg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FedAvg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Vários passos locais por rodada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Troca comunicação por computação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Bem menos rodadas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Risco: deriva dos clientes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em vez de ligar a cada passo, treine bastante em casa e ligue menos.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clientes, dois mínimos</a:t>
            </a:r>
            <a:endParaRPr lang="en-US" sz="3200" dirty="0"/>
          </a:p>
        </p:txBody>
      </p:sp>
      <p:pic>
        <p:nvPicPr>
          <p:cNvPr id="3" name="figura f3_fedsgd_avg" descr="f3_fedsgd_a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985" y="1188720"/>
            <a:ext cx="7474031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No FedAvg cada cliente anda bastante e o servidor faz a média.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devem partir do mesmo modelo</a:t>
            </a:r>
            <a:endParaRPr lang="en-US" sz="3200" dirty="0"/>
          </a:p>
        </p:txBody>
      </p:sp>
      <p:pic>
        <p:nvPicPr>
          <p:cNvPr id="3" name="figura f3_init" descr="f3_i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093" y="1188720"/>
            <a:ext cx="695181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Redes com inicializações diferentes: a média perde cerca de 7 pontos.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fedlib.py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Dígitos manuscritos da UCI, já padronizados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Partições: IID, shards e Dirichlet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Treino local: SGD de mini-lotes na softmax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FedAvg completo, com semente reprodutível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laboratório de bolso: clientes e servidor no mesmo computador.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o FedAvg</a:t>
            </a:r>
            <a:endParaRPr lang="en-US" sz="3200" dirty="0"/>
          </a:p>
        </p:txBody>
      </p:sp>
      <p:sp>
        <p:nvSpPr>
          <p:cNvPr id="3" name="fundo codigo"/>
          <p:cNvSpPr/>
          <p:nvPr/>
        </p:nvSpPr>
        <p:spPr>
          <a:xfrm>
            <a:off x="457200" y="12344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igo"/>
          <p:cNvSpPr txBox="1"/>
          <p:nvPr/>
        </p:nvSpPr>
        <p:spPr>
          <a:xfrm>
            <a:off x="594360" y="13258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fedlib import *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carregar_digits()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 = particao_iid(ytr, k=10)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hist = fedavg(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partes, Xtr, ytr, Xte, yte,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rodadas=30, epocas=5,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eta=0.1, lote=32)</a:t>
            </a:r>
            <a:endParaRPr lang="en-US" sz="1200" dirty="0"/>
          </a:p>
        </p:txBody>
      </p:sp>
      <p:sp>
        <p:nvSpPr>
          <p:cNvPr id="5" name="fundo saida"/>
          <p:cNvSpPr/>
          <p:nvPr/>
        </p:nvSpPr>
        <p:spPr>
          <a:xfrm>
            <a:off x="5760720" y="123444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saida"/>
          <p:cNvSpPr txBox="1"/>
          <p:nvPr/>
        </p:nvSpPr>
        <p:spPr>
          <a:xfrm>
            <a:off x="5852160" y="1298448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 1: 0.909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 5: 0.947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10: 0.958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30: 0.962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centralizado: 0.969</a:t>
            </a:r>
            <a:endParaRPr lang="en-US" sz="1200" dirty="0"/>
          </a:p>
        </p:txBody>
      </p:sp>
      <p:sp>
        <p:nvSpPr>
          <p:cNvPr id="7" name="nota codigo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Perto do centralizado, sem que nenhum dado saísse dos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aprende mais rápido que FedSGD</a:t>
            </a:r>
            <a:endParaRPr lang="en-US" sz="3200" dirty="0"/>
          </a:p>
        </p:txBody>
      </p:sp>
      <p:pic>
        <p:nvPicPr>
          <p:cNvPr id="3" name="figura f3_curvas" descr="f3_curv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492" y="1188720"/>
            <a:ext cx="4929017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Mesmo número de rodadas: cada rodada aproveita muito mais cálculo local.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E e de C</a:t>
            </a:r>
            <a:endParaRPr lang="en-US" sz="3200" dirty="0"/>
          </a:p>
        </p:txBody>
      </p:sp>
      <p:pic>
        <p:nvPicPr>
          <p:cNvPr id="3" name="figura f3_hiper" descr="f3_hi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90" y="1188720"/>
            <a:ext cx="7583621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Mais épocas locais aceleram o início; em IID, C pouco muda no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uma rodada?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52 KB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softmax dos dígitos, 10 clientes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80 MB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rede de 10 milhões de parâmetros, por cliente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</a:rPr>
              <a:t>2×4×|w|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bytes por cliente e rodada (descida + subida)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enviar um vídeo pequeno é fácil; enviar mil vídeos por cliente é o problema.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também pode ser esperto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Trate a diferença média como um gradiente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FedAdam, FedYogi e FedAdagrad (Reddi et al., 2021)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Podem ajudar em problemas mal condicionados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Voltam no Capítulo 4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Mais cálculo em casa, menos conversa com o servidor.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É por isso que o FedAvg funciona na prática.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que o cliente devolve ao servidor em uma rodada típica?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dados brutos.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atualizado (ou a diferença em relação ao modelo recebido).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os rótulos.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nome das classes.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 K = 50 e C = 0,3, quantos clientes participam de cada rodada?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Quantos parâmetros tem a softmax usada para os dígitos na fedlib.py (65 atributos incluindo viés, 10 classes)?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64.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650.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2.410.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6.500.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Sua primeira agregação à mão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Reproduzindo a curva do FedAvg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Variando E e η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Calculando o custo de comunicação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Rede de Hospitais: do central ao federado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rodada: sortear → enviar → treinar localmente → devolver → agregar.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754342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Agregação do FedAvg: média ponderada por n_k / n_S.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274243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 (fração de clientes), E (épocas locais), B (lote), η (passo).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2794145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FedSGD = um passo por rodada. FedAvg = vários passos locais: menos rodadas.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314047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Em redes neurais, todos devem partir do mesmo modelo inicial.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3833949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Custo por rodada ≈ 2 × 4 bytes × |w| × clientes sorteados.</a:t>
            </a:r>
            <a:endParaRPr lang="en-US" sz="1400" dirty="0"/>
          </a:p>
        </p:txBody>
      </p:sp>
      <p:sp>
        <p:nvSpPr>
          <p:cNvPr id="11" name="resumo 7"/>
          <p:cNvSpPr txBox="1"/>
          <p:nvPr/>
        </p:nvSpPr>
        <p:spPr>
          <a:xfrm>
            <a:off x="457200" y="4353850"/>
            <a:ext cx="8229600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fedlib.py simula tudo em um computador e será reutilizada ao longo do livro.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Sortear, enviar, treinar, devolver, agregar. De novo.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quando os dados dos clientes não são iguais (não-IID).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3 — Anatomia de um Sistema Federado: FedSGD e FedAvg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2026-10-27T00:03:26Z</dcterms:created>
  <dcterms:modified xsi:type="dcterms:W3CDTF">2026-10-27T00:03:26Z</dcterms:modified>
</cp:coreProperties>
</file>