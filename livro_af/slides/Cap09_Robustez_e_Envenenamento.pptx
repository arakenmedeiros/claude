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0260721-f839-b4e2-75a6-d8aaee9b22cb}">
          <p14:sldIdLst>
            <p14:sldId id="256"/>
            <p14:sldId id="257"/>
            <p14:sldId id="258"/>
          </p14:sldIdLst>
        </p14:section>
        <p14:section name="Conteúdo" id="{6c52c5f6-8934-c425-2c1b-c817d9da723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Prática e fechamento" id="{8e12c4ff-1486-a991-05da-4156fa01294b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problema do trapaceiro.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Termo vem do problema dos generais bizantinos.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eixos: onde e para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da taxonomia.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único valor absurdo move a média sem limite.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do experimento com 30% de maliciosos.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Yin et al. (2018).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Blanchard et al. (2017). Descartar informação tem custo.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9.3.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Bagdasaryan et al. (2020): substituição de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9.4.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ASR: fração de imagens com gatilho classificadas como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Mediana vence aqui porque os honestos são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nenhum atacante, mediana e aparada perdem acurácia.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Tensão fundamental.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Kairouz et al. (2021).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Corrida armamentista.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objetivo é degradar o desempenho geral.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Isso reduz a perda de informação do Krum.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Em IID, as atualizações honestas se agrupam, e as maliciosas ficam nas pontas.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9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9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DE68A"/>
                </a:solidFill>
              </a:rPr>
              <a:t>PARTE III — PRIVACIDADE E SEGURANÇA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Quando Alguém Trapaceia: Robustez e Ataques de Envenenamento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Um único trapaceiro pode estragar a média de todos.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Distinguir ataques de envenenamento de dados e de modelo, e ataques não direcionados e direcionados (backdoor).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por que a média é frágil diante de um único participante malicioso.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Descrever e implementar agregadores robustos: mediana, média aparada, Krum e corte de norma.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Executar um ataque de backdoor simples e medir seu sucesso.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Reconhecer o custo da robustez quando os dados são não-IID.</a:t>
            </a:r>
            <a:endParaRPr lang="en-US" sz="1400" dirty="0"/>
          </a:p>
        </p:txBody>
      </p:sp>
      <p:sp>
        <p:nvSpPr>
          <p:cNvPr id="18" name="icone-fundo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14" y="4203314"/>
            <a:ext cx="225308" cy="225308"/>
          </a:xfrm>
          <a:prstGeom prst="rect">
            <a:avLst/>
          </a:prstGeom>
        </p:spPr>
      </p:pic>
      <p:sp>
        <p:nvSpPr>
          <p:cNvPr id="20" name="objetivo 6"/>
          <p:cNvSpPr txBox="1"/>
          <p:nvPr/>
        </p:nvSpPr>
        <p:spPr>
          <a:xfrm>
            <a:off x="1051560" y="40782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Entender a tensão entre agregação segura e detecção de clientes maliciosos.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Quem trapaceia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Por que a média quebra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Agregadores robustos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Backdoor e o custo da robustez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Um único aluno que grita a nota errada estraga a média da turma.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É isso que a média faz com um trapaceiro.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adversário bizantino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Cliente falho ou malicioso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Envia qualquer coisa que quiser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Pode combinar com outros (conluio)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 servidor não sabe quem é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 jurado comprado em um júri.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ou modelo? Geral ou direcionado?</a:t>
            </a:r>
            <a:endParaRPr lang="en-US" sz="3200" dirty="0"/>
          </a:p>
        </p:txBody>
      </p:sp>
      <p:graphicFrame>
        <p:nvGraphicFramePr>
          <p:cNvPr id="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 que o atacante altera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Objetivo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Envenenamento de dados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Os dados locais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Degradar ou plantar gatilho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Envenenamento de modelo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atualização enviada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Mais poder, mais estrago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Não direcionado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Qualquer coisa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Derrubar a acurácia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Backdoor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Dados com gatilho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Errar só com o gatilho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dos ataques</a:t>
            </a:r>
            <a:endParaRPr lang="en-US" sz="3200" dirty="0"/>
          </a:p>
        </p:txBody>
      </p:sp>
      <p:pic>
        <p:nvPicPr>
          <p:cNvPr id="3" name="figura f9_taxonomia" descr="f9_taxonom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702" y="1188720"/>
            <a:ext cx="6614595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De onde vem o ataque e o que ele quer.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× mediana</a:t>
            </a:r>
            <a:endParaRPr lang="en-US" sz="3200" dirty="0"/>
          </a:p>
        </p:txBody>
      </p:sp>
      <p:pic>
        <p:nvPicPr>
          <p:cNvPr id="3" name="figura f9_media_mediana" descr="f9_media_medi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352" y="1188720"/>
            <a:ext cx="5199295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Um valor extremo arrasta a média; a mediana mal se mexe.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tem ponto de ruptura zero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Um atacante escolhe qualquer valor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média o segue linearmente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Basta um cliente para controlar o modelo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Sinal invertido ×3: acurácia vai a ~0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uma gota de tinta no copo inteiro de água.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 média aparada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Mediana: valor do meio, coordenada a coordenada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Aparada: descarta os extremos e faz a média do resto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Resistem a até quase metade de maliciosos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Mantêm acurácia perto de 0,92 a 0,96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ignorar o maior e o menor gritos da sala.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Krum e corte de norma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Krum: escolhe o cliente mais próximo dos demais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Multi-Krum: média dos mais próximos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Corte de norma: limita o tamanho da atualização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Krum puro perde ~7 pontos mesmo sem ataque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escolher o aluno que mais se parece com a turma.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× agregadores</a:t>
            </a:r>
            <a:endParaRPr lang="en-US" sz="3200" dirty="0"/>
          </a:p>
        </p:txBody>
      </p:sp>
      <p:pic>
        <p:nvPicPr>
          <p:cNvPr id="3" name="figura f9_ataques" descr="f9_ata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1188720"/>
            <a:ext cx="6565392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Com 30% de maliciosos a média sucumbe; mediana e aparada resistem.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Backdoor: o ataque que não se vê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Gatilho: bloco de pixels no canto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Alvo: tudo com gatilho vira classe 0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Acurácia normal mal muda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Amplificar a atualização (γ) reforça o efeito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 segurança que deixa passar quem usa um crachá secreto.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gatilho e o resultado</a:t>
            </a:r>
            <a:endParaRPr lang="en-US" sz="3200" dirty="0"/>
          </a:p>
        </p:txBody>
      </p:sp>
      <p:pic>
        <p:nvPicPr>
          <p:cNvPr id="3" name="figura f9_backdoor" descr="f9_backd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8649"/>
            <a:ext cx="8229600" cy="2957663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Com a média o gatilho quase sempre funciona.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contra a média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0,77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ASR com 10% de maliciosos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0,97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ASR com amplificação (γ = 5)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0,92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ASR com 20% de maliciosos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10% de trapaceiros bastam para o gatilho obedecer.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barra o backdoor (dados IID)?</a:t>
            </a:r>
            <a:endParaRPr lang="en-US" sz="3200" dirty="0"/>
          </a:p>
        </p:txBody>
      </p:sp>
      <p:graphicFrame>
        <p:nvGraphicFramePr>
          <p:cNvPr id="1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Agregador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Média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0,77 a 0,97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Vulnerável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Corte de norma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~0,7 a 0,9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Não resolve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Mediana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Eficaz em IID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Média aparada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Eficaz em IID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da robustez em não-IID</a:t>
            </a:r>
            <a:endParaRPr lang="en-US" sz="3200" dirty="0"/>
          </a:p>
        </p:txBody>
      </p:sp>
      <p:pic>
        <p:nvPicPr>
          <p:cNvPr id="3" name="figura f9_noniid" descr="f9_noni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1972" y="1188720"/>
            <a:ext cx="5420056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Quanto mais heterogêneos os honestos, mais a defesa os confunde com atacantes.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× heterogeneidade</a:t>
            </a:r>
            <a:endParaRPr lang="en-US" sz="3200" dirty="0"/>
          </a:p>
        </p:txBody>
      </p:sp>
      <p:sp>
        <p:nvSpPr>
          <p:cNvPr id="3" name="coluna Honestos parecidos"/>
          <p:cNvSpPr/>
          <p:nvPr/>
        </p:nvSpPr>
        <p:spPr>
          <a:xfrm>
            <a:off x="45720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becalho Honestos parecidos"/>
          <p:cNvSpPr txBox="1"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Honestos parecidos</a:t>
            </a:r>
            <a:endParaRPr lang="en-US" sz="2000" dirty="0"/>
          </a:p>
        </p:txBody>
      </p:sp>
      <p:sp>
        <p:nvSpPr>
          <p:cNvPr id="5" name="topicos"/>
          <p:cNvSpPr txBox="1"/>
          <p:nvPr/>
        </p:nvSpPr>
        <p:spPr>
          <a:xfrm>
            <a:off x="64008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Maliciosos se destacam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Mediana funciona bem</a:t>
            </a:r>
            <a:endParaRPr lang="en-US" sz="1500" dirty="0"/>
          </a:p>
        </p:txBody>
      </p:sp>
      <p:sp>
        <p:nvSpPr>
          <p:cNvPr id="6" name="coluna Honestos diferentes"/>
          <p:cNvSpPr/>
          <p:nvPr/>
        </p:nvSpPr>
        <p:spPr>
          <a:xfrm>
            <a:off x="475488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becalho Honestos diferentes"/>
          <p:cNvSpPr txBox="1"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Honestos diferentes</a:t>
            </a:r>
            <a:endParaRPr lang="en-US" sz="2000" dirty="0"/>
          </a:p>
        </p:txBody>
      </p:sp>
      <p:sp>
        <p:nvSpPr>
          <p:cNvPr id="8" name="topicos"/>
          <p:cNvSpPr txBox="1"/>
          <p:nvPr/>
        </p:nvSpPr>
        <p:spPr>
          <a:xfrm>
            <a:off x="493776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Diferente legítimo vira suspeito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Defesa descarta bons clientes</a:t>
            </a:r>
            <a:endParaRPr lang="en-US" sz="1500" dirty="0"/>
          </a:p>
        </p:txBody>
      </p:sp>
      <p:sp>
        <p:nvSpPr>
          <p:cNvPr id="9" name="cartao analogia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icone-fundo"/>
          <p:cNvSpPr/>
          <p:nvPr/>
        </p:nvSpPr>
        <p:spPr>
          <a:xfrm>
            <a:off x="594360" y="4206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306824"/>
            <a:ext cx="256032" cy="256032"/>
          </a:xfrm>
          <a:prstGeom prst="rect">
            <a:avLst/>
          </a:prstGeom>
        </p:spPr>
      </p:pic>
      <p:sp>
        <p:nvSpPr>
          <p:cNvPr id="12" name="analogia"/>
          <p:cNvSpPr txBox="1"/>
          <p:nvPr/>
        </p:nvSpPr>
        <p:spPr>
          <a:xfrm>
            <a:off x="1188720" y="415137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o segurança barra o visitante só por ser diferente.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× robustez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Para detectar, o servidor precisa ver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Agregação segura esconde as atualizações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Os dois objetivos colidem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Pesquisa tenta verificar limites sobre dados cifrados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revistar a mala sem abrir a mala.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Defesa sem ataque forte no teste é só otimismo.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Teste contra o adversário mais esperto que imaginar.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Um ataque não direcionado (untargeted) busca: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destruir a acurácia do modelo em geral.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fazer o modelo errar só com um gatilho.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roubar dados.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acelerar o treino.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Qual a diferença entre Krum e Multi-Krum?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Multi-Krum faz a média das q melhores atualizações em vez de escolher uma só.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Não há diferença.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Multi-Krum escolhe a pior.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Multi-Krum usa criptografia.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Por que a mediana funcionou bem no backdoor do experimento?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os clientes honestos eram parecidos entre si e os maliciosos eram minoria.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a mediana é criptografada.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os dados eram não-IID.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não havia ruído.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exercicio 1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exercicio 1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Ponto de ruptura na prática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7" name="exercicio 2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exercicio 2"/>
          <p:cNvSpPr txBox="1"/>
          <p:nvPr/>
        </p:nvSpPr>
        <p:spPr>
          <a:xfrm>
            <a:off x="640080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Troca de rótulos: até onde vai a média?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9" name="exercicio 3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exercicio 3"/>
          <p:cNvSpPr txBox="1"/>
          <p:nvPr/>
        </p:nvSpPr>
        <p:spPr>
          <a:xfrm>
            <a:off x="640080" y="24140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Quanto aparar?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1" name="exercicio 4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 exercicio 4"/>
          <p:cNvSpPr txBox="1"/>
          <p:nvPr/>
        </p:nvSpPr>
        <p:spPr>
          <a:xfrm>
            <a:off x="640080" y="29809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a mediana também cai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3" name="projeto"/>
          <p:cNvSpPr/>
          <p:nvPr/>
        </p:nvSpPr>
        <p:spPr>
          <a:xfrm>
            <a:off x="457200" y="359359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itulo projeto"/>
          <p:cNvSpPr txBox="1"/>
          <p:nvPr/>
        </p:nvSpPr>
        <p:spPr>
          <a:xfrm>
            <a:off x="685800" y="3593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Parecer de segurança: qual agregador adotar?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Clientes podem ser bizantinos: falhos ou maliciosos, enviando o que quiserem.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834896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Ataques: dados ou modelo; não direcionados ou backdoor.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43535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média quebra com 1 atacante. Mediana, média aparada, Krum e corte de norma são alternativas.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3035808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Backdoor: o modelo parece normal, mas obedece a um gatilho.</a:t>
            </a:r>
            <a:endParaRPr lang="en-US" sz="1400" dirty="0"/>
          </a:p>
        </p:txBody>
      </p:sp>
      <p:sp>
        <p:nvSpPr>
          <p:cNvPr id="9" name="resumo 5"/>
          <p:cNvSpPr txBox="1"/>
          <p:nvPr/>
        </p:nvSpPr>
        <p:spPr>
          <a:xfrm>
            <a:off x="457200" y="3636264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 dados não-IID, defesas robustas custam acurácia.</a:t>
            </a:r>
            <a:endParaRPr lang="en-US" sz="1400" dirty="0"/>
          </a:p>
        </p:txBody>
      </p:sp>
      <p:sp>
        <p:nvSpPr>
          <p:cNvPr id="10" name="resumo 6"/>
          <p:cNvSpPr txBox="1"/>
          <p:nvPr/>
        </p:nvSpPr>
        <p:spPr>
          <a:xfrm>
            <a:off x="457200" y="423672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Privacidade (agregação segura) e robustez estão em tensão.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Confiar, mas verificar. E medir sob ataque.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Próximo capítulo: outros desenhos — vertical, split learning e descentralizado.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9 — Quando Alguém Trapaceia: Robustez e Ataques de Envenenamento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2026-10-27T00:03:52Z</dcterms:created>
  <dcterms:modified xsi:type="dcterms:W3CDTF">2026-10-27T00:03:52Z</dcterms:modified>
</cp:coreProperties>
</file>