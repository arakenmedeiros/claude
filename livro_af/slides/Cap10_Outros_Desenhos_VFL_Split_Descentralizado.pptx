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27016a7-b2b1-a513-d611-92269e091b21}">
          <p14:sldIdLst>
            <p14:sldId id="256"/>
            <p14:sldId id="257"/>
            <p14:sldId id="258"/>
          </p14:sldIdLst>
        </p14:section>
        <p14:section name="Conteúdo" id="{65ab22cb-5a0c-7ea8-e12b-40ebc83b5718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Prática e fechamento" id="{7358c172-9a55-396b-e4de-6e0a9955697c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Linhas (fatias) × colunas (ingredientes).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Horizontal, vertical e por transferência.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Yang et al. (2019).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Troca de contribuições parciais e resíduos.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Antes, é preciso alinhar as entidades (PSI).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experimento do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experimento recupera 100% dos rótulos pelo sinal.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Gupta e Raskar (2018).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 faz pouco cálculo, mas o treino é sequencial.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experimento verifica equivalência exata com o treino convencional.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Anel, grade, completa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topologia define a velocidade do consenso.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Liu et al. (2020).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elimina o risco de vazamento: cada uma tem o seu.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Mesmos atributos, pessoas diferentes.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sinal do resíduo identifica y exatamente.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Com pesos iguais a 1/n, todos recebem a média global em uma rodada.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10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10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E68A"/>
                </a:solidFill>
              </a:rPr>
              <a:t>PARTE IV — ARQUITETURAS E FRONTEIRAS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Outros Desenhos: Federado Vertical, Split Learning, Descentralizado e por Transferência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Nem todo federado reparte os dados do mesmo jeito.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Distinguir aprendizado federado horizontal, vertical e por transferência, conforme a partição dos dados.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e implementar o treino de uma regressão logística vertical, com troca de resíduos.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Reconhecer o vazamento de rótulos no aprendizado federado vertical.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o split learning e verificar sua equivalência com o treino convencional.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o aprendizado descentralizado e como a topologia afeta o consenso.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Escolher a arquitetura adequada a um cenário.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Como os dados são repartidos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Federado vertical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Split learning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Descentralizado e transferência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Dividir uma pizza por fatias ou por ingredientes?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Os dados também podem ser divididos de duas formas.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tipos de partição</a:t>
            </a:r>
            <a:endParaRPr lang="en-US" sz="3200" dirty="0"/>
          </a:p>
        </p:txBody>
      </p:sp>
      <p:pic>
        <p:nvPicPr>
          <p:cNvPr id="3" name="figura f10_particoes" descr="f10_partico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16" y="1188720"/>
            <a:ext cx="7562968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Horizontal: mesmos atributos, pessoas diferentes. Vertical: mesmas pessoas, atributos diferentes.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× vertical × transferência</a:t>
            </a:r>
            <a:endParaRPr lang="en-US" sz="3200" dirty="0"/>
          </a:p>
        </p:txBody>
      </p:sp>
      <p:graphicFrame>
        <p:nvGraphicFramePr>
          <p:cNvPr id="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 que se repete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Horizontal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Atributos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Hospitais com os mesmos exames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Vertical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Pessoas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Banco + varejo com o mesmo cliente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Transferência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Pouco ou nada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Domínios diferentes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Federado vertical (VFL)</a:t>
            </a:r>
            <a:endParaRPr lang="en-US" sz="3200" dirty="0"/>
          </a:p>
        </p:txBody>
      </p:sp>
      <p:pic>
        <p:nvPicPr>
          <p:cNvPr id="3" name="figura f10_vfl" descr="f10_vf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702" y="1188720"/>
            <a:ext cx="6614595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Cada parte calcula sua contribuição z; só o dono do rótulo vê o resíduo.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rodada de VFL</a:t>
            </a:r>
            <a:endParaRPr lang="en-US" sz="3200" dirty="0"/>
          </a:p>
        </p:txBody>
      </p:sp>
      <p:sp>
        <p:nvSpPr>
          <p:cNvPr id="3" name="passo 1"/>
          <p:cNvSpPr/>
          <p:nvPr/>
        </p:nvSpPr>
        <p:spPr>
          <a:xfrm>
            <a:off x="45720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icone-fundo"/>
          <p:cNvSpPr/>
          <p:nvPr/>
        </p:nvSpPr>
        <p:spPr>
          <a:xfrm>
            <a:off x="1137285" y="1463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num passo 1"/>
          <p:cNvSpPr txBox="1"/>
          <p:nvPr/>
        </p:nvSpPr>
        <p:spPr>
          <a:xfrm>
            <a:off x="113728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passo 1"/>
          <p:cNvSpPr txBox="1"/>
          <p:nvPr/>
        </p:nvSpPr>
        <p:spPr>
          <a:xfrm>
            <a:off x="54864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 passo 1"/>
          <p:cNvSpPr txBox="1"/>
          <p:nvPr/>
        </p:nvSpPr>
        <p:spPr>
          <a:xfrm>
            <a:off x="56692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parte calcula z_k com suas colunas</a:t>
            </a:r>
            <a:endParaRPr lang="en-US" sz="1400" dirty="0"/>
          </a:p>
        </p:txBody>
      </p:sp>
      <p:sp>
        <p:nvSpPr>
          <p:cNvPr id="8" name="seta 1"/>
          <p:cNvSpPr txBox="1"/>
          <p:nvPr/>
        </p:nvSpPr>
        <p:spPr>
          <a:xfrm>
            <a:off x="227457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➜</a:t>
            </a:r>
            <a:endParaRPr lang="en-US" sz="1800" dirty="0"/>
          </a:p>
        </p:txBody>
      </p:sp>
      <p:sp>
        <p:nvSpPr>
          <p:cNvPr id="9" name="passo 2"/>
          <p:cNvSpPr/>
          <p:nvPr/>
        </p:nvSpPr>
        <p:spPr>
          <a:xfrm>
            <a:off x="259461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3274695" y="1463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num passo 2"/>
          <p:cNvSpPr txBox="1"/>
          <p:nvPr/>
        </p:nvSpPr>
        <p:spPr>
          <a:xfrm>
            <a:off x="327469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itulo passo 2"/>
          <p:cNvSpPr txBox="1"/>
          <p:nvPr/>
        </p:nvSpPr>
        <p:spPr>
          <a:xfrm>
            <a:off x="268605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o passo 2"/>
          <p:cNvSpPr txBox="1"/>
          <p:nvPr/>
        </p:nvSpPr>
        <p:spPr>
          <a:xfrm>
            <a:off x="270433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Soma de z_k e cálculo de p</a:t>
            </a:r>
            <a:endParaRPr lang="en-US" sz="1400" dirty="0"/>
          </a:p>
        </p:txBody>
      </p:sp>
      <p:sp>
        <p:nvSpPr>
          <p:cNvPr id="14" name="seta 2"/>
          <p:cNvSpPr txBox="1"/>
          <p:nvPr/>
        </p:nvSpPr>
        <p:spPr>
          <a:xfrm>
            <a:off x="441198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➜</a:t>
            </a:r>
            <a:endParaRPr lang="en-US" sz="1800" dirty="0"/>
          </a:p>
        </p:txBody>
      </p:sp>
      <p:sp>
        <p:nvSpPr>
          <p:cNvPr id="15" name="passo 3"/>
          <p:cNvSpPr/>
          <p:nvPr/>
        </p:nvSpPr>
        <p:spPr>
          <a:xfrm>
            <a:off x="473202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icone-fundo"/>
          <p:cNvSpPr/>
          <p:nvPr/>
        </p:nvSpPr>
        <p:spPr>
          <a:xfrm>
            <a:off x="5412105" y="1463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num passo 3"/>
          <p:cNvSpPr txBox="1"/>
          <p:nvPr/>
        </p:nvSpPr>
        <p:spPr>
          <a:xfrm>
            <a:off x="541210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itulo passo 3"/>
          <p:cNvSpPr txBox="1"/>
          <p:nvPr/>
        </p:nvSpPr>
        <p:spPr>
          <a:xfrm>
            <a:off x="482346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o passo 3"/>
          <p:cNvSpPr txBox="1"/>
          <p:nvPr/>
        </p:nvSpPr>
        <p:spPr>
          <a:xfrm>
            <a:off x="484174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Dono do rótulo envia o resíduo (p − y)</a:t>
            </a:r>
            <a:endParaRPr lang="en-US" sz="1400" dirty="0"/>
          </a:p>
        </p:txBody>
      </p:sp>
      <p:sp>
        <p:nvSpPr>
          <p:cNvPr id="20" name="seta 3"/>
          <p:cNvSpPr txBox="1"/>
          <p:nvPr/>
        </p:nvSpPr>
        <p:spPr>
          <a:xfrm>
            <a:off x="654939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➜</a:t>
            </a:r>
            <a:endParaRPr lang="en-US" sz="1800" dirty="0"/>
          </a:p>
        </p:txBody>
      </p:sp>
      <p:sp>
        <p:nvSpPr>
          <p:cNvPr id="21" name="passo 4"/>
          <p:cNvSpPr/>
          <p:nvPr/>
        </p:nvSpPr>
        <p:spPr>
          <a:xfrm>
            <a:off x="686943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icone-fundo"/>
          <p:cNvSpPr/>
          <p:nvPr/>
        </p:nvSpPr>
        <p:spPr>
          <a:xfrm>
            <a:off x="7549515" y="1463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num passo 4"/>
          <p:cNvSpPr txBox="1"/>
          <p:nvPr/>
        </p:nvSpPr>
        <p:spPr>
          <a:xfrm>
            <a:off x="754951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itulo passo 4"/>
          <p:cNvSpPr txBox="1"/>
          <p:nvPr/>
        </p:nvSpPr>
        <p:spPr>
          <a:xfrm>
            <a:off x="696087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o passo 4"/>
          <p:cNvSpPr txBox="1"/>
          <p:nvPr/>
        </p:nvSpPr>
        <p:spPr>
          <a:xfrm>
            <a:off x="697915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parte atualiza seus pesos</a:t>
            </a:r>
            <a:endParaRPr lang="en-US" sz="1400" dirty="0"/>
          </a:p>
        </p:txBody>
      </p:sp>
      <p:sp>
        <p:nvSpPr>
          <p:cNvPr id="26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29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cada um monta a sua peça do quebra-cabeça.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sem juntar colunas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Cada parte sozinha: pior que o conjunto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VFL com 3 partes: nível do centralizado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Nenhuma coluna saiu do dono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Dataset: Breast Cancer Wisconsin (UCI)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três chefs, cada um com seus ingredientes, no mesmo prato.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o resíduo vaza o rótulo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Resíduo = p − y, com p entre 0 e 1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 = 1: resíduo negativo; y = 0: positivo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 sinal revela o rótulo de cada pessoa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Defesa: criptografia, DP no resíduo, agregação segura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 bilhete com a resposta escrita ao contrário.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learning</a:t>
            </a:r>
            <a:endParaRPr lang="en-US" sz="3200" dirty="0"/>
          </a:p>
        </p:txBody>
      </p:sp>
      <p:pic>
        <p:nvPicPr>
          <p:cNvPr id="3" name="figura f10_split" descr="f10_sp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16" y="1188720"/>
            <a:ext cx="7562968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O cliente envia ativações na camada de corte e recebe o gradiente de volta.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a rede em duas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Cliente: primeiras camadas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Servidor: últimas camadas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Troca de ativações e gradientes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Dados brutos nunca saem do cliente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uma linha de montagem dividida em duas fábricas.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learning = treino normal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</a:rPr>
              <a:t>0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diferença nos pesos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</a:rPr>
              <a:t>=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regra da cadeia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</a:rPr>
              <a:t>⚠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ativações podem vazar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passar a bola de mão em mão não muda o gol.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descentralizado</a:t>
            </a:r>
            <a:endParaRPr lang="en-US" sz="3200" dirty="0"/>
          </a:p>
        </p:txBody>
      </p:sp>
      <p:pic>
        <p:nvPicPr>
          <p:cNvPr id="3" name="figura f10_topologias" descr="f10_topolog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5851"/>
            <a:ext cx="8229600" cy="2943258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Sem servidor: cada nó conversa com seus vizinhos.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e consenso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Cada nó média com os vizinhos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Repetindo, todos tendem ao mesmo valor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Anel: lento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Grafo completo: rápido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boato que se espalha pela vizinhança.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Federado por transferência (FTL)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Pouca sobreposição de pessoas e atributos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Aprende um espaço comum entre domínios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Transfere conhecimento, não dados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Mais complexo e menos maduro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 tradutor entre dois idiomas diferentes.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arquitetura escolher?</a:t>
            </a:r>
            <a:endParaRPr lang="en-US" sz="3200" dirty="0"/>
          </a:p>
        </p:txBody>
      </p:sp>
      <p:graphicFrame>
        <p:nvGraphicFramePr>
          <p:cNvPr id="18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Cenário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Escolha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Muitos dispositivos, mesmos atributos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Horizontal (FedAvg)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Duas empresas, mesmos clientes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Vertical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Cliente fraco, rede grande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Split learning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Sem servidor confiável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Descentralizado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Domínios muito distintos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Transferência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Cada desenho resolve um problema e cria outro.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Escolha pelo cenário, não pela moda.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Dois hospitais com o mesmo tipo de exame, mas pacientes distintos, ilustram: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federado horizontal.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federado vertical.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por transferência.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descentralizado.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experimento do capítulo, qual fração dos rótulos foi recuperada pelo sinal do resíduo na primeira iteração?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100%.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50%.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10%.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experimento de topologias, qual conseguiu consenso imediato?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completa (todos com todos).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anel.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estrela.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Nenhuma.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Quantos participantes?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Ruído no resíduo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Comunicação: split learning contra FedAvg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Velocidade do consenso no anel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Banco e loja: quando o aprendizado vertical compensa?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partição dos dados define o tipo: horizontal, vertical ou por transferência.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834896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VFL: cada parte envia z_k; o resíduo volta; cada uma atualiza seus pesos. Requer alinhar entidades.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43535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Split learning: cliente e servidor dividem as camadas e trocam ativações e gradientes.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3035808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Descentralizado: gossip e consenso; anel é lento, completa é rápida.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636264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FTL: transferência de conhecimento por um espaço comum.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423672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Nenhuma arquitetura elimina o risco de vazamento: cada uma tem o seu.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Primeiro entenda como seus dados estão repartidos.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fronteiras, prática e ética.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10 — Outros Desenhos: Federado Vertical, Split Learning, Descentralizado e por Transferência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2026-10-27T00:03:31Z</dcterms:created>
  <dcterms:modified xsi:type="dcterms:W3CDTF">2026-10-27T00:03:31Z</dcterms:modified>
</cp:coreProperties>
</file>