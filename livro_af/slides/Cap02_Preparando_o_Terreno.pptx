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abc610e5-5c45-6803-24f4-019c86518f77}">
          <p14:sldIdLst>
            <p14:sldId id="256"/>
            <p14:sldId id="257"/>
            <p14:sldId id="258"/>
          </p14:sldIdLst>
        </p14:section>
        <p14:section name="Conteúdo" id="{bdbb9db6-d599-9417-4960-a271e0f477cf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Prática e fechamento" id="{10ceeec2-3aac-994c-c131-1276ea4feffa}">
          <p14:sldIdLst>
            <p14:sldId id="274"/>
            <p14:sldId id="275"/>
            <p14:sldId id="276"/>
            <p14:sldId id="277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Leia o gancho em voz alta e pergunte à turma o que esperam aprender neste capítulo.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que a turma leia os objetivos em silêncio e marque o que já sabe. No fim da aula, volte a esta lista.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caminho da aula. Cada bloco leva de 8 a 12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com o pênalti: chuta, vê onde a bola foi, corrige a mira.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Estabeleça o vocabulário: X, y, 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os dois exemplos numéricos de −log.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Faça a ponte com o Capítulo 1: F_k é o erro do cliente 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Analogia da neblina: só enxergamos o chão sob os pés. A regra é w ← w − η·∇F(w).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Dica prática: se a perda sobe ou fica louca, reduza η pela metade.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Defina época (uma passada pelos dados) e passo (uma atualização). 1.000 exemplos com lote 50 = 20 passos por época.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Aluno que decora a prova de treino e vai mal na prova nova.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Aviso: escolher hiperparâmetros olhando o teste vaza informação e deixa o resultado otimista.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Exemplo central: classes desbalanceadas. No Exercício 3 o modelo ingênuo tem F1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ideia que habilita o federado: tratar o modelo como vetor.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coef_ e intercept_: é isto que o servidor envia e recebe.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 idêntico ao StandardScaler que olha todos os dados, com erro de arredondamento na casa de 1e-13.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Cuidado: média simples das médias ignora os pesos n_k. É o mesmo motivo da ponderação no FedAvg.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Gancho para K-means e PCA federados.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A. A perda quantifica o quanto a previsão está errada. Dê 30 segundos para a turma votar levantando a mão e peça que alguém justifique.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B. Época é uma passada completa; passo é uma atualização. Dê 30 segundos para a turma votar levantando a mão e peça que alguém justifique.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B. 64 × 10 + 10 = 650. Dê 30 segundos para a turma votar levantando a mão e peça que alguém justifique.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enunciados completos e as soluções estão nos Apêndices D e E do livro. Sugestão: resolver o exercício 1 em dupla, em sala.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Revisão em voz alta. Peça a um aluno que explique cada item com uma analogia diferente da usada em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 Anuncie a leitura recomendada e o próximo 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Aprendizado Federado · Cap. 2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Aprendizado Federado · Cap. 2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aixa do capitulo" descr="Faixa do capítulo 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721877"/>
          </a:xfrm>
          <a:prstGeom prst="rect">
            <a:avLst/>
          </a:prstGeom>
        </p:spPr>
      </p:pic>
      <p:sp>
        <p:nvSpPr>
          <p:cNvPr id="3" name="parte"/>
          <p:cNvSpPr txBox="1"/>
          <p:nvPr/>
        </p:nvSpPr>
        <p:spPr>
          <a:xfrm>
            <a:off x="548640" y="2011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5B4FC"/>
                </a:solidFill>
              </a:rPr>
              <a:t>PARTE I — FUNDAMENTOS</a:t>
            </a:r>
            <a:endParaRPr lang="en-US" sz="1400" dirty="0"/>
          </a:p>
        </p:txBody>
      </p:sp>
      <p:sp>
        <p:nvSpPr>
          <p:cNvPr id="4" name="titulo do capitulo"/>
          <p:cNvSpPr txBox="1"/>
          <p:nvPr/>
        </p:nvSpPr>
        <p:spPr>
          <a:xfrm>
            <a:off x="548640" y="242316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Preparando o Terreno: Dados, Modelos e Otimização</a:t>
            </a:r>
            <a:endParaRPr lang="en-US" sz="3400" dirty="0"/>
          </a:p>
        </p:txBody>
      </p:sp>
      <p:sp>
        <p:nvSpPr>
          <p:cNvPr id="5" name="gancho"/>
          <p:cNvSpPr txBox="1"/>
          <p:nvPr/>
        </p:nvSpPr>
        <p:spPr>
          <a:xfrm>
            <a:off x="548640" y="3931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7E8F9"/>
                </a:solidFill>
              </a:rPr>
              <a:t>Antes de treinar em equipe, é preciso saber treinar sozinho.</a:t>
            </a:r>
            <a:endParaRPr lang="en-US" sz="1800" dirty="0"/>
          </a:p>
        </p:txBody>
      </p:sp>
      <p:sp>
        <p:nvSpPr>
          <p:cNvPr id="6" name="autor"/>
          <p:cNvSpPr txBox="1"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Araken de Medeiros Santos  ·  Aprendizado Federado: Fundamentos, Prática e Fronteiras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vai conseguir fazer</a:t>
            </a:r>
            <a:endParaRPr lang="en-US" sz="3200" dirty="0"/>
          </a:p>
        </p:txBody>
      </p:sp>
      <p:sp>
        <p:nvSpPr>
          <p:cNvPr id="3" name="icone-fundo"/>
          <p:cNvSpPr/>
          <p:nvPr/>
        </p:nvSpPr>
        <p:spPr>
          <a:xfrm>
            <a:off x="457200" y="1280160"/>
            <a:ext cx="402336" cy="40233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714" y="1368674"/>
            <a:ext cx="225308" cy="225308"/>
          </a:xfrm>
          <a:prstGeom prst="rect">
            <a:avLst/>
          </a:prstGeom>
        </p:spPr>
      </p:pic>
      <p:sp>
        <p:nvSpPr>
          <p:cNvPr id="5" name="objetivo 1"/>
          <p:cNvSpPr txBox="1"/>
          <p:nvPr/>
        </p:nvSpPr>
        <p:spPr>
          <a:xfrm>
            <a:off x="1051560" y="1243584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Explicar o que são exemplos, atributos, rótulos, modelo, parâmetros e função de perda.</a:t>
            </a:r>
            <a:endParaRPr lang="en-US" sz="1400" dirty="0"/>
          </a:p>
        </p:txBody>
      </p:sp>
      <p:sp>
        <p:nvSpPr>
          <p:cNvPr id="6" name="icone-fundo"/>
          <p:cNvSpPr/>
          <p:nvPr/>
        </p:nvSpPr>
        <p:spPr>
          <a:xfrm>
            <a:off x="457200" y="1847088"/>
            <a:ext cx="402336" cy="40233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7" name="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714" y="1935602"/>
            <a:ext cx="225308" cy="225308"/>
          </a:xfrm>
          <a:prstGeom prst="rect">
            <a:avLst/>
          </a:prstGeom>
        </p:spPr>
      </p:pic>
      <p:sp>
        <p:nvSpPr>
          <p:cNvPr id="8" name="objetivo 2"/>
          <p:cNvSpPr txBox="1"/>
          <p:nvPr/>
        </p:nvSpPr>
        <p:spPr>
          <a:xfrm>
            <a:off x="1051560" y="1810512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Descrever o gradiente descendente e o SGD com mini-lotes, e o papel da taxa de aprendizado.</a:t>
            </a:r>
            <a:endParaRPr lang="en-US" sz="1400" dirty="0"/>
          </a:p>
        </p:txBody>
      </p:sp>
      <p:sp>
        <p:nvSpPr>
          <p:cNvPr id="9" name="icone-fundo"/>
          <p:cNvSpPr/>
          <p:nvPr/>
        </p:nvSpPr>
        <p:spPr>
          <a:xfrm>
            <a:off x="457200" y="2414016"/>
            <a:ext cx="402336" cy="40233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10" name="i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714" y="2502530"/>
            <a:ext cx="225308" cy="225308"/>
          </a:xfrm>
          <a:prstGeom prst="rect">
            <a:avLst/>
          </a:prstGeom>
        </p:spPr>
      </p:pic>
      <p:sp>
        <p:nvSpPr>
          <p:cNvPr id="11" name="objetivo 3"/>
          <p:cNvSpPr txBox="1"/>
          <p:nvPr/>
        </p:nvSpPr>
        <p:spPr>
          <a:xfrm>
            <a:off x="1051560" y="237744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Reconhecer sobreajuste e usar treino, validação e teste.</a:t>
            </a:r>
            <a:endParaRPr lang="en-US" sz="1400" dirty="0"/>
          </a:p>
        </p:txBody>
      </p:sp>
      <p:sp>
        <p:nvSpPr>
          <p:cNvPr id="12" name="icone-fundo"/>
          <p:cNvSpPr/>
          <p:nvPr/>
        </p:nvSpPr>
        <p:spPr>
          <a:xfrm>
            <a:off x="457200" y="2980944"/>
            <a:ext cx="402336" cy="40233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13" name="i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714" y="3069458"/>
            <a:ext cx="225308" cy="225308"/>
          </a:xfrm>
          <a:prstGeom prst="rect">
            <a:avLst/>
          </a:prstGeom>
        </p:spPr>
      </p:pic>
      <p:sp>
        <p:nvSpPr>
          <p:cNvPr id="14" name="objetivo 4"/>
          <p:cNvSpPr txBox="1"/>
          <p:nvPr/>
        </p:nvSpPr>
        <p:spPr>
          <a:xfrm>
            <a:off x="1051560" y="2944368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Calcular métricas de classificação, incluindo F1, e saber quando a acurácia engana.</a:t>
            </a:r>
            <a:endParaRPr lang="en-US" sz="1400" dirty="0"/>
          </a:p>
        </p:txBody>
      </p:sp>
      <p:sp>
        <p:nvSpPr>
          <p:cNvPr id="15" name="icone-fundo"/>
          <p:cNvSpPr/>
          <p:nvPr/>
        </p:nvSpPr>
        <p:spPr>
          <a:xfrm>
            <a:off x="457200" y="3547872"/>
            <a:ext cx="402336" cy="40233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16" name="i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714" y="3636386"/>
            <a:ext cx="225308" cy="225308"/>
          </a:xfrm>
          <a:prstGeom prst="rect">
            <a:avLst/>
          </a:prstGeom>
        </p:spPr>
      </p:pic>
      <p:sp>
        <p:nvSpPr>
          <p:cNvPr id="17" name="objetivo 5"/>
          <p:cNvSpPr txBox="1"/>
          <p:nvPr/>
        </p:nvSpPr>
        <p:spPr>
          <a:xfrm>
            <a:off x="1051560" y="3511296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Calcular estatísticas globais, como média e desvio padrão, de forma federada.</a:t>
            </a:r>
            <a:endParaRPr lang="en-US" sz="1400" dirty="0"/>
          </a:p>
        </p:txBody>
      </p:sp>
      <p:sp>
        <p:nvSpPr>
          <p:cNvPr id="18" name="icone-fundo"/>
          <p:cNvSpPr/>
          <p:nvPr/>
        </p:nvSpPr>
        <p:spPr>
          <a:xfrm>
            <a:off x="457200" y="4114800"/>
            <a:ext cx="402336" cy="40233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19" name="icon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714" y="4203314"/>
            <a:ext cx="225308" cy="225308"/>
          </a:xfrm>
          <a:prstGeom prst="rect">
            <a:avLst/>
          </a:prstGeom>
        </p:spPr>
      </p:pic>
      <p:sp>
        <p:nvSpPr>
          <p:cNvPr id="20" name="objetivo 6"/>
          <p:cNvSpPr txBox="1"/>
          <p:nvPr/>
        </p:nvSpPr>
        <p:spPr>
          <a:xfrm>
            <a:off x="1051560" y="4078224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Usar partial_fit e warm_start do scikit-learn para pausar e retomar o treino.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da aula</a:t>
            </a:r>
            <a:endParaRPr lang="en-US" sz="3200" dirty="0"/>
          </a:p>
        </p:txBody>
      </p:sp>
      <p:sp>
        <p:nvSpPr>
          <p:cNvPr id="3" name="etapa 1"/>
          <p:cNvSpPr/>
          <p:nvPr/>
        </p:nvSpPr>
        <p:spPr>
          <a:xfrm>
            <a:off x="502920" y="1554480"/>
            <a:ext cx="196596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4" name="icone-fundo"/>
          <p:cNvSpPr/>
          <p:nvPr/>
        </p:nvSpPr>
        <p:spPr>
          <a:xfrm>
            <a:off x="1257300" y="173736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numero 1"/>
          <p:cNvSpPr txBox="1"/>
          <p:nvPr/>
        </p:nvSpPr>
        <p:spPr>
          <a:xfrm>
            <a:off x="12573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itulo etapa 1"/>
          <p:cNvSpPr txBox="1"/>
          <p:nvPr/>
        </p:nvSpPr>
        <p:spPr>
          <a:xfrm>
            <a:off x="594360" y="2331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Dados, modelo e erro</a:t>
            </a:r>
            <a:endParaRPr lang="en-US" sz="1500" dirty="0"/>
          </a:p>
        </p:txBody>
      </p:sp>
      <p:sp>
        <p:nvSpPr>
          <p:cNvPr id="7" name="etapa 2"/>
          <p:cNvSpPr/>
          <p:nvPr/>
        </p:nvSpPr>
        <p:spPr>
          <a:xfrm>
            <a:off x="2560320" y="1554480"/>
            <a:ext cx="196596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8" name="icone-fundo"/>
          <p:cNvSpPr/>
          <p:nvPr/>
        </p:nvSpPr>
        <p:spPr>
          <a:xfrm>
            <a:off x="3314700" y="173736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numero 2"/>
          <p:cNvSpPr txBox="1"/>
          <p:nvPr/>
        </p:nvSpPr>
        <p:spPr>
          <a:xfrm>
            <a:off x="33147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itulo etapa 2"/>
          <p:cNvSpPr txBox="1"/>
          <p:nvPr/>
        </p:nvSpPr>
        <p:spPr>
          <a:xfrm>
            <a:off x="2651760" y="2331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Descer a montanha do erro</a:t>
            </a:r>
            <a:endParaRPr lang="en-US" sz="1500" dirty="0"/>
          </a:p>
        </p:txBody>
      </p:sp>
      <p:sp>
        <p:nvSpPr>
          <p:cNvPr id="11" name="etapa 3"/>
          <p:cNvSpPr/>
          <p:nvPr/>
        </p:nvSpPr>
        <p:spPr>
          <a:xfrm>
            <a:off x="4617720" y="1554480"/>
            <a:ext cx="196596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12" name="icone-fundo"/>
          <p:cNvSpPr/>
          <p:nvPr/>
        </p:nvSpPr>
        <p:spPr>
          <a:xfrm>
            <a:off x="5372100" y="173736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numero 3"/>
          <p:cNvSpPr txBox="1"/>
          <p:nvPr/>
        </p:nvSpPr>
        <p:spPr>
          <a:xfrm>
            <a:off x="53721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itulo etapa 3"/>
          <p:cNvSpPr txBox="1"/>
          <p:nvPr/>
        </p:nvSpPr>
        <p:spPr>
          <a:xfrm>
            <a:off x="4709160" y="2331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Generalizar e medir</a:t>
            </a:r>
            <a:endParaRPr lang="en-US" sz="1500" dirty="0"/>
          </a:p>
        </p:txBody>
      </p:sp>
      <p:sp>
        <p:nvSpPr>
          <p:cNvPr id="15" name="etapa 4"/>
          <p:cNvSpPr/>
          <p:nvPr/>
        </p:nvSpPr>
        <p:spPr>
          <a:xfrm>
            <a:off x="6675120" y="1554480"/>
            <a:ext cx="196596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16" name="icone-fundo"/>
          <p:cNvSpPr/>
          <p:nvPr/>
        </p:nvSpPr>
        <p:spPr>
          <a:xfrm>
            <a:off x="7429500" y="173736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numero 4"/>
          <p:cNvSpPr txBox="1"/>
          <p:nvPr/>
        </p:nvSpPr>
        <p:spPr>
          <a:xfrm>
            <a:off x="74295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itulo etapa 4"/>
          <p:cNvSpPr txBox="1"/>
          <p:nvPr/>
        </p:nvSpPr>
        <p:spPr>
          <a:xfrm>
            <a:off x="6766560" y="2331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Federar o pré-processamento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se de impacto"/>
          <p:cNvSpPr txBox="1"/>
          <p:nvPr/>
        </p:nvSpPr>
        <p:spPr>
          <a:xfrm>
            <a:off x="731520" y="118872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Treinar um modelo é tentar, medir o erro e ajustar. Sempre de novo.</a:t>
            </a:r>
            <a:endParaRPr lang="en-US" sz="3800" dirty="0"/>
          </a:p>
        </p:txBody>
      </p:sp>
      <p:sp>
        <p:nvSpPr>
          <p:cNvPr id="3" name="complemento"/>
          <p:cNvSpPr txBox="1"/>
          <p:nvPr/>
        </p:nvSpPr>
        <p:spPr>
          <a:xfrm>
            <a:off x="731520" y="34747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67E8F9"/>
                </a:solidFill>
              </a:rPr>
              <a:t>Como aprender a cobrar pênaltis.</a:t>
            </a:r>
            <a:endParaRPr lang="en-US" sz="18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Dados, modelo e erro</a:t>
            </a:r>
            <a:endParaRPr lang="en-US" sz="3200" dirty="0"/>
          </a:p>
        </p:txBody>
      </p:sp>
      <p:sp>
        <p:nvSpPr>
          <p:cNvPr id="3" name="topicos"/>
          <p:cNvSpPr txBox="1"/>
          <p:nvPr/>
        </p:nvSpPr>
        <p:spPr>
          <a:xfrm>
            <a:off x="457200" y="137160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Exemplo: uma linha da tabela (um paciente)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Atributo: uma coluna (idade, tamanho do tumor)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Rótulo: a resposta correta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Parâmetros w: números que o modelo ajusta</a:t>
            </a:r>
            <a:endParaRPr lang="en-US" sz="2200" dirty="0"/>
          </a:p>
        </p:txBody>
      </p:sp>
      <p:sp>
        <p:nvSpPr>
          <p:cNvPr id="4" name="cartao analogia"/>
          <p:cNvSpPr/>
          <p:nvPr/>
        </p:nvSpPr>
        <p:spPr>
          <a:xfrm>
            <a:off x="457200" y="4041648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" name="icone-fundo"/>
          <p:cNvSpPr/>
          <p:nvPr/>
        </p:nvSpPr>
        <p:spPr>
          <a:xfrm>
            <a:off x="594360" y="415594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256532"/>
            <a:ext cx="256032" cy="256032"/>
          </a:xfrm>
          <a:prstGeom prst="rect">
            <a:avLst/>
          </a:prstGeom>
        </p:spPr>
      </p:pic>
      <p:sp>
        <p:nvSpPr>
          <p:cNvPr id="7" name="analogia"/>
          <p:cNvSpPr txBox="1"/>
          <p:nvPr/>
        </p:nvSpPr>
        <p:spPr>
          <a:xfrm>
            <a:off x="1188720" y="4078224"/>
            <a:ext cx="7360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o modelo é uma receita com botões; aprender é girar os botões.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função de perda: a nota do erro</a:t>
            </a:r>
            <a:endParaRPr lang="en-US" sz="3200" dirty="0"/>
          </a:p>
        </p:txBody>
      </p:sp>
      <p:sp>
        <p:nvSpPr>
          <p:cNvPr id="3" name="topicos"/>
          <p:cNvSpPr txBox="1"/>
          <p:nvPr/>
        </p:nvSpPr>
        <p:spPr>
          <a:xfrm>
            <a:off x="457200" y="137160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Perda baixa = previsão boa; perda alta = ruim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Entropia cruzada: perda = −log(p da classe certa)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Confiante e certo: perda ≈ 0,11 (p = 0,9)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Pouco confiante: perda ≈ 2,30 (p = 0,1)</a:t>
            </a:r>
            <a:endParaRPr lang="en-US" sz="2200" dirty="0"/>
          </a:p>
        </p:txBody>
      </p:sp>
      <p:sp>
        <p:nvSpPr>
          <p:cNvPr id="4" name="cartao analogia"/>
          <p:cNvSpPr/>
          <p:nvPr/>
        </p:nvSpPr>
        <p:spPr>
          <a:xfrm>
            <a:off x="457200" y="4041648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" name="icone-fundo"/>
          <p:cNvSpPr/>
          <p:nvPr/>
        </p:nvSpPr>
        <p:spPr>
          <a:xfrm>
            <a:off x="594360" y="415594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256532"/>
            <a:ext cx="256032" cy="256032"/>
          </a:xfrm>
          <a:prstGeom prst="rect">
            <a:avLst/>
          </a:prstGeom>
        </p:spPr>
      </p:pic>
      <p:sp>
        <p:nvSpPr>
          <p:cNvPr id="7" name="analogia"/>
          <p:cNvSpPr txBox="1"/>
          <p:nvPr/>
        </p:nvSpPr>
        <p:spPr>
          <a:xfrm>
            <a:off x="1188720" y="4078224"/>
            <a:ext cx="7360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como a nota de uma prova: quanto menor o erro, melhor a nota.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empírico: a média das perdas</a:t>
            </a:r>
            <a:endParaRPr lang="en-US" sz="3200" dirty="0"/>
          </a:p>
        </p:txBody>
      </p:sp>
      <p:sp>
        <p:nvSpPr>
          <p:cNvPr id="3" name="topicos"/>
          <p:cNvSpPr txBox="1"/>
          <p:nvPr/>
        </p:nvSpPr>
        <p:spPr>
          <a:xfrm>
            <a:off x="457200" y="137160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F(w) = média das perdas em todos os exemplos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Treinar é minimizar F(w)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No federado, cada cliente tem seu F_k(w)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O global é a média ponderada dos F_k</a:t>
            </a:r>
            <a:endParaRPr lang="en-US" sz="2200" dirty="0"/>
          </a:p>
        </p:txBody>
      </p:sp>
      <p:sp>
        <p:nvSpPr>
          <p:cNvPr id="4" name="cartao analogia"/>
          <p:cNvSpPr/>
          <p:nvPr/>
        </p:nvSpPr>
        <p:spPr>
          <a:xfrm>
            <a:off x="457200" y="4041648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" name="icone-fundo"/>
          <p:cNvSpPr/>
          <p:nvPr/>
        </p:nvSpPr>
        <p:spPr>
          <a:xfrm>
            <a:off x="594360" y="415594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256532"/>
            <a:ext cx="256032" cy="256032"/>
          </a:xfrm>
          <a:prstGeom prst="rect">
            <a:avLst/>
          </a:prstGeom>
        </p:spPr>
      </p:pic>
      <p:sp>
        <p:nvSpPr>
          <p:cNvPr id="7" name="analogia"/>
          <p:cNvSpPr txBox="1"/>
          <p:nvPr/>
        </p:nvSpPr>
        <p:spPr>
          <a:xfrm>
            <a:off x="1188720" y="4078224"/>
            <a:ext cx="7360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a média das notas de todas as provas da turma.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Gradiente descendente: descer a montanha</a:t>
            </a:r>
            <a:endParaRPr lang="en-US" sz="3200" dirty="0"/>
          </a:p>
        </p:txBody>
      </p:sp>
      <p:pic>
        <p:nvPicPr>
          <p:cNvPr id="3" name="figura f2_montanha" descr="f2_montanh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03712" y="1188720"/>
            <a:ext cx="4136577" cy="3017520"/>
          </a:xfrm>
          <a:prstGeom prst="rect">
            <a:avLst/>
          </a:prstGeom>
        </p:spPr>
      </p:pic>
      <p:sp>
        <p:nvSpPr>
          <p:cNvPr id="4" name="legenda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F46E5"/>
                </a:solidFill>
              </a:rPr>
              <a:t>Sinta para onde o chão desce mais e dê um passo de tamanho η.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taxa de aprendizado η: o tamanho do passo</a:t>
            </a:r>
            <a:endParaRPr lang="en-US" sz="3200" dirty="0"/>
          </a:p>
        </p:txBody>
      </p:sp>
      <p:pic>
        <p:nvPicPr>
          <p:cNvPr id="3" name="figura f2_lr" descr="f2_l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08304"/>
            <a:ext cx="8229600" cy="2578352"/>
          </a:xfrm>
          <a:prstGeom prst="rect">
            <a:avLst/>
          </a:prstGeom>
        </p:spPr>
      </p:pic>
      <p:sp>
        <p:nvSpPr>
          <p:cNvPr id="4" name="legenda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F46E5"/>
                </a:solidFill>
              </a:rPr>
              <a:t>Pequeno demais: lento. Grande demais: passa do vale e diverge.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SGD: caminho tremido, mas esperto</a:t>
            </a:r>
            <a:endParaRPr lang="en-US" sz="3200" dirty="0"/>
          </a:p>
        </p:txBody>
      </p:sp>
      <p:pic>
        <p:nvPicPr>
          <p:cNvPr id="3" name="figura f2_sgd" descr="f2_sg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675" y="1188720"/>
            <a:ext cx="8018650" cy="3017520"/>
          </a:xfrm>
          <a:prstGeom prst="rect">
            <a:avLst/>
          </a:prstGeom>
        </p:spPr>
      </p:pic>
      <p:sp>
        <p:nvSpPr>
          <p:cNvPr id="4" name="legenda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F46E5"/>
                </a:solidFill>
              </a:rPr>
              <a:t>Mini-lotes dão gradientes ruidosos, baratos e corretos na média.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Sobreajuste: decorar não é aprender</a:t>
            </a:r>
            <a:endParaRPr lang="en-US" sz="3200" dirty="0"/>
          </a:p>
        </p:txBody>
      </p:sp>
      <p:pic>
        <p:nvPicPr>
          <p:cNvPr id="3" name="figura f2_overfit" descr="f2_overf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5073" y="1188720"/>
            <a:ext cx="5013854" cy="3017520"/>
          </a:xfrm>
          <a:prstGeom prst="rect">
            <a:avLst/>
          </a:prstGeom>
        </p:spPr>
      </p:pic>
      <p:sp>
        <p:nvSpPr>
          <p:cNvPr id="4" name="legenda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F46E5"/>
                </a:solidFill>
              </a:rPr>
              <a:t>Erro de treino vai a zero, mas o de validação fica acima.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Treino, validação e teste</a:t>
            </a:r>
            <a:endParaRPr lang="en-US" sz="3200" dirty="0"/>
          </a:p>
        </p:txBody>
      </p:sp>
      <p:pic>
        <p:nvPicPr>
          <p:cNvPr id="3" name="figura f2_particao" descr="f2_partica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52016"/>
            <a:ext cx="8229600" cy="2490929"/>
          </a:xfrm>
          <a:prstGeom prst="rect">
            <a:avLst/>
          </a:prstGeom>
        </p:spPr>
      </p:pic>
      <p:sp>
        <p:nvSpPr>
          <p:cNvPr id="4" name="legenda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F46E5"/>
                </a:solidFill>
              </a:rPr>
              <a:t>Teste: nota final, uso único. Nunca escolha hiperparâmetros nele.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 engana: use precisão, revocação e F1</a:t>
            </a:r>
            <a:endParaRPr lang="en-US" sz="3200" dirty="0"/>
          </a:p>
        </p:txBody>
      </p:sp>
      <p:graphicFrame>
        <p:nvGraphicFramePr>
          <p:cNvPr id="14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035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Métrica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Pergunta que responde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Acurácia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Quantos acertos no total?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Precisão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Dos que chamei de fraude, quantos eram?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Revocação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Das fraudes que existiam, quantas achei?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F1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Só é alta se as duas forem altas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cartao analogia"/>
          <p:cNvSpPr/>
          <p:nvPr/>
        </p:nvSpPr>
        <p:spPr>
          <a:xfrm>
            <a:off x="457200" y="4041648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" name="icone-fundo"/>
          <p:cNvSpPr/>
          <p:nvPr/>
        </p:nvSpPr>
        <p:spPr>
          <a:xfrm>
            <a:off x="594360" y="415594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256532"/>
            <a:ext cx="256032" cy="256032"/>
          </a:xfrm>
          <a:prstGeom prst="rect">
            <a:avLst/>
          </a:prstGeom>
        </p:spPr>
      </p:pic>
      <p:sp>
        <p:nvSpPr>
          <p:cNvPr id="7" name="analogia"/>
          <p:cNvSpPr txBox="1"/>
          <p:nvPr/>
        </p:nvSpPr>
        <p:spPr>
          <a:xfrm>
            <a:off x="1188720" y="4078224"/>
            <a:ext cx="7360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99% de transações legítimas: quem sempre diz 'legítima' acerta 99% e nunca acha fraude.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modelo federado é um vetor de números</a:t>
            </a:r>
            <a:endParaRPr lang="en-US" sz="3200" dirty="0"/>
          </a:p>
        </p:txBody>
      </p:sp>
      <p:sp>
        <p:nvSpPr>
          <p:cNvPr id="3" name="cartao numero 1"/>
          <p:cNvSpPr/>
          <p:nvPr/>
        </p:nvSpPr>
        <p:spPr>
          <a:xfrm>
            <a:off x="45720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4" name="numero 1"/>
          <p:cNvSpPr txBox="1"/>
          <p:nvPr/>
        </p:nvSpPr>
        <p:spPr>
          <a:xfrm>
            <a:off x="457200" y="15544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F46E5"/>
                </a:solidFill>
              </a:rPr>
              <a:t>650</a:t>
            </a:r>
            <a:endParaRPr lang="en-US" sz="4800" dirty="0"/>
          </a:p>
        </p:txBody>
      </p:sp>
      <p:sp>
        <p:nvSpPr>
          <p:cNvPr id="5" name="rotulo 1"/>
          <p:cNvSpPr txBox="1"/>
          <p:nvPr/>
        </p:nvSpPr>
        <p:spPr>
          <a:xfrm>
            <a:off x="594360" y="2606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parâmetros da softmax dos dígitos (65 × 10)</a:t>
            </a:r>
            <a:endParaRPr lang="en-US" sz="1400" dirty="0"/>
          </a:p>
        </p:txBody>
      </p:sp>
      <p:sp>
        <p:nvSpPr>
          <p:cNvPr id="6" name="cartao numero 2"/>
          <p:cNvSpPr/>
          <p:nvPr/>
        </p:nvSpPr>
        <p:spPr>
          <a:xfrm>
            <a:off x="329184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7" name="numero 2"/>
          <p:cNvSpPr txBox="1"/>
          <p:nvPr/>
        </p:nvSpPr>
        <p:spPr>
          <a:xfrm>
            <a:off x="3291840" y="15544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F46E5"/>
                </a:solidFill>
              </a:rPr>
              <a:t>2.410</a:t>
            </a:r>
            <a:endParaRPr lang="en-US" sz="4800" dirty="0"/>
          </a:p>
        </p:txBody>
      </p:sp>
      <p:sp>
        <p:nvSpPr>
          <p:cNvPr id="8" name="rotulo 2"/>
          <p:cNvSpPr txBox="1"/>
          <p:nvPr/>
        </p:nvSpPr>
        <p:spPr>
          <a:xfrm>
            <a:off x="3429000" y="2606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parâmetros de uma MLP de 32 neurônios</a:t>
            </a:r>
            <a:endParaRPr lang="en-US" sz="1400" dirty="0"/>
          </a:p>
        </p:txBody>
      </p:sp>
      <p:sp>
        <p:nvSpPr>
          <p:cNvPr id="9" name="cartao numero 3"/>
          <p:cNvSpPr/>
          <p:nvPr/>
        </p:nvSpPr>
        <p:spPr>
          <a:xfrm>
            <a:off x="612648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10" name="numero 3"/>
          <p:cNvSpPr txBox="1"/>
          <p:nvPr/>
        </p:nvSpPr>
        <p:spPr>
          <a:xfrm>
            <a:off x="6126480" y="15544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F46E5"/>
                </a:solidFill>
              </a:rPr>
              <a:t>w</a:t>
            </a:r>
            <a:endParaRPr lang="en-US" sz="4800" dirty="0"/>
          </a:p>
        </p:txBody>
      </p:sp>
      <p:sp>
        <p:nvSpPr>
          <p:cNvPr id="11" name="rotulo 3"/>
          <p:cNvSpPr txBox="1"/>
          <p:nvPr/>
        </p:nvSpPr>
        <p:spPr>
          <a:xfrm>
            <a:off x="6263640" y="2606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enviar, receber, somar e dividir</a:t>
            </a:r>
            <a:endParaRPr lang="en-US" sz="1400" dirty="0"/>
          </a:p>
        </p:txBody>
      </p:sp>
      <p:sp>
        <p:nvSpPr>
          <p:cNvPr id="12" name="cartao analogia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3" name="icone-fundo"/>
          <p:cNvSpPr/>
          <p:nvPr/>
        </p:nvSpPr>
        <p:spPr>
          <a:xfrm>
            <a:off x="594360" y="406908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169664"/>
            <a:ext cx="256032" cy="256032"/>
          </a:xfrm>
          <a:prstGeom prst="rect">
            <a:avLst/>
          </a:prstGeom>
        </p:spPr>
      </p:pic>
      <p:sp>
        <p:nvSpPr>
          <p:cNvPr id="15" name="analogia"/>
          <p:cNvSpPr txBox="1"/>
          <p:nvPr/>
        </p:nvSpPr>
        <p:spPr>
          <a:xfrm>
            <a:off x="1188720" y="3968496"/>
            <a:ext cx="7360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um modelo é uma lista de números que viaja de ida e volta.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que pausa e retoma: partial_fit</a:t>
            </a:r>
            <a:endParaRPr lang="en-US" sz="3200" dirty="0"/>
          </a:p>
        </p:txBody>
      </p:sp>
      <p:sp>
        <p:nvSpPr>
          <p:cNvPr id="3" name="fundo codigo"/>
          <p:cNvSpPr/>
          <p:nvPr/>
        </p:nvSpPr>
        <p:spPr>
          <a:xfrm>
            <a:off x="457200" y="1234440"/>
            <a:ext cx="5120640" cy="2834640"/>
          </a:xfrm>
          <a:prstGeom prst="roundRect">
            <a:avLst>
              <a:gd name="adj" fmla="val 258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codigo"/>
          <p:cNvSpPr txBox="1"/>
          <p:nvPr/>
        </p:nvSpPr>
        <p:spPr>
          <a:xfrm>
            <a:off x="594360" y="1325880"/>
            <a:ext cx="4846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 = SGDClassifier(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loss="log_loss",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learning_rate="constant",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eta0=0.01)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epoca in range(1, 11):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modelo.partial_fit(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Xtr, ytr, classes=classes)</a:t>
            </a:r>
            <a:endParaRPr lang="en-US" sz="1200" dirty="0"/>
          </a:p>
        </p:txBody>
      </p:sp>
      <p:sp>
        <p:nvSpPr>
          <p:cNvPr id="5" name="fundo saida"/>
          <p:cNvSpPr/>
          <p:nvPr/>
        </p:nvSpPr>
        <p:spPr>
          <a:xfrm>
            <a:off x="5760720" y="1234440"/>
            <a:ext cx="2926080" cy="2834640"/>
          </a:xfrm>
          <a:prstGeom prst="roundRect">
            <a:avLst>
              <a:gd name="adj" fmla="val 2581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6" name="saida"/>
          <p:cNvSpPr txBox="1"/>
          <p:nvPr/>
        </p:nvSpPr>
        <p:spPr>
          <a:xfrm>
            <a:off x="5852160" y="1298448"/>
            <a:ext cx="27432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aparece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após 1 época:  0.936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até 10 épocas: 0.962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parâmetros: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coef_ (10, 64)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intercept_ (10,)</a:t>
            </a:r>
            <a:endParaRPr lang="en-US" sz="1200" dirty="0"/>
          </a:p>
        </p:txBody>
      </p:sp>
      <p:sp>
        <p:nvSpPr>
          <p:cNvPr id="7" name="nota codigo"/>
          <p:cNvSpPr txBox="1"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F46E5"/>
                </a:solidFill>
              </a:rPr>
              <a:t>O cliente recebe um modelo, treina um pouco e devolve: precisa retomar de onde parou.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Padronização federada: só somas viajam</a:t>
            </a:r>
            <a:endParaRPr lang="en-US" sz="3200" dirty="0"/>
          </a:p>
        </p:txBody>
      </p:sp>
      <p:pic>
        <p:nvPicPr>
          <p:cNvPr id="3" name="figura f2_scaler" descr="f2_scal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255" y="1188720"/>
            <a:ext cx="7465491" cy="3017520"/>
          </a:xfrm>
          <a:prstGeom prst="rect">
            <a:avLst/>
          </a:prstGeom>
        </p:spPr>
      </p:pic>
      <p:sp>
        <p:nvSpPr>
          <p:cNvPr id="4" name="legenda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F46E5"/>
                </a:solidFill>
              </a:rPr>
              <a:t>Cada cliente envia n, Σx e Σx². O servidor calcula μ e σ globais.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Padronização: a conta por trás</a:t>
            </a:r>
            <a:endParaRPr lang="en-US" sz="3200" dirty="0"/>
          </a:p>
        </p:txBody>
      </p:sp>
      <p:sp>
        <p:nvSpPr>
          <p:cNvPr id="3" name="topicos"/>
          <p:cNvSpPr txBox="1"/>
          <p:nvPr/>
        </p:nvSpPr>
        <p:spPr>
          <a:xfrm>
            <a:off x="457200" y="137160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μ = S1 / n  e  σ² = S2 / n − μ²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S1 = soma dos valores; S2 = soma dos quadrados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Média das médias dá errado se os tamanhos diferem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Somas também vazam em grupos pequenos</a:t>
            </a:r>
            <a:endParaRPr lang="en-US" sz="2200" dirty="0"/>
          </a:p>
        </p:txBody>
      </p:sp>
      <p:sp>
        <p:nvSpPr>
          <p:cNvPr id="4" name="cartao analogia"/>
          <p:cNvSpPr/>
          <p:nvPr/>
        </p:nvSpPr>
        <p:spPr>
          <a:xfrm>
            <a:off x="457200" y="4041648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" name="icone-fundo"/>
          <p:cNvSpPr/>
          <p:nvPr/>
        </p:nvSpPr>
        <p:spPr>
          <a:xfrm>
            <a:off x="594360" y="415594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256532"/>
            <a:ext cx="256032" cy="256032"/>
          </a:xfrm>
          <a:prstGeom prst="rect">
            <a:avLst/>
          </a:prstGeom>
        </p:spPr>
      </p:pic>
      <p:sp>
        <p:nvSpPr>
          <p:cNvPr id="7" name="analogia"/>
          <p:cNvSpPr txBox="1"/>
          <p:nvPr/>
        </p:nvSpPr>
        <p:spPr>
          <a:xfrm>
            <a:off x="1188720" y="4078224"/>
            <a:ext cx="7360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para a média de uma escola, some todas as notas e divida pelo total de alunos.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se de impacto"/>
          <p:cNvSpPr txBox="1"/>
          <p:nvPr/>
        </p:nvSpPr>
        <p:spPr>
          <a:xfrm>
            <a:off x="731520" y="118872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Se o algoritmo só precisa de somas, o federado é exato.</a:t>
            </a:r>
            <a:endParaRPr lang="en-US" sz="3800" dirty="0"/>
          </a:p>
        </p:txBody>
      </p:sp>
      <p:sp>
        <p:nvSpPr>
          <p:cNvPr id="3" name="complemento"/>
          <p:cNvSpPr txBox="1"/>
          <p:nvPr/>
        </p:nvSpPr>
        <p:spPr>
          <a:xfrm>
            <a:off x="731520" y="34747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67E8F9"/>
                </a:solidFill>
              </a:rPr>
              <a:t>Guarde esta frase: ela volta no Capítulo 11.</a:t>
            </a:r>
            <a:endParaRPr lang="en-US" sz="18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relâmpago 1/3</a:t>
            </a:r>
            <a:endParaRPr lang="en-US" sz="3200" dirty="0"/>
          </a:p>
        </p:txBody>
      </p:sp>
      <p:sp>
        <p:nvSpPr>
          <p:cNvPr id="3" name="icone-fundo"/>
          <p:cNvSpPr/>
          <p:nvPr/>
        </p:nvSpPr>
        <p:spPr>
          <a:xfrm>
            <a:off x="8138160" y="41148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8802" y="522122"/>
            <a:ext cx="281635" cy="281635"/>
          </a:xfrm>
          <a:prstGeom prst="rect">
            <a:avLst/>
          </a:prstGeom>
        </p:spPr>
      </p:pic>
      <p:sp>
        <p:nvSpPr>
          <p:cNvPr id="5" name="pergunta"/>
          <p:cNvSpPr txBox="1"/>
          <p:nvPr/>
        </p:nvSpPr>
        <p:spPr>
          <a:xfrm>
            <a:off x="457200" y="1143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Qual é a função de uma função de perda?</a:t>
            </a:r>
            <a:endParaRPr lang="en-US" sz="1800" dirty="0"/>
          </a:p>
        </p:txBody>
      </p:sp>
      <p:sp>
        <p:nvSpPr>
          <p:cNvPr id="6" name="opcao a"/>
          <p:cNvSpPr/>
          <p:nvPr/>
        </p:nvSpPr>
        <p:spPr>
          <a:xfrm>
            <a:off x="457200" y="219456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icone-fundo"/>
          <p:cNvSpPr/>
          <p:nvPr/>
        </p:nvSpPr>
        <p:spPr>
          <a:xfrm>
            <a:off x="566928" y="251460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letra a"/>
          <p:cNvSpPr txBox="1"/>
          <p:nvPr/>
        </p:nvSpPr>
        <p:spPr>
          <a:xfrm>
            <a:off x="56692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9" name="texto opcao a"/>
          <p:cNvSpPr txBox="1"/>
          <p:nvPr/>
        </p:nvSpPr>
        <p:spPr>
          <a:xfrm>
            <a:off x="1143000" y="2240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Dar uma nota ao erro das previsões do modelo.</a:t>
            </a:r>
            <a:endParaRPr lang="en-US" sz="1400" dirty="0"/>
          </a:p>
        </p:txBody>
      </p:sp>
      <p:sp>
        <p:nvSpPr>
          <p:cNvPr id="10" name="opcao b"/>
          <p:cNvSpPr/>
          <p:nvPr/>
        </p:nvSpPr>
        <p:spPr>
          <a:xfrm>
            <a:off x="4663440" y="219456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e-fundo"/>
          <p:cNvSpPr/>
          <p:nvPr/>
        </p:nvSpPr>
        <p:spPr>
          <a:xfrm>
            <a:off x="4773168" y="251460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letra b"/>
          <p:cNvSpPr txBox="1"/>
          <p:nvPr/>
        </p:nvSpPr>
        <p:spPr>
          <a:xfrm>
            <a:off x="477316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13" name="texto opcao b"/>
          <p:cNvSpPr txBox="1"/>
          <p:nvPr/>
        </p:nvSpPr>
        <p:spPr>
          <a:xfrm>
            <a:off x="5349240" y="2240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Embaralhar os dados.</a:t>
            </a:r>
            <a:endParaRPr lang="en-US" sz="1400" dirty="0"/>
          </a:p>
        </p:txBody>
      </p:sp>
      <p:sp>
        <p:nvSpPr>
          <p:cNvPr id="14" name="opcao c"/>
          <p:cNvSpPr/>
          <p:nvPr/>
        </p:nvSpPr>
        <p:spPr>
          <a:xfrm>
            <a:off x="457200" y="342900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one-fundo"/>
          <p:cNvSpPr/>
          <p:nvPr/>
        </p:nvSpPr>
        <p:spPr>
          <a:xfrm>
            <a:off x="566928" y="374904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6" name="letra c"/>
          <p:cNvSpPr txBox="1"/>
          <p:nvPr/>
        </p:nvSpPr>
        <p:spPr>
          <a:xfrm>
            <a:off x="56692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17" name="texto opcao c"/>
          <p:cNvSpPr txBox="1"/>
          <p:nvPr/>
        </p:nvSpPr>
        <p:spPr>
          <a:xfrm>
            <a:off x="1143000" y="34747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Criptografar os parâmetros.</a:t>
            </a:r>
            <a:endParaRPr lang="en-US" sz="1400" dirty="0"/>
          </a:p>
        </p:txBody>
      </p:sp>
      <p:sp>
        <p:nvSpPr>
          <p:cNvPr id="18" name="opcao d"/>
          <p:cNvSpPr/>
          <p:nvPr/>
        </p:nvSpPr>
        <p:spPr>
          <a:xfrm>
            <a:off x="4663440" y="342900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e-fundo"/>
          <p:cNvSpPr/>
          <p:nvPr/>
        </p:nvSpPr>
        <p:spPr>
          <a:xfrm>
            <a:off x="4773168" y="374904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0" name="letra d"/>
          <p:cNvSpPr txBox="1"/>
          <p:nvPr/>
        </p:nvSpPr>
        <p:spPr>
          <a:xfrm>
            <a:off x="477316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</a:t>
            </a:r>
            <a:endParaRPr lang="en-US" sz="1600" dirty="0"/>
          </a:p>
        </p:txBody>
      </p:sp>
      <p:sp>
        <p:nvSpPr>
          <p:cNvPr id="21" name="texto opcao d"/>
          <p:cNvSpPr txBox="1"/>
          <p:nvPr/>
        </p:nvSpPr>
        <p:spPr>
          <a:xfrm>
            <a:off x="5349240" y="34747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Dividir os dados em treino e teste.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relâmpago 2/3</a:t>
            </a:r>
            <a:endParaRPr lang="en-US" sz="3200" dirty="0"/>
          </a:p>
        </p:txBody>
      </p:sp>
      <p:sp>
        <p:nvSpPr>
          <p:cNvPr id="3" name="icone-fundo"/>
          <p:cNvSpPr/>
          <p:nvPr/>
        </p:nvSpPr>
        <p:spPr>
          <a:xfrm>
            <a:off x="8138160" y="41148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8802" y="522122"/>
            <a:ext cx="281635" cy="281635"/>
          </a:xfrm>
          <a:prstGeom prst="rect">
            <a:avLst/>
          </a:prstGeom>
        </p:spPr>
      </p:pic>
      <p:sp>
        <p:nvSpPr>
          <p:cNvPr id="5" name="pergunta"/>
          <p:cNvSpPr txBox="1"/>
          <p:nvPr/>
        </p:nvSpPr>
        <p:spPr>
          <a:xfrm>
            <a:off x="457200" y="1143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Uma época é:</a:t>
            </a:r>
            <a:endParaRPr lang="en-US" sz="1800" dirty="0"/>
          </a:p>
        </p:txBody>
      </p:sp>
      <p:sp>
        <p:nvSpPr>
          <p:cNvPr id="6" name="opcao a"/>
          <p:cNvSpPr/>
          <p:nvPr/>
        </p:nvSpPr>
        <p:spPr>
          <a:xfrm>
            <a:off x="457200" y="219456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icone-fundo"/>
          <p:cNvSpPr/>
          <p:nvPr/>
        </p:nvSpPr>
        <p:spPr>
          <a:xfrm>
            <a:off x="566928" y="251460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letra a"/>
          <p:cNvSpPr txBox="1"/>
          <p:nvPr/>
        </p:nvSpPr>
        <p:spPr>
          <a:xfrm>
            <a:off x="56692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9" name="texto opcao a"/>
          <p:cNvSpPr txBox="1"/>
          <p:nvPr/>
        </p:nvSpPr>
        <p:spPr>
          <a:xfrm>
            <a:off x="1143000" y="2240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uma atualização de parâmetros.</a:t>
            </a:r>
            <a:endParaRPr lang="en-US" sz="1400" dirty="0"/>
          </a:p>
        </p:txBody>
      </p:sp>
      <p:sp>
        <p:nvSpPr>
          <p:cNvPr id="10" name="opcao b"/>
          <p:cNvSpPr/>
          <p:nvPr/>
        </p:nvSpPr>
        <p:spPr>
          <a:xfrm>
            <a:off x="4663440" y="219456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e-fundo"/>
          <p:cNvSpPr/>
          <p:nvPr/>
        </p:nvSpPr>
        <p:spPr>
          <a:xfrm>
            <a:off x="4773168" y="251460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letra b"/>
          <p:cNvSpPr txBox="1"/>
          <p:nvPr/>
        </p:nvSpPr>
        <p:spPr>
          <a:xfrm>
            <a:off x="477316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13" name="texto opcao b"/>
          <p:cNvSpPr txBox="1"/>
          <p:nvPr/>
        </p:nvSpPr>
        <p:spPr>
          <a:xfrm>
            <a:off x="5349240" y="2240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uma passada completa pelos exemplos de treino.</a:t>
            </a:r>
            <a:endParaRPr lang="en-US" sz="1400" dirty="0"/>
          </a:p>
        </p:txBody>
      </p:sp>
      <p:sp>
        <p:nvSpPr>
          <p:cNvPr id="14" name="opcao c"/>
          <p:cNvSpPr/>
          <p:nvPr/>
        </p:nvSpPr>
        <p:spPr>
          <a:xfrm>
            <a:off x="457200" y="342900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one-fundo"/>
          <p:cNvSpPr/>
          <p:nvPr/>
        </p:nvSpPr>
        <p:spPr>
          <a:xfrm>
            <a:off x="566928" y="374904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6" name="letra c"/>
          <p:cNvSpPr txBox="1"/>
          <p:nvPr/>
        </p:nvSpPr>
        <p:spPr>
          <a:xfrm>
            <a:off x="56692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17" name="texto opcao c"/>
          <p:cNvSpPr txBox="1"/>
          <p:nvPr/>
        </p:nvSpPr>
        <p:spPr>
          <a:xfrm>
            <a:off x="1143000" y="34747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uma rodada de comunicação.</a:t>
            </a:r>
            <a:endParaRPr lang="en-US" sz="1400" dirty="0"/>
          </a:p>
        </p:txBody>
      </p:sp>
      <p:sp>
        <p:nvSpPr>
          <p:cNvPr id="18" name="opcao d"/>
          <p:cNvSpPr/>
          <p:nvPr/>
        </p:nvSpPr>
        <p:spPr>
          <a:xfrm>
            <a:off x="4663440" y="342900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e-fundo"/>
          <p:cNvSpPr/>
          <p:nvPr/>
        </p:nvSpPr>
        <p:spPr>
          <a:xfrm>
            <a:off x="4773168" y="374904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0" name="letra d"/>
          <p:cNvSpPr txBox="1"/>
          <p:nvPr/>
        </p:nvSpPr>
        <p:spPr>
          <a:xfrm>
            <a:off x="477316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</a:t>
            </a:r>
            <a:endParaRPr lang="en-US" sz="1600" dirty="0"/>
          </a:p>
        </p:txBody>
      </p:sp>
      <p:sp>
        <p:nvSpPr>
          <p:cNvPr id="21" name="texto opcao d"/>
          <p:cNvSpPr txBox="1"/>
          <p:nvPr/>
        </p:nvSpPr>
        <p:spPr>
          <a:xfrm>
            <a:off x="5349240" y="34747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um mini-lote.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relâmpago 3/3</a:t>
            </a:r>
            <a:endParaRPr lang="en-US" sz="3200" dirty="0"/>
          </a:p>
        </p:txBody>
      </p:sp>
      <p:sp>
        <p:nvSpPr>
          <p:cNvPr id="3" name="icone-fundo"/>
          <p:cNvSpPr/>
          <p:nvPr/>
        </p:nvSpPr>
        <p:spPr>
          <a:xfrm>
            <a:off x="8138160" y="41148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8802" y="522122"/>
            <a:ext cx="281635" cy="281635"/>
          </a:xfrm>
          <a:prstGeom prst="rect">
            <a:avLst/>
          </a:prstGeom>
        </p:spPr>
      </p:pic>
      <p:sp>
        <p:nvSpPr>
          <p:cNvPr id="5" name="pergunta"/>
          <p:cNvSpPr txBox="1"/>
          <p:nvPr/>
        </p:nvSpPr>
        <p:spPr>
          <a:xfrm>
            <a:off x="457200" y="1143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Quantos parâmetros tem uma softmax para dígitos 8x8 (64 atributos) com 10 classes, contando vieses?</a:t>
            </a:r>
            <a:endParaRPr lang="en-US" sz="1800" dirty="0"/>
          </a:p>
        </p:txBody>
      </p:sp>
      <p:sp>
        <p:nvSpPr>
          <p:cNvPr id="6" name="opcao a"/>
          <p:cNvSpPr/>
          <p:nvPr/>
        </p:nvSpPr>
        <p:spPr>
          <a:xfrm>
            <a:off x="457200" y="219456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icone-fundo"/>
          <p:cNvSpPr/>
          <p:nvPr/>
        </p:nvSpPr>
        <p:spPr>
          <a:xfrm>
            <a:off x="566928" y="251460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letra a"/>
          <p:cNvSpPr txBox="1"/>
          <p:nvPr/>
        </p:nvSpPr>
        <p:spPr>
          <a:xfrm>
            <a:off x="56692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9" name="texto opcao a"/>
          <p:cNvSpPr txBox="1"/>
          <p:nvPr/>
        </p:nvSpPr>
        <p:spPr>
          <a:xfrm>
            <a:off x="1143000" y="2240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64.</a:t>
            </a:r>
            <a:endParaRPr lang="en-US" sz="1400" dirty="0"/>
          </a:p>
        </p:txBody>
      </p:sp>
      <p:sp>
        <p:nvSpPr>
          <p:cNvPr id="10" name="opcao b"/>
          <p:cNvSpPr/>
          <p:nvPr/>
        </p:nvSpPr>
        <p:spPr>
          <a:xfrm>
            <a:off x="4663440" y="219456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e-fundo"/>
          <p:cNvSpPr/>
          <p:nvPr/>
        </p:nvSpPr>
        <p:spPr>
          <a:xfrm>
            <a:off x="4773168" y="251460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letra b"/>
          <p:cNvSpPr txBox="1"/>
          <p:nvPr/>
        </p:nvSpPr>
        <p:spPr>
          <a:xfrm>
            <a:off x="477316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13" name="texto opcao b"/>
          <p:cNvSpPr txBox="1"/>
          <p:nvPr/>
        </p:nvSpPr>
        <p:spPr>
          <a:xfrm>
            <a:off x="5349240" y="2240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650.</a:t>
            </a:r>
            <a:endParaRPr lang="en-US" sz="1400" dirty="0"/>
          </a:p>
        </p:txBody>
      </p:sp>
      <p:sp>
        <p:nvSpPr>
          <p:cNvPr id="14" name="opcao c"/>
          <p:cNvSpPr/>
          <p:nvPr/>
        </p:nvSpPr>
        <p:spPr>
          <a:xfrm>
            <a:off x="457200" y="342900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one-fundo"/>
          <p:cNvSpPr/>
          <p:nvPr/>
        </p:nvSpPr>
        <p:spPr>
          <a:xfrm>
            <a:off x="566928" y="374904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6" name="letra c"/>
          <p:cNvSpPr txBox="1"/>
          <p:nvPr/>
        </p:nvSpPr>
        <p:spPr>
          <a:xfrm>
            <a:off x="56692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17" name="texto opcao c"/>
          <p:cNvSpPr txBox="1"/>
          <p:nvPr/>
        </p:nvSpPr>
        <p:spPr>
          <a:xfrm>
            <a:off x="1143000" y="34747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2.410.</a:t>
            </a:r>
            <a:endParaRPr lang="en-US" sz="1400" dirty="0"/>
          </a:p>
        </p:txBody>
      </p:sp>
      <p:sp>
        <p:nvSpPr>
          <p:cNvPr id="18" name="opcao d"/>
          <p:cNvSpPr/>
          <p:nvPr/>
        </p:nvSpPr>
        <p:spPr>
          <a:xfrm>
            <a:off x="4663440" y="342900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e-fundo"/>
          <p:cNvSpPr/>
          <p:nvPr/>
        </p:nvSpPr>
        <p:spPr>
          <a:xfrm>
            <a:off x="4773168" y="374904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0" name="letra d"/>
          <p:cNvSpPr txBox="1"/>
          <p:nvPr/>
        </p:nvSpPr>
        <p:spPr>
          <a:xfrm>
            <a:off x="477316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</a:t>
            </a:r>
            <a:endParaRPr lang="en-US" sz="1600" dirty="0"/>
          </a:p>
        </p:txBody>
      </p:sp>
      <p:sp>
        <p:nvSpPr>
          <p:cNvPr id="21" name="texto opcao d"/>
          <p:cNvSpPr txBox="1"/>
          <p:nvPr/>
        </p:nvSpPr>
        <p:spPr>
          <a:xfrm>
            <a:off x="5349240" y="34747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10.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 na massa: Python + scikit-learn</a:t>
            </a:r>
            <a:endParaRPr lang="en-US" sz="3200" dirty="0"/>
          </a:p>
        </p:txBody>
      </p:sp>
      <p:sp>
        <p:nvSpPr>
          <p:cNvPr id="3" name="icone-fundo"/>
          <p:cNvSpPr/>
          <p:nvPr/>
        </p:nvSpPr>
        <p:spPr>
          <a:xfrm>
            <a:off x="8138160" y="411480"/>
            <a:ext cx="502920" cy="5029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8802" y="522122"/>
            <a:ext cx="281635" cy="281635"/>
          </a:xfrm>
          <a:prstGeom prst="rect">
            <a:avLst/>
          </a:prstGeom>
        </p:spPr>
      </p:pic>
      <p:sp>
        <p:nvSpPr>
          <p:cNvPr id="5" name="exercicio 1"/>
          <p:cNvSpPr/>
          <p:nvPr/>
        </p:nvSpPr>
        <p:spPr>
          <a:xfrm>
            <a:off x="457200" y="1280160"/>
            <a:ext cx="822960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o exercicio 1"/>
          <p:cNvSpPr txBox="1"/>
          <p:nvPr/>
        </p:nvSpPr>
        <p:spPr>
          <a:xfrm>
            <a:off x="640080" y="128016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</a:rPr>
              <a:t>Exercício 1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Taxa de aprendizado em ação</a:t>
            </a:r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   (básico)</a:t>
            </a:r>
            <a:endParaRPr lang="en-US" sz="1400" dirty="0"/>
          </a:p>
        </p:txBody>
      </p:sp>
      <p:sp>
        <p:nvSpPr>
          <p:cNvPr id="7" name="exercicio 2"/>
          <p:cNvSpPr/>
          <p:nvPr/>
        </p:nvSpPr>
        <p:spPr>
          <a:xfrm>
            <a:off x="457200" y="1847088"/>
            <a:ext cx="822960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o exercicio 2"/>
          <p:cNvSpPr txBox="1"/>
          <p:nvPr/>
        </p:nvSpPr>
        <p:spPr>
          <a:xfrm>
            <a:off x="640080" y="184708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</a:rPr>
              <a:t>Exercício 2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Gradiente completo versus mini-lotes</a:t>
            </a:r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   (básico)</a:t>
            </a:r>
            <a:endParaRPr lang="en-US" sz="1400" dirty="0"/>
          </a:p>
        </p:txBody>
      </p:sp>
      <p:sp>
        <p:nvSpPr>
          <p:cNvPr id="9" name="exercicio 3"/>
          <p:cNvSpPr/>
          <p:nvPr/>
        </p:nvSpPr>
        <p:spPr>
          <a:xfrm>
            <a:off x="457200" y="2414016"/>
            <a:ext cx="822960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o exercicio 3"/>
          <p:cNvSpPr txBox="1"/>
          <p:nvPr/>
        </p:nvSpPr>
        <p:spPr>
          <a:xfrm>
            <a:off x="640080" y="241401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</a:rPr>
              <a:t>Exercício 3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Acurácia que engana</a:t>
            </a:r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   (intermediário)</a:t>
            </a:r>
            <a:endParaRPr lang="en-US" sz="1400" dirty="0"/>
          </a:p>
        </p:txBody>
      </p:sp>
      <p:sp>
        <p:nvSpPr>
          <p:cNvPr id="11" name="exercicio 4"/>
          <p:cNvSpPr/>
          <p:nvPr/>
        </p:nvSpPr>
        <p:spPr>
          <a:xfrm>
            <a:off x="457200" y="2980944"/>
            <a:ext cx="822960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o exercicio 4"/>
          <p:cNvSpPr txBox="1"/>
          <p:nvPr/>
        </p:nvSpPr>
        <p:spPr>
          <a:xfrm>
            <a:off x="640080" y="2980944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</a:rPr>
              <a:t>Exercício 4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Padronização federada com clientes de tamanhos diferentes</a:t>
            </a:r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   (intermediário)</a:t>
            </a:r>
            <a:endParaRPr lang="en-US" sz="1400" dirty="0"/>
          </a:p>
        </p:txBody>
      </p:sp>
      <p:sp>
        <p:nvSpPr>
          <p:cNvPr id="13" name="projeto"/>
          <p:cNvSpPr/>
          <p:nvPr/>
        </p:nvSpPr>
        <p:spPr>
          <a:xfrm>
            <a:off x="457200" y="3593592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itulo projeto"/>
          <p:cNvSpPr txBox="1"/>
          <p:nvPr/>
        </p:nvSpPr>
        <p:spPr>
          <a:xfrm>
            <a:off x="685800" y="3593592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DE68A"/>
                </a:solidFill>
              </a:rPr>
              <a:t>PROJETO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Triagem com poucos dados: do zero ao modelo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levar na mochila</a:t>
            </a:r>
            <a:endParaRPr lang="en-US" sz="3200" dirty="0"/>
          </a:p>
        </p:txBody>
      </p:sp>
      <p:sp>
        <p:nvSpPr>
          <p:cNvPr id="3" name="icone-fundo"/>
          <p:cNvSpPr/>
          <p:nvPr/>
        </p:nvSpPr>
        <p:spPr>
          <a:xfrm>
            <a:off x="8138160" y="411480"/>
            <a:ext cx="502920" cy="50292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8802" y="522122"/>
            <a:ext cx="281635" cy="281635"/>
          </a:xfrm>
          <a:prstGeom prst="rect">
            <a:avLst/>
          </a:prstGeom>
        </p:spPr>
      </p:pic>
      <p:sp>
        <p:nvSpPr>
          <p:cNvPr id="5" name="resumo 1"/>
          <p:cNvSpPr txBox="1"/>
          <p:nvPr/>
        </p:nvSpPr>
        <p:spPr>
          <a:xfrm>
            <a:off x="457200" y="1234440"/>
            <a:ext cx="82296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✔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Um modelo é uma função com parâmetros w. Aprender é reduzir a perda média F(w).</a:t>
            </a:r>
            <a:endParaRPr lang="en-US" sz="1400" dirty="0"/>
          </a:p>
        </p:txBody>
      </p:sp>
      <p:sp>
        <p:nvSpPr>
          <p:cNvPr id="6" name="resumo 2"/>
          <p:cNvSpPr txBox="1"/>
          <p:nvPr/>
        </p:nvSpPr>
        <p:spPr>
          <a:xfrm>
            <a:off x="457200" y="1754342"/>
            <a:ext cx="82296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✔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Gradiente descendente: w ← w − η∇F(w). η é o tamanho do passo.</a:t>
            </a:r>
            <a:endParaRPr lang="en-US" sz="1400" dirty="0"/>
          </a:p>
        </p:txBody>
      </p:sp>
      <p:sp>
        <p:nvSpPr>
          <p:cNvPr id="7" name="resumo 3"/>
          <p:cNvSpPr txBox="1"/>
          <p:nvPr/>
        </p:nvSpPr>
        <p:spPr>
          <a:xfrm>
            <a:off x="457200" y="2274243"/>
            <a:ext cx="82296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✔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SGD usa mini-lotes. Época = uma passada pelos dados.</a:t>
            </a:r>
            <a:endParaRPr lang="en-US" sz="1400" dirty="0"/>
          </a:p>
        </p:txBody>
      </p:sp>
      <p:sp>
        <p:nvSpPr>
          <p:cNvPr id="8" name="resumo 4"/>
          <p:cNvSpPr txBox="1"/>
          <p:nvPr/>
        </p:nvSpPr>
        <p:spPr>
          <a:xfrm>
            <a:off x="457200" y="2794145"/>
            <a:ext cx="82296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✔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Sobreajuste: boa nota no treino, má nota em dados novos. Use treino, validação e teste.</a:t>
            </a:r>
            <a:endParaRPr lang="en-US" sz="1400" dirty="0"/>
          </a:p>
        </p:txBody>
      </p:sp>
      <p:sp>
        <p:nvSpPr>
          <p:cNvPr id="9" name="resumo 5"/>
          <p:cNvSpPr txBox="1"/>
          <p:nvPr/>
        </p:nvSpPr>
        <p:spPr>
          <a:xfrm>
            <a:off x="457200" y="3314047"/>
            <a:ext cx="82296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✔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Acurácia pode enganar em classes desbalanceadas. Use precisão, revocação e F1.</a:t>
            </a:r>
            <a:endParaRPr lang="en-US" sz="1400" dirty="0"/>
          </a:p>
        </p:txBody>
      </p:sp>
      <p:sp>
        <p:nvSpPr>
          <p:cNvPr id="10" name="resumo 6"/>
          <p:cNvSpPr txBox="1"/>
          <p:nvPr/>
        </p:nvSpPr>
        <p:spPr>
          <a:xfrm>
            <a:off x="457200" y="3833949"/>
            <a:ext cx="82296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✔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Um modelo federado é um vetor de números que se envia, recebe e combina.</a:t>
            </a:r>
            <a:endParaRPr lang="en-US" sz="1400" dirty="0"/>
          </a:p>
        </p:txBody>
      </p:sp>
      <p:sp>
        <p:nvSpPr>
          <p:cNvPr id="11" name="resumo 7"/>
          <p:cNvSpPr txBox="1"/>
          <p:nvPr/>
        </p:nvSpPr>
        <p:spPr>
          <a:xfrm>
            <a:off x="457200" y="4353850"/>
            <a:ext cx="82296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✔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partial_fit permite retomar o treino. Média e desvio globais saem de somas locais.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e-fundo"/>
          <p:cNvSpPr/>
          <p:nvPr/>
        </p:nvSpPr>
        <p:spPr>
          <a:xfrm>
            <a:off x="731520" y="914400"/>
            <a:ext cx="731520" cy="7315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3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454" y="1075334"/>
            <a:ext cx="409651" cy="409651"/>
          </a:xfrm>
          <a:prstGeom prst="rect">
            <a:avLst/>
          </a:prstGeom>
        </p:spPr>
      </p:pic>
      <p:sp>
        <p:nvSpPr>
          <p:cNvPr id="4" name="fechamento"/>
          <p:cNvSpPr txBox="1"/>
          <p:nvPr/>
        </p:nvSpPr>
        <p:spPr>
          <a:xfrm>
            <a:off x="731520" y="182880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Perda, gradiente, validação e somas locais: as ferramentas da equipe.</a:t>
            </a:r>
            <a:endParaRPr lang="en-US" sz="3200" dirty="0"/>
          </a:p>
        </p:txBody>
      </p:sp>
      <p:sp>
        <p:nvSpPr>
          <p:cNvPr id="5" name="proximo capitulo"/>
          <p:cNvSpPr txBox="1"/>
          <p:nvPr/>
        </p:nvSpPr>
        <p:spPr>
          <a:xfrm>
            <a:off x="731520" y="35661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67E8F9"/>
                </a:solidFill>
              </a:rPr>
              <a:t>Próximo capítulo: FedSGD e FedAvg — o algoritmo que faz a equipe aprender junta.</a:t>
            </a:r>
            <a:endParaRPr lang="en-US" sz="18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prendizado Federado">
  <a:themeElements>
    <a:clrScheme name="Aprendizado Federado">
      <a:dk1>
        <a:srgbClr val="1F2937"/>
      </a:dk1>
      <a:lt1>
        <a:srgbClr val="FFFFFF"/>
      </a:lt1>
      <a:dk2>
        <a:srgbClr val="111827"/>
      </a:dk2>
      <a:lt2>
        <a:srgbClr val="F3F4F6"/>
      </a:lt2>
      <a:accent1>
        <a:srgbClr val="4F46E5"/>
      </a:accent1>
      <a:accent2>
        <a:srgbClr val="06B6D4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4F46E5"/>
      </a:hlink>
      <a:folHlink>
        <a:srgbClr val="8B5CF6"/>
      </a:folHlink>
    </a:clrScheme>
    <a:fontScheme name="Aprendizado Federad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Cap. 2 — Preparando o Terreno: Dados, Modelos e Otimização</dc:title>
  <dc:subject>Aprendizado Federado: Fundamentos, Prática e Fronteiras</dc:subject>
  <dc:creator>Araken de Medeiros Santos</dc:creator>
  <cp:lastModifiedBy>Araken de Medeiros Santos</cp:lastModifiedBy>
  <cp:revision>1</cp:revision>
  <dcterms:created xsi:type="dcterms:W3CDTF">2026-10-27T00:03:26Z</dcterms:created>
  <dcterms:modified xsi:type="dcterms:W3CDTF">2026-10-27T00:03:26Z</dcterms:modified>
</cp:coreProperties>
</file>