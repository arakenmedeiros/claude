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247d0a10-adec-2057-5203-c1eb608872a8}">
          <p14:sldIdLst>
            <p14:sldId id="256"/>
            <p14:sldId id="257"/>
            <p14:sldId id="258"/>
          </p14:sldIdLst>
        </p14:section>
        <p14:section name="Conteúdo" id="{b5f111f2-dc2d-4847-74cb-87e8929e4335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Prática e fechamento" id="{a55d8544-a5a1-0336-08d8-dd9f32b70a46}">
          <p14:sldIdLst>
            <p14:sldId id="275"/>
            <p14:sldId id="276"/>
            <p14:sldId id="277"/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Leia o gancho em voz alta e pergunte à turma o que esperam aprender neste capítulo.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que a turma leia os objetivos em silêncio e marque o que já sabe. No fim da aula, volte a esta lista.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caminho da aula. Cada bloco leva de 8 a 12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com as pizzarias: praia, centro financeiro e bairro universitário.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Introduza não-IID pela analogia.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centralizado embaralhamos os dados; no federado, não podemos.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Exemplos: hospital oncológico (rótulos); câmeras diferentes (atributos); usuário ativo x inativo (quantidade); 'bom' para um é 'regular' para outro (conceito).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prática os tipos se misturam.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a Figura seguinte com as matrizes de proporção.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linha é um cliente; cada coluna, um dígito.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Valores da tabela do capítulo (classe dominante média por cliente).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Wang et al. (2020) chamam de inconsistência do objetivo.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modelo convexo o efeito final é moderado; em redes profundas costuma ser maior.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TV = ½ · Σ |p_k(c) − p(c)|. Exemplo do capítulo: 0,3.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modelo convexo simples a coleira traz pouco; nenhum algoritmo vence em tudo.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FedNova resolve a inconsistência do objetivo causada por números diferentes de passos.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FedProx com μ = 0,1 quase não mudou o resultado.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Sempre compare com várias sementes. Uma diferença de 0,3 ponto com uma só semente não prova 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de fixação.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O que muda é P(y), a distribuição das classes. Dê 30 segundos para a turma votar levantando a mão e peça que alguém justifique.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Cada cliente caminha para seu próprio mínimo, afastando-se do global. Dê 30 segundos para a turma votar levantando a mão e peça que alguém justifique.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Corrige cada passo local por g(w) − c_k + c. Dê 30 segundos para a turma votar levantando a mão e peça que alguém justifique.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enunciados completos e as soluções estão nos Apêndices D e E do livro. Sugestão: resolver o exercício 1 em dupla, em sala.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Revisão em voz alta. Peça a um aluno que explique cada item com uma analogia diferente da usada em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Anuncie a leitura recomendada e o próximo 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Aprendizado Federado · Cap. 4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Aprendizado Federado · Cap. 4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aixa do capitulo" descr="Faixa do capítulo 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721877"/>
          </a:xfrm>
          <a:prstGeom prst="rect">
            <a:avLst/>
          </a:prstGeom>
        </p:spPr>
      </p:pic>
      <p:sp>
        <p:nvSpPr>
          <p:cNvPr id="3" name="parte"/>
          <p:cNvSpPr txBox="1"/>
          <p:nvPr/>
        </p:nvSpPr>
        <p:spPr>
          <a:xfrm>
            <a:off x="548640" y="2011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DE68A"/>
                </a:solidFill>
              </a:rPr>
              <a:t>PARTE II — DESAFIOS DO TREINO</a:t>
            </a:r>
            <a:endParaRPr lang="en-US" sz="1400" dirty="0"/>
          </a:p>
        </p:txBody>
      </p:sp>
      <p:sp>
        <p:nvSpPr>
          <p:cNvPr id="4" name="titulo do capitulo"/>
          <p:cNvSpPr txBox="1"/>
          <p:nvPr/>
        </p:nvSpPr>
        <p:spPr>
          <a:xfrm>
            <a:off x="548640" y="24231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Quando os Dados Não São Iguais: Heterogeneidade (Não-IID)</a:t>
            </a:r>
            <a:endParaRPr lang="en-US" sz="3400" dirty="0"/>
          </a:p>
        </p:txBody>
      </p:sp>
      <p:sp>
        <p:nvSpPr>
          <p:cNvPr id="5" name="gancho"/>
          <p:cNvSpPr txBox="1"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7E8F9"/>
                </a:solidFill>
              </a:rPr>
              <a:t>A pizza média pode não agradar a ninguém.</a:t>
            </a:r>
            <a:endParaRPr lang="en-US" sz="1800" dirty="0"/>
          </a:p>
        </p:txBody>
      </p:sp>
      <p:sp>
        <p:nvSpPr>
          <p:cNvPr id="6" name="autor"/>
          <p:cNvSpPr txBox="1"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Araken de Medeiros Santos  ·  Aprendizado Federado: Fundamentos, Prática e Fronteiras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vai conseguir fazer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457200" y="1280160"/>
            <a:ext cx="402336" cy="40233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714" y="1368674"/>
            <a:ext cx="225308" cy="225308"/>
          </a:xfrm>
          <a:prstGeom prst="rect">
            <a:avLst/>
          </a:prstGeom>
        </p:spPr>
      </p:pic>
      <p:sp>
        <p:nvSpPr>
          <p:cNvPr id="5" name="objetivo 1"/>
          <p:cNvSpPr txBox="1"/>
          <p:nvPr/>
        </p:nvSpPr>
        <p:spPr>
          <a:xfrm>
            <a:off x="1051560" y="1243584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Explicar o que significa dados IID e não-IID, com exemplos do cotidiano.</a:t>
            </a:r>
            <a:endParaRPr lang="en-US" sz="1400" dirty="0"/>
          </a:p>
        </p:txBody>
      </p:sp>
      <p:sp>
        <p:nvSpPr>
          <p:cNvPr id="6" name="icone-fundo"/>
          <p:cNvSpPr/>
          <p:nvPr/>
        </p:nvSpPr>
        <p:spPr>
          <a:xfrm>
            <a:off x="457200" y="1847088"/>
            <a:ext cx="402336" cy="40233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7" name="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714" y="1935602"/>
            <a:ext cx="225308" cy="225308"/>
          </a:xfrm>
          <a:prstGeom prst="rect">
            <a:avLst/>
          </a:prstGeom>
        </p:spPr>
      </p:pic>
      <p:sp>
        <p:nvSpPr>
          <p:cNvPr id="8" name="objetivo 2"/>
          <p:cNvSpPr txBox="1"/>
          <p:nvPr/>
        </p:nvSpPr>
        <p:spPr>
          <a:xfrm>
            <a:off x="1051560" y="1810512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Reconhecer os principais tipos de heterogeneidade: de rótulos, de atributos, de quantidade e de conceito.</a:t>
            </a:r>
            <a:endParaRPr lang="en-US" sz="1400" dirty="0"/>
          </a:p>
        </p:txBody>
      </p:sp>
      <p:sp>
        <p:nvSpPr>
          <p:cNvPr id="9" name="icone-fundo"/>
          <p:cNvSpPr/>
          <p:nvPr/>
        </p:nvSpPr>
        <p:spPr>
          <a:xfrm>
            <a:off x="457200" y="2414016"/>
            <a:ext cx="402336" cy="40233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0" name="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714" y="2502530"/>
            <a:ext cx="225308" cy="225308"/>
          </a:xfrm>
          <a:prstGeom prst="rect">
            <a:avLst/>
          </a:prstGeom>
        </p:spPr>
      </p:pic>
      <p:sp>
        <p:nvSpPr>
          <p:cNvPr id="11" name="objetivo 3"/>
          <p:cNvSpPr txBox="1"/>
          <p:nvPr/>
        </p:nvSpPr>
        <p:spPr>
          <a:xfrm>
            <a:off x="1051560" y="237744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Simular dados não-IID por shards e pela distribuição de Dirichlet.</a:t>
            </a:r>
            <a:endParaRPr lang="en-US" sz="1400" dirty="0"/>
          </a:p>
        </p:txBody>
      </p:sp>
      <p:sp>
        <p:nvSpPr>
          <p:cNvPr id="12" name="icone-fundo"/>
          <p:cNvSpPr/>
          <p:nvPr/>
        </p:nvSpPr>
        <p:spPr>
          <a:xfrm>
            <a:off x="457200" y="2980944"/>
            <a:ext cx="402336" cy="40233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3" name="i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714" y="3069458"/>
            <a:ext cx="225308" cy="225308"/>
          </a:xfrm>
          <a:prstGeom prst="rect">
            <a:avLst/>
          </a:prstGeom>
        </p:spPr>
      </p:pic>
      <p:sp>
        <p:nvSpPr>
          <p:cNvPr id="14" name="objetivo 4"/>
          <p:cNvSpPr txBox="1"/>
          <p:nvPr/>
        </p:nvSpPr>
        <p:spPr>
          <a:xfrm>
            <a:off x="1051560" y="2944368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Descrever a deriva dos clientes e seus efeitos na convergência.</a:t>
            </a:r>
            <a:endParaRPr lang="en-US" sz="1400" dirty="0"/>
          </a:p>
        </p:txBody>
      </p:sp>
      <p:sp>
        <p:nvSpPr>
          <p:cNvPr id="15" name="icone-fundo"/>
          <p:cNvSpPr/>
          <p:nvPr/>
        </p:nvSpPr>
        <p:spPr>
          <a:xfrm>
            <a:off x="457200" y="3547872"/>
            <a:ext cx="402336" cy="40233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6" name="i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714" y="3636386"/>
            <a:ext cx="225308" cy="225308"/>
          </a:xfrm>
          <a:prstGeom prst="rect">
            <a:avLst/>
          </a:prstGeom>
        </p:spPr>
      </p:pic>
      <p:sp>
        <p:nvSpPr>
          <p:cNvPr id="17" name="objetivo 5"/>
          <p:cNvSpPr txBox="1"/>
          <p:nvPr/>
        </p:nvSpPr>
        <p:spPr>
          <a:xfrm>
            <a:off x="1051560" y="3511296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Explicar as ideias do FedProx, do SCAFFOLD e do FedNova.</a:t>
            </a:r>
            <a:endParaRPr lang="en-US" sz="1400" dirty="0"/>
          </a:p>
        </p:txBody>
      </p:sp>
      <p:sp>
        <p:nvSpPr>
          <p:cNvPr id="18" name="icone-fundo"/>
          <p:cNvSpPr/>
          <p:nvPr/>
        </p:nvSpPr>
        <p:spPr>
          <a:xfrm>
            <a:off x="457200" y="4114800"/>
            <a:ext cx="402336" cy="40233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9" name="ico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714" y="4203314"/>
            <a:ext cx="225308" cy="225308"/>
          </a:xfrm>
          <a:prstGeom prst="rect">
            <a:avLst/>
          </a:prstGeom>
        </p:spPr>
      </p:pic>
      <p:sp>
        <p:nvSpPr>
          <p:cNvPr id="20" name="objetivo 6"/>
          <p:cNvSpPr txBox="1"/>
          <p:nvPr/>
        </p:nvSpPr>
        <p:spPr>
          <a:xfrm>
            <a:off x="1051560" y="4078224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Comparar algoritmos federados em cenários heterogêneos e interpretar resultados com honestidade.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da aula</a:t>
            </a:r>
            <a:endParaRPr lang="en-US" sz="3200" dirty="0"/>
          </a:p>
        </p:txBody>
      </p:sp>
      <p:sp>
        <p:nvSpPr>
          <p:cNvPr id="3" name="etapa 1"/>
          <p:cNvSpPr/>
          <p:nvPr/>
        </p:nvSpPr>
        <p:spPr>
          <a:xfrm>
            <a:off x="502920" y="1554480"/>
            <a:ext cx="19659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4" name="icone-fundo"/>
          <p:cNvSpPr/>
          <p:nvPr/>
        </p:nvSpPr>
        <p:spPr>
          <a:xfrm>
            <a:off x="1257300" y="173736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numero 1"/>
          <p:cNvSpPr txBox="1"/>
          <p:nvPr/>
        </p:nvSpPr>
        <p:spPr>
          <a:xfrm>
            <a:off x="12573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itulo etapa 1"/>
          <p:cNvSpPr txBox="1"/>
          <p:nvPr/>
        </p:nvSpPr>
        <p:spPr>
          <a:xfrm>
            <a:off x="59436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 que é não-IID</a:t>
            </a:r>
            <a:endParaRPr lang="en-US" sz="1500" dirty="0"/>
          </a:p>
        </p:txBody>
      </p:sp>
      <p:sp>
        <p:nvSpPr>
          <p:cNvPr id="7" name="etapa 2"/>
          <p:cNvSpPr/>
          <p:nvPr/>
        </p:nvSpPr>
        <p:spPr>
          <a:xfrm>
            <a:off x="2560320" y="1554480"/>
            <a:ext cx="19659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8" name="icone-fundo"/>
          <p:cNvSpPr/>
          <p:nvPr/>
        </p:nvSpPr>
        <p:spPr>
          <a:xfrm>
            <a:off x="3314700" y="173736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numero 2"/>
          <p:cNvSpPr txBox="1"/>
          <p:nvPr/>
        </p:nvSpPr>
        <p:spPr>
          <a:xfrm>
            <a:off x="33147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itulo etapa 2"/>
          <p:cNvSpPr txBox="1"/>
          <p:nvPr/>
        </p:nvSpPr>
        <p:spPr>
          <a:xfrm>
            <a:off x="265176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Como simular</a:t>
            </a:r>
            <a:endParaRPr lang="en-US" sz="1500" dirty="0"/>
          </a:p>
        </p:txBody>
      </p:sp>
      <p:sp>
        <p:nvSpPr>
          <p:cNvPr id="11" name="etapa 3"/>
          <p:cNvSpPr/>
          <p:nvPr/>
        </p:nvSpPr>
        <p:spPr>
          <a:xfrm>
            <a:off x="4617720" y="1554480"/>
            <a:ext cx="19659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12" name="icone-fundo"/>
          <p:cNvSpPr/>
          <p:nvPr/>
        </p:nvSpPr>
        <p:spPr>
          <a:xfrm>
            <a:off x="5372100" y="173736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numero 3"/>
          <p:cNvSpPr txBox="1"/>
          <p:nvPr/>
        </p:nvSpPr>
        <p:spPr>
          <a:xfrm>
            <a:off x="53721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itulo etapa 3"/>
          <p:cNvSpPr txBox="1"/>
          <p:nvPr/>
        </p:nvSpPr>
        <p:spPr>
          <a:xfrm>
            <a:off x="470916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Por que atrapalha</a:t>
            </a:r>
            <a:endParaRPr lang="en-US" sz="1500" dirty="0"/>
          </a:p>
        </p:txBody>
      </p:sp>
      <p:sp>
        <p:nvSpPr>
          <p:cNvPr id="15" name="etapa 4"/>
          <p:cNvSpPr/>
          <p:nvPr/>
        </p:nvSpPr>
        <p:spPr>
          <a:xfrm>
            <a:off x="6675120" y="1554480"/>
            <a:ext cx="19659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16" name="icone-fundo"/>
          <p:cNvSpPr/>
          <p:nvPr/>
        </p:nvSpPr>
        <p:spPr>
          <a:xfrm>
            <a:off x="7429500" y="173736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numero 4"/>
          <p:cNvSpPr txBox="1"/>
          <p:nvPr/>
        </p:nvSpPr>
        <p:spPr>
          <a:xfrm>
            <a:off x="74295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itulo etapa 4"/>
          <p:cNvSpPr txBox="1"/>
          <p:nvPr/>
        </p:nvSpPr>
        <p:spPr>
          <a:xfrm>
            <a:off x="676656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FedProx, SCAFFOLD, FedNova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se de impacto"/>
          <p:cNvSpPr txBox="1"/>
          <p:nvPr/>
        </p:nvSpPr>
        <p:spPr>
          <a:xfrm>
            <a:off x="731520" y="118872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Cada cliente tem a sua própria urna de dados.</a:t>
            </a:r>
            <a:endParaRPr lang="en-US" sz="3800" dirty="0"/>
          </a:p>
        </p:txBody>
      </p:sp>
      <p:sp>
        <p:nvSpPr>
          <p:cNvPr id="3" name="complemento"/>
          <p:cNvSpPr txBox="1"/>
          <p:nvPr/>
        </p:nvSpPr>
        <p:spPr>
          <a:xfrm>
            <a:off x="731520" y="34747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67E8F9"/>
                </a:solidFill>
              </a:rPr>
              <a:t>Dados diferentes entre clientes: o desafio central do federado.</a:t>
            </a:r>
            <a:endParaRPr lang="en-US" sz="18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pizzarias, três receitas</a:t>
            </a:r>
            <a:endParaRPr lang="en-US" sz="3200" dirty="0"/>
          </a:p>
        </p:txBody>
      </p:sp>
      <p:sp>
        <p:nvSpPr>
          <p:cNvPr id="3" name="topicos"/>
          <p:cNvSpPr txBox="1"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Praia: muita pizza de camarão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Centro financeiro: mais vegetariana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Bairro universitário: grande e barata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 média das três pode não agradar a ninguém</a:t>
            </a:r>
            <a:endParaRPr lang="en-US" sz="2200" dirty="0"/>
          </a:p>
        </p:txBody>
      </p:sp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seu celular e o do vizinho têm dados bem distintos.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IID × não-IID</a:t>
            </a:r>
            <a:endParaRPr lang="en-US" sz="3200" dirty="0"/>
          </a:p>
        </p:txBody>
      </p:sp>
      <p:sp>
        <p:nvSpPr>
          <p:cNvPr id="3" name="topicos"/>
          <p:cNvSpPr txBox="1"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IID: tudo sorteado de uma única urna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Não-IID: cada cliente tem a sua distribuição P_k(x, y)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P(x, y) = P(y) · P(x | y) = P(x) · P(y | x)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Cada fatia pode variar entre clientes</a:t>
            </a:r>
            <a:endParaRPr lang="en-US" sz="2200" dirty="0"/>
          </a:p>
        </p:txBody>
      </p:sp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bolinhas de uma urna só contra bolinhas de urnas diferentes.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tipos de heterogeneidade</a:t>
            </a:r>
            <a:endParaRPr lang="en-US" sz="3200" dirty="0"/>
          </a:p>
        </p:txBody>
      </p:sp>
      <p:pic>
        <p:nvPicPr>
          <p:cNvPr id="3" name="figura f4_tipos" descr="f4_tip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75262"/>
            <a:ext cx="8229600" cy="2444436"/>
          </a:xfrm>
          <a:prstGeom prst="rect">
            <a:avLst/>
          </a:prstGeom>
        </p:spPr>
      </p:pic>
      <p:sp>
        <p:nvSpPr>
          <p:cNvPr id="4" name="legenda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Rótulos, atributos, quantidade e conceito.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dos tipos</a:t>
            </a:r>
            <a:endParaRPr lang="en-US" sz="3200" dirty="0"/>
          </a:p>
        </p:txBody>
      </p:sp>
      <p:graphicFrame>
        <p:nvGraphicFramePr>
          <p:cNvPr id="9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10896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Tipo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 que muda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Exemplo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B6D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Rótulos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P(y): frequência das classes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Hospital oncológico x clínica de rotina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Atributos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P(x): aparência dos dados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Câmeras e caligrafias diferentes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Quantidade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n_k: tamanho do conjunto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Usuário muito ativo x pouco ativo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Conceito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P(y | x): mesmo dado, outra resposta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'Bom' para um é 'regular' para outro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simular: shards e Dirichlet</a:t>
            </a:r>
            <a:endParaRPr lang="en-US" sz="3200" dirty="0"/>
          </a:p>
        </p:txBody>
      </p:sp>
      <p:sp>
        <p:nvSpPr>
          <p:cNvPr id="3" name="topicos"/>
          <p:cNvSpPr txBox="1"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Shards: ordene por classe e entregue poucos pedaços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Um pedaço por cliente = uma única classe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Dirichlet(α): α grande ≈ IID; α pequeno = muito heterogêneo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α = 100, 1 e 0,1 são três graus de bagunça</a:t>
            </a:r>
            <a:endParaRPr lang="en-US" sz="2200" dirty="0"/>
          </a:p>
        </p:txBody>
      </p:sp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como repartir uma pizza: fatias iguais ou cada um ficando com um sabor.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controla a bagunça</a:t>
            </a:r>
            <a:endParaRPr lang="en-US" sz="3200" dirty="0"/>
          </a:p>
        </p:txBody>
      </p:sp>
      <p:pic>
        <p:nvPicPr>
          <p:cNvPr id="3" name="figura f4_dirichlet" descr="f4_dirichl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09065"/>
            <a:ext cx="8229600" cy="2776829"/>
          </a:xfrm>
          <a:prstGeom prst="rect">
            <a:avLst/>
          </a:prstGeom>
        </p:spPr>
      </p:pic>
      <p:sp>
        <p:nvSpPr>
          <p:cNvPr id="4" name="legenda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Quanto menor o α, mais concentrada é a distribuição de cada cliente.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Medindo com a classe dominante</a:t>
            </a:r>
            <a:endParaRPr lang="en-US" sz="3200" dirty="0"/>
          </a:p>
        </p:txBody>
      </p:sp>
      <p:sp>
        <p:nvSpPr>
          <p:cNvPr id="3" name="cartao numero 1"/>
          <p:cNvSpPr/>
          <p:nvPr/>
        </p:nvSpPr>
        <p:spPr>
          <a:xfrm>
            <a:off x="45720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4" name="numero 1"/>
          <p:cNvSpPr txBox="1"/>
          <p:nvPr/>
        </p:nvSpPr>
        <p:spPr>
          <a:xfrm>
            <a:off x="457200" y="15544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6B6D4"/>
                </a:solidFill>
              </a:rPr>
              <a:t>0,12</a:t>
            </a:r>
            <a:endParaRPr lang="en-US" sz="4800" dirty="0"/>
          </a:p>
        </p:txBody>
      </p:sp>
      <p:sp>
        <p:nvSpPr>
          <p:cNvPr id="5" name="rotulo 1"/>
          <p:cNvSpPr txBox="1"/>
          <p:nvPr/>
        </p:nvSpPr>
        <p:spPr>
          <a:xfrm>
            <a:off x="59436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α = 100: cada cliente vê todas as classes</a:t>
            </a:r>
            <a:endParaRPr lang="en-US" sz="1400" dirty="0"/>
          </a:p>
        </p:txBody>
      </p:sp>
      <p:sp>
        <p:nvSpPr>
          <p:cNvPr id="6" name="cartao numero 2"/>
          <p:cNvSpPr/>
          <p:nvPr/>
        </p:nvSpPr>
        <p:spPr>
          <a:xfrm>
            <a:off x="329184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7" name="numero 2"/>
          <p:cNvSpPr txBox="1"/>
          <p:nvPr/>
        </p:nvSpPr>
        <p:spPr>
          <a:xfrm>
            <a:off x="3291840" y="15544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6B6D4"/>
                </a:solidFill>
              </a:rPr>
              <a:t>0,24</a:t>
            </a:r>
            <a:endParaRPr lang="en-US" sz="4800" dirty="0"/>
          </a:p>
        </p:txBody>
      </p:sp>
      <p:sp>
        <p:nvSpPr>
          <p:cNvPr id="8" name="rotulo 2"/>
          <p:cNvSpPr txBox="1"/>
          <p:nvPr/>
        </p:nvSpPr>
        <p:spPr>
          <a:xfrm>
            <a:off x="342900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α = 1: heterogeneidade moderada</a:t>
            </a:r>
            <a:endParaRPr lang="en-US" sz="1400" dirty="0"/>
          </a:p>
        </p:txBody>
      </p:sp>
      <p:sp>
        <p:nvSpPr>
          <p:cNvPr id="9" name="cartao numero 3"/>
          <p:cNvSpPr/>
          <p:nvPr/>
        </p:nvSpPr>
        <p:spPr>
          <a:xfrm>
            <a:off x="612648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10" name="numero 3"/>
          <p:cNvSpPr txBox="1"/>
          <p:nvPr/>
        </p:nvSpPr>
        <p:spPr>
          <a:xfrm>
            <a:off x="6126480" y="15544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6B6D4"/>
                </a:solidFill>
              </a:rPr>
              <a:t>0,56</a:t>
            </a:r>
            <a:endParaRPr lang="en-US" sz="4800" dirty="0"/>
          </a:p>
        </p:txBody>
      </p:sp>
      <p:sp>
        <p:nvSpPr>
          <p:cNvPr id="11" name="rotulo 3"/>
          <p:cNvSpPr txBox="1"/>
          <p:nvPr/>
        </p:nvSpPr>
        <p:spPr>
          <a:xfrm>
            <a:off x="626364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α = 0,1: mais da metade é uma classe</a:t>
            </a:r>
            <a:endParaRPr lang="en-US" sz="1400" dirty="0"/>
          </a:p>
        </p:txBody>
      </p:sp>
      <p:sp>
        <p:nvSpPr>
          <p:cNvPr id="12" name="cartao analogia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3" name="icone-fundo"/>
          <p:cNvSpPr/>
          <p:nvPr/>
        </p:nvSpPr>
        <p:spPr>
          <a:xfrm>
            <a:off x="594360" y="406908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169664"/>
            <a:ext cx="256032" cy="256032"/>
          </a:xfrm>
          <a:prstGeom prst="rect">
            <a:avLst/>
          </a:prstGeom>
        </p:spPr>
      </p:pic>
      <p:sp>
        <p:nvSpPr>
          <p:cNvPr id="15" name="analogia"/>
          <p:cNvSpPr txBox="1"/>
          <p:nvPr/>
        </p:nvSpPr>
        <p:spPr>
          <a:xfrm>
            <a:off x="1188720" y="3968496"/>
            <a:ext cx="7360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no primeiro caso todo cliente pede um pouco de cada sabor.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 dos clientes</a:t>
            </a:r>
            <a:endParaRPr lang="en-US" sz="3200" dirty="0"/>
          </a:p>
        </p:txBody>
      </p:sp>
      <p:pic>
        <p:nvPicPr>
          <p:cNvPr id="3" name="figura f4_deriva" descr="f4_der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1484" y="1188720"/>
            <a:ext cx="3941031" cy="3017520"/>
          </a:xfrm>
          <a:prstGeom prst="rect">
            <a:avLst/>
          </a:prstGeom>
        </p:spPr>
      </p:pic>
      <p:sp>
        <p:nvSpPr>
          <p:cNvPr id="4" name="legenda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Com muitos passos locais, o FedAvg estaciona na média dos mínimos locais.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mais heterogêneo, mais lento e instável</a:t>
            </a:r>
            <a:endParaRPr lang="en-US" sz="3200" dirty="0"/>
          </a:p>
        </p:txBody>
      </p:sp>
      <p:pic>
        <p:nvPicPr>
          <p:cNvPr id="3" name="figura f4_curvas" descr="f4_curv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8492" y="1188720"/>
            <a:ext cx="4707017" cy="3017520"/>
          </a:xfrm>
          <a:prstGeom prst="rect">
            <a:avLst/>
          </a:prstGeom>
        </p:spPr>
      </p:pic>
      <p:sp>
        <p:nvSpPr>
          <p:cNvPr id="4" name="legenda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20 clientes, 10% por rodada, 20 épocas locais, η = 0,3.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antes de combater: variação total</a:t>
            </a:r>
            <a:endParaRPr lang="en-US" sz="3200" dirty="0"/>
          </a:p>
        </p:txBody>
      </p:sp>
      <p:graphicFrame>
        <p:nvGraphicFramePr>
          <p:cNvPr id="15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Valor de TV_k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Significado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B6D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Distribuições idênticas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0,3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Cliente (0,7; 0,2; 0,1) contra global (0,4; 0,3; 0,3)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≈ 0,9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Cliente com uma única classe em 10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a fração de exemplos que 'estaria na classe errada' para igualar as distribuições.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FedProx × SCAFFOLD</a:t>
            </a:r>
            <a:endParaRPr lang="en-US" sz="3200" dirty="0"/>
          </a:p>
        </p:txBody>
      </p:sp>
      <p:sp>
        <p:nvSpPr>
          <p:cNvPr id="3" name="coluna FedProx"/>
          <p:cNvSpPr/>
          <p:nvPr/>
        </p:nvSpPr>
        <p:spPr>
          <a:xfrm>
            <a:off x="457200" y="1280160"/>
            <a:ext cx="393192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abecalho FedProx"/>
          <p:cNvSpPr txBox="1"/>
          <p:nvPr/>
        </p:nvSpPr>
        <p:spPr>
          <a:xfrm>
            <a:off x="640080" y="1371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46E5"/>
                </a:solidFill>
              </a:rPr>
              <a:t>FedProx</a:t>
            </a:r>
            <a:endParaRPr lang="en-US" sz="2000" dirty="0"/>
          </a:p>
        </p:txBody>
      </p:sp>
      <p:sp>
        <p:nvSpPr>
          <p:cNvPr id="5" name="topicos"/>
          <p:cNvSpPr txBox="1"/>
          <p:nvPr/>
        </p:nvSpPr>
        <p:spPr>
          <a:xfrm>
            <a:off x="640080" y="192024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Coleira μ: penaliza afastar-se de w_t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μ = 0 volta ao FedAvg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Custo extra quase nulo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Aqui: pouco efeito; μ grande atrapalha</a:t>
            </a:r>
            <a:endParaRPr lang="en-US" sz="1500" dirty="0"/>
          </a:p>
        </p:txBody>
      </p:sp>
      <p:sp>
        <p:nvSpPr>
          <p:cNvPr id="6" name="coluna SCAFFOLD"/>
          <p:cNvSpPr/>
          <p:nvPr/>
        </p:nvSpPr>
        <p:spPr>
          <a:xfrm>
            <a:off x="4754880" y="1280160"/>
            <a:ext cx="393192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abecalho SCAFFOLD"/>
          <p:cNvSpPr txBox="1"/>
          <p:nvPr/>
        </p:nvSpPr>
        <p:spPr>
          <a:xfrm>
            <a:off x="4937760" y="1371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SCAFFOLD</a:t>
            </a:r>
            <a:endParaRPr lang="en-US" sz="2000" dirty="0"/>
          </a:p>
        </p:txBody>
      </p:sp>
      <p:sp>
        <p:nvSpPr>
          <p:cNvPr id="8" name="topicos"/>
          <p:cNvSpPr txBox="1"/>
          <p:nvPr/>
        </p:nvSpPr>
        <p:spPr>
          <a:xfrm>
            <a:off x="4937760" y="192024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Variáveis de controle c e c_k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Passo: g(w) − c_k + c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Custo: o dobro de comunicação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Aqui: mais rápido e mais estável</a:t>
            </a:r>
            <a:endParaRPr lang="en-US" sz="1500" dirty="0"/>
          </a:p>
        </p:txBody>
      </p:sp>
      <p:sp>
        <p:nvSpPr>
          <p:cNvPr id="9" name="cartao analogia"/>
          <p:cNvSpPr/>
          <p:nvPr/>
        </p:nvSpPr>
        <p:spPr>
          <a:xfrm>
            <a:off x="457200" y="4114800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icone-fundo"/>
          <p:cNvSpPr/>
          <p:nvPr/>
        </p:nvSpPr>
        <p:spPr>
          <a:xfrm>
            <a:off x="594360" y="42062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1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306824"/>
            <a:ext cx="256032" cy="256032"/>
          </a:xfrm>
          <a:prstGeom prst="rect">
            <a:avLst/>
          </a:prstGeom>
        </p:spPr>
      </p:pic>
      <p:sp>
        <p:nvSpPr>
          <p:cNvPr id="12" name="analogia"/>
          <p:cNvSpPr txBox="1"/>
          <p:nvPr/>
        </p:nvSpPr>
        <p:spPr>
          <a:xfrm>
            <a:off x="1188720" y="4151376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FedProx é uma coleira no cachorro; SCAFFOLD é um GPS que corrige o rumo.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FedNova e outras ideias</a:t>
            </a:r>
            <a:endParaRPr lang="en-US" sz="3200" dirty="0"/>
          </a:p>
        </p:txBody>
      </p:sp>
      <p:sp>
        <p:nvSpPr>
          <p:cNvPr id="3" name="topicos"/>
          <p:cNvSpPr txBox="1"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FedNova: normaliza cada atualização pelos passos locais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Otimizadores no servidor: FedAdam, FedYogi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Personalização: um modelo para cada cliente (Cap. 6)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Agrupar clientes parecidos (Cap. 6)</a:t>
            </a:r>
            <a:endParaRPr lang="en-US" sz="2200" dirty="0"/>
          </a:p>
        </p:txBody>
      </p:sp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quem deu 100 passos não deve valer dez vezes quem deu 10.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no teste mais duro</a:t>
            </a:r>
            <a:endParaRPr lang="en-US" sz="3200" dirty="0"/>
          </a:p>
        </p:txBody>
      </p:sp>
      <p:pic>
        <p:nvPicPr>
          <p:cNvPr id="3" name="figura f4_algos" descr="f4_alg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5423" y="1188720"/>
            <a:ext cx="4713154" cy="3017520"/>
          </a:xfrm>
          <a:prstGeom prst="rect">
            <a:avLst/>
          </a:prstGeom>
        </p:spPr>
      </p:pic>
      <p:sp>
        <p:nvSpPr>
          <p:cNvPr id="4" name="legenda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20 clientes com uma classe cada: SCAFFOLD ≈ 0,96; FedAvg ≈ 0,93.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algoritmo, um preço</a:t>
            </a:r>
            <a:endParaRPr lang="en-US" sz="3200" dirty="0"/>
          </a:p>
        </p:txBody>
      </p:sp>
      <p:graphicFrame>
        <p:nvGraphicFramePr>
          <p:cNvPr id="19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Algoritmo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Custo extra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Quando ajuda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B6D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FedProx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Quase nenhum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Esforço variável entre dispositivos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SCAFFOLD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2× comunicação e estado nos clientes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Forte heterogeneidade de rótulos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FedNova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Quase nenhum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Números de passos diferentes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FedAdam e afins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Memória no servidor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Problemas mal condicionados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se de impacto"/>
          <p:cNvSpPr txBox="1"/>
          <p:nvPr/>
        </p:nvSpPr>
        <p:spPr>
          <a:xfrm>
            <a:off x="731520" y="118872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Nenhum algoritmo vence em tudo. Teste no seu problema.</a:t>
            </a:r>
            <a:endParaRPr lang="en-US" sz="3800" dirty="0"/>
          </a:p>
        </p:txBody>
      </p:sp>
      <p:sp>
        <p:nvSpPr>
          <p:cNvPr id="3" name="complemento"/>
          <p:cNvSpPr txBox="1"/>
          <p:nvPr/>
        </p:nvSpPr>
        <p:spPr>
          <a:xfrm>
            <a:off x="731520" y="34747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67E8F9"/>
                </a:solidFill>
              </a:rPr>
              <a:t>E use várias sementes.</a:t>
            </a:r>
            <a:endParaRPr lang="en-US" sz="18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 1/3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43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 heterogeneidade de rótulos (label skew) ocorre quando:</a:t>
            </a:r>
            <a:endParaRPr lang="en-US" sz="1800" dirty="0"/>
          </a:p>
        </p:txBody>
      </p:sp>
      <p:sp>
        <p:nvSpPr>
          <p:cNvPr id="6" name="opcao a"/>
          <p:cNvSpPr/>
          <p:nvPr/>
        </p:nvSpPr>
        <p:spPr>
          <a:xfrm>
            <a:off x="45720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cone-fundo"/>
          <p:cNvSpPr/>
          <p:nvPr/>
        </p:nvSpPr>
        <p:spPr>
          <a:xfrm>
            <a:off x="566928" y="251460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letra a"/>
          <p:cNvSpPr txBox="1"/>
          <p:nvPr/>
        </p:nvSpPr>
        <p:spPr>
          <a:xfrm>
            <a:off x="56692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9" name="texto opcao a"/>
          <p:cNvSpPr txBox="1"/>
          <p:nvPr/>
        </p:nvSpPr>
        <p:spPr>
          <a:xfrm>
            <a:off x="114300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frequência de cada classe muda entre clientes, P(y).</a:t>
            </a:r>
            <a:endParaRPr lang="en-US" sz="1400" dirty="0"/>
          </a:p>
        </p:txBody>
      </p:sp>
      <p:sp>
        <p:nvSpPr>
          <p:cNvPr id="10" name="opcao b"/>
          <p:cNvSpPr/>
          <p:nvPr/>
        </p:nvSpPr>
        <p:spPr>
          <a:xfrm>
            <a:off x="466344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e-fundo"/>
          <p:cNvSpPr/>
          <p:nvPr/>
        </p:nvSpPr>
        <p:spPr>
          <a:xfrm>
            <a:off x="4773168" y="251460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letra b"/>
          <p:cNvSpPr txBox="1"/>
          <p:nvPr/>
        </p:nvSpPr>
        <p:spPr>
          <a:xfrm>
            <a:off x="477316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texto opcao b"/>
          <p:cNvSpPr txBox="1"/>
          <p:nvPr/>
        </p:nvSpPr>
        <p:spPr>
          <a:xfrm>
            <a:off x="534924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 fotos têm câmeras diferentes.</a:t>
            </a:r>
            <a:endParaRPr lang="en-US" sz="1400" dirty="0"/>
          </a:p>
        </p:txBody>
      </p:sp>
      <p:sp>
        <p:nvSpPr>
          <p:cNvPr id="14" name="opcao c"/>
          <p:cNvSpPr/>
          <p:nvPr/>
        </p:nvSpPr>
        <p:spPr>
          <a:xfrm>
            <a:off x="45720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e-fundo"/>
          <p:cNvSpPr/>
          <p:nvPr/>
        </p:nvSpPr>
        <p:spPr>
          <a:xfrm>
            <a:off x="566928" y="374904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letra c"/>
          <p:cNvSpPr txBox="1"/>
          <p:nvPr/>
        </p:nvSpPr>
        <p:spPr>
          <a:xfrm>
            <a:off x="56692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17" name="texto opcao c"/>
          <p:cNvSpPr txBox="1"/>
          <p:nvPr/>
        </p:nvSpPr>
        <p:spPr>
          <a:xfrm>
            <a:off x="114300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tamanho do conjunto muda.</a:t>
            </a:r>
            <a:endParaRPr lang="en-US" sz="1400" dirty="0"/>
          </a:p>
        </p:txBody>
      </p:sp>
      <p:sp>
        <p:nvSpPr>
          <p:cNvPr id="18" name="opcao d"/>
          <p:cNvSpPr/>
          <p:nvPr/>
        </p:nvSpPr>
        <p:spPr>
          <a:xfrm>
            <a:off x="466344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e-fundo"/>
          <p:cNvSpPr/>
          <p:nvPr/>
        </p:nvSpPr>
        <p:spPr>
          <a:xfrm>
            <a:off x="4773168" y="374904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letra d"/>
          <p:cNvSpPr txBox="1"/>
          <p:nvPr/>
        </p:nvSpPr>
        <p:spPr>
          <a:xfrm>
            <a:off x="477316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21" name="texto opcao d"/>
          <p:cNvSpPr txBox="1"/>
          <p:nvPr/>
        </p:nvSpPr>
        <p:spPr>
          <a:xfrm>
            <a:off x="534924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mesmo dado recebe rótulos diferentes.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 2/3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43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 deriva dos clientes (client drift) é:</a:t>
            </a:r>
            <a:endParaRPr lang="en-US" sz="1800" dirty="0"/>
          </a:p>
        </p:txBody>
      </p:sp>
      <p:sp>
        <p:nvSpPr>
          <p:cNvPr id="6" name="opcao a"/>
          <p:cNvSpPr/>
          <p:nvPr/>
        </p:nvSpPr>
        <p:spPr>
          <a:xfrm>
            <a:off x="45720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cone-fundo"/>
          <p:cNvSpPr/>
          <p:nvPr/>
        </p:nvSpPr>
        <p:spPr>
          <a:xfrm>
            <a:off x="566928" y="251460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letra a"/>
          <p:cNvSpPr txBox="1"/>
          <p:nvPr/>
        </p:nvSpPr>
        <p:spPr>
          <a:xfrm>
            <a:off x="56692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9" name="texto opcao a"/>
          <p:cNvSpPr txBox="1"/>
          <p:nvPr/>
        </p:nvSpPr>
        <p:spPr>
          <a:xfrm>
            <a:off x="114300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afastamento do modelo local em direção ao seu mínimo local durante muitos passos de treino.</a:t>
            </a:r>
            <a:endParaRPr lang="en-US" sz="1400" dirty="0"/>
          </a:p>
        </p:txBody>
      </p:sp>
      <p:sp>
        <p:nvSpPr>
          <p:cNvPr id="10" name="opcao b"/>
          <p:cNvSpPr/>
          <p:nvPr/>
        </p:nvSpPr>
        <p:spPr>
          <a:xfrm>
            <a:off x="466344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e-fundo"/>
          <p:cNvSpPr/>
          <p:nvPr/>
        </p:nvSpPr>
        <p:spPr>
          <a:xfrm>
            <a:off x="4773168" y="251460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letra b"/>
          <p:cNvSpPr txBox="1"/>
          <p:nvPr/>
        </p:nvSpPr>
        <p:spPr>
          <a:xfrm>
            <a:off x="477316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texto opcao b"/>
          <p:cNvSpPr txBox="1"/>
          <p:nvPr/>
        </p:nvSpPr>
        <p:spPr>
          <a:xfrm>
            <a:off x="534924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perda de conexão do cliente.</a:t>
            </a:r>
            <a:endParaRPr lang="en-US" sz="1400" dirty="0"/>
          </a:p>
        </p:txBody>
      </p:sp>
      <p:sp>
        <p:nvSpPr>
          <p:cNvPr id="14" name="opcao c"/>
          <p:cNvSpPr/>
          <p:nvPr/>
        </p:nvSpPr>
        <p:spPr>
          <a:xfrm>
            <a:off x="45720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e-fundo"/>
          <p:cNvSpPr/>
          <p:nvPr/>
        </p:nvSpPr>
        <p:spPr>
          <a:xfrm>
            <a:off x="566928" y="374904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letra c"/>
          <p:cNvSpPr txBox="1"/>
          <p:nvPr/>
        </p:nvSpPr>
        <p:spPr>
          <a:xfrm>
            <a:off x="56692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17" name="texto opcao c"/>
          <p:cNvSpPr txBox="1"/>
          <p:nvPr/>
        </p:nvSpPr>
        <p:spPr>
          <a:xfrm>
            <a:off x="114300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mudança de servidor.</a:t>
            </a:r>
            <a:endParaRPr lang="en-US" sz="1400" dirty="0"/>
          </a:p>
        </p:txBody>
      </p:sp>
      <p:sp>
        <p:nvSpPr>
          <p:cNvPr id="18" name="opcao d"/>
          <p:cNvSpPr/>
          <p:nvPr/>
        </p:nvSpPr>
        <p:spPr>
          <a:xfrm>
            <a:off x="466344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e-fundo"/>
          <p:cNvSpPr/>
          <p:nvPr/>
        </p:nvSpPr>
        <p:spPr>
          <a:xfrm>
            <a:off x="4773168" y="374904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letra d"/>
          <p:cNvSpPr txBox="1"/>
          <p:nvPr/>
        </p:nvSpPr>
        <p:spPr>
          <a:xfrm>
            <a:off x="477316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21" name="texto opcao d"/>
          <p:cNvSpPr txBox="1"/>
          <p:nvPr/>
        </p:nvSpPr>
        <p:spPr>
          <a:xfrm>
            <a:off x="534924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troca de rótulos.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 3/3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43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 SCAFFOLD corrige a deriva usando:</a:t>
            </a:r>
            <a:endParaRPr lang="en-US" sz="1800" dirty="0"/>
          </a:p>
        </p:txBody>
      </p:sp>
      <p:sp>
        <p:nvSpPr>
          <p:cNvPr id="6" name="opcao a"/>
          <p:cNvSpPr/>
          <p:nvPr/>
        </p:nvSpPr>
        <p:spPr>
          <a:xfrm>
            <a:off x="45720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cone-fundo"/>
          <p:cNvSpPr/>
          <p:nvPr/>
        </p:nvSpPr>
        <p:spPr>
          <a:xfrm>
            <a:off x="566928" y="251460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letra a"/>
          <p:cNvSpPr txBox="1"/>
          <p:nvPr/>
        </p:nvSpPr>
        <p:spPr>
          <a:xfrm>
            <a:off x="56692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9" name="texto opcao a"/>
          <p:cNvSpPr txBox="1"/>
          <p:nvPr/>
        </p:nvSpPr>
        <p:spPr>
          <a:xfrm>
            <a:off x="114300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variáveis de controle no servidor (c) e em cada cliente (c_k).</a:t>
            </a:r>
            <a:endParaRPr lang="en-US" sz="1400" dirty="0"/>
          </a:p>
        </p:txBody>
      </p:sp>
      <p:sp>
        <p:nvSpPr>
          <p:cNvPr id="10" name="opcao b"/>
          <p:cNvSpPr/>
          <p:nvPr/>
        </p:nvSpPr>
        <p:spPr>
          <a:xfrm>
            <a:off x="466344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e-fundo"/>
          <p:cNvSpPr/>
          <p:nvPr/>
        </p:nvSpPr>
        <p:spPr>
          <a:xfrm>
            <a:off x="4773168" y="251460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letra b"/>
          <p:cNvSpPr txBox="1"/>
          <p:nvPr/>
        </p:nvSpPr>
        <p:spPr>
          <a:xfrm>
            <a:off x="477316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texto opcao b"/>
          <p:cNvSpPr txBox="1"/>
          <p:nvPr/>
        </p:nvSpPr>
        <p:spPr>
          <a:xfrm>
            <a:off x="534924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apenas ruído.</a:t>
            </a:r>
            <a:endParaRPr lang="en-US" sz="1400" dirty="0"/>
          </a:p>
        </p:txBody>
      </p:sp>
      <p:sp>
        <p:nvSpPr>
          <p:cNvPr id="14" name="opcao c"/>
          <p:cNvSpPr/>
          <p:nvPr/>
        </p:nvSpPr>
        <p:spPr>
          <a:xfrm>
            <a:off x="45720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e-fundo"/>
          <p:cNvSpPr/>
          <p:nvPr/>
        </p:nvSpPr>
        <p:spPr>
          <a:xfrm>
            <a:off x="566928" y="374904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letra c"/>
          <p:cNvSpPr txBox="1"/>
          <p:nvPr/>
        </p:nvSpPr>
        <p:spPr>
          <a:xfrm>
            <a:off x="56692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17" name="texto opcao c"/>
          <p:cNvSpPr txBox="1"/>
          <p:nvPr/>
        </p:nvSpPr>
        <p:spPr>
          <a:xfrm>
            <a:off x="114300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criptografia homomórfica.</a:t>
            </a:r>
            <a:endParaRPr lang="en-US" sz="1400" dirty="0"/>
          </a:p>
        </p:txBody>
      </p:sp>
      <p:sp>
        <p:nvSpPr>
          <p:cNvPr id="18" name="opcao d"/>
          <p:cNvSpPr/>
          <p:nvPr/>
        </p:nvSpPr>
        <p:spPr>
          <a:xfrm>
            <a:off x="466344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e-fundo"/>
          <p:cNvSpPr/>
          <p:nvPr/>
        </p:nvSpPr>
        <p:spPr>
          <a:xfrm>
            <a:off x="4773168" y="374904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letra d"/>
          <p:cNvSpPr txBox="1"/>
          <p:nvPr/>
        </p:nvSpPr>
        <p:spPr>
          <a:xfrm>
            <a:off x="477316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21" name="texto opcao d"/>
          <p:cNvSpPr txBox="1"/>
          <p:nvPr/>
        </p:nvSpPr>
        <p:spPr>
          <a:xfrm>
            <a:off x="534924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mais clientes.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na massa: Python + scikit-learn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exercicio 1"/>
          <p:cNvSpPr/>
          <p:nvPr/>
        </p:nvSpPr>
        <p:spPr>
          <a:xfrm>
            <a:off x="457200" y="1280160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o exercicio 1"/>
          <p:cNvSpPr txBox="1"/>
          <p:nvPr/>
        </p:nvSpPr>
        <p:spPr>
          <a:xfrm>
            <a:off x="640080" y="128016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Exercício 1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Medindo a heterogeneidade de rótulos</a:t>
            </a:r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   (básico)</a:t>
            </a:r>
            <a:endParaRPr lang="en-US" sz="1400" dirty="0"/>
          </a:p>
        </p:txBody>
      </p:sp>
      <p:sp>
        <p:nvSpPr>
          <p:cNvPr id="7" name="exercicio 2"/>
          <p:cNvSpPr/>
          <p:nvPr/>
        </p:nvSpPr>
        <p:spPr>
          <a:xfrm>
            <a:off x="457200" y="1847088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o exercicio 2"/>
          <p:cNvSpPr txBox="1"/>
          <p:nvPr/>
        </p:nvSpPr>
        <p:spPr>
          <a:xfrm>
            <a:off x="640080" y="184708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Exercício 2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Épocas locais e heterogeneidade</a:t>
            </a:r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   (básico)</a:t>
            </a:r>
            <a:endParaRPr lang="en-US" sz="1400" dirty="0"/>
          </a:p>
        </p:txBody>
      </p:sp>
      <p:sp>
        <p:nvSpPr>
          <p:cNvPr id="9" name="exercicio 3"/>
          <p:cNvSpPr/>
          <p:nvPr/>
        </p:nvSpPr>
        <p:spPr>
          <a:xfrm>
            <a:off x="457200" y="2414016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o exercicio 3"/>
          <p:cNvSpPr txBox="1"/>
          <p:nvPr/>
        </p:nvSpPr>
        <p:spPr>
          <a:xfrm>
            <a:off x="640080" y="241401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Exercício 3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Heterogeneidade de quantidade: ponderar ou não?</a:t>
            </a:r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   (intermediário)</a:t>
            </a:r>
            <a:endParaRPr lang="en-US" sz="1400" dirty="0"/>
          </a:p>
        </p:txBody>
      </p:sp>
      <p:sp>
        <p:nvSpPr>
          <p:cNvPr id="11" name="exercicio 4"/>
          <p:cNvSpPr/>
          <p:nvPr/>
        </p:nvSpPr>
        <p:spPr>
          <a:xfrm>
            <a:off x="457200" y="2980944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o exercicio 4"/>
          <p:cNvSpPr txBox="1"/>
          <p:nvPr/>
        </p:nvSpPr>
        <p:spPr>
          <a:xfrm>
            <a:off x="640080" y="2980944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Exercício 4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Quanto vale a "coleira" do FedProx?</a:t>
            </a:r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   (intermediário)</a:t>
            </a:r>
            <a:endParaRPr lang="en-US" sz="1400" dirty="0"/>
          </a:p>
        </p:txBody>
      </p:sp>
      <p:sp>
        <p:nvSpPr>
          <p:cNvPr id="13" name="projeto"/>
          <p:cNvSpPr/>
          <p:nvPr/>
        </p:nvSpPr>
        <p:spPr>
          <a:xfrm>
            <a:off x="457200" y="3593592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itulo projeto"/>
          <p:cNvSpPr txBox="1"/>
          <p:nvPr/>
        </p:nvSpPr>
        <p:spPr>
          <a:xfrm>
            <a:off x="685800" y="3593592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E68A"/>
                </a:solidFill>
              </a:rPr>
              <a:t>PROJETO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Escolhendo o algoritmo: mapa de heterogeneidade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levar na mochila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resumo 1"/>
          <p:cNvSpPr txBox="1"/>
          <p:nvPr/>
        </p:nvSpPr>
        <p:spPr>
          <a:xfrm>
            <a:off x="457200" y="1234440"/>
            <a:ext cx="822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Não-IID: cada cliente tem sua própria distribuição de dados.</a:t>
            </a:r>
            <a:endParaRPr lang="en-US" sz="1400" dirty="0"/>
          </a:p>
        </p:txBody>
      </p:sp>
      <p:sp>
        <p:nvSpPr>
          <p:cNvPr id="6" name="resumo 2"/>
          <p:cNvSpPr txBox="1"/>
          <p:nvPr/>
        </p:nvSpPr>
        <p:spPr>
          <a:xfrm>
            <a:off x="457200" y="1834896"/>
            <a:ext cx="822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Tipos: rótulos, atributos, quantidade e conceito.</a:t>
            </a:r>
            <a:endParaRPr lang="en-US" sz="1400" dirty="0"/>
          </a:p>
        </p:txBody>
      </p:sp>
      <p:sp>
        <p:nvSpPr>
          <p:cNvPr id="7" name="resumo 3"/>
          <p:cNvSpPr txBox="1"/>
          <p:nvPr/>
        </p:nvSpPr>
        <p:spPr>
          <a:xfrm>
            <a:off x="457200" y="2435352"/>
            <a:ext cx="822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Simulação: shards (por classe) e Dirichlet(α), com α pequeno = muito heterogêneo.</a:t>
            </a:r>
            <a:endParaRPr lang="en-US" sz="1400" dirty="0"/>
          </a:p>
        </p:txBody>
      </p:sp>
      <p:sp>
        <p:nvSpPr>
          <p:cNvPr id="8" name="resumo 4"/>
          <p:cNvSpPr txBox="1"/>
          <p:nvPr/>
        </p:nvSpPr>
        <p:spPr>
          <a:xfrm>
            <a:off x="457200" y="3035808"/>
            <a:ext cx="822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Efeitos: deriva dos clientes, convergência lenta e instável, inconsistência do objetivo.</a:t>
            </a:r>
            <a:endParaRPr lang="en-US" sz="1400" dirty="0"/>
          </a:p>
        </p:txBody>
      </p:sp>
      <p:sp>
        <p:nvSpPr>
          <p:cNvPr id="9" name="resumo 5"/>
          <p:cNvSpPr txBox="1"/>
          <p:nvPr/>
        </p:nvSpPr>
        <p:spPr>
          <a:xfrm>
            <a:off x="457200" y="3636264"/>
            <a:ext cx="822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FedProx: coleira μ. SCAFFOLD: variáveis de controle (2× comunicação). FedNova: normaliza por passos.</a:t>
            </a:r>
            <a:endParaRPr lang="en-US" sz="1400" dirty="0"/>
          </a:p>
        </p:txBody>
      </p:sp>
      <p:sp>
        <p:nvSpPr>
          <p:cNvPr id="10" name="resumo 6"/>
          <p:cNvSpPr txBox="1"/>
          <p:nvPr/>
        </p:nvSpPr>
        <p:spPr>
          <a:xfrm>
            <a:off x="457200" y="4236720"/>
            <a:ext cx="822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Resultados dependem do problema: avalie com várias sementes.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e-fundo"/>
          <p:cNvSpPr/>
          <p:nvPr/>
        </p:nvSpPr>
        <p:spPr>
          <a:xfrm>
            <a:off x="731520" y="914400"/>
            <a:ext cx="731520" cy="7315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3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454" y="1075334"/>
            <a:ext cx="409651" cy="409651"/>
          </a:xfrm>
          <a:prstGeom prst="rect">
            <a:avLst/>
          </a:prstGeom>
        </p:spPr>
      </p:pic>
      <p:sp>
        <p:nvSpPr>
          <p:cNvPr id="4" name="fechamento"/>
          <p:cNvSpPr txBox="1"/>
          <p:nvPr/>
        </p:nvSpPr>
        <p:spPr>
          <a:xfrm>
            <a:off x="731520" y="1828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Dados diferentes pedem algoritmos e honestidade nos testes.</a:t>
            </a:r>
            <a:endParaRPr lang="en-US" sz="3200" dirty="0"/>
          </a:p>
        </p:txBody>
      </p:sp>
      <p:sp>
        <p:nvSpPr>
          <p:cNvPr id="5" name="proximo capitulo"/>
          <p:cNvSpPr txBox="1"/>
          <p:nvPr/>
        </p:nvSpPr>
        <p:spPr>
          <a:xfrm>
            <a:off x="731520" y="35661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67E8F9"/>
                </a:solidFill>
              </a:rPr>
              <a:t>Próximo capítulo: falando menos — eficiência de comunicação.</a:t>
            </a:r>
            <a:endParaRPr lang="en-US" sz="18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prendizado Federado">
  <a:themeElements>
    <a:clrScheme name="Aprendizado Federado">
      <a:dk1>
        <a:srgbClr val="1F2937"/>
      </a:dk1>
      <a:lt1>
        <a:srgbClr val="FFFFFF"/>
      </a:lt1>
      <a:dk2>
        <a:srgbClr val="111827"/>
      </a:dk2>
      <a:lt2>
        <a:srgbClr val="F3F4F6"/>
      </a:lt2>
      <a:accent1>
        <a:srgbClr val="4F46E5"/>
      </a:accent1>
      <a:accent2>
        <a:srgbClr val="06B6D4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4F46E5"/>
      </a:hlink>
      <a:folHlink>
        <a:srgbClr val="8B5CF6"/>
      </a:folHlink>
    </a:clrScheme>
    <a:fontScheme name="Aprendizado Federad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Cap. 4 — Quando os Dados Não São Iguais: Heterogeneidade (Não-IID)</dc:title>
  <dc:subject>Aprendizado Federado: Fundamentos, Prática e Fronteiras</dc:subject>
  <dc:creator>Araken de Medeiros Santos</dc:creator>
  <cp:lastModifiedBy>Araken de Medeiros Santos</cp:lastModifiedBy>
  <cp:revision>1</cp:revision>
  <dcterms:created xsi:type="dcterms:W3CDTF">2026-10-27T00:03:29Z</dcterms:created>
  <dcterms:modified xsi:type="dcterms:W3CDTF">2026-10-27T00:03:29Z</dcterms:modified>
</cp:coreProperties>
</file>