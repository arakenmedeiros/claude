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1 minuto para a turma discutir em duplas antes de revelar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Testes e CI/CD para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por que testar sistemas de ML exige testar código, dados e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Escrever testes unitários com pytest para funções e transformadores.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Criar testes de comportamento do modelo: fumaça, invariância, direção e desempenho mínimo.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Implementar um portão de qualidade que bloqueia modelos ruins automaticamente.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Ler e escrever um fluxo de integração contínua (CI) para um projeto de ML.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Distinguir CI, entrega contínua, implantação contínua e treinamento contínuo (CT).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Organizar ambientes (desenvolvimento, homologação, produção) e aprovações.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lista de verificação do avião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Ninguém confia só na memória antes de decolar.
No software, a lista são os testes automáticos.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Em ML, o sistema pode estar errado sem nenhum erro de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 </a:t>
            </a:r>
            <a:r>
              <a:rPr sz="2800" b="1">
                <a:solidFill>
                  <a:srgbClr val="10B981"/>
                </a:solidFill>
                <a:latin typeface="Calibri"/>
              </a:rPr>
              <a:t>código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 </a:t>
            </a:r>
            <a:r>
              <a:rPr sz="2800" b="1">
                <a:solidFill>
                  <a:srgbClr val="10B981"/>
                </a:solidFill>
                <a:latin typeface="Calibri"/>
              </a:rPr>
              <a:t>dados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 </a:t>
            </a:r>
            <a:r>
              <a:rPr sz="2800" b="1">
                <a:solidFill>
                  <a:srgbClr val="10B981"/>
                </a:solidFill>
                <a:latin typeface="Calibri"/>
              </a:rPr>
              <a:t>modelo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 a </a:t>
            </a:r>
            <a:r>
              <a:rPr sz="2800" b="1">
                <a:solidFill>
                  <a:srgbClr val="10B981"/>
                </a:solidFill>
                <a:latin typeface="Calibri"/>
              </a:rPr>
              <a:t>infraestrutura</a:t>
            </a:r>
            <a:r>
              <a:rPr sz="2800" b="0">
                <a:solidFill>
                  <a:srgbClr val="1F2937"/>
                </a:solidFill>
                <a:latin typeface="Calibri"/>
              </a:rPr>
              <a:t> de ponta a ponta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Breck et al. (2017)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Pirâmide de testes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8_piram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86" y="1325880"/>
            <a:ext cx="7633546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Muitos testes rápidos na base; poucos e caros no topo.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pytest em um minuto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Funções `test_...`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`assert` afirma o que deve ser verdade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`parametrize`: mesmo teste, vários valores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`raises`: a exceção esperada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 os </a:t>
            </a:r>
            <a:r>
              <a:rPr sz="2800" b="1">
                <a:solidFill>
                  <a:srgbClr val="10B981"/>
                </a:solidFill>
                <a:latin typeface="Calibri"/>
              </a:rPr>
              <a:t>casos de borda</a:t>
            </a:r>
            <a:r>
              <a:rPr sz="2800" b="0">
                <a:solidFill>
                  <a:srgbClr val="1F2937"/>
                </a:solidFill>
                <a:latin typeface="Calibri"/>
              </a:rPr>
              <a:t>: vazio, zero, negativo, categoria nova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Um teste de verdade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@pytest.mark.parametrize("ruim", [-1, 121, 500])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def test_idade_invalida(ruim):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with pytest.raises(ValueError):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limpar_idade(ruim)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6 passed in 0.03s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Milissegundos: pode rodar a cada mudança.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Testes de modelo (inspirados no CheckList)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Fumaça</a:t>
            </a:r>
            <a:r>
              <a:rPr sz="2800" b="0">
                <a:solidFill>
                  <a:srgbClr val="1F2937"/>
                </a:solidFill>
                <a:latin typeface="Calibri"/>
              </a:rPr>
              <a:t>: treina e prevê sem quebrar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Funcionalidade mínima</a:t>
            </a:r>
            <a:r>
              <a:rPr sz="2800" b="0">
                <a:solidFill>
                  <a:srgbClr val="1F2937"/>
                </a:solidFill>
                <a:latin typeface="Calibri"/>
              </a:rPr>
              <a:t>: casos óbvios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Invariância</a:t>
            </a:r>
            <a:r>
              <a:rPr sz="2800" b="0">
                <a:solidFill>
                  <a:srgbClr val="1F2937"/>
                </a:solidFill>
                <a:latin typeface="Calibri"/>
              </a:rPr>
              <a:t>: mudar algo irrelevante quase não altera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Direção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mais tempo de cliente não aumenta o risco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Desempenho mínimo, fatias, não regressão, determinismo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Ribeiro et al. (2020)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teste que falha “às vezes”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É pior que não ter teste: as pessoas passam a ignorá-lo.
Fixe sementes, use tolerâncias razoáveis.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portão de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Programa com </a:t>
            </a:r>
            <a:r>
              <a:rPr sz="2800" b="1">
                <a:solidFill>
                  <a:srgbClr val="10B981"/>
                </a:solidFill>
                <a:latin typeface="Calibri"/>
              </a:rPr>
              <a:t>código de saída</a:t>
            </a:r>
            <a:r>
              <a:rPr sz="2800" b="0">
                <a:solidFill>
                  <a:srgbClr val="1F2937"/>
                </a:solidFill>
                <a:latin typeface="Calibri"/>
              </a:rPr>
              <a:t>: 0 aprova, ≠ 0 reprova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Mostre </a:t>
            </a:r>
            <a:r>
              <a:rPr sz="2800" b="1">
                <a:solidFill>
                  <a:srgbClr val="10B981"/>
                </a:solidFill>
                <a:latin typeface="Calibri"/>
              </a:rPr>
              <a:t>todos</a:t>
            </a:r>
            <a:r>
              <a:rPr sz="2800" b="0">
                <a:solidFill>
                  <a:srgbClr val="1F2937"/>
                </a:solidFill>
                <a:latin typeface="Calibri"/>
              </a:rPr>
              <a:t> os motivos de uma vez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Pisos acordados com o negócio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Exemplo: `revocacao: 0.700 &lt; 0.85` → código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Fluxo de CI/CD para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f8_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5" y="1325880"/>
            <a:ext cx="9996208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mudança passa por estilo, testes, treino rápido, portão e imagem.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Integração contínua (CI)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Código novo → </a:t>
            </a:r>
            <a:r>
              <a:rPr sz="2800" b="1">
                <a:solidFill>
                  <a:srgbClr val="10B981"/>
                </a:solidFill>
                <a:latin typeface="Calibri"/>
              </a:rPr>
              <a:t>ambiente limpo</a:t>
            </a:r>
            <a:r>
              <a:rPr sz="2800" b="0">
                <a:solidFill>
                  <a:srgbClr val="1F2937"/>
                </a:solidFill>
                <a:latin typeface="Calibri"/>
              </a:rPr>
              <a:t> → testes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Estilo e tipos (ruff, mypy)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Treino em amostra pequena + portão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Falhar cedo: verificações baratas primeiro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Humble e Farley (2010)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Um fluxo de CI (exemplo ilustrativo)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uses: actions/checkout@v4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run: pip install -r requirements.txt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run: ruff check src tests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run: pytest tests/ -q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run: python src/gate.py metricas.json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- run: docker build -t api-churn:${{ github.sha }}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Ilustrativo: não foi executado na elaboração do livro.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Entrega × implantação contínua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Entrega contínua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Toda mudança aprovada </a:t>
            </a:r>
            <a:r>
              <a:rPr sz="1900" b="1">
                <a:solidFill>
                  <a:srgbClr val="10B981"/>
                </a:solidFill>
                <a:latin typeface="Calibri"/>
              </a:rPr>
              <a:t>fica pronta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Um humano aperta o botão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Preferida em áreas de alto impacto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212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Implantação contínua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Toda mudança aprovada </a:t>
            </a:r>
            <a:r>
              <a:rPr sz="1900" b="1">
                <a:solidFill>
                  <a:srgbClr val="F59E0B"/>
                </a:solidFill>
                <a:latin typeface="Calibri"/>
              </a:rPr>
              <a:t>vai sozinha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Exige bons testes e monitoramento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Comum em contextos de baixo risco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Ambientes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Desenvolvimento</a:t>
            </a:r>
            <a:r>
              <a:rPr sz="2800" b="0">
                <a:solidFill>
                  <a:srgbClr val="1F2937"/>
                </a:solidFill>
                <a:latin typeface="Calibri"/>
              </a:rPr>
              <a:t>: experimentar à vontade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Homologação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ensaio geral, parecido com produção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Produção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usuários reais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Equipes que entregam pequeno e sempre têm </a:t>
            </a:r>
            <a:r>
              <a:rPr sz="2800" b="1">
                <a:solidFill>
                  <a:srgbClr val="10B981"/>
                </a:solidFill>
                <a:latin typeface="Calibri"/>
              </a:rPr>
              <a:t>menos</a:t>
            </a:r>
            <a:r>
              <a:rPr sz="2800" b="0">
                <a:solidFill>
                  <a:srgbClr val="1F2937"/>
                </a:solidFill>
                <a:latin typeface="Calibri"/>
              </a:rPr>
              <a:t> falhas (Forsgren et al., 2018)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Treinamento contínuo (CT)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Gatilhos: </a:t>
            </a:r>
            <a:r>
              <a:rPr sz="2800" b="1">
                <a:solidFill>
                  <a:srgbClr val="10B981"/>
                </a:solidFill>
                <a:latin typeface="Calibri"/>
              </a:rPr>
              <a:t>agenda, dados novos, queda de desempenho, deriva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Treina → avalia → </a:t>
            </a:r>
            <a:r>
              <a:rPr sz="2800" b="1">
                <a:solidFill>
                  <a:srgbClr val="10B981"/>
                </a:solidFill>
                <a:latin typeface="Calibri"/>
              </a:rPr>
              <a:t>portão</a:t>
            </a:r>
            <a:r>
              <a:rPr sz="2800" b="0">
                <a:solidFill>
                  <a:srgbClr val="1F2937"/>
                </a:solidFill>
                <a:latin typeface="Calibri"/>
              </a:rPr>
              <a:t> → compara com o campeão → registra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Nunca “põe no ar” direto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app do celular que atualiza sozinho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O fabricante testa, libera para poucos, observa e só depois libera para todos.
Modelos pedem o mesmo cuidado.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PARE E 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Como saber se os seus testes realmente protegem?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Resposta: “Quebrando o modelo de propósito” (rótulos embaralhados, sem padronizar). Se os testes continuarem passando, são frouxos.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Em ML, teste código, dados e modelo; e a infraestrutura de ponta a ponta.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pytest: funções `test_...`, `assert`, `parametrize` e `raises`.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Testes de modelo: fumaça, funcionalidade mínima, invariância, direção, desempenho mínimo, fatias, não regressão e determinismo.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portão de qualidade é um programa com código de saída 0 (aprova) ou diferente de 0 (reprova).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CI: a cada mudança, ambiente limpo, estilo, testes, treino rápido, portão e imagem.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CD: entrega contínua (botão humano) ou implantação contínua (automática); ambientes de desenvolvimento, homologação e produção.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CT: retreinar por agendamento, dados novos, queda de desempenho ou *drift*, sempre com portão e comparação com o campeão.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10B981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10B981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