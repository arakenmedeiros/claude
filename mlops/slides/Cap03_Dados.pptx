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Dados: Qualidade, Validação e Versionamento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Explicar por que a qualidade dos dados determina a qualidade do modelo.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Medir dimensões de qualidade (completude, validade, unicidade, consistência, atualidade) com pandas.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Escrever validações automáticas de esquema e de intervalo para os dados de entrada.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Reconhecer e evitar o vazamento de dados (data leakage).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Avaliar o efeito de rótulos errados sobre o desempenho do modelo.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Versionar dados com identificadores por conteúdo (hash) e entender como o DVC funciona.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Documentar conjuntos de dados com datasheets e usar repositórios públicos (UCI, Kaggle, OpenML).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Garbage in, garbage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Cuide dos ingredientes antes da panela.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Cascatas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Problemas que nascem cedo, passam despercebidos e </a:t>
            </a:r>
            <a:r>
              <a:rPr sz="2800" b="1">
                <a:solidFill>
                  <a:srgbClr val="06B6D4"/>
                </a:solidFill>
                <a:latin typeface="Calibri"/>
              </a:rPr>
              <a:t>causam dano grave depois</a:t>
            </a:r>
            <a:r>
              <a:rPr sz="2800" b="0">
                <a:solidFill>
                  <a:srgbClr val="1F2937"/>
                </a:solidFill>
                <a:latin typeface="Calibri"/>
              </a:rPr>
              <a:t> (Sambasivan et al., 2021)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 maioria dos profissionais estudados sofreu ao menos uma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Trabalho com dados é pouco valorizado, mas decisivo (Whang et al., 2023)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As dimensões da qualidade dos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f3_qua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767" y="1325880"/>
            <a:ext cx="8751984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Completude, validade, unicidade, consistência, atualidade, exatidão, representatividade.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Receita com ingredientes vencidos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Não importa se o cozinheiro é excelente: o prato sai ruim, e talvez perigoso.
Dados ruins estragam qualquer algoritmo.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Medindo a qualidade com pandas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linhas                          : 1025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% ausentes em renda             : 12.0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idades inválidas (&lt;0 ou &gt;120)   : 15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linhas duplicadas               : 25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ids repetidos                   :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Em segundos, quatro problemas. Em produção, isso roda sozinho a cada lote.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Validação automática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Esquema</a:t>
            </a:r>
            <a:r>
              <a:rPr sz="2800" b="0">
                <a:solidFill>
                  <a:srgbClr val="1F2937"/>
                </a:solidFill>
                <a:latin typeface="Calibri"/>
              </a:rPr>
              <a:t>: tipo, intervalo, categorias e ausentes por coluna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Detecção de anomalias</a:t>
            </a:r>
            <a:r>
              <a:rPr sz="2800" b="0">
                <a:solidFill>
                  <a:srgbClr val="1F2937"/>
                </a:solidFill>
                <a:latin typeface="Calibri"/>
              </a:rPr>
              <a:t> em cada lote novo (Breck et al., 2019)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Desvio treino–serviço</a:t>
            </a:r>
            <a:r>
              <a:rPr sz="2800" b="0">
                <a:solidFill>
                  <a:srgbClr val="1F2937"/>
                </a:solidFill>
                <a:latin typeface="Calibri"/>
              </a:rPr>
              <a:t>: dados de produção diferentes dos de treino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“Testes unitários para dados” (Schelter et al., 2018)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Portão de validação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f3_valid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198" y="1325880"/>
            <a:ext cx="9775123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Lote reprovado vai para quarentena e gera alerta.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controle de passaporte do aeroporto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Ninguém entra sem documentos válidos.
Lote sem validação não entra no treino.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Vazamento de dados (data leakage)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O modelo vê, no treino, informação que </a:t>
            </a:r>
            <a:r>
              <a:rPr sz="2800" b="1">
                <a:solidFill>
                  <a:srgbClr val="06B6D4"/>
                </a:solidFill>
                <a:latin typeface="Calibri"/>
              </a:rPr>
              <a:t>não existirá na hora de prever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Tipos: </a:t>
            </a:r>
            <a:r>
              <a:rPr sz="2800" b="1">
                <a:solidFill>
                  <a:srgbClr val="06B6D4"/>
                </a:solidFill>
                <a:latin typeface="Calibri"/>
              </a:rPr>
              <a:t>de alvo</a:t>
            </a:r>
            <a:r>
              <a:rPr sz="2800" b="0">
                <a:solidFill>
                  <a:srgbClr val="1F2937"/>
                </a:solidFill>
                <a:latin typeface="Calibri"/>
              </a:rPr>
              <a:t>, </a:t>
            </a:r>
            <a:r>
              <a:rPr sz="2800" b="1">
                <a:solidFill>
                  <a:srgbClr val="06B6D4"/>
                </a:solidFill>
                <a:latin typeface="Calibri"/>
              </a:rPr>
              <a:t>contaminação treino–teste</a:t>
            </a:r>
            <a:r>
              <a:rPr sz="2800" b="0">
                <a:solidFill>
                  <a:srgbClr val="1F2937"/>
                </a:solidFill>
                <a:latin typeface="Calibri"/>
              </a:rPr>
              <a:t>, </a:t>
            </a:r>
            <a:r>
              <a:rPr sz="2800" b="1">
                <a:solidFill>
                  <a:srgbClr val="06B6D4"/>
                </a:solidFill>
                <a:latin typeface="Calibri"/>
              </a:rPr>
              <a:t>temporal</a:t>
            </a:r>
            <a:r>
              <a:rPr sz="2800" b="0">
                <a:solidFill>
                  <a:srgbClr val="1F2937"/>
                </a:solidFill>
                <a:latin typeface="Calibri"/>
              </a:rPr>
              <a:t>, </a:t>
            </a:r>
            <a:r>
              <a:rPr sz="2800" b="1">
                <a:solidFill>
                  <a:srgbClr val="06B6D4"/>
                </a:solidFill>
                <a:latin typeface="Calibri"/>
              </a:rPr>
              <a:t>duplicatas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Pista: resultado </a:t>
            </a:r>
            <a:r>
              <a:rPr sz="2800" b="1">
                <a:solidFill>
                  <a:srgbClr val="06B6D4"/>
                </a:solidFill>
                <a:latin typeface="Calibri"/>
              </a:rPr>
              <a:t>bom demais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Kaufman et al. (2012)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“Na hora de usar, eu terei esta informação?”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A pergunta de ouro para cada atributo.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aluno que viu a prova 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A nota é ótima, mas não prova que ele sabe a matéria.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Ruído nos rótulos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f3_rotu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874" y="1325880"/>
            <a:ext cx="729177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A floresta tolera ruído aleatório moderado; erros sistemáticos são muito piores.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Como dividir os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Aleatória</a:t>
            </a:r>
            <a:r>
              <a:rPr sz="2800" b="0">
                <a:solidFill>
                  <a:srgbClr val="1F2937"/>
                </a:solidFill>
                <a:latin typeface="Calibri"/>
              </a:rPr>
              <a:t>: dados independentes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Estratificada</a:t>
            </a:r>
            <a:r>
              <a:rPr sz="2800" b="0">
                <a:solidFill>
                  <a:srgbClr val="1F2937"/>
                </a:solidFill>
                <a:latin typeface="Calibri"/>
              </a:rPr>
              <a:t>: classes desbalanceadas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Temporal</a:t>
            </a:r>
            <a:r>
              <a:rPr sz="2800" b="0">
                <a:solidFill>
                  <a:srgbClr val="1F2937"/>
                </a:solidFill>
                <a:latin typeface="Calibri"/>
              </a:rPr>
              <a:t>: treina no passado, testa no futuro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Por grupo</a:t>
            </a:r>
            <a:r>
              <a:rPr sz="2800" b="0">
                <a:solidFill>
                  <a:srgbClr val="1F2937"/>
                </a:solidFill>
                <a:latin typeface="Calibri"/>
              </a:rPr>
              <a:t>: várias linhas por pessoa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Teste: uso único</a:t>
            </a:r>
            <a:r>
              <a:rPr sz="2800" b="0">
                <a:solidFill>
                  <a:srgbClr val="1F2937"/>
                </a:solidFill>
                <a:latin typeface="Calibri"/>
              </a:rPr>
              <a:t>, no final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Versionando dados com hash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versão 1: fa99f216adc034ee ...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versão 2: 134467b2009f9327 ...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Iguais?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Mudou um valor, o hash mudou por completo. É a impressão digital dos dados.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Versionamento no estilo DVC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pic>
        <p:nvPicPr>
          <p:cNvPr id="8" name="Picture 7" descr="f3_version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96" y="1325880"/>
            <a:ext cx="8915927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O Git guarda ponteiros leves; os dados ficam no armazém remoto.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Documentar e proteger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Datasheets for datasets</a:t>
            </a:r>
            <a:r>
              <a:rPr sz="2800" b="0">
                <a:solidFill>
                  <a:srgbClr val="1F2937"/>
                </a:solidFill>
                <a:latin typeface="Calibri"/>
              </a:rPr>
              <a:t> (Gebru et al., 2021): a bula do conjunto de dados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Minimização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: guarde só o necessário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Pseudonimização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: troque identificadores por códigos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LGPD (Lei 13.709/2018)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Onde achar dados reais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UCI Machine Learning Repository</a:t>
            </a:r>
            <a:r>
              <a:rPr sz="2800" b="0">
                <a:solidFill>
                  <a:srgbClr val="1F2937"/>
                </a:solidFill>
                <a:latin typeface="Calibri"/>
              </a:rPr>
              <a:t> (Dua e Graff, 2019)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Kaggle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OpenML</a:t>
            </a:r>
            <a:r>
              <a:rPr sz="2800" b="0">
                <a:solidFill>
                  <a:srgbClr val="1F2937"/>
                </a:solidFill>
                <a:latin typeface="Calibri"/>
              </a:rPr>
              <a:t> (Vanschoren et al., 2013)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Iris, Wine, Breast Cancer e Digits já vêm no scikit-learn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Garbage in, garbage out: cuide dos dados antes do algoritmo.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Dimensões de qualidade: completude, validade, unicidade, consistência, atualidade, exatidão e representatividade.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Valide automaticamente: esquema, intervalos e categorias. Reprove o lote ruim antes de treinar.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Vazamento de dados dá resultado bom demais. Pergunte: "terei essa informação na hora de prever?"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Rótulos errados prejudicam o modelo; trate-os como dados importantes.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Divida os dados com cuidado: estratificada, temporal ou por grupo, conforme o caso.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Hash identifica versões de dados; o DVC guarda ponteiros no Git e os dados em armazenamento remoto.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Documente com datasheets e proteja dados pessoais desde o início.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06B6D4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06B6D4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