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1 minuto para a turma discutir em duplas antes de revelar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Rastreamento de Experimentos e Registro de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 por que experimentos precisam ser registrados de forma sistemática.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Distinguir parâmetros, métricas, artefatos, tags e execuções (runs).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Registrar experimentos com o MLflow Tracking e comparar execuções.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Salvar modelos com assinatura (signature) e carregá-los de forma uniforme.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Usar o registro de modelos (model registry) com versões e apelidos (aliases).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Aplicar uma regra automática de promoção de modelos baseada em métricas.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caderno de laboratório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Um cozinheiro testa 40 versões da receita e não anota nada.
Na semana seguinte ninguém sabe qual ficou melhor.
Rastrear experimentos = anotar tudo, sempre.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Sem × com rastreamento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f5_cad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96" y="1325880"/>
            <a:ext cx="891592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Cada execução guarda parâmetros, métricas, artefatos e a origem do código e dos dados.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vocabulário do rastreamento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Experimento</a:t>
            </a:r>
            <a:r>
              <a:rPr sz="2800" b="0">
                <a:solidFill>
                  <a:srgbClr val="1F2937"/>
                </a:solidFill>
                <a:latin typeface="Calibri"/>
              </a:rPr>
              <a:t>: grupo de execuções com o mesmo objetivo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Execução (run)</a:t>
            </a:r>
            <a:r>
              <a:rPr sz="2800" b="0">
                <a:solidFill>
                  <a:srgbClr val="1F2937"/>
                </a:solidFill>
                <a:latin typeface="Calibri"/>
              </a:rPr>
              <a:t>: uma tentativa de treino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Parâmetro</a:t>
            </a:r>
            <a:r>
              <a:rPr sz="2800" b="0">
                <a:solidFill>
                  <a:srgbClr val="1F2937"/>
                </a:solidFill>
                <a:latin typeface="Calibri"/>
              </a:rPr>
              <a:t>: entrada fixa (n_estimators = 200)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Métrica</a:t>
            </a:r>
            <a:r>
              <a:rPr sz="2800" b="0">
                <a:solidFill>
                  <a:srgbClr val="1F2937"/>
                </a:solidFill>
                <a:latin typeface="Calibri"/>
              </a:rPr>
              <a:t>: mede o resultado (F1 = 0,96), pode variar por passo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Artefato</a:t>
            </a:r>
            <a:r>
              <a:rPr sz="2800" b="0">
                <a:solidFill>
                  <a:srgbClr val="1F2937"/>
                </a:solidFill>
                <a:latin typeface="Calibri"/>
              </a:rPr>
              <a:t>: arquivo gerado (modelo, gráfico)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Tag</a:t>
            </a:r>
            <a:r>
              <a:rPr sz="2800" b="0">
                <a:solidFill>
                  <a:srgbClr val="1F2937"/>
                </a:solidFill>
                <a:latin typeface="Calibri"/>
              </a:rPr>
              <a:t>: rótulo livre (autor, hash dos dados)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MLflow (Zaharia et al., 2018)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Plataforma de código aberto para o ciclo de vida de ML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Tracking</a:t>
            </a:r>
            <a:r>
              <a:rPr sz="2800" b="0">
                <a:solidFill>
                  <a:srgbClr val="1F2937"/>
                </a:solidFill>
                <a:latin typeface="Calibri"/>
              </a:rPr>
              <a:t>: registra e consulta execuções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Models</a:t>
            </a:r>
            <a:r>
              <a:rPr sz="2800" b="0">
                <a:solidFill>
                  <a:srgbClr val="1F2937"/>
                </a:solidFill>
                <a:latin typeface="Calibri"/>
              </a:rPr>
              <a:t>: formato padrão de empacotamento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Model Registry</a:t>
            </a:r>
            <a:r>
              <a:rPr sz="2800" b="0">
                <a:solidFill>
                  <a:srgbClr val="1F2937"/>
                </a:solidFill>
                <a:latin typeface="Calibri"/>
              </a:rPr>
              <a:t>: versões e apelidos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Projects</a:t>
            </a:r>
            <a:r>
              <a:rPr sz="2800" b="0">
                <a:solidFill>
                  <a:srgbClr val="1F2937"/>
                </a:solidFill>
                <a:latin typeface="Calibri"/>
              </a:rPr>
              <a:t>: código reprodutível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Primeiros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mlflow.set_tracking_uri("sqlite:///mlflow.db")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mlflow.set_experiment("primeiros_passos")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with mlflow.start_run(run_name="minha_primeira_execucao"):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mlflow.log_param("taxa_aprendizado", 0.1)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for epoca in range(1, 6):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    mlflow.log_metric("perda", math.exp(-0.5*epoca), step=epoca)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Tudo que está dentro do `with` fica ligado àquela execução.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registrar em cada execução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Parâmetros</a:t>
            </a:r>
            <a:r>
              <a:rPr sz="2800" b="0">
                <a:solidFill>
                  <a:srgbClr val="1F2937"/>
                </a:solidFill>
                <a:latin typeface="Calibri"/>
              </a:rPr>
              <a:t> e semente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Métricas</a:t>
            </a:r>
            <a:r>
              <a:rPr sz="2800" b="0">
                <a:solidFill>
                  <a:srgbClr val="1F2937"/>
                </a:solidFill>
                <a:latin typeface="Calibri"/>
              </a:rPr>
              <a:t> (F1, acurácia) e por subgrupo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Hash dos dados</a:t>
            </a:r>
            <a:r>
              <a:rPr sz="2800" b="0">
                <a:solidFill>
                  <a:srgbClr val="1F2937"/>
                </a:solidFill>
                <a:latin typeface="Calibri"/>
              </a:rPr>
              <a:t> (rastreabilidade)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Artefato</a:t>
            </a:r>
            <a:r>
              <a:rPr sz="2800" b="0">
                <a:solidFill>
                  <a:srgbClr val="1F2937"/>
                </a:solidFill>
                <a:latin typeface="Calibri"/>
              </a:rPr>
              <a:t>: matriz de confusão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Modelo com assinatura</a:t>
            </a:r>
            <a:r>
              <a:rPr sz="2800" b="0">
                <a:solidFill>
                  <a:srgbClr val="1F2937"/>
                </a:solidFill>
                <a:latin typeface="Calibri"/>
              </a:rPr>
              <a:t> (contrato de entrada e saída)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Commit do código e lista de pacotes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Comparando execuções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f5_compa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623" y="1325880"/>
            <a:ext cx="7186272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Com tudo registrado, escolher o melhor vira uma consulta, e não uma memória.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Diferença pequena não é prova.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Com 143 exemplos de teste, 5 árvores “ganharam” de 300: pode ser ruído.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Cuidado com o formato do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Padrão do MLflow para scikit-learn: </a:t>
            </a:r>
            <a:r>
              <a:rPr sz="2800" b="1">
                <a:solidFill>
                  <a:srgbClr val="06B6D4"/>
                </a:solidFill>
                <a:latin typeface="Calibri"/>
              </a:rPr>
              <a:t>skops</a:t>
            </a:r>
            <a:r>
              <a:rPr sz="2800" b="0">
                <a:solidFill>
                  <a:srgbClr val="1F2937"/>
                </a:solidFill>
                <a:latin typeface="Calibri"/>
              </a:rPr>
              <a:t> (seguro)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Exige declarar </a:t>
            </a:r>
            <a:r>
              <a:rPr sz="2800" b="1">
                <a:solidFill>
                  <a:srgbClr val="06B6D4"/>
                </a:solidFill>
                <a:latin typeface="Calibri"/>
              </a:rPr>
              <a:t>tipos confiáveis</a:t>
            </a:r>
            <a:r>
              <a:rPr sz="2800" b="0">
                <a:solidFill>
                  <a:srgbClr val="1F2937"/>
                </a:solidFill>
                <a:latin typeface="Calibri"/>
              </a:rPr>
              <a:t> ao carregar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`pickle`/`cloudpickle` podem </a:t>
            </a:r>
            <a:r>
              <a:rPr sz="2800" b="1">
                <a:solidFill>
                  <a:srgbClr val="06B6D4"/>
                </a:solidFill>
                <a:latin typeface="Calibri"/>
              </a:rPr>
              <a:t>executar código</a:t>
            </a:r>
            <a:r>
              <a:rPr sz="2800" b="0">
                <a:solidFill>
                  <a:srgbClr val="1F2937"/>
                </a:solidFill>
                <a:latin typeface="Calibri"/>
              </a:rPr>
              <a:t> ao abrir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Só carregue modelos de </a:t>
            </a:r>
            <a:r>
              <a:rPr sz="2800" b="1">
                <a:solidFill>
                  <a:srgbClr val="06B6D4"/>
                </a:solidFill>
                <a:latin typeface="Calibri"/>
              </a:rPr>
              <a:t>origem confiável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 biblioteca e a edição vigente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Cada livro tem edições (versões). Existe a edição vigente que todos consultam.
No registro de modelos, o apelido `champion` aponta para a versão em produção.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Registro de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f5_regis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96" y="1325880"/>
            <a:ext cx="891592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Versões numeradas e apelidos: trocar o modelo é mover o apelido.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Carregar pelo apelido, trocar sem mexer no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producao = mlflow.sklearn.load_model(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"models:/detector_cancer@champion")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cliente.set_registered_model_alias(NOME, "champion", v2)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reverter?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cliente.set_registered_model_alias(NOME, "champion", v1)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Promover ou reverter é só mover o apelido: imediato e auditável.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Portão de promoção automático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Piso</a:t>
            </a:r>
            <a:r>
              <a:rPr sz="2800" b="0">
                <a:solidFill>
                  <a:srgbClr val="1F2937"/>
                </a:solidFill>
                <a:latin typeface="Calibri"/>
              </a:rPr>
              <a:t> absoluto de qualidade (ex.: F1 ≥ 0,90)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Margem mínima</a:t>
            </a:r>
            <a:r>
              <a:rPr sz="2800" b="0">
                <a:solidFill>
                  <a:srgbClr val="1F2937"/>
                </a:solidFill>
                <a:latin typeface="Calibri"/>
              </a:rPr>
              <a:t> de ganho sobre o campeão (evita trocar por ruído)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Registro</a:t>
            </a:r>
            <a:r>
              <a:rPr sz="2800" b="0">
                <a:solidFill>
                  <a:srgbClr val="1F2937"/>
                </a:solidFill>
                <a:latin typeface="Calibri"/>
              </a:rPr>
              <a:t> da decisão: quem, quando, por quê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Mesmo conjunto de avaliação para os dois modelos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Cartão de identidade do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Nome, versão, uso indicado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Dados de treino (hash, período, fonte)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Código (commit), parâmetros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Métricas (inclusive por grupo)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Limitações, responsável, data e aprovação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PARE E PENSE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Por que o código de produção deve carregar `@champion` e não `v3`?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103327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Resposta: Porque trocar ou reverter o modelo vira uma operação de registro, sem mudar nem reimplantar o código.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Rastrear experimentos é manter um caderno de laboratório: parâmetros, métricas, artefatos, tags, dados e código.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No MLflow: experimento agrupa execuções; cada execução tem parâmetros, métricas, artefatos e tags.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A assinatura do modelo descreve as entradas e saídas esperadas.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registro de modelos guarda versões e apelidos (`champion`, `challenger`).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código de produção carrega o modelo pelo apelido; para trocar ou reverter, mova o apelido.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Use um portão de promoção com margem mínima, piso de qualidade e registro da decisão.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Prefira formatos de modelo seguros e carregue apenas modelos de origem confiável.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06B6D4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06B6D4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