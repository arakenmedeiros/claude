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objetivos em voz alta e pergunte à turma o que já sabe sobre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iceberg: o que a gente vê é a ponta.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1 minuto para a turma discutir em duplas antes de revelar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695" cy="2295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Introdução ao MLOps: do Notebook à Produção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  <a:latin typeface="Calibri"/>
              </a:rPr>
              <a:t>MLOps: do notebook à produção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Explicar, com uma analogia do cotidiano, por que treinar um modelo é só uma pequena parte do trabalho.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Definir MLOps e distingui-lo de DevOps e de ciência de dados.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Reconhecer os três eixos que mudam em um sistema de ML: código, dados e modelo.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Descrever os princípios e os papéis envolvidos em um projeto de MLOps.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Montar a estrutura básica de um projeto reprodutível em Python.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Demonstrar, com código, por que a reprodutibilidade não acontece por acaso.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Bolo caseiro × fábrica de bolos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Fazer um bolo em casa é fácil.
Vender 500 bolos iguais por dia exige receita registrada, fornecedores confiáveis, testes e fiscal de qualidade.
Notebook = cozinha de casa. Produção = cozinha industrial.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Da cozinha de casa à cozinha industrial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f1_cozin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96" y="1325880"/>
            <a:ext cx="8915927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MLOps é a ponte entre as duas cozinhas.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Por que modelos não chegam (ou não ficam) em produção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4F46E5"/>
                </a:solidFill>
                <a:latin typeface="Calibri"/>
              </a:rPr>
              <a:t>▪  </a:t>
            </a:r>
            <a:r>
              <a:rPr sz="2400" b="0">
                <a:solidFill>
                  <a:srgbClr val="1F2937"/>
                </a:solidFill>
                <a:latin typeface="Calibri"/>
              </a:rPr>
              <a:t>O código do modelo é uma </a:t>
            </a:r>
            <a:r>
              <a:rPr sz="2400" b="1">
                <a:solidFill>
                  <a:srgbClr val="4F46E5"/>
                </a:solidFill>
                <a:latin typeface="Calibri"/>
              </a:rPr>
              <a:t>pequena parte</a:t>
            </a:r>
            <a:r>
              <a:rPr sz="2400" b="0">
                <a:solidFill>
                  <a:srgbClr val="1F2937"/>
                </a:solidFill>
                <a:latin typeface="Calibri"/>
              </a:rPr>
              <a:t> do sistema (Sculley et al., 2015)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4F46E5"/>
                </a:solidFill>
                <a:latin typeface="Calibri"/>
              </a:rPr>
              <a:t>▪  </a:t>
            </a:r>
            <a:r>
              <a:rPr sz="2400" b="0">
                <a:solidFill>
                  <a:srgbClr val="1F2937"/>
                </a:solidFill>
                <a:latin typeface="Calibri"/>
              </a:rPr>
              <a:t>Problemas surgem em </a:t>
            </a:r>
            <a:r>
              <a:rPr sz="2400" b="1">
                <a:solidFill>
                  <a:srgbClr val="4F46E5"/>
                </a:solidFill>
                <a:latin typeface="Calibri"/>
              </a:rPr>
              <a:t>todas</a:t>
            </a:r>
            <a:r>
              <a:rPr sz="2400" b="0">
                <a:solidFill>
                  <a:srgbClr val="1F2937"/>
                </a:solidFill>
                <a:latin typeface="Calibri"/>
              </a:rPr>
              <a:t> as etapas: dados, treino, verificação, implantação, monitoramento (Paleyes et al., 2022)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4F46E5"/>
                </a:solidFill>
                <a:latin typeface="Calibri"/>
              </a:rPr>
              <a:t>▪  </a:t>
            </a:r>
            <a:r>
              <a:rPr sz="2400" b="0">
                <a:solidFill>
                  <a:srgbClr val="1F2937"/>
                </a:solidFill>
                <a:latin typeface="Calibri"/>
              </a:rPr>
              <a:t>ML tem desafios próprios: dados difíceis de gerenciar, modelos difíceis de reutilizar, equipes de culturas diferentes (Amershi et al., 2019)</a:t>
            </a:r>
          </a:p>
        </p:txBody>
      </p:sp>
      <p:pic>
        <p:nvPicPr>
          <p:cNvPr id="9" name="Picture 8" descr="f1_icebe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2338"/>
            <a:ext cx="5212080" cy="34734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Sintomas de um projeto sem MLOps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“Funciona na minha máquina”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Qual versão dos dados gerou o modelo que está no ar?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Ótimo no teste, ruim na vida real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Ninguém sabe quem treinou nem com quais parâmetros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Três meses para pôr uma melhoria no ar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Só percebemos o problema quando o cliente reclama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PARE E PENSE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Qual sintoma da lista já aconteceu no seu trabalho ou estudo?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103327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Resposta: Não há resposta certa. O objetivo é perceber que esses sintomas são comuns e têm remédio.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O GPS que usa o mapa de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As ruas mudam. Se ninguém atualiza, testa e vigia o aplicativo, ele leva você ao lugar errado, sem avisar.
É isso que o MLOps faz com os modelos.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é MLOps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ML + Ops</a:t>
            </a:r>
            <a:r>
              <a:rPr sz="2800" b="0">
                <a:solidFill>
                  <a:srgbClr val="1F2937"/>
                </a:solidFill>
                <a:latin typeface="Calibri"/>
              </a:rPr>
              <a:t>: aprendizado de máquina + operações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Um </a:t>
            </a:r>
            <a:r>
              <a:rPr sz="2800" b="1">
                <a:solidFill>
                  <a:srgbClr val="4F46E5"/>
                </a:solidFill>
                <a:latin typeface="Calibri"/>
              </a:rPr>
              <a:t>paradigma</a:t>
            </a:r>
            <a:r>
              <a:rPr sz="2800" b="0">
                <a:solidFill>
                  <a:srgbClr val="1F2937"/>
                </a:solidFill>
                <a:latin typeface="Calibri"/>
              </a:rPr>
              <a:t>: boas práticas, processos, ferramentas e cultura (Kreuzberger et al., 2023)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Cobre o ciclo inteiro: conceber, implementar, </a:t>
            </a:r>
            <a:r>
              <a:rPr sz="2800" b="1">
                <a:solidFill>
                  <a:srgbClr val="4F46E5"/>
                </a:solidFill>
                <a:latin typeface="Calibri"/>
              </a:rPr>
              <a:t>implantar, monitorar e escalar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Meta: sistemas </a:t>
            </a:r>
            <a:r>
              <a:rPr sz="2800" b="1">
                <a:solidFill>
                  <a:srgbClr val="4F46E5"/>
                </a:solidFill>
                <a:latin typeface="Calibri"/>
              </a:rPr>
              <a:t>confiáveis, repetíveis e contínuos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laço do MLOps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f1_infin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877" y="1325880"/>
            <a:ext cx="9899764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Planejar, preparar dados, treinar, validar, implantar, monitorar... e voltar ao começo.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DevOps: o ponto de partida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Aproxima quem </a:t>
            </a:r>
            <a:r>
              <a:rPr sz="2800" b="1">
                <a:solidFill>
                  <a:srgbClr val="4F46E5"/>
                </a:solidFill>
                <a:latin typeface="Calibri"/>
              </a:rPr>
              <a:t>desenvolve</a:t>
            </a:r>
            <a:r>
              <a:rPr sz="2800" b="0">
                <a:solidFill>
                  <a:srgbClr val="1F2937"/>
                </a:solidFill>
                <a:latin typeface="Calibri"/>
              </a:rPr>
              <a:t> de quem </a:t>
            </a:r>
            <a:r>
              <a:rPr sz="2800" b="1">
                <a:solidFill>
                  <a:srgbClr val="4F46E5"/>
                </a:solidFill>
                <a:latin typeface="Calibri"/>
              </a:rPr>
              <a:t>opera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Automatiza construção e testes; entrega em pequenos passos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Quatro medidas (Forsgren, Humble e Kim, 2018): </a:t>
            </a:r>
            <a:r>
              <a:rPr sz="2800" b="1">
                <a:solidFill>
                  <a:srgbClr val="4F46E5"/>
                </a:solidFill>
                <a:latin typeface="Calibri"/>
              </a:rPr>
              <a:t>frequência de implantação, tempo de entrega, taxa de falha de mudança, tempo de recuperação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Servem muito bem para sistemas de 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Software tradicional × sistema de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12080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0292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Software tradicional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2120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4F46E5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Código define o comportamento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4F46E5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Versiona: código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4F46E5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Falha com erro ou exceção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4F46E5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Só envelhece se o código mudar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21208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Sistema de 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52120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▪  </a:t>
            </a:r>
            <a:r>
              <a:rPr sz="1900" b="1">
                <a:solidFill>
                  <a:srgbClr val="F59E0B"/>
                </a:solidFill>
                <a:latin typeface="Calibri"/>
              </a:rPr>
              <a:t>Dados</a:t>
            </a:r>
            <a:r>
              <a:rPr sz="1900" b="0">
                <a:solidFill>
                  <a:srgbClr val="1F2937"/>
                </a:solidFill>
                <a:latin typeface="Calibri"/>
              </a:rPr>
              <a:t> definem o comportamento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Versiona: </a:t>
            </a:r>
            <a:r>
              <a:rPr sz="1900" b="1">
                <a:solidFill>
                  <a:srgbClr val="F59E0B"/>
                </a:solidFill>
                <a:latin typeface="Calibri"/>
              </a:rPr>
              <a:t>código, dados, modelo, configuração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Falha </a:t>
            </a:r>
            <a:r>
              <a:rPr sz="1900" b="1">
                <a:solidFill>
                  <a:srgbClr val="F59E0B"/>
                </a:solidFill>
                <a:latin typeface="Calibri"/>
              </a:rPr>
              <a:t>em silêncio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▪  </a:t>
            </a:r>
            <a:r>
              <a:rPr sz="1900" b="1">
                <a:solidFill>
                  <a:srgbClr val="F59E0B"/>
                </a:solidFill>
                <a:latin typeface="Calibri"/>
              </a:rPr>
              <a:t>O mundo muda</a:t>
            </a:r>
            <a:r>
              <a:rPr sz="1900" b="0">
                <a:solidFill>
                  <a:srgbClr val="1F2937"/>
                </a:solidFill>
                <a:latin typeface="Calibri"/>
              </a:rPr>
              <a:t> e o modelo envelhece sozinho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“No ar” não significa “certo”.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Meça a qualidade das previsões, não só a disponibilidade do servidor.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Três eixos que mudam ao mesmo tempo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f1_eix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903" y="1325880"/>
            <a:ext cx="7195712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CACE: Changing Anything Changes Everything.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A receita do bolo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Troque a marca do chocolate (dado) e o bolo muda, mesmo com a mesma receita (código) e o mesmo forno (ambiente).
Para repetir o bolo, anote tudo.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Os princípios do MLOps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Automação</a:t>
            </a:r>
            <a:r>
              <a:rPr sz="2800" b="0">
                <a:solidFill>
                  <a:srgbClr val="1F2937"/>
                </a:solidFill>
                <a:latin typeface="Calibri"/>
              </a:rPr>
              <a:t>: o que se repete, a máquina faz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Reprodutibilidade</a:t>
            </a:r>
            <a:r>
              <a:rPr sz="2800" b="0">
                <a:solidFill>
                  <a:srgbClr val="1F2937"/>
                </a:solidFill>
                <a:latin typeface="Calibri"/>
              </a:rPr>
              <a:t> e </a:t>
            </a:r>
            <a:r>
              <a:rPr sz="2800" b="1">
                <a:solidFill>
                  <a:srgbClr val="4F46E5"/>
                </a:solidFill>
                <a:latin typeface="Calibri"/>
              </a:rPr>
              <a:t>versionamento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Rastreabilidade</a:t>
            </a:r>
            <a:r>
              <a:rPr sz="2800" b="0">
                <a:solidFill>
                  <a:srgbClr val="1F2937"/>
                </a:solidFill>
                <a:latin typeface="Calibri"/>
              </a:rPr>
              <a:t>: quem fez o quê, quando e com quais dados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Teste contínuo</a:t>
            </a:r>
            <a:r>
              <a:rPr sz="2800" b="0">
                <a:solidFill>
                  <a:srgbClr val="1F2937"/>
                </a:solidFill>
                <a:latin typeface="Calibri"/>
              </a:rPr>
              <a:t> de código, dados e modelo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Monitoramento</a:t>
            </a:r>
            <a:r>
              <a:rPr sz="2800" b="0">
                <a:solidFill>
                  <a:srgbClr val="1F2937"/>
                </a:solidFill>
                <a:latin typeface="Calibri"/>
              </a:rPr>
              <a:t> e </a:t>
            </a:r>
            <a:r>
              <a:rPr sz="2800" b="1">
                <a:solidFill>
                  <a:srgbClr val="4F46E5"/>
                </a:solidFill>
                <a:latin typeface="Calibri"/>
              </a:rPr>
              <a:t>colaboração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Governança</a:t>
            </a:r>
            <a:r>
              <a:rPr sz="2800" b="0">
                <a:solidFill>
                  <a:srgbClr val="1F2937"/>
                </a:solidFill>
                <a:latin typeface="Calibri"/>
              </a:rPr>
              <a:t>: privacidade, justiça e conformidade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CI, CD e CT: as três engrenagens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CI</a:t>
            </a:r>
            <a:r>
              <a:rPr sz="2800" b="0">
                <a:solidFill>
                  <a:srgbClr val="1F2937"/>
                </a:solidFill>
                <a:latin typeface="Calibri"/>
              </a:rPr>
              <a:t> (integração contínua): a cada mudança, testes automáticos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CD</a:t>
            </a:r>
            <a:r>
              <a:rPr sz="2800" b="0">
                <a:solidFill>
                  <a:srgbClr val="1F2937"/>
                </a:solidFill>
                <a:latin typeface="Calibri"/>
              </a:rPr>
              <a:t> (entrega/implantação contínua): a mudança aprovada chega à produção com segurança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CT</a:t>
            </a:r>
            <a:r>
              <a:rPr sz="2800" b="0">
                <a:solidFill>
                  <a:srgbClr val="1F2937"/>
                </a:solidFill>
                <a:latin typeface="Calibri"/>
              </a:rPr>
              <a:t> (treinamento contínuo): o modelo é retreinado quando há dados novos ou queda de qualidade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O </a:t>
            </a:r>
            <a:r>
              <a:rPr sz="2800" b="1">
                <a:solidFill>
                  <a:srgbClr val="4F46E5"/>
                </a:solidFill>
                <a:latin typeface="Calibri"/>
              </a:rPr>
              <a:t>CT</a:t>
            </a:r>
            <a:r>
              <a:rPr sz="2800" b="0">
                <a:solidFill>
                  <a:srgbClr val="1F2937"/>
                </a:solidFill>
                <a:latin typeface="Calibri"/>
              </a:rPr>
              <a:t> é a peça exclusiva do 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Quem faz o quê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Cientista de dados</a:t>
            </a:r>
            <a:r>
              <a:rPr sz="2800" b="0">
                <a:solidFill>
                  <a:srgbClr val="1F2937"/>
                </a:solidFill>
                <a:latin typeface="Calibri"/>
              </a:rPr>
              <a:t>: “isso resolve o problema do negócio?”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Engenheiro de dados</a:t>
            </a:r>
            <a:r>
              <a:rPr sz="2800" b="0">
                <a:solidFill>
                  <a:srgbClr val="1F2937"/>
                </a:solidFill>
                <a:latin typeface="Calibri"/>
              </a:rPr>
              <a:t>: “os dados chegam certos e no prazo?”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Engenheiro de ML</a:t>
            </a:r>
            <a:r>
              <a:rPr sz="2800" b="0">
                <a:solidFill>
                  <a:srgbClr val="1F2937"/>
                </a:solidFill>
                <a:latin typeface="Calibri"/>
              </a:rPr>
              <a:t>: “roda de forma estável e escalável?”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SRE/plataforma</a:t>
            </a:r>
            <a:r>
              <a:rPr sz="2800" b="0">
                <a:solidFill>
                  <a:srgbClr val="1F2937"/>
                </a:solidFill>
                <a:latin typeface="Calibri"/>
              </a:rPr>
              <a:t>: “o ambiente aguenta?”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Produto</a:t>
            </a:r>
            <a:r>
              <a:rPr sz="2800" b="0">
                <a:solidFill>
                  <a:srgbClr val="1F2937"/>
                </a:solidFill>
                <a:latin typeface="Calibri"/>
              </a:rPr>
              <a:t>: “isso gera valor?”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Governança/jurídico</a:t>
            </a:r>
            <a:r>
              <a:rPr sz="2800" b="0">
                <a:solidFill>
                  <a:srgbClr val="1F2937"/>
                </a:solidFill>
                <a:latin typeface="Calibri"/>
              </a:rPr>
              <a:t>: “é seguro, justo e legal?”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Laboratório: o primeiro experimento de reprodutibilidade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sem = [treinar(None, None) for _ in range(5)]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com = [treinar(42, 42) for _ in range(5)]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# Sem semente: 0.959 0.971 0.953 0.959 0.971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# Com semente: 0.971 0.971 0.971 0.971 0.971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Semente fixa = mesmo resultado. É o começo, não o fim: fixe também versões, dados e ambiente.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Organize o projeto desde o dia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`data/raw` (nunca editar à mão) e `data/processed`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`src/` com código testável; `tests/`; `models/`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`requirements.txt` com </a:t>
            </a:r>
            <a:r>
              <a:rPr sz="2800" b="1">
                <a:solidFill>
                  <a:srgbClr val="4F46E5"/>
                </a:solidFill>
                <a:latin typeface="Calibri"/>
              </a:rPr>
              <a:t>versões fixas</a:t>
            </a:r>
            <a:r>
              <a:rPr sz="2800" b="0">
                <a:solidFill>
                  <a:srgbClr val="1F2937"/>
                </a:solidFill>
                <a:latin typeface="Calibri"/>
              </a:rPr>
              <a:t> e ambiente virtual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Notebook é para </a:t>
            </a:r>
            <a:r>
              <a:rPr sz="2800" b="1">
                <a:solidFill>
                  <a:srgbClr val="4F46E5"/>
                </a:solidFill>
                <a:latin typeface="Calibri"/>
              </a:rPr>
              <a:t>explorar</a:t>
            </a:r>
            <a:r>
              <a:rPr sz="2800" b="0">
                <a:solidFill>
                  <a:srgbClr val="1F2937"/>
                </a:solidFill>
                <a:latin typeface="Calibri"/>
              </a:rPr>
              <a:t>; produção é código em `.py`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Escada de maturidade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0 Manual</a:t>
            </a:r>
            <a:r>
              <a:rPr sz="2800" b="0">
                <a:solidFill>
                  <a:srgbClr val="1F2937"/>
                </a:solidFill>
                <a:latin typeface="Calibri"/>
              </a:rPr>
              <a:t>: notebooks, implantação manual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1 Treino automatizado</a:t>
            </a:r>
            <a:r>
              <a:rPr sz="2800" b="0">
                <a:solidFill>
                  <a:srgbClr val="1F2937"/>
                </a:solidFill>
                <a:latin typeface="Calibri"/>
              </a:rPr>
              <a:t>: pipeline repetível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2 Entrega automatizada</a:t>
            </a:r>
            <a:r>
              <a:rPr sz="2800" b="0">
                <a:solidFill>
                  <a:srgbClr val="1F2937"/>
                </a:solidFill>
                <a:latin typeface="Calibri"/>
              </a:rPr>
              <a:t>: CI/CD e testes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3 Operação contínua</a:t>
            </a:r>
            <a:r>
              <a:rPr sz="2800" b="0">
                <a:solidFill>
                  <a:srgbClr val="1F2937"/>
                </a:solidFill>
                <a:latin typeface="Calibri"/>
              </a:rPr>
              <a:t>: monitoramento, CT e governança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Resolva </a:t>
            </a:r>
            <a:r>
              <a:rPr sz="2800" b="1">
                <a:solidFill>
                  <a:srgbClr val="4F46E5"/>
                </a:solidFill>
                <a:latin typeface="Calibri"/>
              </a:rPr>
              <a:t>a dor mais cara de cada vez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O que levar deste capítulo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notebook é a cozinha de casa; a produção é a cozinha industrial. MLOps liga as duas.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código do modelo é uma pequena parte de um sistema de ML (SCULLEY et al., 2015).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No ML, dados definem o comportamento. Três eixos mudam: código, dados e modelo.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Falhas de ML costumam ser silenciosas: o sistema responde, mas responde pior.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Princípios: automação, reprodutibilidade, versionamento, rastreabilidade, teste, monitoramento, colaboração e governança.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CI, CD e CT são as três engrenagens da automação.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Comece organizado: pastas claras, versões fixas, sementes fixas, metadados salvos.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Hora de praticar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▪  </a:t>
            </a:r>
            <a:r>
              <a:rPr sz="2200" b="1">
                <a:solidFill>
                  <a:srgbClr val="4F46E5"/>
                </a:solidFill>
                <a:latin typeface="Calibri"/>
              </a:rPr>
              <a:t>30 questões de múltipla escolha</a:t>
            </a:r>
            <a:r>
              <a:rPr sz="2200" b="0">
                <a:solidFill>
                  <a:srgbClr val="1F2937"/>
                </a:solidFill>
                <a:latin typeface="Calibri"/>
              </a:rPr>
              <a:t> e </a:t>
            </a:r>
            <a:r>
              <a:rPr sz="2200" b="1">
                <a:solidFill>
                  <a:srgbClr val="4F46E5"/>
                </a:solidFill>
                <a:latin typeface="Calibri"/>
              </a:rPr>
              <a:t>20 discursivas</a:t>
            </a:r>
            <a:r>
              <a:rPr sz="2200" b="0">
                <a:solidFill>
                  <a:srgbClr val="1F2937"/>
                </a:solidFill>
                <a:latin typeface="Calibri"/>
              </a:rPr>
              <a:t> ao final do capítulo (gabarito no Apêndice A)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▪  </a:t>
            </a:r>
            <a:r>
              <a:rPr sz="2200" b="1">
                <a:solidFill>
                  <a:srgbClr val="4F46E5"/>
                </a:solidFill>
                <a:latin typeface="Calibri"/>
              </a:rPr>
              <a:t>Exercícios práticos em Python</a:t>
            </a:r>
            <a:r>
              <a:rPr sz="2200" b="0">
                <a:solidFill>
                  <a:srgbClr val="1F2937"/>
                </a:solidFill>
                <a:latin typeface="Calibri"/>
              </a:rPr>
              <a:t> com scikit-learn e as ferramentas do capítulo (soluções no Apêndice D)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▪  </a:t>
            </a:r>
            <a:r>
              <a:rPr sz="2200" b="1">
                <a:solidFill>
                  <a:srgbClr val="4F46E5"/>
                </a:solidFill>
                <a:latin typeface="Calibri"/>
              </a:rPr>
              <a:t>Projeto integrador do capítulo</a:t>
            </a:r>
            <a:r>
              <a:rPr sz="2200" b="0">
                <a:solidFill>
                  <a:srgbClr val="1F2937"/>
                </a:solidFill>
                <a:latin typeface="Calibri"/>
              </a:rPr>
              <a:t> (solução de referência no Apêndice E)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▪  </a:t>
            </a:r>
            <a:r>
              <a:rPr sz="2200" b="0">
                <a:solidFill>
                  <a:srgbClr val="1F2937"/>
                </a:solidFill>
                <a:latin typeface="Calibri"/>
              </a:rPr>
              <a:t>Dica de estudo: </a:t>
            </a:r>
            <a:r>
              <a:rPr sz="2200" b="1">
                <a:solidFill>
                  <a:srgbClr val="4F46E5"/>
                </a:solidFill>
                <a:latin typeface="Calibri"/>
              </a:rPr>
              <a:t>rode, altere um parâmetro por vez e explique em voz alta o que mudou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