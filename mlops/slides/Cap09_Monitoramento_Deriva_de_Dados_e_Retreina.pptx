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Monitoramento, Deriva de Dados e Retreinamento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Explicar por que modelos envelhecem e por que isso é uma falha silenciosa.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Distinguir mudança de covariáveis, mudança de rótulos e deriva de conceito.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Calcular KS, PSI e distância de Jensen-Shannon para detectar mudanças em atributos.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Detectar mudanças multivariadas com um classificador de domínio.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Monitorar o desempenho com rótulos atrasados e usar um detector de deriva (DDM).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Comparar estratégias de retreinamento (estático, janela deslizante, incremental).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Planejar implantação segura (sombra, canário, teste A/B) e registrar previsões.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pão que endurece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Dois dias depois está duro, e ninguém tocou nele.
Modelos também: o código é o mesmo, mas o mundo mudou.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modelo envelhece sozinho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f9_envelhe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602" y="1325880"/>
            <a:ext cx="7488314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Sem monitoramento, a queda só aparece quando o prejuízo já aconteceu.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Camadas de monitoramento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f9_cam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732" y="1325880"/>
            <a:ext cx="8252054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Embaixo: rápido e indireto. Em cima: decisivo e lento.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Três tipos de mudança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f9_ti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67339"/>
            <a:ext cx="10515600" cy="3797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Covariáveis, rótulos e conceito.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Covariáveis, rótulos e conceito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Covariáveis</a:t>
            </a:r>
            <a:r>
              <a:rPr sz="2800" b="0">
                <a:solidFill>
                  <a:srgbClr val="1F2937"/>
                </a:solidFill>
                <a:latin typeface="Calibri"/>
              </a:rPr>
              <a:t> P(X): chegam perfis diferentes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Rótulos</a:t>
            </a:r>
            <a:r>
              <a:rPr sz="2800" b="0">
                <a:solidFill>
                  <a:srgbClr val="1F2937"/>
                </a:solidFill>
                <a:latin typeface="Calibri"/>
              </a:rPr>
              <a:t> P(y): muda a proporção das classes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Conceito</a:t>
            </a:r>
            <a:r>
              <a:rPr sz="2800" b="0">
                <a:solidFill>
                  <a:srgbClr val="1F2937"/>
                </a:solidFill>
                <a:latin typeface="Calibri"/>
              </a:rPr>
              <a:t>: muda a relação X → y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Formas: abrupta, gradual, incremental, </a:t>
            </a:r>
            <a:r>
              <a:rPr sz="2800" b="1">
                <a:solidFill>
                  <a:srgbClr val="10B981"/>
                </a:solidFill>
                <a:latin typeface="Calibri"/>
              </a:rPr>
              <a:t>recorrente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Gama et al. (2014); Quiñonero-Candela et al. (2009)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A sorveteria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No verão chegam mais clientes: é esperado.
Se uma moda saudável faz o mesmo cliente deixar de pedir sorvete, o conceito mudou.
Diagnosticar a mudança define a 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Detectando mudança em um atributo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KS</a:t>
            </a:r>
            <a:r>
              <a:rPr sz="2800" b="0">
                <a:solidFill>
                  <a:srgbClr val="1F2937"/>
                </a:solidFill>
                <a:latin typeface="Calibri"/>
              </a:rPr>
              <a:t>: compara distribuições acumuladas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PSI</a:t>
            </a:r>
            <a:r>
              <a:rPr sz="2800" b="0">
                <a:solidFill>
                  <a:srgbClr val="1F2937"/>
                </a:solidFill>
                <a:latin typeface="Calibri"/>
              </a:rPr>
              <a:t>: &lt; 0,10 estável · 0,10–0,25 moderada · &gt; 0,25 importante (regra prática)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Jensen-Shannon</a:t>
            </a:r>
            <a:r>
              <a:rPr sz="2800" b="0">
                <a:solidFill>
                  <a:srgbClr val="1F2937"/>
                </a:solidFill>
                <a:latin typeface="Calibri"/>
              </a:rPr>
              <a:t>: simétrica e limitada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Qui-quadrado</a:t>
            </a:r>
            <a:r>
              <a:rPr sz="2800" b="0">
                <a:solidFill>
                  <a:srgbClr val="1F2937"/>
                </a:solidFill>
                <a:latin typeface="Calibri"/>
              </a:rPr>
              <a:t> e categorias novas para atributos categóricos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PSI em quatro cenários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f9_p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04771"/>
            <a:ext cx="10515600" cy="31227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Quanto maior a diferença visual, maior o PSI.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Calculando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sem mudança  KS=0.028 PSI=0.007 JS=0.042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média +3     KS=0.143 PSI=0.120 JS=0.122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média +10    KS=0.384 PSI=0.939 JS=0.335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variância x2 KS=0.174 PSI=0.494 JS=0.302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KS e p-valor sozinhos enganam com muitos dados: olhe o tamanho da diferença.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Mudanças que só aparecem no conjunto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Cada atributo parece normal, mas a </a:t>
            </a:r>
            <a:r>
              <a:rPr sz="2800" b="1">
                <a:solidFill>
                  <a:srgbClr val="10B981"/>
                </a:solidFill>
                <a:latin typeface="Calibri"/>
              </a:rPr>
              <a:t>relação entre eles</a:t>
            </a:r>
            <a:r>
              <a:rPr sz="2800" b="0">
                <a:solidFill>
                  <a:srgbClr val="1F2937"/>
                </a:solidFill>
                <a:latin typeface="Calibri"/>
              </a:rPr>
              <a:t> mudou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Classificador de domínio</a:t>
            </a:r>
            <a:r>
              <a:rPr sz="2800" b="0">
                <a:solidFill>
                  <a:srgbClr val="1F2937"/>
                </a:solidFill>
                <a:latin typeface="Calibri"/>
              </a:rPr>
              <a:t>: tente distinguir referência de atual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AUC ≈ 0,5: parecidos · AUC alta: diferentes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KS por atributo: nada · classificador: AUC 0,73 (Rabanser et al., 2019)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Sem rótulos, olhe as saídas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Probabilidade média prevista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Fração de positivos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Confiança e taxa de recusas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Um salto brusco = algo mudou no mundo ou no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Rótulos atrasados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Esperar o rótulo (lento, mas confiável)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Amostrar</a:t>
            </a:r>
            <a:r>
              <a:rPr sz="2800" b="0">
                <a:solidFill>
                  <a:srgbClr val="1F2937"/>
                </a:solidFill>
                <a:latin typeface="Calibri"/>
              </a:rPr>
              <a:t> casos para rotular rápido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Indicadores adiantados</a:t>
            </a:r>
            <a:r>
              <a:rPr sz="2800" b="0">
                <a:solidFill>
                  <a:srgbClr val="1F2937"/>
                </a:solidFill>
                <a:latin typeface="Calibri"/>
              </a:rPr>
              <a:t> (cliques, devoluções)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DDM</a:t>
            </a:r>
            <a:r>
              <a:rPr sz="2800" b="0">
                <a:solidFill>
                  <a:srgbClr val="1F2937"/>
                </a:solidFill>
                <a:latin typeface="Calibri"/>
              </a:rPr>
              <a:t> (Gama et al., 2004): alerta em mínimo + 2 desvios, deriva em mínimo + 3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ADWIN (Bifet e Gavaldà, 2007)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Simulação: PSI × acurácia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pic>
        <p:nvPicPr>
          <p:cNvPr id="8" name="Picture 7" descr="f9_der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476" y="1325880"/>
            <a:ext cx="7830567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O PSI dispara cedo; a acurácia só cai tarde.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Retreinar sem investigar ensina o erro.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Sensor quebrado ≠ mundo mudou.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Estratégias de retreino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Estático</a:t>
            </a:r>
            <a:r>
              <a:rPr sz="2800" b="0">
                <a:solidFill>
                  <a:srgbClr val="1F2937"/>
                </a:solidFill>
                <a:latin typeface="Calibri"/>
              </a:rPr>
              <a:t>: nunca retreina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Periódico</a:t>
            </a:r>
            <a:r>
              <a:rPr sz="2800" b="0">
                <a:solidFill>
                  <a:srgbClr val="1F2937"/>
                </a:solidFill>
                <a:latin typeface="Calibri"/>
              </a:rPr>
              <a:t> e </a:t>
            </a:r>
            <a:r>
              <a:rPr sz="2800" b="1">
                <a:solidFill>
                  <a:srgbClr val="10B981"/>
                </a:solidFill>
                <a:latin typeface="Calibri"/>
              </a:rPr>
              <a:t>janela deslizante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Incremental</a:t>
            </a:r>
            <a:r>
              <a:rPr sz="2800" b="0">
                <a:solidFill>
                  <a:srgbClr val="1F2937"/>
                </a:solidFill>
                <a:latin typeface="Calibri"/>
              </a:rPr>
              <a:t> (`partial_fit`)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Por gatilho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Simulação: estático 0,61 · janela 0,70 · incremental 0,69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Teste A/B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pic>
        <p:nvPicPr>
          <p:cNvPr id="8" name="Picture 7" descr="f9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76" y="1325880"/>
            <a:ext cx="10047767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Tráfego dividido ao acaso; métricas de negócio comparadas.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Lançando com segurança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Sombra → canário → A/B → reversão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Defina o </a:t>
            </a:r>
            <a:r>
              <a:rPr sz="2800" b="1">
                <a:solidFill>
                  <a:srgbClr val="10B981"/>
                </a:solidFill>
                <a:latin typeface="Calibri"/>
              </a:rPr>
              <a:t>tamanho da amostra ANTES</a:t>
            </a:r>
            <a:r>
              <a:rPr sz="2800" b="0">
                <a:solidFill>
                  <a:srgbClr val="1F2937"/>
                </a:solidFill>
                <a:latin typeface="Calibri"/>
              </a:rPr>
              <a:t> (14.751 por grupo para +1 ponto sobre 10%)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Não espie e pare quando “ficar bonito”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p-valor pequeno ≠ efeito grande (Kohavi et al., 2013, 2020)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Logs, alertas e runbooks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Registre: id, horário, </a:t>
            </a:r>
            <a:r>
              <a:rPr sz="2800" b="1">
                <a:solidFill>
                  <a:srgbClr val="10B981"/>
                </a:solidFill>
                <a:latin typeface="Calibri"/>
              </a:rPr>
              <a:t>versão</a:t>
            </a:r>
            <a:r>
              <a:rPr sz="2800" b="0">
                <a:solidFill>
                  <a:srgbClr val="1F2937"/>
                </a:solidFill>
                <a:latin typeface="Calibri"/>
              </a:rPr>
              <a:t>, entrada, saída, latência, rótulo depois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Poucos alertas</a:t>
            </a:r>
            <a:r>
              <a:rPr sz="2800" b="0">
                <a:solidFill>
                  <a:srgbClr val="1F2937"/>
                </a:solidFill>
                <a:latin typeface="Calibri"/>
              </a:rPr>
              <a:t>, com gravidade e dono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Runbook: o que fazer, quem chamar, como reverter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Evite a </a:t>
            </a:r>
            <a:r>
              <a:rPr sz="2800" b="1">
                <a:solidFill>
                  <a:srgbClr val="10B981"/>
                </a:solidFill>
                <a:latin typeface="Calibri"/>
              </a:rPr>
              <a:t>fadiga de alertas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Modelos envelhecem sozinhos e falham em silêncio. Monitore em camadas: serviço, dados, previsões, desempenho e negócio.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Três mudanças: covariáveis (P(X)), rótulos (P(y)) e conceito (relação X→y). Podem ser abruptas, graduais, incrementais ou recorrentes.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Para detectar: KS, PSI (0,10 e 0,25 são regras práticas), Jensen-Shannon e o classificador de domínio para mudanças multivariadas.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Sem rótulos, olhe dados de entrada e distribuição das previsões. Com rótulos atrasados, use amostragem, *proxies* e detectores como o DDM.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Retreino: periódico, janela deslizante, ponderado, incremental ou por gatilho. Investigue a causa antes de retreinar e passe pelo portão de qualidade.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Implante com sombra, canário, teste A/B e reversão rápida. Defina o tamanho da amostra antes do teste.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Registre previsões (com versão, entrada, saída, latência e rótulo posterior), tenha alertas poucos e úteis e planos de resposta.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1">
                <a:solidFill>
                  <a:srgbClr val="10B981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10B981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1">
                <a:solidFill>
                  <a:srgbClr val="10B981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1">
                <a:solidFill>
                  <a:srgbClr val="10B981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10B981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