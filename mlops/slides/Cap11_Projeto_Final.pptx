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Projeto Final: do Dado à Produção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8B5CF6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Planejar um sistema de ML de ponta a ponta, da pergunta de negócio ao relatório de governança.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8B5CF6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Integrar validação de dados, pipeline, rastreamento, registro, API, testes, monitoramento e retreinamento.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8B5CF6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Simular a operação em produção, com deriva e rótulos atrasados.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8B5CF6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Decidir com evidências quando promover, manter ou reverter um modelo.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8B5CF6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Documentar o sistema com cartão de modelo e relatório para diferentes públicos.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Hora de abrir a fábrica inteira.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Um projeto real é pergunta de negócio + dados com defeitos + decisões + mundo que muda.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cenário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Empresa de logística lê </a:t>
            </a:r>
            <a:r>
              <a:rPr sz="2800" b="1">
                <a:solidFill>
                  <a:srgbClr val="8B5CF6"/>
                </a:solidFill>
                <a:latin typeface="Calibri"/>
              </a:rPr>
              <a:t>dígitos manuscritos</a:t>
            </a:r>
            <a:r>
              <a:rPr sz="2800" b="0">
                <a:solidFill>
                  <a:srgbClr val="1F2937"/>
                </a:solidFill>
                <a:latin typeface="Calibri"/>
              </a:rPr>
              <a:t> em formulários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 câmera vai </a:t>
            </a:r>
            <a:r>
              <a:rPr sz="2800" b="1">
                <a:solidFill>
                  <a:srgbClr val="8B5CF6"/>
                </a:solidFill>
                <a:latin typeface="Calibri"/>
              </a:rPr>
              <a:t>perder o foco</a:t>
            </a:r>
            <a:r>
              <a:rPr sz="2800" b="0">
                <a:solidFill>
                  <a:srgbClr val="1F2937"/>
                </a:solidFill>
                <a:latin typeface="Calibri"/>
              </a:rPr>
              <a:t> e a tinta vai </a:t>
            </a:r>
            <a:r>
              <a:rPr sz="2800" b="1">
                <a:solidFill>
                  <a:srgbClr val="8B5CF6"/>
                </a:solidFill>
                <a:latin typeface="Calibri"/>
              </a:rPr>
              <a:t>desbotar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Dados: Digits (UCI), 1.797 imagens 8 × 8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Produção e deriva: </a:t>
            </a:r>
            <a:r>
              <a:rPr sz="2800" b="1">
                <a:solidFill>
                  <a:srgbClr val="8B5CF6"/>
                </a:solidFill>
                <a:latin typeface="Calibri"/>
              </a:rPr>
              <a:t>simuladas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Pergunta: como ser confiável </a:t>
            </a:r>
            <a:r>
              <a:rPr sz="2800" b="1">
                <a:solidFill>
                  <a:srgbClr val="8B5CF6"/>
                </a:solidFill>
                <a:latin typeface="Calibri"/>
              </a:rPr>
              <a:t>hoje e nos próximos meses</a:t>
            </a:r>
            <a:r>
              <a:rPr sz="2800" b="0">
                <a:solidFill>
                  <a:srgbClr val="1F2937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As nove etapas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f11_et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13" y="1325880"/>
            <a:ext cx="836169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E os capítulos que sustentam cada uma.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Etapas 1 a 3: dados, candidatos, registro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Validar esquema, faixas e classes; </a:t>
            </a:r>
            <a:r>
              <a:rPr sz="2800" b="1">
                <a:solidFill>
                  <a:srgbClr val="8B5CF6"/>
                </a:solidFill>
                <a:latin typeface="Calibri"/>
              </a:rPr>
              <a:t>hash</a:t>
            </a:r>
            <a:r>
              <a:rPr sz="2800" b="0">
                <a:solidFill>
                  <a:srgbClr val="1F2937"/>
                </a:solidFill>
                <a:latin typeface="Calibri"/>
              </a:rPr>
              <a:t>; separar dev e “futuro” (40%)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Linha de base, regressão logística, floresta e </a:t>
            </a:r>
            <a:r>
              <a:rPr sz="2800" b="1">
                <a:solidFill>
                  <a:srgbClr val="8B5CF6"/>
                </a:solidFill>
                <a:latin typeface="Calibri"/>
              </a:rPr>
              <a:t>SVC com busca aleatória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Tudo no </a:t>
            </a:r>
            <a:r>
              <a:rPr sz="2800" b="1">
                <a:solidFill>
                  <a:srgbClr val="8B5CF6"/>
                </a:solidFill>
                <a:latin typeface="Calibri"/>
              </a:rPr>
              <a:t>MLflow</a:t>
            </a:r>
            <a:r>
              <a:rPr sz="2800" b="0">
                <a:solidFill>
                  <a:srgbClr val="1F2937"/>
                </a:solidFill>
                <a:latin typeface="Calibri"/>
              </a:rPr>
              <a:t>; portão (piso + ganho); apelido `champion`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Resultado de referência: SVC com F1 macro ≈ 0,99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Etapas 4 e 5: serviço e testes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API FastAPI com contrato de 64 pixels entre 0 e 16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Carrega `models:/digitos@champion`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422 para pixel fora da faixa ou tamanho errado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pytest: </a:t>
            </a:r>
            <a:r>
              <a:rPr sz="2800" b="1">
                <a:solidFill>
                  <a:srgbClr val="8B5CF6"/>
                </a:solidFill>
                <a:latin typeface="Calibri"/>
              </a:rPr>
              <a:t>desempenho mínimo, invariância, cobertura de classes, determinismo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Produção simulada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11_prod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86" y="1325880"/>
            <a:ext cx="822734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Degradação cresce por 4 semanas e estabiliza. Rótulos chegam com 1 semana de atraso.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Etapas 6 e 7: produção e monitoramento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8 lotes semanais com </a:t>
            </a:r>
            <a:r>
              <a:rPr sz="2800" b="1">
                <a:solidFill>
                  <a:srgbClr val="8B5CF6"/>
                </a:solidFill>
                <a:latin typeface="Calibri"/>
              </a:rPr>
              <a:t>desfoque + desbotamento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PSI do contraste</a:t>
            </a:r>
            <a:r>
              <a:rPr sz="2800" b="0">
                <a:solidFill>
                  <a:srgbClr val="1F2937"/>
                </a:solidFill>
                <a:latin typeface="Calibri"/>
              </a:rPr>
              <a:t> das imagens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AUC do classificador de domínio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Alerta: PSI &gt; 0,25 </a:t>
            </a:r>
            <a:r>
              <a:rPr sz="2800" b="1">
                <a:solidFill>
                  <a:srgbClr val="8B5CF6"/>
                </a:solidFill>
                <a:latin typeface="Calibri"/>
              </a:rPr>
              <a:t>ou</a:t>
            </a:r>
            <a:r>
              <a:rPr sz="2800" b="0">
                <a:solidFill>
                  <a:srgbClr val="1F2937"/>
                </a:solidFill>
                <a:latin typeface="Calibri"/>
              </a:rPr>
              <a:t> AUC &gt; 0,80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Acurácia só quando o rótulo chega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a simulação mostrou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semana  acc_sem_CT  acc_com_CT  versão  ação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3       0.700       0.700      1    manteve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4       0.311       0.311      1    promoveu v2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6       0.478       0.822      3    promoveu v4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8       0.404       0.933      4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Sem CT: 0.41 · Com CT: 0.82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Alertas sem rótulo vieram antes da queda; o CT recuperou a acurácia.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Etapa 8: treinamento contínuo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Alerta </a:t>
            </a:r>
            <a:r>
              <a:rPr sz="2800" b="1">
                <a:solidFill>
                  <a:srgbClr val="8B5CF6"/>
                </a:solidFill>
                <a:latin typeface="Calibri"/>
              </a:rPr>
              <a:t>e</a:t>
            </a:r>
            <a:r>
              <a:rPr sz="2800" b="0">
                <a:solidFill>
                  <a:srgbClr val="1F2937"/>
                </a:solidFill>
                <a:latin typeface="Calibri"/>
              </a:rPr>
              <a:t> rótulos disponíveis → treina candidato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Compara no </a:t>
            </a:r>
            <a:r>
              <a:rPr sz="2800" b="1">
                <a:solidFill>
                  <a:srgbClr val="8B5CF6"/>
                </a:solidFill>
                <a:latin typeface="Calibri"/>
              </a:rPr>
              <a:t>lote rotulado mais recente que ele não viu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Promove só com </a:t>
            </a:r>
            <a:r>
              <a:rPr sz="2800" b="1">
                <a:solidFill>
                  <a:srgbClr val="8B5CF6"/>
                </a:solidFill>
                <a:latin typeface="Calibri"/>
              </a:rPr>
              <a:t>margem mínima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Atualiza a referência</a:t>
            </a:r>
            <a:r>
              <a:rPr sz="2800" b="0">
                <a:solidFill>
                  <a:srgbClr val="1F2937"/>
                </a:solidFill>
                <a:latin typeface="Calibri"/>
              </a:rPr>
              <a:t> do monitoramento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 API serve a nova versão </a:t>
            </a:r>
            <a:r>
              <a:rPr sz="2800" b="1">
                <a:solidFill>
                  <a:srgbClr val="8B5CF6"/>
                </a:solidFill>
                <a:latin typeface="Calibri"/>
              </a:rPr>
              <a:t>sem mudar código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Etapa 9: governança e relatório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Cartão do modelo: versão, dados, métricas </a:t>
            </a:r>
            <a:r>
              <a:rPr sz="2800" b="1">
                <a:solidFill>
                  <a:srgbClr val="8B5CF6"/>
                </a:solidFill>
                <a:latin typeface="Calibri"/>
              </a:rPr>
              <a:t>por classe</a:t>
            </a:r>
            <a:r>
              <a:rPr sz="2800" b="0">
                <a:solidFill>
                  <a:srgbClr val="1F2937"/>
                </a:solidFill>
                <a:latin typeface="Calibri"/>
              </a:rPr>
              <a:t>, limitações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Pior classe na última semana: dígito 4 (revocação 0,67)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Relatório: resumo para a diretoria, riscos, plano de reversão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Armadilhas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Vazamento temporal</a:t>
            </a:r>
            <a:r>
              <a:rPr sz="2800" b="0">
                <a:solidFill>
                  <a:srgbClr val="1F2937"/>
                </a:solidFill>
                <a:latin typeface="Calibri"/>
              </a:rPr>
              <a:t>: nunca use rótulos que ainda não chegaram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Avaliar no que treinou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Retreinar sem investigar</a:t>
            </a:r>
            <a:r>
              <a:rPr sz="2800" b="0">
                <a:solidFill>
                  <a:srgbClr val="1F2937"/>
                </a:solidFill>
                <a:latin typeface="Calibri"/>
              </a:rPr>
              <a:t> a causa do alerta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Teste de uso único</a:t>
            </a:r>
            <a:r>
              <a:rPr sz="2800" b="0">
                <a:solidFill>
                  <a:srgbClr val="1F2937"/>
                </a:solidFill>
                <a:latin typeface="Calibri"/>
              </a:rPr>
              <a:t> escolhendo modelo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 </a:t>
            </a:r>
            <a:r>
              <a:rPr sz="2800" b="1">
                <a:solidFill>
                  <a:srgbClr val="8B5CF6"/>
                </a:solidFill>
                <a:latin typeface="Calibri"/>
              </a:rPr>
              <a:t>média</a:t>
            </a:r>
            <a:r>
              <a:rPr sz="2800" b="0">
                <a:solidFill>
                  <a:srgbClr val="1F2937"/>
                </a:solidFill>
                <a:latin typeface="Calibri"/>
              </a:rPr>
              <a:t> que esconde classes ruins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fábrica funcionando por semanas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Não basta ligar as máquinas: é preciso inspecionar cada lote, ouvir o ruído e saber quando parar a linha.
MLOps é cultura de responsabilidade.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Fechamento: três ideias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Modelo bom não é sistema bom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O mundo muda</a:t>
            </a:r>
            <a:r>
              <a:rPr sz="2800" b="0">
                <a:solidFill>
                  <a:srgbClr val="1F2937"/>
                </a:solidFill>
                <a:latin typeface="Calibri"/>
              </a:rPr>
              <a:t>: meça, alerte, retreine com cuidado, esteja pronto para reverter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8B5CF6"/>
                </a:solidFill>
                <a:latin typeface="Calibri"/>
              </a:rPr>
              <a:t>▪  </a:t>
            </a:r>
            <a:r>
              <a:rPr sz="2800" b="1">
                <a:solidFill>
                  <a:srgbClr val="8B5CF6"/>
                </a:solidFill>
                <a:latin typeface="Calibri"/>
              </a:rPr>
              <a:t>Comece simples e evolua</a:t>
            </a:r>
            <a:r>
              <a:rPr sz="2800" b="0">
                <a:solidFill>
                  <a:srgbClr val="1F2937"/>
                </a:solidFill>
                <a:latin typeface="Calibri"/>
              </a:rPr>
              <a:t> pela dor mais cara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Um projeto de ponta a ponta tem nove etapas: dados, candidatos, rastreamento e registro, serviço, testes, produção simulada, monitoramento, treinamento contínuo e governança.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Os sinais sem rótulo (PSI, AUC de domínio) alertam antes da queda de desempenho; os rótulos atrasados confirmam e alimentam o retreino.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Portões protegem cada passagem: dados, qualidade do modelo e promoção.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Compare campeão e candidato em dados inéditos para ambos e promova com margem mínima.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Depois de promover, atualize a referência do monitoramento.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Documente com cartão do modelo e relatório claro, incluindo limitações e plano de reversão.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8B5CF6"/>
                </a:solidFill>
                <a:latin typeface="Calibri"/>
              </a:rPr>
              <a:t>▪  </a:t>
            </a:r>
            <a:r>
              <a:rPr sz="2200" b="1">
                <a:solidFill>
                  <a:srgbClr val="8B5CF6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8B5CF6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8B5CF6"/>
                </a:solidFill>
                <a:latin typeface="Calibri"/>
              </a:rPr>
              <a:t>▪  </a:t>
            </a:r>
            <a:r>
              <a:rPr sz="2200" b="1">
                <a:solidFill>
                  <a:srgbClr val="8B5CF6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8B5CF6"/>
                </a:solidFill>
                <a:latin typeface="Calibri"/>
              </a:rPr>
              <a:t>▪  </a:t>
            </a:r>
            <a:r>
              <a:rPr sz="2200" b="1">
                <a:solidFill>
                  <a:srgbClr val="8B5CF6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8B5CF6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8B5CF6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