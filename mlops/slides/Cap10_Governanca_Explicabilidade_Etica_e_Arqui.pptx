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os objetivos em voz alta e pergunte à turma o que já sabe sobre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91695" cy="2295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017520"/>
            <a:ext cx="1078992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Governança, Explicabilidade, Ética e Arquiteturas Avançadas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1">
                <a:solidFill>
                  <a:srgbClr val="E5E7EB"/>
                </a:solidFill>
                <a:latin typeface="Calibri"/>
              </a:rPr>
              <a:t>MLOps: do notebook à produção com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que você vai aprender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F59E0B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Documentar um modelo com um cartão de modelo (model card) e uma ficha de dados.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F59E0B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Explicar previsões com importância por permutação e dependência parcial.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F59E0B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Calcular métricas de justiça entre grupos e discutir seus limites.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F59E0B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Aplicar o mecanismo de Laplace da privacidade diferencial em um exemplo simples.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F59E0B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Explicar o papel do armazém de atributos e a correção temporal (point-in-time).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F59E0B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Descrever e implementar um orquestrador mínimo de tarefas em grafo (DAG).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F59E0B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Reconhecer o que muda em LLMOps (prompts, RAG, avaliação e custos).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Funciona é diferente de merece confiança.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 i="1">
                <a:solidFill>
                  <a:srgbClr val="FDE68A"/>
                </a:solidFill>
                <a:latin typeface="Calibri"/>
              </a:rPr>
              <a:t>Quando o modelo decide crédito, emprego ou tratamento, o erro afeta pessoas.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Os pilares da governança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f10_govern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204" y="1325880"/>
            <a:ext cx="8343111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Documentação, explicabilidade, justiça, privacidade, segurança e auditoria.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Governança responde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1">
                <a:solidFill>
                  <a:srgbClr val="F59E0B"/>
                </a:solidFill>
                <a:latin typeface="Calibri"/>
              </a:rPr>
              <a:t>Quem</a:t>
            </a:r>
            <a:r>
              <a:rPr sz="2800" b="0">
                <a:solidFill>
                  <a:srgbClr val="1F2937"/>
                </a:solidFill>
                <a:latin typeface="Calibri"/>
              </a:rPr>
              <a:t> responde por este modelo?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1">
                <a:solidFill>
                  <a:srgbClr val="F59E0B"/>
                </a:solidFill>
                <a:latin typeface="Calibri"/>
              </a:rPr>
              <a:t>Para que</a:t>
            </a:r>
            <a:r>
              <a:rPr sz="2800" b="0">
                <a:solidFill>
                  <a:srgbClr val="1F2937"/>
                </a:solidFill>
                <a:latin typeface="Calibri"/>
              </a:rPr>
              <a:t> serve e para que </a:t>
            </a:r>
            <a:r>
              <a:rPr sz="2800" b="1">
                <a:solidFill>
                  <a:srgbClr val="F59E0B"/>
                </a:solidFill>
                <a:latin typeface="Calibri"/>
              </a:rPr>
              <a:t>não</a:t>
            </a:r>
            <a:r>
              <a:rPr sz="2800" b="0">
                <a:solidFill>
                  <a:srgbClr val="1F2937"/>
                </a:solidFill>
                <a:latin typeface="Calibri"/>
              </a:rPr>
              <a:t> serve?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Com </a:t>
            </a:r>
            <a:r>
              <a:rPr sz="2800" b="1">
                <a:solidFill>
                  <a:srgbClr val="F59E0B"/>
                </a:solidFill>
                <a:latin typeface="Calibri"/>
              </a:rPr>
              <a:t>quais dados</a:t>
            </a:r>
            <a:r>
              <a:rPr sz="2800" b="0">
                <a:solidFill>
                  <a:srgbClr val="1F2937"/>
                </a:solidFill>
                <a:latin typeface="Calibri"/>
              </a:rPr>
              <a:t>, e podiam ser usados?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1">
                <a:solidFill>
                  <a:srgbClr val="F59E0B"/>
                </a:solidFill>
                <a:latin typeface="Calibri"/>
              </a:rPr>
              <a:t>Como decide</a:t>
            </a:r>
            <a:r>
              <a:rPr sz="2800" b="0">
                <a:solidFill>
                  <a:srgbClr val="1F2937"/>
                </a:solidFill>
                <a:latin typeface="Calibri"/>
              </a:rPr>
              <a:t> e como justificamos?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1">
                <a:solidFill>
                  <a:srgbClr val="F59E0B"/>
                </a:solidFill>
                <a:latin typeface="Calibri"/>
              </a:rPr>
              <a:t>Para quem</a:t>
            </a:r>
            <a:r>
              <a:rPr sz="2800" b="0">
                <a:solidFill>
                  <a:srgbClr val="1F2937"/>
                </a:solidFill>
                <a:latin typeface="Calibri"/>
              </a:rPr>
              <a:t> funciona pior?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LGPD (13.709/2018) e Regulamento de IA da UE (2024/1689)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A bula do remédio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O cartão do modelo (Mitchell et al., 2019) diz uso pretendido, fora do escopo, dados, métricas por grupo e limitações.
Gere automaticamente: nunca fica desatualizado.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Explicação global e local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f10_explic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85139"/>
            <a:ext cx="10515600" cy="41620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Global: o que importa em geral. Local: por que esta decisão.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Técnicas de explicabilidade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1">
                <a:solidFill>
                  <a:srgbClr val="F59E0B"/>
                </a:solidFill>
                <a:latin typeface="Calibri"/>
              </a:rPr>
              <a:t>Permutação</a:t>
            </a:r>
            <a:r>
              <a:rPr sz="2800" b="0">
                <a:solidFill>
                  <a:srgbClr val="1F2937"/>
                </a:solidFill>
                <a:latin typeface="Calibri"/>
              </a:rPr>
              <a:t> (Breiman, 2001): embaralhe e veja a queda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1">
                <a:solidFill>
                  <a:srgbClr val="F59E0B"/>
                </a:solidFill>
                <a:latin typeface="Calibri"/>
              </a:rPr>
              <a:t>PDP</a:t>
            </a:r>
            <a:r>
              <a:rPr sz="2800" b="0">
                <a:solidFill>
                  <a:srgbClr val="1F2937"/>
                </a:solidFill>
                <a:latin typeface="Calibri"/>
              </a:rPr>
              <a:t> (Friedman, 2001): efeito médio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1">
                <a:solidFill>
                  <a:srgbClr val="F59E0B"/>
                </a:solidFill>
                <a:latin typeface="Calibri"/>
              </a:rPr>
              <a:t>LIME</a:t>
            </a:r>
            <a:r>
              <a:rPr sz="2800" b="0">
                <a:solidFill>
                  <a:srgbClr val="1F2937"/>
                </a:solidFill>
                <a:latin typeface="Calibri"/>
              </a:rPr>
              <a:t> (Ribeiro et al., 2016) e </a:t>
            </a:r>
            <a:r>
              <a:rPr sz="2800" b="1">
                <a:solidFill>
                  <a:srgbClr val="F59E0B"/>
                </a:solidFill>
                <a:latin typeface="Calibri"/>
              </a:rPr>
              <a:t>SHAP</a:t>
            </a:r>
            <a:r>
              <a:rPr sz="2800" b="0">
                <a:solidFill>
                  <a:srgbClr val="1F2937"/>
                </a:solidFill>
                <a:latin typeface="Calibri"/>
              </a:rPr>
              <a:t> (Lundberg e Lee, 2017): explicações locais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Atributos correlacionados </a:t>
            </a:r>
            <a:r>
              <a:rPr sz="2800" b="1">
                <a:solidFill>
                  <a:srgbClr val="F59E0B"/>
                </a:solidFill>
                <a:latin typeface="Calibri"/>
              </a:rPr>
              <a:t>dividem</a:t>
            </a:r>
            <a:r>
              <a:rPr sz="2800" b="0">
                <a:solidFill>
                  <a:srgbClr val="1F2937"/>
                </a:solidFill>
                <a:latin typeface="Calibri"/>
              </a:rPr>
              <a:t> a importância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Explicação não é causa.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 i="1">
                <a:solidFill>
                  <a:srgbClr val="FDE68A"/>
                </a:solidFill>
                <a:latin typeface="Calibri"/>
              </a:rPr>
              <a:t>Mostra o que o modelo usa, não o que causa o fenômeno.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Justiça entre grupos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1">
                <a:solidFill>
                  <a:srgbClr val="F59E0B"/>
                </a:solidFill>
                <a:latin typeface="Calibri"/>
              </a:rPr>
              <a:t>Paridade demográfica</a:t>
            </a:r>
            <a:r>
              <a:rPr sz="2800" b="0">
                <a:solidFill>
                  <a:srgbClr val="1F2937"/>
                </a:solidFill>
                <a:latin typeface="Calibri"/>
              </a:rPr>
              <a:t>: mesma taxa de seleção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1">
                <a:solidFill>
                  <a:srgbClr val="F59E0B"/>
                </a:solidFill>
                <a:latin typeface="Calibri"/>
              </a:rPr>
              <a:t>Igualdade de oportunidade</a:t>
            </a:r>
            <a:r>
              <a:rPr sz="2800" b="0">
                <a:solidFill>
                  <a:srgbClr val="1F2937"/>
                </a:solidFill>
                <a:latin typeface="Calibri"/>
              </a:rPr>
              <a:t>: mesma revocação (Hardt et al., 2016)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Razão de impacto: regra dos 4/5 (0,8) é </a:t>
            </a:r>
            <a:r>
              <a:rPr sz="2800" b="1">
                <a:solidFill>
                  <a:srgbClr val="F59E0B"/>
                </a:solidFill>
                <a:latin typeface="Calibri"/>
              </a:rPr>
              <a:t>alerta</a:t>
            </a:r>
            <a:r>
              <a:rPr sz="2800" b="0">
                <a:solidFill>
                  <a:srgbClr val="1F2937"/>
                </a:solidFill>
                <a:latin typeface="Calibri"/>
              </a:rPr>
              <a:t>, não veredito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Sem usar o grupo, o viés entra por </a:t>
            </a:r>
            <a:r>
              <a:rPr sz="2800" b="1">
                <a:solidFill>
                  <a:srgbClr val="F59E0B"/>
                </a:solidFill>
                <a:latin typeface="Calibri"/>
              </a:rPr>
              <a:t>proxies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Critérios podem conflitar: a escolha é social e jurídica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Auditoria no exemplo do capítulo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Limiar único 0,5: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A: seleção 0.553  revocação 0.811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B: seleção 0.392  revocação 0.644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Razão de impacto B/A: 0.709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Limiares por grupo: revocação 0.80 nos dois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Igualar a revocação melhora a oportunidade, mas muda outras métricas.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Privacidade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Minimização e pseudonimização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1">
                <a:solidFill>
                  <a:srgbClr val="F59E0B"/>
                </a:solidFill>
                <a:latin typeface="Calibri"/>
              </a:rPr>
              <a:t>Privacidade diferencial</a:t>
            </a:r>
            <a:r>
              <a:rPr sz="2800" b="0">
                <a:solidFill>
                  <a:srgbClr val="1F2937"/>
                </a:solidFill>
                <a:latin typeface="Calibri"/>
              </a:rPr>
              <a:t> (Dwork et al., 2006): ruído de Laplace, escala 1/ε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ε pequeno = mais privacidade, mais ruído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Repetir consultas </a:t>
            </a:r>
            <a:r>
              <a:rPr sz="2800" b="1">
                <a:solidFill>
                  <a:srgbClr val="F59E0B"/>
                </a:solidFill>
                <a:latin typeface="Calibri"/>
              </a:rPr>
              <a:t>gasta</a:t>
            </a:r>
            <a:r>
              <a:rPr sz="2800" b="0">
                <a:solidFill>
                  <a:srgbClr val="1F2937"/>
                </a:solidFill>
                <a:latin typeface="Calibri"/>
              </a:rPr>
              <a:t> o orçamento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1">
                <a:solidFill>
                  <a:srgbClr val="F59E0B"/>
                </a:solidFill>
                <a:latin typeface="Calibri"/>
              </a:rPr>
              <a:t>Federado</a:t>
            </a:r>
            <a:r>
              <a:rPr sz="2800" b="0">
                <a:solidFill>
                  <a:srgbClr val="1F2937"/>
                </a:solidFill>
                <a:latin typeface="Calibri"/>
              </a:rPr>
              <a:t> (McMahan et al., 2017): dados ficam no dispositivo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Armazém de atributos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Calculados </a:t>
            </a:r>
            <a:r>
              <a:rPr sz="2800" b="1">
                <a:solidFill>
                  <a:srgbClr val="F59E0B"/>
                </a:solidFill>
                <a:latin typeface="Calibri"/>
              </a:rPr>
              <a:t>uma vez</a:t>
            </a:r>
            <a:r>
              <a:rPr sz="2800" b="0">
                <a:solidFill>
                  <a:srgbClr val="1F2937"/>
                </a:solidFill>
                <a:latin typeface="Calibri"/>
              </a:rPr>
              <a:t>, reutilizados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1">
                <a:solidFill>
                  <a:srgbClr val="F59E0B"/>
                </a:solidFill>
                <a:latin typeface="Calibri"/>
              </a:rPr>
              <a:t>Offline</a:t>
            </a:r>
            <a:r>
              <a:rPr sz="2800" b="0">
                <a:solidFill>
                  <a:srgbClr val="1F2937"/>
                </a:solidFill>
                <a:latin typeface="Calibri"/>
              </a:rPr>
              <a:t>: histórico para treino e lote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1">
                <a:solidFill>
                  <a:srgbClr val="F59E0B"/>
                </a:solidFill>
                <a:latin typeface="Calibri"/>
              </a:rPr>
              <a:t>Online</a:t>
            </a:r>
            <a:r>
              <a:rPr sz="2800" b="0">
                <a:solidFill>
                  <a:srgbClr val="1F2937"/>
                </a:solidFill>
                <a:latin typeface="Calibri"/>
              </a:rPr>
              <a:t>: valor atual em milissegundos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Mesmos valores no treino e na produção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Armazém de atributos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pic>
        <p:nvPicPr>
          <p:cNvPr id="8" name="Picture 7" descr="f10_feature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96" y="1325880"/>
            <a:ext cx="8915927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Um único cálculo alimenta treino e produção.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A armadilha temporal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merge_asof(eventos, atributos, by="cliente")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# cliente 1 em 10/03: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#   correto  (valor de 01/03): 100.0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#   ingênuo  (usa o futuro)  :  20.0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Use o valor disponível na data do evento.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Orquestração: um DAG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pic>
        <p:nvPicPr>
          <p:cNvPr id="8" name="Picture 7" descr="f10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13" y="1325880"/>
            <a:ext cx="10278493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Dependências, repetição e registro. Treino A e B podem rodar em paralelo.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Orquestradores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Executam as tarefas </a:t>
            </a:r>
            <a:r>
              <a:rPr sz="2800" b="1">
                <a:solidFill>
                  <a:srgbClr val="F59E0B"/>
                </a:solidFill>
                <a:latin typeface="Calibri"/>
              </a:rPr>
              <a:t>na ordem das dependências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Repetem falhas, agendam, guardam histórico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Airflow, Prefect, Dagster, Kubeflow, Argo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Princípio: </a:t>
            </a:r>
            <a:r>
              <a:rPr sz="2800" b="1">
                <a:solidFill>
                  <a:srgbClr val="F59E0B"/>
                </a:solidFill>
                <a:latin typeface="Calibri"/>
              </a:rPr>
              <a:t>dependências + repetição + registro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Ciclo de LLMOps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pic>
        <p:nvPicPr>
          <p:cNvPr id="8" name="Picture 7" descr="f10_llm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014" y="1325880"/>
            <a:ext cx="909949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Prompt versionado, RAG, modelo, proteções, avaliação e custos.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LLMOps: o que muda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O “programa” inclui </a:t>
            </a:r>
            <a:r>
              <a:rPr sz="2800" b="1">
                <a:solidFill>
                  <a:srgbClr val="F59E0B"/>
                </a:solidFill>
                <a:latin typeface="Calibri"/>
              </a:rPr>
              <a:t>prompts</a:t>
            </a:r>
            <a:r>
              <a:rPr sz="2800" b="0">
                <a:solidFill>
                  <a:srgbClr val="1F2937"/>
                </a:solidFill>
                <a:latin typeface="Calibri"/>
              </a:rPr>
              <a:t> e contexto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1">
                <a:solidFill>
                  <a:srgbClr val="F59E0B"/>
                </a:solidFill>
                <a:latin typeface="Calibri"/>
              </a:rPr>
              <a:t>RAG</a:t>
            </a:r>
            <a:r>
              <a:rPr sz="2800" b="0">
                <a:solidFill>
                  <a:srgbClr val="1F2937"/>
                </a:solidFill>
                <a:latin typeface="Calibri"/>
              </a:rPr>
              <a:t> (Lewis et al., 2020) e ajuste leve com </a:t>
            </a:r>
            <a:r>
              <a:rPr sz="2800" b="1">
                <a:solidFill>
                  <a:srgbClr val="F59E0B"/>
                </a:solidFill>
                <a:latin typeface="Calibri"/>
              </a:rPr>
              <a:t>LoRA</a:t>
            </a:r>
            <a:r>
              <a:rPr sz="2800" b="0">
                <a:solidFill>
                  <a:srgbClr val="1F2937"/>
                </a:solidFill>
                <a:latin typeface="Calibri"/>
              </a:rPr>
              <a:t> (Hu et al., 2022)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Saída em </a:t>
            </a:r>
            <a:r>
              <a:rPr sz="2800" b="1">
                <a:solidFill>
                  <a:srgbClr val="F59E0B"/>
                </a:solidFill>
                <a:latin typeface="Calibri"/>
              </a:rPr>
              <a:t>texto livre</a:t>
            </a:r>
            <a:r>
              <a:rPr sz="2800" b="0">
                <a:solidFill>
                  <a:srgbClr val="1F2937"/>
                </a:solidFill>
                <a:latin typeface="Calibri"/>
              </a:rPr>
              <a:t>: avaliação difícil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Custo </a:t>
            </a:r>
            <a:r>
              <a:rPr sz="2800" b="1">
                <a:solidFill>
                  <a:srgbClr val="F59E0B"/>
                </a:solidFill>
                <a:latin typeface="Calibri"/>
              </a:rPr>
              <a:t>por token</a:t>
            </a:r>
            <a:r>
              <a:rPr sz="2800" b="0">
                <a:solidFill>
                  <a:srgbClr val="1F2937"/>
                </a:solidFill>
                <a:latin typeface="Calibri"/>
              </a:rPr>
              <a:t>; riscos: alucinação, injeção de prompt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Versione e </a:t>
            </a:r>
            <a:r>
              <a:rPr sz="2800" b="1">
                <a:solidFill>
                  <a:srgbClr val="F59E0B"/>
                </a:solidFill>
                <a:latin typeface="Calibri"/>
              </a:rPr>
              <a:t>teste prompts</a:t>
            </a:r>
            <a:r>
              <a:rPr sz="2800" b="0">
                <a:solidFill>
                  <a:srgbClr val="1F2937"/>
                </a:solidFill>
                <a:latin typeface="Calibri"/>
              </a:rPr>
              <a:t> como código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  <a:latin typeface="Calibri"/>
              </a:rPr>
              <a:t>MEMORIZE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F2937"/>
                </a:solidFill>
                <a:latin typeface="Calibri"/>
              </a:rPr>
              <a:t>O que levar deste capítulo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Governança reúne documentação, explicabilidade, justiça, privacidade, segurança e auditoria, apoiadas por rastreabilidade.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O cartão do modelo informa uso pretendido, dados, métricas por grupo e limitações; pode ser gerado automaticamente.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Explicações (permutação, PDP, LIME, SHAP) mostram o que o modelo usa, não causas.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Justiça exige medir por grupo; não usar o atributo sensível não basta; os critérios podem conflitar e a escolha é social.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Privacidade diferencial troca precisão por privacidade (ε); o aprendizado federado mantém os dados nos dispositivos.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O armazém de atributos evita desvio treino–serviço; a correção temporal evita vazamento do futuro.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Orquestradores executam DAGs com dependências, repetição e registro.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LLMOps acrescenta prompts versionados, RAG, avaliação de texto livre, custo por token e novos riscos.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Hora de praticar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  <a:latin typeface="Calibri"/>
              </a:rPr>
              <a:t>▪  </a:t>
            </a:r>
            <a:r>
              <a:rPr sz="2200" b="1">
                <a:solidFill>
                  <a:srgbClr val="F59E0B"/>
                </a:solidFill>
                <a:latin typeface="Calibri"/>
              </a:rPr>
              <a:t>30 questões de múltipla escolha</a:t>
            </a:r>
            <a:r>
              <a:rPr sz="2200" b="0">
                <a:solidFill>
                  <a:srgbClr val="1F2937"/>
                </a:solidFill>
                <a:latin typeface="Calibri"/>
              </a:rPr>
              <a:t> e </a:t>
            </a:r>
            <a:r>
              <a:rPr sz="2200" b="1">
                <a:solidFill>
                  <a:srgbClr val="F59E0B"/>
                </a:solidFill>
                <a:latin typeface="Calibri"/>
              </a:rPr>
              <a:t>20 discursivas</a:t>
            </a:r>
            <a:r>
              <a:rPr sz="2200" b="0">
                <a:solidFill>
                  <a:srgbClr val="1F2937"/>
                </a:solidFill>
                <a:latin typeface="Calibri"/>
              </a:rPr>
              <a:t> ao final do capítulo (gabarito no Apêndice A)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  <a:latin typeface="Calibri"/>
              </a:rPr>
              <a:t>▪  </a:t>
            </a:r>
            <a:r>
              <a:rPr sz="2200" b="1">
                <a:solidFill>
                  <a:srgbClr val="F59E0B"/>
                </a:solidFill>
                <a:latin typeface="Calibri"/>
              </a:rPr>
              <a:t>Exercícios práticos em Python</a:t>
            </a:r>
            <a:r>
              <a:rPr sz="2200" b="0">
                <a:solidFill>
                  <a:srgbClr val="1F2937"/>
                </a:solidFill>
                <a:latin typeface="Calibri"/>
              </a:rPr>
              <a:t> com scikit-learn e as ferramentas do capítulo (soluções no Apêndice D)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  <a:latin typeface="Calibri"/>
              </a:rPr>
              <a:t>▪  </a:t>
            </a:r>
            <a:r>
              <a:rPr sz="2200" b="1">
                <a:solidFill>
                  <a:srgbClr val="F59E0B"/>
                </a:solidFill>
                <a:latin typeface="Calibri"/>
              </a:rPr>
              <a:t>Projeto integrador do capítulo</a:t>
            </a:r>
            <a:r>
              <a:rPr sz="2200" b="0">
                <a:solidFill>
                  <a:srgbClr val="1F2937"/>
                </a:solidFill>
                <a:latin typeface="Calibri"/>
              </a:rPr>
              <a:t> (solução de referência no Apêndice E)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  <a:latin typeface="Calibri"/>
              </a:rPr>
              <a:t>▪  </a:t>
            </a:r>
            <a:r>
              <a:rPr sz="2200" b="0">
                <a:solidFill>
                  <a:srgbClr val="1F2937"/>
                </a:solidFill>
                <a:latin typeface="Calibri"/>
              </a:rPr>
              <a:t>Dica de estudo: </a:t>
            </a:r>
            <a:r>
              <a:rPr sz="2200" b="1">
                <a:solidFill>
                  <a:srgbClr val="F59E0B"/>
                </a:solidFill>
                <a:latin typeface="Calibri"/>
              </a:rPr>
              <a:t>rode, altere um parâmetro por vez e explique em voz alta o que mudou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