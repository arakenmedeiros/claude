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os objetivos em voz alta e pergunte à turma o que já sabe sobre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91695" cy="2295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017520"/>
            <a:ext cx="1078992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Avaliação Rigorosa e Otimização de Hiperparâmetros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1">
                <a:solidFill>
                  <a:srgbClr val="E5E7EB"/>
                </a:solidFill>
                <a:latin typeface="Calibri"/>
              </a:rPr>
              <a:t>MLOps: do notebook à produção com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que você vai aprender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Escolher métricas adequadas ao problema, inclusive com classes desbalanceadas.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Ajustar o limiar de decisão considerando o custo dos erros.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Verificar e corrigir a calibração das probabilidades.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Usar validação cruzada, inclusive para séries temporais, e reportar incerteza.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Comparar modelos com intervalos de confiança por bootstrap.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Evitar o viés de seleção com validação cruzada aninhada.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Comparar busca em grade e busca aleatória de hiperparâmetros.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Avaliar o desempenho por subgrupos (fatias) dos dados.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O aluno que decorou a prova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Se a prova tem as mesmas 100 questões do treino, a nota alta não prova que ele aprendeu.
O que importa é o desempenho em dados novos.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Avaliar é mais difícil do que parece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Que </a:t>
            </a:r>
            <a:r>
              <a:rPr sz="2800" b="1">
                <a:solidFill>
                  <a:srgbClr val="06B6D4"/>
                </a:solidFill>
                <a:latin typeface="Calibri"/>
              </a:rPr>
              <a:t>números</a:t>
            </a:r>
            <a:r>
              <a:rPr sz="2800" b="0">
                <a:solidFill>
                  <a:srgbClr val="1F2937"/>
                </a:solidFill>
                <a:latin typeface="Calibri"/>
              </a:rPr>
              <a:t> reportar? (métricas)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Como </a:t>
            </a:r>
            <a:r>
              <a:rPr sz="2800" b="1">
                <a:solidFill>
                  <a:srgbClr val="06B6D4"/>
                </a:solidFill>
                <a:latin typeface="Calibri"/>
              </a:rPr>
              <a:t>medir</a:t>
            </a:r>
            <a:r>
              <a:rPr sz="2800" b="0">
                <a:solidFill>
                  <a:srgbClr val="1F2937"/>
                </a:solidFill>
                <a:latin typeface="Calibri"/>
              </a:rPr>
              <a:t> sem se enganar? (validação)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Como </a:t>
            </a:r>
            <a:r>
              <a:rPr sz="2800" b="1">
                <a:solidFill>
                  <a:srgbClr val="06B6D4"/>
                </a:solidFill>
                <a:latin typeface="Calibri"/>
              </a:rPr>
              <a:t>ajustar</a:t>
            </a:r>
            <a:r>
              <a:rPr sz="2800" b="0">
                <a:solidFill>
                  <a:srgbClr val="1F2937"/>
                </a:solidFill>
                <a:latin typeface="Calibri"/>
              </a:rPr>
              <a:t> sem inflar o resultado? (hiperparâmetros)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Em </a:t>
            </a:r>
            <a:r>
              <a:rPr sz="2800" b="1">
                <a:solidFill>
                  <a:srgbClr val="06B6D4"/>
                </a:solidFill>
                <a:latin typeface="Calibri"/>
              </a:rPr>
              <a:t>quem</a:t>
            </a:r>
            <a:r>
              <a:rPr sz="2800" b="0">
                <a:solidFill>
                  <a:srgbClr val="1F2937"/>
                </a:solidFill>
                <a:latin typeface="Calibri"/>
              </a:rPr>
              <a:t> o modelo falha? (fatias)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Subespecificação: mesmo teste, comportamentos diferentes (D'Amour et al., 2022)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Precisão, revocação e F1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Precisão</a:t>
            </a:r>
            <a:r>
              <a:rPr sz="2800" b="0">
                <a:solidFill>
                  <a:srgbClr val="1F2937"/>
                </a:solidFill>
                <a:latin typeface="Calibri"/>
              </a:rPr>
              <a:t>: dos alarmes, quantos eram reais?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Revocação</a:t>
            </a:r>
            <a:r>
              <a:rPr sz="2800" b="0">
                <a:solidFill>
                  <a:srgbClr val="1F2937"/>
                </a:solidFill>
                <a:latin typeface="Calibri"/>
              </a:rPr>
              <a:t>: dos casos reais, quantos achei?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F1</a:t>
            </a:r>
            <a:r>
              <a:rPr sz="2800" b="0">
                <a:solidFill>
                  <a:srgbClr val="1F2937"/>
                </a:solidFill>
                <a:latin typeface="Calibri"/>
              </a:rPr>
              <a:t>: média harmônica das duas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Matriz de confusão: VP, FP, FN, VN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O detector de fumaça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Muito sensível: apita com torrada queimada (baixa precisão, alta revocação).
Muito frouxo: deixa passar o incêndio (baixa revocação).
O que é pior depende do contexto.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engano da acurácia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Sempre negativo  acurácia=0.946 revocação=0.000 F1=0.000 AUC-PR=0.054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Floresta         acurácia=0.952 revocação=0.204 F1=0.317 AUC-PR=0.508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5% de positivos: “nunca é fraude” acerta 95% e não acha nenhuma.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ROC × precisão-revocação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f6_cur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38" y="1325880"/>
            <a:ext cx="10504842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Com classes raras, a curva PR é mais informativa (Saito e Rehmsmeier, 2015).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Escolha o limiar pelo custo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O 0,5 raramente é o ótimo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Falso negativo caro → limiar </a:t>
            </a:r>
            <a:r>
              <a:rPr sz="2800" b="1">
                <a:solidFill>
                  <a:srgbClr val="06B6D4"/>
                </a:solidFill>
                <a:latin typeface="Calibri"/>
              </a:rPr>
              <a:t>menor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Escolha na </a:t>
            </a:r>
            <a:r>
              <a:rPr sz="2800" b="1">
                <a:solidFill>
                  <a:srgbClr val="06B6D4"/>
                </a:solidFill>
                <a:latin typeface="Calibri"/>
              </a:rPr>
              <a:t>validação</a:t>
            </a:r>
            <a:r>
              <a:rPr sz="2800" b="0">
                <a:solidFill>
                  <a:srgbClr val="1F2937"/>
                </a:solidFill>
                <a:latin typeface="Calibri"/>
              </a:rPr>
              <a:t>, nunca no teste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No exemplo: custo de R$ 39.040 → R$ 9.535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O limiar é parte do sistema: </a:t>
            </a:r>
            <a:r>
              <a:rPr sz="2800" b="1">
                <a:solidFill>
                  <a:srgbClr val="06B6D4"/>
                </a:solidFill>
                <a:latin typeface="Calibri"/>
              </a:rPr>
              <a:t>versione e monitore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Calibração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f6_calib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126" y="1325880"/>
            <a:ext cx="5049266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Quanto mais perto da diagonal, mais as probabilidades dizem a verdade.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Calibração: por que importa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Se o modelo diz 80%, ~80% devem ser reais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Importa quando a </a:t>
            </a:r>
            <a:r>
              <a:rPr sz="2800" b="1">
                <a:solidFill>
                  <a:srgbClr val="06B6D4"/>
                </a:solidFill>
                <a:latin typeface="Calibri"/>
              </a:rPr>
              <a:t>probabilidade</a:t>
            </a:r>
            <a:r>
              <a:rPr sz="2800" b="0">
                <a:solidFill>
                  <a:srgbClr val="1F2937"/>
                </a:solidFill>
                <a:latin typeface="Calibri"/>
              </a:rPr>
              <a:t> entra na decisão (preço, risco)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Brier: erro quadrático das probabilidades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`CalibratedClassifierCV` (isotônica) reduziu o erro de 0,095 para 0,017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Validação cruzada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f6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274" y="1325880"/>
            <a:ext cx="9630971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Cada pedaço é teste uma vez e treino quatro vezes.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Validação cruzada na prática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Reporte </a:t>
            </a:r>
            <a:r>
              <a:rPr sz="2800" b="1">
                <a:solidFill>
                  <a:srgbClr val="06B6D4"/>
                </a:solidFill>
                <a:latin typeface="Calibri"/>
              </a:rPr>
              <a:t>média ± desvio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Diferença menor que a dispersão = </a:t>
            </a:r>
            <a:r>
              <a:rPr sz="2800" b="1">
                <a:solidFill>
                  <a:srgbClr val="06B6D4"/>
                </a:solidFill>
                <a:latin typeface="Calibri"/>
              </a:rPr>
              <a:t>provável ruído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Séries temporais: </a:t>
            </a:r>
            <a:r>
              <a:rPr sz="2800" b="1">
                <a:solidFill>
                  <a:srgbClr val="06B6D4"/>
                </a:solidFill>
                <a:latin typeface="Calibri"/>
              </a:rPr>
              <a:t>nunca embaralhe</a:t>
            </a:r>
            <a:r>
              <a:rPr sz="2800" b="0">
                <a:solidFill>
                  <a:srgbClr val="1F2937"/>
                </a:solidFill>
                <a:latin typeface="Calibri"/>
              </a:rPr>
              <a:t> (TimeSeriesSplit)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Kohavi (1995); Arlot e Celisse (2010)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Comparando modelos com bootstrap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Sorteie exemplos </a:t>
            </a:r>
            <a:r>
              <a:rPr sz="2800" b="1">
                <a:solidFill>
                  <a:srgbClr val="06B6D4"/>
                </a:solidFill>
                <a:latin typeface="Calibri"/>
              </a:rPr>
              <a:t>com reposição</a:t>
            </a:r>
            <a:r>
              <a:rPr sz="2800" b="0">
                <a:solidFill>
                  <a:srgbClr val="1F2937"/>
                </a:solidFill>
                <a:latin typeface="Calibri"/>
              </a:rPr>
              <a:t>, 5.000 vezes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Calcule a diferença de métrica em cada reamostra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Intervalo de 95%: percentis 2,5 e 97,5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Se o intervalo </a:t>
            </a:r>
            <a:r>
              <a:rPr sz="2800" b="1">
                <a:solidFill>
                  <a:srgbClr val="06B6D4"/>
                </a:solidFill>
                <a:latin typeface="Calibri"/>
              </a:rPr>
              <a:t>inclui zero</a:t>
            </a:r>
            <a:r>
              <a:rPr sz="2800" b="0">
                <a:solidFill>
                  <a:srgbClr val="1F2937"/>
                </a:solidFill>
                <a:latin typeface="Calibri"/>
              </a:rPr>
              <a:t>, não há vencedor claro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Validação aninhada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pic>
        <p:nvPicPr>
          <p:cNvPr id="8" name="Picture 7" descr="f6_aninh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96" y="1325880"/>
            <a:ext cx="8915927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O laço externo avalia; o interno escolhe.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otimismo da busca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Melhor acurácia da busca (otimista) : 0.662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Estimativa aninhada (honesta)       : 0.537 ± 0.109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Pouco dado + muitos atributos + muitas configurações = resultado inflado.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Grade × aleatória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pic>
        <p:nvPicPr>
          <p:cNvPr id="8" name="Picture 7" descr="f6_bus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17" y="1325880"/>
            <a:ext cx="10291084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Poucos hiperparâmetros importam; a aleatória explora melhor (Bergstra e Bengio, 2012).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Hiperparâmetros: as estratégias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Grade</a:t>
            </a:r>
            <a:r>
              <a:rPr sz="2800" b="0">
                <a:solidFill>
                  <a:srgbClr val="1F2937"/>
                </a:solidFill>
                <a:latin typeface="Calibri"/>
              </a:rPr>
              <a:t>: simples, explode com muitos parâmetros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Aleatória</a:t>
            </a:r>
            <a:r>
              <a:rPr sz="2800" b="0">
                <a:solidFill>
                  <a:srgbClr val="1F2937"/>
                </a:solidFill>
                <a:latin typeface="Calibri"/>
              </a:rPr>
              <a:t>: sorteia combinações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Bayesiana</a:t>
            </a:r>
            <a:r>
              <a:rPr sz="2800" b="0">
                <a:solidFill>
                  <a:srgbClr val="1F2937"/>
                </a:solidFill>
                <a:latin typeface="Calibri"/>
              </a:rPr>
              <a:t> (Snoek et al., 2012): aprende com as tentativas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Hyperband</a:t>
            </a:r>
            <a:r>
              <a:rPr sz="2800" b="0">
                <a:solidFill>
                  <a:srgbClr val="1F2937"/>
                </a:solidFill>
                <a:latin typeface="Calibri"/>
              </a:rPr>
              <a:t> (Li et al., 2018) e </a:t>
            </a:r>
            <a:r>
              <a:rPr sz="2800" b="1">
                <a:solidFill>
                  <a:srgbClr val="06B6D4"/>
                </a:solidFill>
                <a:latin typeface="Calibri"/>
              </a:rPr>
              <a:t>Optuna</a:t>
            </a:r>
            <a:r>
              <a:rPr sz="2800" b="0">
                <a:solidFill>
                  <a:srgbClr val="1F2937"/>
                </a:solidFill>
                <a:latin typeface="Calibri"/>
              </a:rPr>
              <a:t> (Akiba et al., 2019)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AutoML</a:t>
            </a:r>
            <a:r>
              <a:rPr sz="2800" b="0">
                <a:solidFill>
                  <a:srgbClr val="1F2937"/>
                </a:solidFill>
                <a:latin typeface="Calibri"/>
              </a:rPr>
              <a:t>: Feurer et al. (2015)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A média esconde desigualdades.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 i="1">
                <a:solidFill>
                  <a:srgbClr val="FDE68A"/>
                </a:solidFill>
                <a:latin typeface="Calibri"/>
              </a:rPr>
              <a:t>Avalie por fatias: acurácia geral 82%, grupo minoritário 26% (exemplo do capítulo).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  <a:latin typeface="Calibri"/>
              </a:rPr>
              <a:t>MEMORIZE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F2937"/>
                </a:solidFill>
                <a:latin typeface="Calibri"/>
              </a:rPr>
              <a:t>O que levar deste capítulo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Escolha a métrica pelo custo do erro. Com classes raras, acurácia engana: use precisão, revocação, F1 e AUC-PR.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O limiar de decisão é uma escolha de negócio: ajuste-o na validação, com custos explícitos.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Calibre as probabilidades quando elas entram na decisão; use o escore de Brier.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Validação cruzada reporta média e desvio; em séries temporais, respeite a ordem.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Compare modelos com intervalos de confiança (*bootstrap*). Se o intervalo inclui zero, não há vencedor claro.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A validação aninhada evita o viés de seleção.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Busca aleatória costuma superar a grade; métodos bayesianos e Hyperband poupam recursos.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Avalie por fatias: médias escondem desigualdades.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Métricas offline não bastam; confirme com experimentos online.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Hora de praticar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▪  </a:t>
            </a:r>
            <a:r>
              <a:rPr sz="2200" b="1">
                <a:solidFill>
                  <a:srgbClr val="06B6D4"/>
                </a:solidFill>
                <a:latin typeface="Calibri"/>
              </a:rPr>
              <a:t>30 questões de múltipla escolha</a:t>
            </a:r>
            <a:r>
              <a:rPr sz="2200" b="0">
                <a:solidFill>
                  <a:srgbClr val="1F2937"/>
                </a:solidFill>
                <a:latin typeface="Calibri"/>
              </a:rPr>
              <a:t> e </a:t>
            </a:r>
            <a:r>
              <a:rPr sz="2200" b="1">
                <a:solidFill>
                  <a:srgbClr val="06B6D4"/>
                </a:solidFill>
                <a:latin typeface="Calibri"/>
              </a:rPr>
              <a:t>20 discursivas</a:t>
            </a:r>
            <a:r>
              <a:rPr sz="2200" b="0">
                <a:solidFill>
                  <a:srgbClr val="1F2937"/>
                </a:solidFill>
                <a:latin typeface="Calibri"/>
              </a:rPr>
              <a:t> ao final do capítulo (gabarito no Apêndice A)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▪  </a:t>
            </a:r>
            <a:r>
              <a:rPr sz="2200" b="1">
                <a:solidFill>
                  <a:srgbClr val="06B6D4"/>
                </a:solidFill>
                <a:latin typeface="Calibri"/>
              </a:rPr>
              <a:t>Exercícios práticos em Python</a:t>
            </a:r>
            <a:r>
              <a:rPr sz="2200" b="0">
                <a:solidFill>
                  <a:srgbClr val="1F2937"/>
                </a:solidFill>
                <a:latin typeface="Calibri"/>
              </a:rPr>
              <a:t> com scikit-learn e as ferramentas do capítulo (soluções no Apêndice D)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▪  </a:t>
            </a:r>
            <a:r>
              <a:rPr sz="2200" b="1">
                <a:solidFill>
                  <a:srgbClr val="06B6D4"/>
                </a:solidFill>
                <a:latin typeface="Calibri"/>
              </a:rPr>
              <a:t>Projeto integrador do capítulo</a:t>
            </a:r>
            <a:r>
              <a:rPr sz="2200" b="0">
                <a:solidFill>
                  <a:srgbClr val="1F2937"/>
                </a:solidFill>
                <a:latin typeface="Calibri"/>
              </a:rPr>
              <a:t> (solução de referência no Apêndice E)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▪  </a:t>
            </a:r>
            <a:r>
              <a:rPr sz="2200" b="0">
                <a:solidFill>
                  <a:srgbClr val="1F2937"/>
                </a:solidFill>
                <a:latin typeface="Calibri"/>
              </a:rPr>
              <a:t>Dica de estudo: </a:t>
            </a:r>
            <a:r>
              <a:rPr sz="2200" b="1">
                <a:solidFill>
                  <a:srgbClr val="06B6D4"/>
                </a:solidFill>
                <a:latin typeface="Calibri"/>
              </a:rPr>
              <a:t>rode, altere um parâmetro por vez e explique em voz alta o que mudou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