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objetivos em voz alta e pergunte à turma o que já sabe sobre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1 minuto para a turma discutir em duplas antes de revelar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695" cy="2295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017520"/>
            <a:ext cx="1078992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O Ciclo de Vida do ML, a Dívida Técnica e a Maturidade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92040"/>
            <a:ext cx="182880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 i="1">
                <a:solidFill>
                  <a:srgbClr val="E5E7EB"/>
                </a:solidFill>
                <a:latin typeface="Calibri"/>
              </a:rPr>
              <a:t>MLOps: do notebook à produção com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Descrever as etapas do ciclo de vida de um sistema de ML.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Traduzir um problema de negócio em objetivo, métrica e linha de base.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Explicar o conceito de dívida técnica em ML e dar exemplos concretos.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Usar o ML Test Score como lista de verificação de prontidão para produção.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Reconhecer os componentes de uma arquitetura de referência de MLOps.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4F46E5"/>
                </a:solidFill>
                <a:latin typeface="Calibri"/>
              </a:rPr>
              <a:t>▪  </a:t>
            </a:r>
            <a:r>
              <a:rPr sz="2600" b="0">
                <a:solidFill>
                  <a:srgbClr val="1F2937"/>
                </a:solidFill>
                <a:latin typeface="Calibri"/>
              </a:rPr>
              <a:t>Avaliar o nível de maturidade de um projeto e escolher o próximo passo.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Modelo é só uma etapa.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O ciclo de vida de ML é um laço de nove etapas (Amershi et al., 2019).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 ciclo de vida de um sistema de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f2_cic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151" y="1325880"/>
            <a:ext cx="5769216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Requisitos, coleta, limpeza, rotulagem, atributos, treino, avaliação, implantação, monitoramento... e de volta.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Três grandes fases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Projeto</a:t>
            </a:r>
            <a:r>
              <a:rPr sz="2800" b="0">
                <a:solidFill>
                  <a:srgbClr val="1F2937"/>
                </a:solidFill>
                <a:latin typeface="Calibri"/>
              </a:rPr>
              <a:t>: entender problema, requisitos e viabilidade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Desenvolvimento</a:t>
            </a:r>
            <a:r>
              <a:rPr sz="2800" b="0">
                <a:solidFill>
                  <a:srgbClr val="1F2937"/>
                </a:solidFill>
                <a:latin typeface="Calibri"/>
              </a:rPr>
              <a:t>: dados, atributos, treino e avaliação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Operação</a:t>
            </a:r>
            <a:r>
              <a:rPr sz="2800" b="0">
                <a:solidFill>
                  <a:srgbClr val="1F2937"/>
                </a:solidFill>
                <a:latin typeface="Calibri"/>
              </a:rPr>
              <a:t>: implantação, monitoramento e manutenção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O MLOps </a:t>
            </a:r>
            <a:r>
              <a:rPr sz="2800" b="1">
                <a:solidFill>
                  <a:srgbClr val="4F46E5"/>
                </a:solidFill>
                <a:latin typeface="Calibri"/>
              </a:rPr>
              <a:t>costura</a:t>
            </a:r>
            <a:r>
              <a:rPr sz="2800" b="0">
                <a:solidFill>
                  <a:srgbClr val="1F2937"/>
                </a:solidFill>
                <a:latin typeface="Calibri"/>
              </a:rPr>
              <a:t> as três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Do problema de negócio à métrica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Qual </a:t>
            </a:r>
            <a:r>
              <a:rPr sz="2800" b="1">
                <a:solidFill>
                  <a:srgbClr val="4F46E5"/>
                </a:solidFill>
                <a:latin typeface="Calibri"/>
              </a:rPr>
              <a:t>decisão</a:t>
            </a:r>
            <a:r>
              <a:rPr sz="2800" b="0">
                <a:solidFill>
                  <a:srgbClr val="1F2937"/>
                </a:solidFill>
                <a:latin typeface="Calibri"/>
              </a:rPr>
              <a:t> o modelo vai apoiar?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Quem usa a previsão e </a:t>
            </a:r>
            <a:r>
              <a:rPr sz="2800" b="1">
                <a:solidFill>
                  <a:srgbClr val="4F46E5"/>
                </a:solidFill>
                <a:latin typeface="Calibri"/>
              </a:rPr>
              <a:t>quando</a:t>
            </a:r>
            <a:r>
              <a:rPr sz="2800" b="0">
                <a:solidFill>
                  <a:srgbClr val="1F2937"/>
                </a:solidFill>
                <a:latin typeface="Calibri"/>
              </a:rPr>
              <a:t>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Como saberemos que </a:t>
            </a:r>
            <a:r>
              <a:rPr sz="2800" b="1">
                <a:solidFill>
                  <a:srgbClr val="4F46E5"/>
                </a:solidFill>
                <a:latin typeface="Calibri"/>
              </a:rPr>
              <a:t>deu certo</a:t>
            </a:r>
            <a:r>
              <a:rPr sz="2800" b="0">
                <a:solidFill>
                  <a:srgbClr val="1F2937"/>
                </a:solidFill>
                <a:latin typeface="Calibri"/>
              </a:rPr>
              <a:t>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Quanto custa </a:t>
            </a:r>
            <a:r>
              <a:rPr sz="2800" b="1">
                <a:solidFill>
                  <a:srgbClr val="4F46E5"/>
                </a:solidFill>
                <a:latin typeface="Calibri"/>
              </a:rPr>
              <a:t>errar</a:t>
            </a:r>
            <a:r>
              <a:rPr sz="2800" b="0">
                <a:solidFill>
                  <a:srgbClr val="1F2937"/>
                </a:solidFill>
                <a:latin typeface="Calibri"/>
              </a:rPr>
              <a:t> e qual erro custa mais?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Métrica do modelo </a:t>
            </a:r>
            <a:r>
              <a:rPr sz="2800" b="1">
                <a:solidFill>
                  <a:srgbClr val="4F46E5"/>
                </a:solidFill>
                <a:latin typeface="Calibri"/>
              </a:rPr>
              <a:t>não é</a:t>
            </a:r>
            <a:r>
              <a:rPr sz="2800" b="0">
                <a:solidFill>
                  <a:srgbClr val="1F2937"/>
                </a:solidFill>
                <a:latin typeface="Calibri"/>
              </a:rPr>
              <a:t> métrica do negócio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PARE E PENSE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Um modelo que sempre responde “não vai cancelar” acerta 98% quando só 2% cancelam. Ele é bom?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103327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 i="0">
                <a:solidFill>
                  <a:srgbClr val="1F2937"/>
                </a:solidFill>
                <a:latin typeface="Calibri"/>
              </a:rPr>
              <a:t>Resposta: Não: acurácia alta, mas ele não encontra nenhum cancelamento. Por isso se usa uma linha de base e métricas adequadas.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Linha de base: sempre comece por 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base = DummyClassifier(strategy="most_frequent")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modelo = make_pipeline(StandardScaler(),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                       LogisticRegression())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Linha de base: 0.626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# Regressão logística: 0.959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Se o modelo sofisticado não supera a linha de base com folga, não vale a pena produzi-lo.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Comprar um carro a prestação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Você leva o carro hoje, mas paga juros todo mês.
Atalhos no desenvolvimento são iguais: entregam rápido hoje e cobram juros em manutenção, bugs e lentidão.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Os juros da dívida técnica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f2_div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995" y="1325880"/>
            <a:ext cx="815152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Tipos de dívida descritos por Sculley et al. (2015).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Tipos de dívida técnica em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Emaranhamento (CACE)</a:t>
            </a:r>
            <a:r>
              <a:rPr sz="2800" b="0">
                <a:solidFill>
                  <a:srgbClr val="1F2937"/>
                </a:solidFill>
                <a:latin typeface="Calibri"/>
              </a:rPr>
              <a:t>: mexer em um muda todos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Dependências de dados instáveis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Ciclos de realimentação escondidos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Consumidores não declarados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Código de cola</a:t>
            </a:r>
            <a:r>
              <a:rPr sz="2800" b="0">
                <a:solidFill>
                  <a:srgbClr val="1F2937"/>
                </a:solidFill>
                <a:latin typeface="Calibri"/>
              </a:rPr>
              <a:t> e selva de pipelines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Dívida de configuração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Mudanças no mundo externo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NO SEU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424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Calibri"/>
              </a:rPr>
              <a:t>O aluno que só estuda o que já sabe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 i="0">
                <a:solidFill>
                  <a:srgbClr val="1F2937"/>
                </a:solidFill>
                <a:latin typeface="Calibri"/>
              </a:rPr>
              <a:t>O professor vê que ele vai bem e dá mais exercícios do mesmo assunto. Ele nunca aprende o resto.
É o ciclo de realimentação: o recomendador só mostra o popular, e só o popular recebe cliques.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Simulação: 10 itens iguais, 3 exibidos por visita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8992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424160" cy="37490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Cliques por item: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[518 522 511   1   1   1   1   1   1   1]</a:t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/>
            <a:r>
              <a:rPr sz="1900" b="0" i="0">
                <a:solidFill>
                  <a:srgbClr val="E2E8F0"/>
                </a:solidFill>
                <a:latin typeface="Consolas"/>
              </a:rPr>
              <a:t>Participação do item mais clicado: 0.34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Qualidade idêntica, e três itens ficam com tudo. O sistema criou a desigualdade sozinho.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ML Test Score (Breck et al., 2017)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28 testes</a:t>
            </a:r>
            <a:r>
              <a:rPr sz="2800" b="0">
                <a:solidFill>
                  <a:srgbClr val="1F2937"/>
                </a:solidFill>
                <a:latin typeface="Calibri"/>
              </a:rPr>
              <a:t> em 4 grupos: dados, modelo, infraestrutura, monitoramento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Pontuação por item: </a:t>
            </a:r>
            <a:r>
              <a:rPr sz="2800" b="1">
                <a:solidFill>
                  <a:srgbClr val="4F46E5"/>
                </a:solidFill>
                <a:latin typeface="Calibri"/>
              </a:rPr>
              <a:t>0</a:t>
            </a:r>
            <a:r>
              <a:rPr sz="2800" b="0">
                <a:solidFill>
                  <a:srgbClr val="1F2937"/>
                </a:solidFill>
                <a:latin typeface="Calibri"/>
              </a:rPr>
              <a:t> (não faz), </a:t>
            </a:r>
            <a:r>
              <a:rPr sz="2800" b="1">
                <a:solidFill>
                  <a:srgbClr val="4F46E5"/>
                </a:solidFill>
                <a:latin typeface="Calibri"/>
              </a:rPr>
              <a:t>0,5</a:t>
            </a:r>
            <a:r>
              <a:rPr sz="2800" b="0">
                <a:solidFill>
                  <a:srgbClr val="1F2937"/>
                </a:solidFill>
                <a:latin typeface="Calibri"/>
              </a:rPr>
              <a:t> (manual e documentado), </a:t>
            </a:r>
            <a:r>
              <a:rPr sz="2800" b="1">
                <a:solidFill>
                  <a:srgbClr val="4F46E5"/>
                </a:solidFill>
                <a:latin typeface="Calibri"/>
              </a:rPr>
              <a:t>1</a:t>
            </a:r>
            <a:r>
              <a:rPr sz="2800" b="0">
                <a:solidFill>
                  <a:srgbClr val="1F2937"/>
                </a:solidFill>
                <a:latin typeface="Calibri"/>
              </a:rPr>
              <a:t> (automático)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Nota final = </a:t>
            </a:r>
            <a:r>
              <a:rPr sz="2800" b="1">
                <a:solidFill>
                  <a:srgbClr val="4F46E5"/>
                </a:solidFill>
                <a:latin typeface="Calibri"/>
              </a:rPr>
              <a:t>o mínimo</a:t>
            </a:r>
            <a:r>
              <a:rPr sz="2800" b="0">
                <a:solidFill>
                  <a:srgbClr val="1F2937"/>
                </a:solidFill>
                <a:latin typeface="Calibri"/>
              </a:rPr>
              <a:t> dos grupos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A corrente é tão forte quanto o elo mais fraco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Arquitetura de referência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pic>
        <p:nvPicPr>
          <p:cNvPr id="8" name="Picture 7" descr="f2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952" y="1325880"/>
            <a:ext cx="6575614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Os componentes que estudaremos ao longo do livro.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Escada de maturidade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pic>
        <p:nvPicPr>
          <p:cNvPr id="8" name="Picture 7" descr="f2_matu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40" y="1325880"/>
            <a:ext cx="76858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 i="1">
                <a:solidFill>
                  <a:srgbClr val="6B7280"/>
                </a:solidFill>
                <a:latin typeface="Calibri"/>
              </a:rPr>
              <a:t>Cada degrau resolve a dor do anterior.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Reprodutibilidade, rastreabilidade, linhagem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Reprodutibilidade</a:t>
            </a:r>
            <a:r>
              <a:rPr sz="2800" b="0">
                <a:solidFill>
                  <a:srgbClr val="1F2937"/>
                </a:solidFill>
                <a:latin typeface="Calibri"/>
              </a:rPr>
              <a:t>: mesmo resultado com mesmo código e dados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Rastreabilidade</a:t>
            </a:r>
            <a:r>
              <a:rPr sz="2800" b="0">
                <a:solidFill>
                  <a:srgbClr val="1F2937"/>
                </a:solidFill>
                <a:latin typeface="Calibri"/>
              </a:rPr>
              <a:t>: saber o que gerou cada modelo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1">
                <a:solidFill>
                  <a:srgbClr val="4F46E5"/>
                </a:solidFill>
                <a:latin typeface="Calibri"/>
              </a:rPr>
              <a:t>Linhagem</a:t>
            </a:r>
            <a:r>
              <a:rPr sz="2800" b="0">
                <a:solidFill>
                  <a:srgbClr val="1F2937"/>
                </a:solidFill>
                <a:latin typeface="Calibri"/>
              </a:rPr>
              <a:t>: o caminho completo, da origem ao destino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4F46E5"/>
                </a:solidFill>
                <a:latin typeface="Calibri"/>
              </a:rPr>
              <a:t>▪  </a:t>
            </a:r>
            <a:r>
              <a:rPr sz="2800" b="0">
                <a:solidFill>
                  <a:srgbClr val="1F2937"/>
                </a:solidFill>
                <a:latin typeface="Calibri"/>
              </a:rPr>
              <a:t>Permitem responder: “por que o sistema negou meu crédito?”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Comece simples. Evolua pela dor mais cara.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0" i="1">
                <a:solidFill>
                  <a:srgbClr val="FDE68A"/>
                </a:solidFill>
                <a:latin typeface="Calibri"/>
              </a:rPr>
              <a:t>Um projeto pequeno pode ser perfeito no nível 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EC4899"/>
                </a:solidFill>
                <a:latin typeface="Calibri"/>
              </a:rPr>
              <a:t>MEMORIZE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F2937"/>
                </a:solidFill>
                <a:latin typeface="Calibri"/>
              </a:rPr>
              <a:t>O que levar deste capítulo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ciclo de vida de ML tem nove etapas (AMERSHI et al., 2019) e funciona como um laço.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Comece pelo problema de negócio, pela métrica e por uma linha de base simples.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Dívida técnica é o custo futuro de atalhos de hoje. Em ML, inclui emaranhamento (CACE), dependências de dados, ciclos de realimentação e consumidores não declarados.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O ML Test Score tem 28 itens em 4 grupos; a nota é o mínimo dos grupos.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Uma arquitetura de referência tem: dados, atributos, orquestração, rastreamento, registro, CI/CD, serviço e monitoramento.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C4899"/>
                </a:solidFill>
                <a:latin typeface="Calibri"/>
              </a:rPr>
              <a:t>▪  </a:t>
            </a:r>
            <a:r>
              <a:rPr sz="1900" b="0">
                <a:solidFill>
                  <a:srgbClr val="1F2937"/>
                </a:solidFill>
                <a:latin typeface="Calibri"/>
              </a:rPr>
              <a:t>Avance por níveis de maturidade, resolvendo a dor mais cara primeiro.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320040" cy="67299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Hora de praticar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MLOps · Capítulo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12801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▪  </a:t>
            </a:r>
            <a:r>
              <a:rPr sz="2200" b="1">
                <a:solidFill>
                  <a:srgbClr val="4F46E5"/>
                </a:solidFill>
                <a:latin typeface="Calibri"/>
              </a:rPr>
              <a:t>30 questões de múltipla escolha</a:t>
            </a:r>
            <a:r>
              <a:rPr sz="2200" b="0">
                <a:solidFill>
                  <a:srgbClr val="1F2937"/>
                </a:solidFill>
                <a:latin typeface="Calibri"/>
              </a:rPr>
              <a:t> e </a:t>
            </a:r>
            <a:r>
              <a:rPr sz="2200" b="1">
                <a:solidFill>
                  <a:srgbClr val="4F46E5"/>
                </a:solidFill>
                <a:latin typeface="Calibri"/>
              </a:rPr>
              <a:t>20 discursivas</a:t>
            </a:r>
            <a:r>
              <a:rPr sz="2200" b="0">
                <a:solidFill>
                  <a:srgbClr val="1F2937"/>
                </a:solidFill>
                <a:latin typeface="Calibri"/>
              </a:rPr>
              <a:t> ao final do capítulo (gabarito no Apêndice A)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▪  </a:t>
            </a:r>
            <a:r>
              <a:rPr sz="2200" b="1">
                <a:solidFill>
                  <a:srgbClr val="4F46E5"/>
                </a:solidFill>
                <a:latin typeface="Calibri"/>
              </a:rPr>
              <a:t>Exercícios práticos em Python</a:t>
            </a:r>
            <a:r>
              <a:rPr sz="2200" b="0">
                <a:solidFill>
                  <a:srgbClr val="1F2937"/>
                </a:solidFill>
                <a:latin typeface="Calibri"/>
              </a:rPr>
              <a:t> com scikit-learn e as ferramentas do capítulo (soluções no Apêndice D)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▪  </a:t>
            </a:r>
            <a:r>
              <a:rPr sz="2200" b="1">
                <a:solidFill>
                  <a:srgbClr val="4F46E5"/>
                </a:solidFill>
                <a:latin typeface="Calibri"/>
              </a:rPr>
              <a:t>Projeto integrador do capítulo</a:t>
            </a:r>
            <a:r>
              <a:rPr sz="2200" b="0">
                <a:solidFill>
                  <a:srgbClr val="1F2937"/>
                </a:solidFill>
                <a:latin typeface="Calibri"/>
              </a:rPr>
              <a:t> (solução de referência no Apêndice E)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4F46E5"/>
                </a:solidFill>
                <a:latin typeface="Calibri"/>
              </a:rPr>
              <a:t>▪  </a:t>
            </a:r>
            <a:r>
              <a:rPr sz="2200" b="0">
                <a:solidFill>
                  <a:srgbClr val="1F2937"/>
                </a:solidFill>
                <a:latin typeface="Calibri"/>
              </a:rPr>
              <a:t>Dica de estudo: </a:t>
            </a:r>
            <a:r>
              <a:rPr sz="2200" b="1">
                <a:solidFill>
                  <a:srgbClr val="4F46E5"/>
                </a:solidFill>
                <a:latin typeface="Calibri"/>
              </a:rPr>
              <a:t>rode, altere um parâmetro por vez e explique em voz alta o que mudou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