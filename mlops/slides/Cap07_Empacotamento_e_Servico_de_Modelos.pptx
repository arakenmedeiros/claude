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Empacotamento e Serviço de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Escolher entre previsão em lote, em tempo real, em fluxo contínuo e embarcada.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Definir um contrato de entrada e saída com validação automática.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Construir e testar uma API de previsão com FastAPI e Pydantic.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Medir latência com percentis (p50, p95, p99) e interpretá-los.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o que são contêineres e ler um Dockerfile.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Implementar uma previsão em lote idempotente.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10B981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Aplicar boas práticas de segurança no serviço de modelos.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restaurante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A cozinha pode ser perfeita, mas sem garçom, cardápio e balcão nenhum cliente é atendido.
O serviço liga o modelo a quem precisa.
E o cardápio é um contrato.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Quatro padrões de serviço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7_padr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412" y="1325880"/>
            <a:ext cx="853469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Lote costuma ser mais simples, barato e seguro (Huyen, 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A resposta pode esperar até amanhã?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Se sim, comece por previsões em lote.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contrato de entrada e saída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Campos, tipos, intervalos, categorias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Formato da resposta e </a:t>
            </a:r>
            <a:r>
              <a:rPr sz="2800" b="1">
                <a:solidFill>
                  <a:srgbClr val="10B981"/>
                </a:solidFill>
                <a:latin typeface="Calibri"/>
              </a:rPr>
              <a:t>versão do modelo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Erros claros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Pydantic</a:t>
            </a:r>
            <a:r>
              <a:rPr sz="2800" b="0">
                <a:solidFill>
                  <a:srgbClr val="1F2937"/>
                </a:solidFill>
                <a:latin typeface="Calibri"/>
              </a:rPr>
              <a:t>: o contrato como classe, validado antes do modelo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Contrato com Pydantic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class Cliente(BaseModel):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idade: float = Field(ge=18, le=100)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renda: float = Field(ge=0, le=1_000_000)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plano: Literal["basico", "padrao", "premium"]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cidade: Literal["Natal", "Recife", "Fortaleza"]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idade = -5 ou plano = “ultra”: rejeitado antes de chegar ao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Caminho de um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7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3" y="1325880"/>
            <a:ext cx="1050535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JSON entra, contrato valida, pipeline prevê, resposta volta com a versão.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API de previsão com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`GET /saude`: vivo? qual modelo?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`POST /previsao`: um cliente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Modelo carregado </a:t>
            </a:r>
            <a:r>
              <a:rPr sz="2800" b="1">
                <a:solidFill>
                  <a:srgbClr val="10B981"/>
                </a:solidFill>
                <a:latin typeface="Calibri"/>
              </a:rPr>
              <a:t>uma vez</a:t>
            </a:r>
            <a:r>
              <a:rPr sz="2800" b="0">
                <a:solidFill>
                  <a:srgbClr val="1F2937"/>
                </a:solidFill>
                <a:latin typeface="Calibri"/>
              </a:rPr>
              <a:t>, na partida (`lifespan`)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Receba a </a:t>
            </a:r>
            <a:r>
              <a:rPr sz="2800" b="1">
                <a:solidFill>
                  <a:srgbClr val="10B981"/>
                </a:solidFill>
                <a:latin typeface="Calibri"/>
              </a:rPr>
              <a:t>linha crua</a:t>
            </a:r>
            <a:r>
              <a:rPr sz="2800" b="0">
                <a:solidFill>
                  <a:srgbClr val="1F2937"/>
                </a:solidFill>
                <a:latin typeface="Calibri"/>
              </a:rPr>
              <a:t>: o pipeline cuida do resto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Código </a:t>
            </a:r>
            <a:r>
              <a:rPr sz="2800" b="1">
                <a:solidFill>
                  <a:srgbClr val="10B981"/>
                </a:solidFill>
                <a:latin typeface="Calibri"/>
              </a:rPr>
              <a:t>422</a:t>
            </a:r>
            <a:r>
              <a:rPr sz="2800" b="0">
                <a:solidFill>
                  <a:srgbClr val="1F2937"/>
                </a:solidFill>
                <a:latin typeface="Calibri"/>
              </a:rPr>
              <a:t>: dados violam o contrato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Testando sem subir servidor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with TestClient(criar_app()) as cliente: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r = cliente.post("/previsao", json=ok)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200 {'probabilidade_cancelar': 0.74, 'versao_modelo': '1.0.0'}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r = cliente.post("/previsao", json=dict(ok, idade=-5))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422 Input should be greater than or equal to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O TestClient simula HTTP dentro do programa: perfeito para a 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Restaurante: média de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Mas 1 em cada 100 clientes espera 1 hora.
Esses clientes existem.
Por isso olhamos percentis, não só a média.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Latência: p50, p95, p99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p50</a:t>
            </a:r>
            <a:r>
              <a:rPr sz="2800" b="0">
                <a:solidFill>
                  <a:srgbClr val="1F2937"/>
                </a:solidFill>
                <a:latin typeface="Calibri"/>
              </a:rPr>
              <a:t>: metade dos pedidos é mais rápida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p95</a:t>
            </a:r>
            <a:r>
              <a:rPr sz="2800" b="0">
                <a:solidFill>
                  <a:srgbClr val="1F2937"/>
                </a:solidFill>
                <a:latin typeface="Calibri"/>
              </a:rPr>
              <a:t>: 95% são mais rápidos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p99</a:t>
            </a:r>
            <a:r>
              <a:rPr sz="2800" b="0">
                <a:solidFill>
                  <a:srgbClr val="1F2937"/>
                </a:solidFill>
                <a:latin typeface="Calibri"/>
              </a:rPr>
              <a:t>: a cauda, a pior experiência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Objetivo típico (SLO): “p95 abaixo de 100 ms” (Beyer et al., 2016)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Lote: 300 previsões em </a:t>
            </a:r>
            <a:r>
              <a:rPr sz="2800" b="1">
                <a:solidFill>
                  <a:srgbClr val="10B981"/>
                </a:solidFill>
                <a:latin typeface="Calibri"/>
              </a:rPr>
              <a:t>14 ms</a:t>
            </a:r>
            <a:r>
              <a:rPr sz="2800" b="0">
                <a:solidFill>
                  <a:srgbClr val="1F2937"/>
                </a:solidFill>
                <a:latin typeface="Calibri"/>
              </a:rPr>
              <a:t> × 3.795 ms uma a uma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marmita lacrada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O contêiner leva dentro o programa e tudo de que ele precisa.
Compartilha o núcleo do sistema, então é leve (Merkel, 2014).
Imagem = molde. Contêiner = marmita em uso. Dockerfile = receita.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Camadas da imagem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f7_conte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369" y="1325880"/>
            <a:ext cx="7576781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O que muda pouco fica embaixo, para aproveitar o cache.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Boas práticas com imagens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Imagem base pequena e </a:t>
            </a:r>
            <a:r>
              <a:rPr sz="2800" b="1">
                <a:solidFill>
                  <a:srgbClr val="10B981"/>
                </a:solidFill>
                <a:latin typeface="Calibri"/>
              </a:rPr>
              <a:t>versões fixas</a:t>
            </a:r>
            <a:r>
              <a:rPr sz="2800" b="0">
                <a:solidFill>
                  <a:srgbClr val="1F2937"/>
                </a:solidFill>
                <a:latin typeface="Calibri"/>
              </a:rPr>
              <a:t> (nunca `latest`)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Dependências </a:t>
            </a:r>
            <a:r>
              <a:rPr sz="2800" b="1">
                <a:solidFill>
                  <a:srgbClr val="10B981"/>
                </a:solidFill>
                <a:latin typeface="Calibri"/>
              </a:rPr>
              <a:t>antes</a:t>
            </a:r>
            <a:r>
              <a:rPr sz="2800" b="0">
                <a:solidFill>
                  <a:srgbClr val="1F2937"/>
                </a:solidFill>
                <a:latin typeface="Calibri"/>
              </a:rPr>
              <a:t> do código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1">
                <a:solidFill>
                  <a:srgbClr val="10B981"/>
                </a:solidFill>
                <a:latin typeface="Calibri"/>
              </a:rPr>
              <a:t>Sem segredos</a:t>
            </a:r>
            <a:r>
              <a:rPr sz="2800" b="0">
                <a:solidFill>
                  <a:srgbClr val="1F2937"/>
                </a:solidFill>
                <a:latin typeface="Calibri"/>
              </a:rPr>
              <a:t> na imagem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Usuário comum, não administrador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Etiquete com versão do código e do modelo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Previsão em lote idempotente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Rodar duas vezes = </a:t>
            </a:r>
            <a:r>
              <a:rPr sz="2800" b="1">
                <a:solidFill>
                  <a:srgbClr val="10B981"/>
                </a:solidFill>
                <a:latin typeface="Calibri"/>
              </a:rPr>
              <a:t>mesmo resultado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Saída nomeada pela </a:t>
            </a:r>
            <a:r>
              <a:rPr sz="2800" b="1">
                <a:solidFill>
                  <a:srgbClr val="10B981"/>
                </a:solidFill>
                <a:latin typeface="Calibri"/>
              </a:rPr>
              <a:t>data de referência</a:t>
            </a:r>
            <a:r>
              <a:rPr sz="2800" b="0">
                <a:solidFill>
                  <a:srgbClr val="1F2937"/>
                </a:solidFill>
                <a:latin typeface="Calibri"/>
              </a:rPr>
              <a:t> e sobrescrita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Registre manifesto: versão, linhas, hash da entrada e da saída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Processe por blocos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Como lançar um modelo novo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Menor risco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0B981"/>
                </a:solidFill>
                <a:latin typeface="Calibri"/>
              </a:rPr>
              <a:t>▪  </a:t>
            </a:r>
            <a:r>
              <a:rPr sz="1900" b="1">
                <a:solidFill>
                  <a:srgbClr val="10B981"/>
                </a:solidFill>
                <a:latin typeface="Calibri"/>
              </a:rPr>
              <a:t>Sombra</a:t>
            </a:r>
            <a:r>
              <a:rPr sz="1900" b="0">
                <a:solidFill>
                  <a:srgbClr val="1F2937"/>
                </a:solidFill>
                <a:latin typeface="Calibri"/>
              </a:rPr>
              <a:t>: recebe cópia do tráfego, respostas não usadas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0B981"/>
                </a:solidFill>
                <a:latin typeface="Calibri"/>
              </a:rPr>
              <a:t>▪  </a:t>
            </a:r>
            <a:r>
              <a:rPr sz="1900" b="1">
                <a:solidFill>
                  <a:srgbClr val="10B981"/>
                </a:solidFill>
                <a:latin typeface="Calibri"/>
              </a:rPr>
              <a:t>Canário</a:t>
            </a:r>
            <a:r>
              <a:rPr sz="1900" b="0">
                <a:solidFill>
                  <a:srgbClr val="1F2937"/>
                </a:solidFill>
                <a:latin typeface="Calibri"/>
              </a:rPr>
              <a:t>: pequena fração do tráfego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0B981"/>
                </a:solidFill>
                <a:latin typeface="Calibri"/>
              </a:rPr>
              <a:t>▪  </a:t>
            </a:r>
            <a:r>
              <a:rPr sz="1900" b="1">
                <a:solidFill>
                  <a:srgbClr val="10B981"/>
                </a:solidFill>
                <a:latin typeface="Calibri"/>
              </a:rPr>
              <a:t>Azul-verde</a:t>
            </a:r>
            <a:r>
              <a:rPr sz="1900" b="0">
                <a:solidFill>
                  <a:srgbClr val="1F2937"/>
                </a:solidFill>
                <a:latin typeface="Calibri"/>
              </a:rPr>
              <a:t>: reversão rápida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2120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Maior risco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1">
                <a:solidFill>
                  <a:srgbClr val="F59E0B"/>
                </a:solidFill>
                <a:latin typeface="Calibri"/>
              </a:rPr>
              <a:t>Substituição direta</a:t>
            </a:r>
            <a:r>
              <a:rPr sz="1900" b="0">
                <a:solidFill>
                  <a:srgbClr val="1F2937"/>
                </a:solidFill>
                <a:latin typeface="Calibri"/>
              </a:rPr>
              <a:t>: tudo de uma vez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Segurança no serviço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Valide tudo; </a:t>
            </a:r>
            <a:r>
              <a:rPr sz="2800" b="1">
                <a:solidFill>
                  <a:srgbClr val="10B981"/>
                </a:solidFill>
                <a:latin typeface="Calibri"/>
              </a:rPr>
              <a:t>autentique</a:t>
            </a:r>
            <a:r>
              <a:rPr sz="2800" b="0">
                <a:solidFill>
                  <a:srgbClr val="1F2937"/>
                </a:solidFill>
                <a:latin typeface="Calibri"/>
              </a:rPr>
              <a:t> e limite a taxa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Segredos em cofre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Atualize dependências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Cuidado com detalhes demais: inferência de associação (Shokri et al., 2017)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Registre acessos para auditoria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Escolha o padrão de entrega pelo prazo da decisão: lote, tempo real, fluxo contínuo ou embarcado. Lote é o mais simples.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Defina um contrato de entrada e saída (Pydantic) para rejeitar dados ruins cedo.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Em FastAPI: carregue o modelo uma vez, devolva a versão na resposta e teste com `TestClient`.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Meça percentis de latência (p50, p95, p99), e não só a média. Lotes são mais eficientes que pedidos únicos.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Contêineres empacotam o ambiente: imagem base pequena, versões fixas, sem segredos, usuário comum.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Em lote, garanta idempotência e registre a execução.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Segurança: valide, autentique, limite a taxa, proteja segredos e atualize dependências.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10B981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1">
                <a:solidFill>
                  <a:srgbClr val="10B981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10B981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