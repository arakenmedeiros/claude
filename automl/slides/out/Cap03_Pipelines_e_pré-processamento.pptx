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Mensagem: dados sujos e vazamento são os maiores inimigos de um bom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Lembre que o AutoML otimiza o pipeline inteiro, não só o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ausentes, escalas diferentes e categorias em texto: três tipos de sujeira, três ferramentas.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Inserimos ausentes e uma coluna de texto para praticar. O scikit-learn se recusa a treinar com NaN: 'Input X contains NaN'.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Estratégia (média, mediana) é um hiperparâmetro do pipeline que o AutoML pode buscar.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prolina vale centenas e o álcool dezenas; num algoritmo de distância, a prolina domina.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real no Wine. Escala importa para k-vizinhos, SVM, regressão e redes; não importa para árvores.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Evita inventar uma ordem entre categorias (vermelho &lt; azul &lt; verde não faz sentido).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simples para fixar.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Pipeline: sequência de etapas que se comporta como um único modelo (fit, predict).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real: validação cruzada de 5 partes com o pipeline completo; média 0,972.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o scaler vê a validação, o modelo 'viu' informação do futuro. A nota fica falsamente 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Conecte ao próximo experimento.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Poucos exemplos e muitos atributos de ruído. Selecionar atributos com todos os dados antes de validar 'descobre' padrões que não existem. Dentro do pipeline, a nota cai para o nível realista.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regra mais importante do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cada etapa tem 3 opções e há 5 etapas, são 243 pipelines. O AutoML busca nesse espaço; use a notação etapa__parametro.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GridSearchCV sobre o pipeline inteiro: 18 combinações.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 real: classes [0,0,1,1,2,2]; original e recarregado deram as mesmas previsões.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O scaler aprende média e desvio também da validação.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C. Árvores comparam cada atributo com um limiar, independentemente da escala. (Dê 30 segundos para a turma pensar antes de revelar.)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Repasse.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Soluções nos Apêndices D e 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começa a Parte II: como buscar.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AutoML: Teoria e Prática  ·  Cap. 3 — Pipelines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B4FC"/>
                </a:solidFill>
              </a:rPr>
              <a:t>AutoML: Teoria e Prática  ·  Cap. 3 — Pipelines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chemeClr val="accent1"/>
                </a:solidFill>
              </a:rPr>
              <a:t>CAPÍTULO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Parte I — Fundamentos</a:t>
            </a:r>
            <a:endParaRPr lang="en-US" sz="1400" dirty="0"/>
          </a:p>
        </p:txBody>
      </p:sp>
      <p:sp>
        <p:nvSpPr>
          <p:cNvPr id="4" name="Título"/>
          <p:cNvSpPr txBox="1"/>
          <p:nvPr/>
        </p:nvSpPr>
        <p:spPr>
          <a:xfrm>
            <a:off x="548640" y="123444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 e pré-processamento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C7D2FE"/>
                </a:solidFill>
              </a:rPr>
              <a:t>Lavar a roupa antes de montar o modelo, sem espiar o futuro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B4FC"/>
                </a:solidFill>
              </a:rPr>
              <a:t>AutoML: Teoria e Prática  ·  Araken de Medeiros Santos</a:t>
            </a:r>
            <a:endParaRPr lang="en-US" sz="1200" dirty="0"/>
          </a:p>
        </p:txBody>
      </p:sp>
      <p:pic>
        <p:nvPicPr>
          <p:cNvPr id="7" name="Banner do capítulo" descr="Ilustração do capítulo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147303"/>
            <a:ext cx="9144000" cy="172187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3944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Tratar valores ausentes por imputação</a:t>
            </a:r>
            <a:endParaRPr lang="en-US" sz="1500" dirty="0"/>
          </a:p>
        </p:txBody>
      </p:sp>
      <p:sp>
        <p:nvSpPr>
          <p:cNvPr id="7" name="Cartão 2"/>
          <p:cNvSpPr/>
          <p:nvPr/>
        </p:nvSpPr>
        <p:spPr>
          <a:xfrm>
            <a:off x="4663440" y="1188720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00600" y="139446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00600" y="1394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394960" y="118872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Padronizar escalas e entender quando importa</a:t>
            </a:r>
            <a:endParaRPr lang="en-US" sz="1500" dirty="0"/>
          </a:p>
        </p:txBody>
      </p:sp>
      <p:sp>
        <p:nvSpPr>
          <p:cNvPr id="11" name="Cartão 3"/>
          <p:cNvSpPr/>
          <p:nvPr/>
        </p:nvSpPr>
        <p:spPr>
          <a:xfrm>
            <a:off x="45720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37286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Codificar categorias em texto (one-hot)</a:t>
            </a:r>
            <a:endParaRPr lang="en-US" sz="1500" dirty="0"/>
          </a:p>
        </p:txBody>
      </p:sp>
      <p:sp>
        <p:nvSpPr>
          <p:cNvPr id="15" name="Cartão 4"/>
          <p:cNvSpPr/>
          <p:nvPr/>
        </p:nvSpPr>
        <p:spPr>
          <a:xfrm>
            <a:off x="4663440" y="2167128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0600" y="237286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0060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394960" y="2167128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Montar pipelines e usar ColumnTransformer</a:t>
            </a:r>
            <a:endParaRPr lang="en-US" sz="1500" dirty="0"/>
          </a:p>
        </p:txBody>
      </p:sp>
      <p:sp>
        <p:nvSpPr>
          <p:cNvPr id="19" name="Cartão 5"/>
          <p:cNvSpPr/>
          <p:nvPr/>
        </p:nvSpPr>
        <p:spPr>
          <a:xfrm>
            <a:off x="45720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3351276"/>
            <a:ext cx="457200" cy="457200"/>
          </a:xfrm>
          <a:prstGeom prst="ellipse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Reconhecer e evitar o vazamento de dados</a:t>
            </a:r>
            <a:endParaRPr lang="en-US" sz="1500" dirty="0"/>
          </a:p>
        </p:txBody>
      </p:sp>
      <p:sp>
        <p:nvSpPr>
          <p:cNvPr id="23" name="Cartão 6"/>
          <p:cNvSpPr/>
          <p:nvPr/>
        </p:nvSpPr>
        <p:spPr>
          <a:xfrm>
            <a:off x="4663440" y="3145536"/>
            <a:ext cx="402336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0600" y="3351276"/>
            <a:ext cx="457200" cy="45720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00600" y="33512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3145536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Ver o pipeline como espaço de busca do AutoML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aula</a:t>
            </a:r>
            <a:endParaRPr lang="en-US" sz="3000" dirty="0"/>
          </a:p>
        </p:txBody>
      </p:sp>
      <p:sp>
        <p:nvSpPr>
          <p:cNvPr id="3" name="Número 1"/>
          <p:cNvSpPr/>
          <p:nvPr/>
        </p:nvSpPr>
        <p:spPr>
          <a:xfrm>
            <a:off x="457200" y="1188720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3.1–3.3</a:t>
            </a:r>
            <a:endParaRPr lang="en-US" sz="1600" dirty="0"/>
          </a:p>
        </p:txBody>
      </p:sp>
      <p:sp>
        <p:nvSpPr>
          <p:cNvPr id="5" name="Faixa 1"/>
          <p:cNvSpPr/>
          <p:nvPr/>
        </p:nvSpPr>
        <p:spPr>
          <a:xfrm>
            <a:off x="1463040" y="1188720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645920" y="118872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Dados sujos e seu custo</a:t>
            </a:r>
            <a:endParaRPr lang="en-US" sz="1700" dirty="0"/>
          </a:p>
        </p:txBody>
      </p:sp>
      <p:sp>
        <p:nvSpPr>
          <p:cNvPr id="7" name="Número 2"/>
          <p:cNvSpPr/>
          <p:nvPr/>
        </p:nvSpPr>
        <p:spPr>
          <a:xfrm>
            <a:off x="457200" y="1847088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84708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3.4–3.6</a:t>
            </a:r>
            <a:endParaRPr lang="en-US" sz="1600" dirty="0"/>
          </a:p>
        </p:txBody>
      </p:sp>
      <p:sp>
        <p:nvSpPr>
          <p:cNvPr id="9" name="Faixa 2"/>
          <p:cNvSpPr/>
          <p:nvPr/>
        </p:nvSpPr>
        <p:spPr>
          <a:xfrm>
            <a:off x="1463040" y="1847088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184708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Imputar, padronizar, codificar</a:t>
            </a:r>
            <a:endParaRPr lang="en-US" sz="1700" dirty="0"/>
          </a:p>
        </p:txBody>
      </p:sp>
      <p:sp>
        <p:nvSpPr>
          <p:cNvPr id="11" name="Número 3"/>
          <p:cNvSpPr/>
          <p:nvPr/>
        </p:nvSpPr>
        <p:spPr>
          <a:xfrm>
            <a:off x="457200" y="2505456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50545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3.7</a:t>
            </a:r>
            <a:endParaRPr lang="en-US" sz="1600" dirty="0"/>
          </a:p>
        </p:txBody>
      </p:sp>
      <p:sp>
        <p:nvSpPr>
          <p:cNvPr id="13" name="Faixa 3"/>
          <p:cNvSpPr/>
          <p:nvPr/>
        </p:nvSpPr>
        <p:spPr>
          <a:xfrm>
            <a:off x="1463040" y="2505456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45920" y="250545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Pipelines e ColumnTransformer</a:t>
            </a:r>
            <a:endParaRPr lang="en-US" sz="1700" dirty="0"/>
          </a:p>
        </p:txBody>
      </p:sp>
      <p:sp>
        <p:nvSpPr>
          <p:cNvPr id="15" name="Número 4"/>
          <p:cNvSpPr/>
          <p:nvPr/>
        </p:nvSpPr>
        <p:spPr>
          <a:xfrm>
            <a:off x="457200" y="3163824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16382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3.8</a:t>
            </a:r>
            <a:endParaRPr lang="en-US" sz="1600" dirty="0"/>
          </a:p>
        </p:txBody>
      </p:sp>
      <p:sp>
        <p:nvSpPr>
          <p:cNvPr id="17" name="Faixa 4"/>
          <p:cNvSpPr/>
          <p:nvPr/>
        </p:nvSpPr>
        <p:spPr>
          <a:xfrm>
            <a:off x="1463040" y="3163824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645920" y="316382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O perigo do vazamento</a:t>
            </a:r>
            <a:endParaRPr lang="en-US" sz="1700" dirty="0"/>
          </a:p>
        </p:txBody>
      </p:sp>
      <p:sp>
        <p:nvSpPr>
          <p:cNvPr id="19" name="Número 5"/>
          <p:cNvSpPr/>
          <p:nvPr/>
        </p:nvSpPr>
        <p:spPr>
          <a:xfrm>
            <a:off x="457200" y="3822192"/>
            <a:ext cx="914400" cy="566928"/>
          </a:xfrm>
          <a:prstGeom prst="roundRect">
            <a:avLst>
              <a:gd name="adj" fmla="val 1290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82219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3.9–3.12</a:t>
            </a:r>
            <a:endParaRPr lang="en-US" sz="1600" dirty="0"/>
          </a:p>
        </p:txBody>
      </p:sp>
      <p:sp>
        <p:nvSpPr>
          <p:cNvPr id="21" name="Faixa 5"/>
          <p:cNvSpPr/>
          <p:nvPr/>
        </p:nvSpPr>
        <p:spPr>
          <a:xfrm>
            <a:off x="1463040" y="3822192"/>
            <a:ext cx="722376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645920" y="382219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Pipeline como espaço de busca, salvar e reproduzir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lavanderia dos dados</a:t>
            </a:r>
            <a:endParaRPr lang="en-US" sz="3000" dirty="0"/>
          </a:p>
        </p:txBody>
      </p:sp>
      <p:pic>
        <p:nvPicPr>
          <p:cNvPr id="3" name="Figura" descr="A lavanderia dos dad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4574" y="1097280"/>
            <a:ext cx="5994851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Cada problema dos dados tem a sua ferramenta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dados reais são sujos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2331720"/>
          </a:xfrm>
          <a:prstGeom prst="roundRect">
            <a:avLst>
              <a:gd name="adj" fmla="val 313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Formato de X: (178, 14)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 ausentes por coluna: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alcohol       10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malic_acid     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flavanoids    11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proline       14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Colunas numéricas: 13 | colunas de texto: 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9776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Wine, com sujeira inserida de propósito, como no mundo real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Valores ausentes: imputar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Imputação: </a:t>
            </a:r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preencher o buraco com um valor razoável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Média ou mediana para números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Valor mais frequente para categorias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Descartar linhas desperdiça dados</a:t>
            </a:r>
            <a:endParaRPr lang="en-US" sz="20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Preencher o buraco, sem inventar demais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Escalas diferentes: a prolina grita mais alto</a:t>
            </a:r>
            <a:endParaRPr lang="en-US" sz="3000" dirty="0"/>
          </a:p>
        </p:txBody>
      </p:sp>
      <p:pic>
        <p:nvPicPr>
          <p:cNvPr id="3" name="Figura" descr="Escalas diferentes: a prolina grita mais al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3530" y="1097280"/>
            <a:ext cx="5836941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Padronizar = média 0 e desvio 1 para todos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efeito da padronização</a:t>
            </a:r>
            <a:endParaRPr lang="en-US" sz="3000" dirty="0"/>
          </a:p>
        </p:txBody>
      </p:sp>
      <p:sp>
        <p:nvSpPr>
          <p:cNvPr id="3" name="Cartão de número 1"/>
          <p:cNvSpPr/>
          <p:nvPr/>
        </p:nvSpPr>
        <p:spPr>
          <a:xfrm>
            <a:off x="457200" y="1188720"/>
            <a:ext cx="40005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00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0,691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37261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k-vizinhos sem padronizar</a:t>
            </a:r>
            <a:endParaRPr lang="en-US" sz="1400" dirty="0"/>
          </a:p>
        </p:txBody>
      </p:sp>
      <p:sp>
        <p:nvSpPr>
          <p:cNvPr id="6" name="Cartão de número 2"/>
          <p:cNvSpPr/>
          <p:nvPr/>
        </p:nvSpPr>
        <p:spPr>
          <a:xfrm>
            <a:off x="4686300" y="1188720"/>
            <a:ext cx="40005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86300" y="1280160"/>
            <a:ext cx="400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0,949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4823460" y="2468880"/>
            <a:ext cx="37261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k-vizinhos padronizado</a:t>
            </a:r>
            <a:endParaRPr lang="en-US" sz="1400" dirty="0"/>
          </a:p>
        </p:txBody>
      </p:sp>
      <p:sp>
        <p:nvSpPr>
          <p:cNvPr id="9" name="Conclusão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Uma linha de código vale 26 pontos de acurácia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Categorias em texto: one-hot</a:t>
            </a:r>
            <a:endParaRPr lang="en-US" sz="3000" dirty="0"/>
          </a:p>
        </p:txBody>
      </p:sp>
      <p:pic>
        <p:nvPicPr>
          <p:cNvPr id="3" name="Figura" descr="Categorias em texto: one-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0535" y="1097280"/>
            <a:ext cx="7002930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Cada categoria vira uma coluna de 0 ou 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não numerar as cores?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Se você numera vermelho=1, azul=2, verde=3, o modelo acha que verde vale o triplo do vermelho. Cores não têm ordem.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One-hot cria uma coluna binária por categoria, sem relação de ordem.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ColumnTransformer: cada coluna com o seu tratamento</a:t>
            </a:r>
            <a:endParaRPr lang="en-US" sz="3000" dirty="0"/>
          </a:p>
        </p:txBody>
      </p:sp>
      <p:pic>
        <p:nvPicPr>
          <p:cNvPr id="3" name="Figura" descr="ColumnTransformer: cada coluna com o seu tratamen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9677" y="1097280"/>
            <a:ext cx="5384646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Números e textos recebem preparos diferentes, em um só pipeline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completo em ação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621792"/>
          </a:xfrm>
          <a:prstGeom prst="roundRect">
            <a:avLst>
              <a:gd name="adj" fmla="val 1176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Notas: [0.972 0.944 1.    0.971 0.971] | média = 0.972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26771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Imputar → padronizar → codificar → modelo, tudo numa só chamada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Vazamento de dados: espiar o gabarito</a:t>
            </a:r>
            <a:endParaRPr lang="en-US" sz="3000" dirty="0"/>
          </a:p>
        </p:txBody>
      </p:sp>
      <p:pic>
        <p:nvPicPr>
          <p:cNvPr id="3" name="Figura" descr="Vazamento de dados: espiar o gabari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0423" y="1097280"/>
            <a:ext cx="5723155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Calcular a escala com todos os dados antes de dividir é trapaça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prova com o gabarito na mesa</a:t>
            </a:r>
            <a:endParaRPr lang="en-US" sz="3000" dirty="0"/>
          </a:p>
        </p:txBody>
      </p:sp>
      <p:sp>
        <p:nvSpPr>
          <p:cNvPr id="3" name="Círculo analogia"/>
          <p:cNvSpPr/>
          <p:nvPr/>
        </p:nvSpPr>
        <p:spPr>
          <a:xfrm>
            <a:off x="548640" y="1371600"/>
            <a:ext cx="1371600" cy="13716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4" name="Ícone analogia" descr="analog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1714500"/>
            <a:ext cx="685800" cy="685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9456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chemeClr val="accent4"/>
                </a:solidFill>
              </a:rPr>
              <a:t>ANALOGIA</a:t>
            </a:r>
            <a:endParaRPr lang="en-US" sz="1200" dirty="0"/>
          </a:p>
        </p:txBody>
      </p:sp>
      <p:sp>
        <p:nvSpPr>
          <p:cNvPr id="6" name="Texto da analogia"/>
          <p:cNvSpPr txBox="1"/>
          <p:nvPr/>
        </p:nvSpPr>
        <p:spPr>
          <a:xfrm>
            <a:off x="2194560" y="160020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i="1" dirty="0">
                <a:solidFill>
                  <a:schemeClr val="bg1"/>
                </a:solidFill>
              </a:rPr>
              <a:t>Se o aluno viu as respostas enquanto estudava, a nota alta não prova nada sobre o que ele sabe.</a:t>
            </a:r>
            <a:endParaRPr lang="en-US" sz="2100" dirty="0"/>
          </a:p>
        </p:txBody>
      </p:sp>
      <p:sp>
        <p:nvSpPr>
          <p:cNvPr id="7" name="Tradução técnica"/>
          <p:cNvSpPr/>
          <p:nvPr/>
        </p:nvSpPr>
        <p:spPr>
          <a:xfrm>
            <a:off x="548640" y="3246120"/>
            <a:ext cx="8138160" cy="123444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246120"/>
            <a:ext cx="7680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termos técnicos: </a:t>
            </a:r>
            <a:r>
              <a:rPr lang="en-US" sz="1600" dirty="0">
                <a:solidFill>
                  <a:schemeClr val="bg1"/>
                </a:solidFill>
              </a:rPr>
              <a:t>Qualquer etapa que aprende dos dados (escala, imputação, seleção de atributos) deve ser ajustada só no treino de cada partição.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preço do vazamento: dados de ruído puro</a:t>
            </a:r>
            <a:endParaRPr lang="en-US" sz="3000" dirty="0"/>
          </a:p>
        </p:txBody>
      </p:sp>
      <p:sp>
        <p:nvSpPr>
          <p:cNvPr id="3" name="Cartão de número 1"/>
          <p:cNvSpPr/>
          <p:nvPr/>
        </p:nvSpPr>
        <p:spPr>
          <a:xfrm>
            <a:off x="457200" y="1188720"/>
            <a:ext cx="40005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400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0,780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37261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seleção de atributos fora do pipeline (errado)</a:t>
            </a:r>
            <a:endParaRPr lang="en-US" sz="1400" dirty="0"/>
          </a:p>
        </p:txBody>
      </p:sp>
      <p:sp>
        <p:nvSpPr>
          <p:cNvPr id="6" name="Cartão de número 2"/>
          <p:cNvSpPr/>
          <p:nvPr/>
        </p:nvSpPr>
        <p:spPr>
          <a:xfrm>
            <a:off x="4686300" y="1188720"/>
            <a:ext cx="40005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686300" y="1280160"/>
            <a:ext cx="40005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0,590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4823460" y="2468880"/>
            <a:ext cx="37261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seleção dentro do pipeline (certo)</a:t>
            </a:r>
            <a:endParaRPr lang="en-US" sz="1400" dirty="0"/>
          </a:p>
        </p:txBody>
      </p:sp>
      <p:sp>
        <p:nvSpPr>
          <p:cNvPr id="9" name="Conclusão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1578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703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 dados sem sinal algum, o vazamento inventou 18 pontos de acurácia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de ouro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Tudo que aprende dos dados fica dentro do pipeline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Ajuste só no treino de cada partição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Teste e validação só recebem transformações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Vale para escala, imputação, seleção, codificação</a:t>
            </a:r>
            <a:endParaRPr lang="en-US" sz="20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Dentro do pipeline, sempre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pipeline como espaço de busca</a:t>
            </a:r>
            <a:endParaRPr lang="en-US" sz="3000" dirty="0"/>
          </a:p>
        </p:txBody>
      </p:sp>
      <p:pic>
        <p:nvPicPr>
          <p:cNvPr id="3" name="Figura" descr="O pipeline como espaço de bus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1195" y="1097280"/>
            <a:ext cx="5261610" cy="2834640"/>
          </a:xfrm>
          <a:prstGeom prst="rect">
            <a:avLst/>
          </a:prstGeom>
        </p:spPr>
      </p:pic>
      <p:sp>
        <p:nvSpPr>
          <p:cNvPr id="4" name="Frase de impacto"/>
          <p:cNvSpPr/>
          <p:nvPr/>
        </p:nvSpPr>
        <p:spPr>
          <a:xfrm>
            <a:off x="914400" y="4069080"/>
            <a:ext cx="7315200" cy="566928"/>
          </a:xfrm>
          <a:prstGeom prst="roundRect">
            <a:avLst>
              <a:gd name="adj" fmla="val 4838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406908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Poucas opções por etapa, milhares de pipelines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dentro do pipeline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SAÍDA REAL (executada na elaboração do livro)</a:t>
            </a:r>
            <a:endParaRPr lang="en-US" sz="1200" dirty="0"/>
          </a:p>
        </p:txBody>
      </p:sp>
      <p:sp>
        <p:nvSpPr>
          <p:cNvPr id="4" name="Quadro de saída"/>
          <p:cNvSpPr/>
          <p:nvPr/>
        </p:nvSpPr>
        <p:spPr>
          <a:xfrm>
            <a:off x="457200" y="1463040"/>
            <a:ext cx="8229600" cy="1645920"/>
          </a:xfrm>
          <a:prstGeom prst="roundRect">
            <a:avLst>
              <a:gd name="adj" fmla="val 4444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Saída"/>
          <p:cNvSpPr txBox="1"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Combinações testadas: 18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Melhor nota de validação: 0.977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modelo__C = 0.1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preparo__num__escala = StandardScaler()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preparo__num__imputar__strategy = mean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918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 busca escolheu escala, imputação e C ao mesmo tempo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Salvar e reproduzir</a:t>
            </a:r>
            <a:endParaRPr lang="en-US" sz="3000" dirty="0"/>
          </a:p>
        </p:txBody>
      </p:sp>
      <p:sp>
        <p:nvSpPr>
          <p:cNvPr id="3" name="Tópicos"/>
          <p:cNvSpPr txBox="1"/>
          <p:nvPr/>
        </p:nvSpPr>
        <p:spPr>
          <a:xfrm>
            <a:off x="457200" y="1188720"/>
            <a:ext cx="47548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Salve o pipeline completo, não só o modelo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Fixe sementes (random_state)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Registre versões das bibliotecas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Previsões do recarregado = previsões do original</a:t>
            </a:r>
            <a:endParaRPr lang="en-US" sz="2000" dirty="0"/>
          </a:p>
        </p:txBody>
      </p:sp>
      <p:sp>
        <p:nvSpPr>
          <p:cNvPr id="4" name="Cartão de destaque"/>
          <p:cNvSpPr/>
          <p:nvPr/>
        </p:nvSpPr>
        <p:spPr>
          <a:xfrm>
            <a:off x="5486400" y="1188720"/>
            <a:ext cx="3200400" cy="3429000"/>
          </a:xfrm>
          <a:prstGeom prst="roundRect">
            <a:avLst>
              <a:gd name="adj" fmla="val 428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írculo destaque"/>
          <p:cNvSpPr/>
          <p:nvPr/>
        </p:nvSpPr>
        <p:spPr>
          <a:xfrm>
            <a:off x="6720840" y="1508760"/>
            <a:ext cx="731520" cy="73152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Ícone destaque" descr="destaq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916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715000" y="2377440"/>
            <a:ext cx="27432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Reprodutível é auditável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Qual é a consequência de padronizar com todos os dados antes de dividir?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Nada: é equivalente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Vazamento: a validação influencia o treino e a nota fica otimista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modelo fica mais lento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Os atributos são removidos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Quiz-relâmpago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Para qual algoritmo a escala dos atributos NÃO importa?</a:t>
            </a:r>
            <a:endParaRPr lang="en-US" sz="2000" dirty="0"/>
          </a:p>
        </p:txBody>
      </p:sp>
      <p:sp>
        <p:nvSpPr>
          <p:cNvPr id="4" name="Alternativa A"/>
          <p:cNvSpPr/>
          <p:nvPr/>
        </p:nvSpPr>
        <p:spPr>
          <a:xfrm>
            <a:off x="45720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239572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k-vizinhos</a:t>
            </a:r>
            <a:endParaRPr lang="en-US" sz="1400" dirty="0"/>
          </a:p>
        </p:txBody>
      </p:sp>
      <p:sp>
        <p:nvSpPr>
          <p:cNvPr id="8" name="Alternativa B"/>
          <p:cNvSpPr/>
          <p:nvPr/>
        </p:nvSpPr>
        <p:spPr>
          <a:xfrm>
            <a:off x="466344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73168" y="2395728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73168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214884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SVM</a:t>
            </a:r>
            <a:endParaRPr lang="en-US" sz="1400" dirty="0"/>
          </a:p>
        </p:txBody>
      </p:sp>
      <p:sp>
        <p:nvSpPr>
          <p:cNvPr id="12" name="Alternativa C"/>
          <p:cNvSpPr/>
          <p:nvPr/>
        </p:nvSpPr>
        <p:spPr>
          <a:xfrm>
            <a:off x="45720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3493008"/>
            <a:ext cx="457200" cy="45720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C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Árvore de decisão</a:t>
            </a:r>
            <a:endParaRPr lang="en-US" sz="1400" dirty="0"/>
          </a:p>
        </p:txBody>
      </p:sp>
      <p:sp>
        <p:nvSpPr>
          <p:cNvPr id="16" name="Alternativa D"/>
          <p:cNvSpPr/>
          <p:nvPr/>
        </p:nvSpPr>
        <p:spPr>
          <a:xfrm>
            <a:off x="466344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73168" y="3493008"/>
            <a:ext cx="457200" cy="4572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73168" y="3493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3246120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Regressão logística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levar na mochila</a:t>
            </a:r>
            <a:endParaRPr lang="en-US" sz="3000" dirty="0"/>
          </a:p>
        </p:txBody>
      </p:sp>
      <p:sp>
        <p:nvSpPr>
          <p:cNvPr id="3" name="Cartão 1"/>
          <p:cNvSpPr/>
          <p:nvPr/>
        </p:nvSpPr>
        <p:spPr>
          <a:xfrm>
            <a:off x="45720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Ícone 1" descr="marca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9903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2412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Pré-processamento: imputar, padronizar, codificar</a:t>
            </a:r>
            <a:endParaRPr lang="en-US" sz="1300" dirty="0"/>
          </a:p>
        </p:txBody>
      </p:sp>
      <p:sp>
        <p:nvSpPr>
          <p:cNvPr id="6" name="Cartão 2"/>
          <p:cNvSpPr/>
          <p:nvPr/>
        </p:nvSpPr>
        <p:spPr>
          <a:xfrm>
            <a:off x="4663440" y="11430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Ícone 2" descr="marcad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39903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230368" y="11430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Escala importa para k-vizinhos, SVM e redes; não para árvores</a:t>
            </a:r>
            <a:endParaRPr lang="en-US" sz="1300" dirty="0"/>
          </a:p>
        </p:txBody>
      </p:sp>
      <p:sp>
        <p:nvSpPr>
          <p:cNvPr id="9" name="Cartão 3"/>
          <p:cNvSpPr/>
          <p:nvPr/>
        </p:nvSpPr>
        <p:spPr>
          <a:xfrm>
            <a:off x="45720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Ícone 3" descr="marcado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31343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02412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One-hot evita inventar ordem entre categorias</a:t>
            </a:r>
            <a:endParaRPr lang="en-US" sz="1300" dirty="0"/>
          </a:p>
        </p:txBody>
      </p:sp>
      <p:sp>
        <p:nvSpPr>
          <p:cNvPr id="12" name="Cartão 4"/>
          <p:cNvSpPr/>
          <p:nvPr/>
        </p:nvSpPr>
        <p:spPr>
          <a:xfrm>
            <a:off x="4663440" y="20574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Ícone 4" descr="marcado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13432"/>
            <a:ext cx="310896" cy="31089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230368" y="20574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Pipeline + ColumnTransformer organizam o preparo</a:t>
            </a:r>
            <a:endParaRPr lang="en-US" sz="1300" dirty="0"/>
          </a:p>
        </p:txBody>
      </p:sp>
      <p:sp>
        <p:nvSpPr>
          <p:cNvPr id="15" name="Cartão 5"/>
          <p:cNvSpPr/>
          <p:nvPr/>
        </p:nvSpPr>
        <p:spPr>
          <a:xfrm>
            <a:off x="45720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Ícone 5" descr="marcado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227832"/>
            <a:ext cx="310896" cy="31089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02412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Vazamento infla a nota; tudo que aprende fica no pipeline</a:t>
            </a:r>
            <a:endParaRPr lang="en-US" sz="1300" dirty="0"/>
          </a:p>
        </p:txBody>
      </p:sp>
      <p:sp>
        <p:nvSpPr>
          <p:cNvPr id="18" name="Cartão 6"/>
          <p:cNvSpPr/>
          <p:nvPr/>
        </p:nvSpPr>
        <p:spPr>
          <a:xfrm>
            <a:off x="4663440" y="2971800"/>
            <a:ext cx="4023360" cy="822960"/>
          </a:xfrm>
          <a:prstGeom prst="roundRect">
            <a:avLst>
              <a:gd name="adj" fmla="val 1111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Ícone 6" descr="marcado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227832"/>
            <a:ext cx="310896" cy="31089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230368" y="2971800"/>
            <a:ext cx="3337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O pipeline inteiro é o espaço de busca do AutoML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"/>
          <p:cNvSpPr txBox="1"/>
          <p:nvPr/>
        </p:nvSpPr>
        <p:spPr>
          <a:xfrm>
            <a:off x="457200" y="2560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Mão na massa</a:t>
            </a:r>
            <a:endParaRPr lang="en-US" sz="3000" dirty="0"/>
          </a:p>
        </p:txBody>
      </p:sp>
      <p:sp>
        <p:nvSpPr>
          <p:cNvPr id="3" name="Faixa 1"/>
          <p:cNvSpPr/>
          <p:nvPr/>
        </p:nvSpPr>
        <p:spPr>
          <a:xfrm>
            <a:off x="457200" y="11430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2573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573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1430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Qual imputação?  </a:t>
            </a:r>
            <a:r>
              <a:rPr lang="en-US" sz="1400" dirty="0">
                <a:solidFill>
                  <a:schemeClr val="tx1"/>
                </a:solidFill>
              </a:rPr>
              <a:t>Compare média, mediana e mais frequente</a:t>
            </a:r>
            <a:endParaRPr lang="en-US" sz="1400" dirty="0"/>
          </a:p>
        </p:txBody>
      </p:sp>
      <p:sp>
        <p:nvSpPr>
          <p:cNvPr id="7" name="Faixa 2"/>
          <p:cNvSpPr/>
          <p:nvPr/>
        </p:nvSpPr>
        <p:spPr>
          <a:xfrm>
            <a:off x="457200" y="18288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9431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9431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8288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Ordinal ou one-hot?  </a:t>
            </a:r>
            <a:r>
              <a:rPr lang="en-US" sz="1400" dirty="0">
                <a:solidFill>
                  <a:schemeClr val="tx1"/>
                </a:solidFill>
              </a:rPr>
              <a:t>Quando cada codificação faz sentido</a:t>
            </a:r>
            <a:endParaRPr lang="en-US" sz="1400" dirty="0"/>
          </a:p>
        </p:txBody>
      </p:sp>
      <p:sp>
        <p:nvSpPr>
          <p:cNvPr id="11" name="Faixa 3"/>
          <p:cNvSpPr/>
          <p:nvPr/>
        </p:nvSpPr>
        <p:spPr>
          <a:xfrm>
            <a:off x="457200" y="25146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6289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26289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5146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Vazamento  </a:t>
            </a:r>
            <a:r>
              <a:rPr lang="en-US" sz="1400" dirty="0">
                <a:solidFill>
                  <a:schemeClr val="tx1"/>
                </a:solidFill>
              </a:rPr>
              <a:t>Reproduza o efeito em dados de ruído</a:t>
            </a:r>
            <a:endParaRPr lang="en-US" sz="1400" dirty="0"/>
          </a:p>
        </p:txBody>
      </p:sp>
      <p:sp>
        <p:nvSpPr>
          <p:cNvPr id="15" name="Faixa 4"/>
          <p:cNvSpPr/>
          <p:nvPr/>
        </p:nvSpPr>
        <p:spPr>
          <a:xfrm>
            <a:off x="457200" y="32004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3147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3147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EX 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32004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Buscando no pipeline  </a:t>
            </a:r>
            <a:r>
              <a:rPr lang="en-US" sz="1400" dirty="0">
                <a:solidFill>
                  <a:schemeClr val="tx1"/>
                </a:solidFill>
              </a:rPr>
              <a:t>Use etapa__parametro</a:t>
            </a:r>
            <a:endParaRPr lang="en-US" sz="1400" dirty="0"/>
          </a:p>
        </p:txBody>
      </p:sp>
      <p:sp>
        <p:nvSpPr>
          <p:cNvPr id="19" name="Faixa 5"/>
          <p:cNvSpPr/>
          <p:nvPr/>
        </p:nvSpPr>
        <p:spPr>
          <a:xfrm>
            <a:off x="457200" y="3886200"/>
            <a:ext cx="8229600" cy="594360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000500"/>
            <a:ext cx="1143000" cy="3657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40005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PROJETO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3886200"/>
            <a:ext cx="6675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Pipeline robusto para dados sujos  </a:t>
            </a:r>
            <a:r>
              <a:rPr lang="en-US" sz="1400" dirty="0">
                <a:solidFill>
                  <a:schemeClr val="tx1"/>
                </a:solidFill>
              </a:rPr>
              <a:t>Do dado sujo ao modelo avaliado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rculo fim"/>
          <p:cNvSpPr/>
          <p:nvPr/>
        </p:nvSpPr>
        <p:spPr>
          <a:xfrm>
            <a:off x="4114800" y="640080"/>
            <a:ext cx="914400" cy="91440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3" name="Ícone fim" descr="fi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868680"/>
            <a:ext cx="457200" cy="457200"/>
          </a:xfrm>
          <a:prstGeom prst="rect">
            <a:avLst/>
          </a:prstGeom>
        </p:spPr>
      </p:pic>
      <p:sp>
        <p:nvSpPr>
          <p:cNvPr id="4" name="Frase final"/>
          <p:cNvSpPr txBox="1"/>
          <p:nvPr/>
        </p:nvSpPr>
        <p:spPr>
          <a:xfrm>
            <a:off x="731520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pipeline bem feito vale mais que um modelo sofisticado mal avaliado</a:t>
            </a:r>
            <a:endParaRPr lang="en-US" sz="3000" dirty="0"/>
          </a:p>
        </p:txBody>
      </p:sp>
      <p:sp>
        <p:nvSpPr>
          <p:cNvPr id="5" name="Próximo capítulo"/>
          <p:cNvSpPr/>
          <p:nvPr/>
        </p:nvSpPr>
        <p:spPr>
          <a:xfrm>
            <a:off x="1371600" y="3611880"/>
            <a:ext cx="6400800" cy="777240"/>
          </a:xfrm>
          <a:prstGeom prst="roundRect">
            <a:avLst>
              <a:gd name="adj" fmla="val 1764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554480" y="361188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 seguir: </a:t>
            </a:r>
            <a:r>
              <a:rPr lang="en-US" sz="1600" dirty="0">
                <a:solidFill>
                  <a:schemeClr val="bg1"/>
                </a:solidFill>
              </a:rPr>
              <a:t>Capítulo 4: busca em grade e busca aleatória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5B4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L">
  <a:themeElements>
    <a:clrScheme name="AutoML">
      <a:dk1>
        <a:srgbClr val="111827"/>
      </a:dk1>
      <a:lt1>
        <a:srgbClr val="FFFFFF"/>
      </a:lt1>
      <a:dk2>
        <a:srgbClr val="1E1B4B"/>
      </a:dk2>
      <a:lt2>
        <a:srgbClr val="EEF2FF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utoM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AutoML: Teoria e Prática — Capítulo 3: Pipelines e pré-processamento</dc:title>
  <dc:subject>Slides de sala de aula</dc:subject>
  <dc:creator>Araken de Medeiros Santos</dc:creator>
  <cp:lastModifiedBy>Araken de Medeiros Santos</cp:lastModifiedBy>
  <cp:revision>1</cp:revision>
  <dcterms:created xsi:type="dcterms:W3CDTF">2026-10-26T18:45:21Z</dcterms:created>
  <dcterms:modified xsi:type="dcterms:W3CDTF">2026-10-26T18:45:21Z</dcterms:modified>
</cp:coreProperties>
</file>