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do livro: colocar o modelo para trabalhar e fechar com o projeto integrador.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Sculley et al. (2015). Coleta, verificação, atributos, configuração, infraestrutura e monitoramento.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'cozinha' do aprendizado de máquina.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Dados, treino, validação, implantação, monitoramento, retreino.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Salve o pipeline inteiro (com pré-processamento). Cuidado: arquivos joblib e pickle podem executar código ao serem carregados.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de exemplo (FastAPI) está no livro, sem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Lote: muitos casos de uma vez, vazão. Tempo real: um caso por vez, milissegundos.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Defina o orçamento de latência antes de rodar o AutoML.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Gama et al. (2014). Deriva dos dados é detectável sem rótulos.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Essas regras não são lei.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Alarme antecipado, sem rótulos. O PSI do tempo de emprego (estável) fica abaixo de 0,01.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projeto integrador, PSI 0,304 e a acurácia não caiu.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 trocar por ruído.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Decisão defensável, mas apertada. No exercício, o desafiante assumiu em 9 de 20 repetições.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e métrica; teste final e vazamento; linhas de base; pipeline; busca; ensemble e ferramentas; teste único por grupo; explicar e auditar; implantar com ficha; monitorar e retreinar.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Crédito simulado com atributo sensível. O relatório vale mais que o ganho de décimos.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ensemble não se justifica: não ganhou além do ruído e estourou o orçamento de latência. Recomendação: implantar o modelo simples com monitoramento por grupo, revisão humana e canal de contestação.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Com a mesma renda, a chance de pagar passa a ser outra.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Para não trocar por ruído amostral.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Soluções nos Apêndices D e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Revisite as cinco partes: fundamentos, busca, automação do pipeline, redes e novos domínios, responsabilidade e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do curso. Agradeça e convide a turma para os projetos.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AutoML: Teoria e Prática  ·  Cap. 14 — MLOps e projeto final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AutoML: Teoria e Prática  ·  Cap. 14 — MLOps e projeto final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6"/>
                </a:solidFill>
              </a:rPr>
              <a:t>CAPÍTULO 14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Parte V — Responsabilidade e Prática</a:t>
            </a:r>
            <a:endParaRPr lang="en-US" sz="1400" dirty="0"/>
          </a:p>
        </p:txBody>
      </p:sp>
      <p:sp>
        <p:nvSpPr>
          <p:cNvPr id="4" name="Título"/>
          <p:cNvSpPr txBox="1"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MLOps, implantação e projeto integrador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</a:rPr>
              <a:t>Do notebook ao mundo real, com honestidade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AutoML: Teoria e Prática  ·  Araken de Medeiros Santos</a:t>
            </a:r>
            <a:endParaRPr lang="en-US" sz="1200" dirty="0"/>
          </a:p>
        </p:txBody>
      </p:sp>
      <p:pic>
        <p:nvPicPr>
          <p:cNvPr id="7" name="Banner do capítulo" descr="Ilustração do capítulo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47303"/>
            <a:ext cx="9144000" cy="17218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944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Explicar por que o modelo é só uma parte do sistema</a:t>
            </a:r>
            <a:endParaRPr lang="en-US" sz="1500" dirty="0"/>
          </a:p>
        </p:txBody>
      </p:sp>
      <p:sp>
        <p:nvSpPr>
          <p:cNvPr id="7" name="Cartão 2"/>
          <p:cNvSpPr/>
          <p:nvPr/>
        </p:nvSpPr>
        <p:spPr>
          <a:xfrm>
            <a:off x="466344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3944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Salvar, versionar e reproduzir um pipeline</a:t>
            </a:r>
            <a:endParaRPr lang="en-US" sz="1500" dirty="0"/>
          </a:p>
        </p:txBody>
      </p:sp>
      <p:sp>
        <p:nvSpPr>
          <p:cNvPr id="11" name="Cartão 3"/>
          <p:cNvSpPr/>
          <p:nvPr/>
        </p:nvSpPr>
        <p:spPr>
          <a:xfrm>
            <a:off x="45720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286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Medir a latência de modelos e ensembles</a:t>
            </a:r>
            <a:endParaRPr lang="en-US" sz="1500" dirty="0"/>
          </a:p>
        </p:txBody>
      </p:sp>
      <p:sp>
        <p:nvSpPr>
          <p:cNvPr id="15" name="Cartão 4"/>
          <p:cNvSpPr/>
          <p:nvPr/>
        </p:nvSpPr>
        <p:spPr>
          <a:xfrm>
            <a:off x="466344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37286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Detectar deriva dos dados com KS e PSI</a:t>
            </a:r>
            <a:endParaRPr lang="en-US" sz="1500" dirty="0"/>
          </a:p>
        </p:txBody>
      </p:sp>
      <p:sp>
        <p:nvSpPr>
          <p:cNvPr id="19" name="Cartão 5"/>
          <p:cNvSpPr/>
          <p:nvPr/>
        </p:nvSpPr>
        <p:spPr>
          <a:xfrm>
            <a:off x="45720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351276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Definir retreino com campeão e desafiante</a:t>
            </a:r>
            <a:endParaRPr lang="en-US" sz="1500" dirty="0"/>
          </a:p>
        </p:txBody>
      </p:sp>
      <p:sp>
        <p:nvSpPr>
          <p:cNvPr id="23" name="Cartão 6"/>
          <p:cNvSpPr/>
          <p:nvPr/>
        </p:nvSpPr>
        <p:spPr>
          <a:xfrm>
            <a:off x="466344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35127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Executar o projeto integrador final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3" name="Número 1"/>
          <p:cNvSpPr/>
          <p:nvPr/>
        </p:nvSpPr>
        <p:spPr>
          <a:xfrm>
            <a:off x="457200" y="1188720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14.1–14.2</a:t>
            </a:r>
            <a:endParaRPr lang="en-US" sz="1600" dirty="0"/>
          </a:p>
        </p:txBody>
      </p:sp>
      <p:sp>
        <p:nvSpPr>
          <p:cNvPr id="5" name="Faixa 1"/>
          <p:cNvSpPr/>
          <p:nvPr/>
        </p:nvSpPr>
        <p:spPr>
          <a:xfrm>
            <a:off x="1463040" y="1188720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1887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Dívida técnica e ciclo de vida</a:t>
            </a:r>
            <a:endParaRPr lang="en-US" sz="1700" dirty="0"/>
          </a:p>
        </p:txBody>
      </p:sp>
      <p:sp>
        <p:nvSpPr>
          <p:cNvPr id="7" name="Número 2"/>
          <p:cNvSpPr/>
          <p:nvPr/>
        </p:nvSpPr>
        <p:spPr>
          <a:xfrm>
            <a:off x="457200" y="1847088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470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14.3</a:t>
            </a:r>
            <a:endParaRPr lang="en-US" sz="1600" dirty="0"/>
          </a:p>
        </p:txBody>
      </p:sp>
      <p:sp>
        <p:nvSpPr>
          <p:cNvPr id="9" name="Faixa 2"/>
          <p:cNvSpPr/>
          <p:nvPr/>
        </p:nvSpPr>
        <p:spPr>
          <a:xfrm>
            <a:off x="1463040" y="1847088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184708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Salvar e reproduzir</a:t>
            </a:r>
            <a:endParaRPr lang="en-US" sz="1700" dirty="0"/>
          </a:p>
        </p:txBody>
      </p:sp>
      <p:sp>
        <p:nvSpPr>
          <p:cNvPr id="11" name="Número 3"/>
          <p:cNvSpPr/>
          <p:nvPr/>
        </p:nvSpPr>
        <p:spPr>
          <a:xfrm>
            <a:off x="457200" y="2505456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0545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14.4</a:t>
            </a:r>
            <a:endParaRPr lang="en-US" sz="1600" dirty="0"/>
          </a:p>
        </p:txBody>
      </p:sp>
      <p:sp>
        <p:nvSpPr>
          <p:cNvPr id="13" name="Faixa 3"/>
          <p:cNvSpPr/>
          <p:nvPr/>
        </p:nvSpPr>
        <p:spPr>
          <a:xfrm>
            <a:off x="1463040" y="2505456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45920" y="25054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Lote ou tempo real; latência</a:t>
            </a:r>
            <a:endParaRPr lang="en-US" sz="1700" dirty="0"/>
          </a:p>
        </p:txBody>
      </p:sp>
      <p:sp>
        <p:nvSpPr>
          <p:cNvPr id="15" name="Número 4"/>
          <p:cNvSpPr/>
          <p:nvPr/>
        </p:nvSpPr>
        <p:spPr>
          <a:xfrm>
            <a:off x="457200" y="3163824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6382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14.5–14.6</a:t>
            </a:r>
            <a:endParaRPr lang="en-US" sz="1600" dirty="0"/>
          </a:p>
        </p:txBody>
      </p:sp>
      <p:sp>
        <p:nvSpPr>
          <p:cNvPr id="17" name="Faixa 4"/>
          <p:cNvSpPr/>
          <p:nvPr/>
        </p:nvSpPr>
        <p:spPr>
          <a:xfrm>
            <a:off x="1463040" y="3163824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316382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Deriva e retreino</a:t>
            </a:r>
            <a:endParaRPr lang="en-US" sz="1700" dirty="0"/>
          </a:p>
        </p:txBody>
      </p:sp>
      <p:sp>
        <p:nvSpPr>
          <p:cNvPr id="19" name="Número 5"/>
          <p:cNvSpPr/>
          <p:nvPr/>
        </p:nvSpPr>
        <p:spPr>
          <a:xfrm>
            <a:off x="457200" y="3822192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221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14.7–14.9</a:t>
            </a:r>
            <a:endParaRPr lang="en-US" sz="1600" dirty="0"/>
          </a:p>
        </p:txBody>
      </p:sp>
      <p:sp>
        <p:nvSpPr>
          <p:cNvPr id="21" name="Faixa 5"/>
          <p:cNvSpPr/>
          <p:nvPr/>
        </p:nvSpPr>
        <p:spPr>
          <a:xfrm>
            <a:off x="1463040" y="3822192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45920" y="382219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Roteiro completo e projeto final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é só uma pequena parte</a:t>
            </a:r>
            <a:endParaRPr lang="en-US" sz="3000" dirty="0"/>
          </a:p>
        </p:txBody>
      </p:sp>
      <p:pic>
        <p:nvPicPr>
          <p:cNvPr id="3" name="Figura" descr="O modelo é só uma pequena par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727" y="1097280"/>
            <a:ext cx="597654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dívida técnica mora no entorno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cozinha do restaurante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Criar a receita é só uma parte. Servir todo dia, para muita gente, com a mesma qualidade, exige estoque, higiene e equipe.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MLOps: práticas para desenvolver e operar modelos em produção, com automação, versionamento e monitoramento (Kreuzberger et al., 2023).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 de vida de um modelo</a:t>
            </a:r>
            <a:endParaRPr lang="en-US" sz="3000" dirty="0"/>
          </a:p>
        </p:txBody>
      </p:sp>
      <p:pic>
        <p:nvPicPr>
          <p:cNvPr id="3" name="Figura" descr="O ciclo de vida de um mode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830" y="1097280"/>
            <a:ext cx="5600340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 ciclo nunca termina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Salvar o pipeline e a ficha do modelo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389888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Ficha: {"python": "3.13", "scikit-learn": "1.9.1", "semente": 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"hash_treino": "fd7f3e15..."}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Previsões idênticas após recarregar: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depois de alterar um valor em 0,001: diferente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Reprodutível é auditável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Atenção à segurança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Arquivos joblib/pickle podem executar código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Nunca carregue modelos de origem desconhecida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Proteja os arquivos de produção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Valide as entradas do serviço</a:t>
            </a:r>
            <a:endParaRPr lang="en-US" sz="20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arquivo do modelo é código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Lote × tempo real</a:t>
            </a:r>
            <a:endParaRPr lang="en-US" sz="3000" dirty="0"/>
          </a:p>
        </p:txBody>
      </p:sp>
      <p:pic>
        <p:nvPicPr>
          <p:cNvPr id="3" name="Figura" descr="Lote × tempo 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4574" y="1097280"/>
            <a:ext cx="5994851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tempo real, a latência é crítica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custa uma previsão?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                   1 previsão (ms)   lote de 10 mil (s)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Regressão logística                0.51                 0.05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Floresta (300 árvores)            13.57                 0.27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Boosting                           8.16                 0.18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Ensemble de 3 modelos             12.93                 0.80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Ensembles: mais precisão, mais latência (valores dependem da máquina)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tipos de deriva</a:t>
            </a:r>
            <a:endParaRPr lang="en-US" sz="3000" dirty="0"/>
          </a:p>
        </p:txBody>
      </p:sp>
      <p:pic>
        <p:nvPicPr>
          <p:cNvPr id="3" name="Figura" descr="Dois tipos de der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107" y="1097280"/>
            <a:ext cx="7773785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Dados mudam × a relação muda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cardápio e o gosto do cliente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Se o bairro muda, os clientes mudam. Um cardápio perfeito ontem pode não servir hoje.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KS compara distribuições; o PSI compara proporções por faixa. Regra prática: PSI &lt; 0,10 estável; 0,10–0,25 alerta; &gt; 0,25 mudança grande.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Inflação de 0% a 60%: o alarme toca antes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901952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mês  inflação  acurácia  KS(renda) valor-p   PSI renda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       0%     0.851     0.029  1.9e-01     0.007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      10%     0.854     0.071  9.0e-07     0.038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      20%     0.856     0.119  4.3e-18     0.113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      40%     0.836     0.207  6.1e-54     0.270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      60%     0.808     0.313 4.4e-124     0.606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478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KS rejeita no mês 1; a acurácia só cede depois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 sobe, acurácia cai</a:t>
            </a:r>
            <a:endParaRPr lang="en-US" sz="3000" dirty="0"/>
          </a:p>
        </p:txBody>
      </p:sp>
      <p:pic>
        <p:nvPicPr>
          <p:cNvPr id="3" name="Figura" descr="PSI sobe, acurácia c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9993" y="1097280"/>
            <a:ext cx="4564014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Alarme não é diagnóstico: confirme com rótulos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Campeão e desafiante</a:t>
            </a:r>
            <a:endParaRPr lang="en-US" sz="3000" dirty="0"/>
          </a:p>
        </p:txBody>
      </p:sp>
      <p:pic>
        <p:nvPicPr>
          <p:cNvPr id="3" name="Figura" descr="Campeão e desafia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271" y="1097280"/>
            <a:ext cx="6273458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 novo só assume se ganhar com margem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 no mês 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389888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do desafio: 3000 casos recentes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Campeão (treinado há 6 meses) : acurácia = 0.826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Desafiante (retreinado)       : acurácia = 0.839  (erro padrão ≈ 0.007)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Diferença: 0.014 -&gt; desafiante assume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Ganho de 1,4 ponto: no limite da margem (2 erros padrão)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completo de um projeto de AutoML</a:t>
            </a:r>
            <a:endParaRPr lang="en-US" sz="3000" dirty="0"/>
          </a:p>
        </p:txBody>
      </p:sp>
      <p:pic>
        <p:nvPicPr>
          <p:cNvPr id="3" name="Figura" descr="Roteiro completo de um projeto de AutoM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818" y="1097280"/>
            <a:ext cx="5608364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Do problema ao monitoramento, em dez passos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projeto integrador final</a:t>
            </a:r>
            <a:endParaRPr lang="en-US" sz="3000" dirty="0"/>
          </a:p>
        </p:txBody>
      </p:sp>
      <p:sp>
        <p:nvSpPr>
          <p:cNvPr id="3" name="Passo 1"/>
          <p:cNvSpPr/>
          <p:nvPr/>
        </p:nvSpPr>
        <p:spPr>
          <a:xfrm>
            <a:off x="114300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Cartão do passo 1"/>
          <p:cNvSpPr/>
          <p:nvPr/>
        </p:nvSpPr>
        <p:spPr>
          <a:xfrm>
            <a:off x="457200" y="1874520"/>
            <a:ext cx="1920240" cy="20116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Preparar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Problema, métrica, teste e validação, linhas de base</a:t>
            </a:r>
            <a:endParaRPr lang="en-US" sz="1300" dirty="0"/>
          </a:p>
        </p:txBody>
      </p:sp>
      <p:sp>
        <p:nvSpPr>
          <p:cNvPr id="8" name="Passo 2"/>
          <p:cNvSpPr/>
          <p:nvPr/>
        </p:nvSpPr>
        <p:spPr>
          <a:xfrm>
            <a:off x="3246120" y="11887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Cartão do passo 2"/>
          <p:cNvSpPr/>
          <p:nvPr/>
        </p:nvSpPr>
        <p:spPr>
          <a:xfrm>
            <a:off x="2560320" y="1874520"/>
            <a:ext cx="1920240" cy="20116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1920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Buscar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2468880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Optuna/TPE com CASH condicional; ensemble por algoritmo</a:t>
            </a:r>
            <a:endParaRPr lang="en-US" sz="1300" dirty="0"/>
          </a:p>
        </p:txBody>
      </p:sp>
      <p:sp>
        <p:nvSpPr>
          <p:cNvPr id="13" name="Passo 3"/>
          <p:cNvSpPr/>
          <p:nvPr/>
        </p:nvSpPr>
        <p:spPr>
          <a:xfrm>
            <a:off x="5349240" y="11887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492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Cartão do passo 3"/>
          <p:cNvSpPr/>
          <p:nvPr/>
        </p:nvSpPr>
        <p:spPr>
          <a:xfrm>
            <a:off x="4663440" y="1874520"/>
            <a:ext cx="1920240" cy="20116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1920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Auditar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773168" y="2468880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Teste único, explicação, grupos, proxies, limiares</a:t>
            </a:r>
            <a:endParaRPr lang="en-US" sz="1300" dirty="0"/>
          </a:p>
        </p:txBody>
      </p:sp>
      <p:sp>
        <p:nvSpPr>
          <p:cNvPr id="18" name="Passo 4"/>
          <p:cNvSpPr/>
          <p:nvPr/>
        </p:nvSpPr>
        <p:spPr>
          <a:xfrm>
            <a:off x="7452360" y="11887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523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Cartão do passo 4"/>
          <p:cNvSpPr/>
          <p:nvPr/>
        </p:nvSpPr>
        <p:spPr>
          <a:xfrm>
            <a:off x="6766560" y="1874520"/>
            <a:ext cx="1920240" cy="20116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920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Produzir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76288" y="2468880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Ficha, latência, deriva e relatório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Busque o projeto mais honesto, não a maior nota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do projeto integrador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2157984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 da busca: regressão logística (CV = 0.800)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 FINAL (n = 1500, erro padrão ~ 0.010):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reg. logística (base)    acurácia = 0.808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floresta padrão (base)   acurácia = 0.785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melhor único             acurácia = 0.806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ensemble por algoritmo   acurácia = 0.804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Latência: melhor único 0.5 ms | ensemble 50.5 ms (orçamento 20 ms)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039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Empate técnico: fique com o modelo simples, rápido e interpretável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 que é deriva de conceito?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Mudança na distribuição dos atributos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Mudança na relação entre atributos e resposta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erro de código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tipo de ensemble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Quando o desafiante deve assumir o lugar do campeão?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Sempre que for diferente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Quando ganhar com margem estatística nos dados recentes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Toda semana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Quando for maior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levar na mochila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Ícone 1" descr="marc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9903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 modelo é só uma parte do sistema</a:t>
            </a:r>
            <a:endParaRPr lang="en-US" sz="1300" dirty="0"/>
          </a:p>
        </p:txBody>
      </p:sp>
      <p:sp>
        <p:nvSpPr>
          <p:cNvPr id="6" name="Cartão 2"/>
          <p:cNvSpPr/>
          <p:nvPr/>
        </p:nvSpPr>
        <p:spPr>
          <a:xfrm>
            <a:off x="466344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Ícone 2" descr="marc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9903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3036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Salve o pipeline inteiro e a ficha do modelo</a:t>
            </a:r>
            <a:endParaRPr lang="en-US" sz="1300" dirty="0"/>
          </a:p>
        </p:txBody>
      </p:sp>
      <p:sp>
        <p:nvSpPr>
          <p:cNvPr id="9" name="Cartão 3"/>
          <p:cNvSpPr/>
          <p:nvPr/>
        </p:nvSpPr>
        <p:spPr>
          <a:xfrm>
            <a:off x="45720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Ícone 3" descr="marcad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134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2412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Em tempo real, a latência é crítica</a:t>
            </a:r>
            <a:endParaRPr lang="en-US" sz="1300" dirty="0"/>
          </a:p>
        </p:txBody>
      </p:sp>
      <p:sp>
        <p:nvSpPr>
          <p:cNvPr id="12" name="Cartão 4"/>
          <p:cNvSpPr/>
          <p:nvPr/>
        </p:nvSpPr>
        <p:spPr>
          <a:xfrm>
            <a:off x="466344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Ícone 4" descr="marcad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13432"/>
            <a:ext cx="310896" cy="31089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036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Deriva dos dados: KS e PSI; alarme não é diagnóstico</a:t>
            </a:r>
            <a:endParaRPr lang="en-US" sz="1300" dirty="0"/>
          </a:p>
        </p:txBody>
      </p:sp>
      <p:sp>
        <p:nvSpPr>
          <p:cNvPr id="15" name="Cartão 5"/>
          <p:cNvSpPr/>
          <p:nvPr/>
        </p:nvSpPr>
        <p:spPr>
          <a:xfrm>
            <a:off x="45720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Ícone 5" descr="marcad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27832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2412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Campeão e desafiante com margem</a:t>
            </a:r>
            <a:endParaRPr lang="en-US" sz="1300" dirty="0"/>
          </a:p>
        </p:txBody>
      </p:sp>
      <p:sp>
        <p:nvSpPr>
          <p:cNvPr id="18" name="Cartão 6"/>
          <p:cNvSpPr/>
          <p:nvPr/>
        </p:nvSpPr>
        <p:spPr>
          <a:xfrm>
            <a:off x="466344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Ícone 6" descr="marcad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27832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3036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Projeto honesto vale mais que projeto vistoso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3" name="Faixa 1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73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573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1430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Ficha do modelo  </a:t>
            </a:r>
            <a:r>
              <a:rPr lang="en-US" sz="1400" dirty="0">
                <a:solidFill>
                  <a:schemeClr val="tx1"/>
                </a:solidFill>
              </a:rPr>
              <a:t>Hash, versões e recarregamento</a:t>
            </a:r>
            <a:endParaRPr lang="en-US" sz="1400" dirty="0"/>
          </a:p>
        </p:txBody>
      </p:sp>
      <p:sp>
        <p:nvSpPr>
          <p:cNvPr id="7" name="Faixa 2"/>
          <p:cNvSpPr/>
          <p:nvPr/>
        </p:nvSpPr>
        <p:spPr>
          <a:xfrm>
            <a:off x="457200" y="18288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431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431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8288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Quanto custa cada previsão  </a:t>
            </a:r>
            <a:r>
              <a:rPr lang="en-US" sz="1400" dirty="0">
                <a:solidFill>
                  <a:schemeClr val="tx1"/>
                </a:solidFill>
              </a:rPr>
              <a:t>Árvores × latência</a:t>
            </a:r>
            <a:endParaRPr lang="en-US" sz="1400" dirty="0"/>
          </a:p>
        </p:txBody>
      </p:sp>
      <p:sp>
        <p:nvSpPr>
          <p:cNvPr id="11" name="Faixa 3"/>
          <p:cNvSpPr/>
          <p:nvPr/>
        </p:nvSpPr>
        <p:spPr>
          <a:xfrm>
            <a:off x="457200" y="25146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289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289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5146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KS e PSI  </a:t>
            </a:r>
            <a:r>
              <a:rPr lang="en-US" sz="1400" dirty="0">
                <a:solidFill>
                  <a:schemeClr val="tx1"/>
                </a:solidFill>
              </a:rPr>
              <a:t>Com poucos dados o PSI é instável</a:t>
            </a:r>
            <a:endParaRPr lang="en-US" sz="1400" dirty="0"/>
          </a:p>
        </p:txBody>
      </p:sp>
      <p:sp>
        <p:nvSpPr>
          <p:cNvPr id="15" name="Faixa 4"/>
          <p:cNvSpPr/>
          <p:nvPr/>
        </p:nvSpPr>
        <p:spPr>
          <a:xfrm>
            <a:off x="457200" y="32004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3147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3147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2004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Quando trocar o campeão  </a:t>
            </a:r>
            <a:r>
              <a:rPr lang="en-US" sz="1400" dirty="0">
                <a:solidFill>
                  <a:schemeClr val="tx1"/>
                </a:solidFill>
              </a:rPr>
              <a:t>20 repetições</a:t>
            </a:r>
            <a:endParaRPr lang="en-US" sz="1400" dirty="0"/>
          </a:p>
        </p:txBody>
      </p:sp>
      <p:sp>
        <p:nvSpPr>
          <p:cNvPr id="19" name="Faixa 5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005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0005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PROJETO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38862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Integrador final  </a:t>
            </a:r>
            <a:r>
              <a:rPr lang="en-US" sz="1400" dirty="0">
                <a:solidFill>
                  <a:schemeClr val="tx1"/>
                </a:solidFill>
              </a:rPr>
              <a:t>AutoML de ponta a ponta, com ética e produção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jornada deste livro</a:t>
            </a:r>
            <a:endParaRPr lang="en-US" sz="3000" dirty="0"/>
          </a:p>
        </p:txBody>
      </p:sp>
      <p:pic>
        <p:nvPicPr>
          <p:cNvPr id="3" name="Figura" descr="A jornada deste liv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9785" y="1097280"/>
            <a:ext cx="5164430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AutoML é uma orquestra de ideias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fim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" name="Ícone fim" descr="f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868680"/>
            <a:ext cx="457200" cy="457200"/>
          </a:xfrm>
          <a:prstGeom prst="rect">
            <a:avLst/>
          </a:prstGeom>
        </p:spPr>
      </p:pic>
      <p:sp>
        <p:nvSpPr>
          <p:cNvPr id="4" name="Frase final"/>
          <p:cNvSpPr txBox="1"/>
          <p:nvPr/>
        </p:nvSpPr>
        <p:spPr>
          <a:xfrm>
            <a:off x="731520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Automatize a busca. Nunca automatize a responsabilidade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L">
  <a:themeElements>
    <a:clrScheme name="AutoML">
      <a:dk1>
        <a:srgbClr val="11182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utoM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AutoML: Teoria e Prática — Capítulo 14: MLOps, implantação e projeto integrador</dc:title>
  <dc:subject>Slides de sala de aula</dc:subject>
  <dc:creator>Araken de Medeiros Santos</dc:creator>
  <cp:lastModifiedBy>Araken de Medeiros Santos</cp:lastModifiedBy>
  <cp:revision>1</cp:revision>
  <dcterms:created xsi:type="dcterms:W3CDTF">2026-10-26T18:45:32Z</dcterms:created>
  <dcterms:modified xsi:type="dcterms:W3CDTF">2026-10-26T18:45:32Z</dcterms:modified>
</cp:coreProperties>
</file>