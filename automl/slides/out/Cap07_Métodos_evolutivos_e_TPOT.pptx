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natureza é uma otimizadora há bilhões de anos. Como copiar a ideia para modelos?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Simulação real: pontos = indivíduos; a população migra para as regiões de alta aptidão.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Vocabulário: indivíduo, população, gene, aptidão, geração.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cada geração, a população é avaliada, os melhores são selecionados e geram filhos.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mutação a população converge cedo demais para um ótimo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Elitismo copia o melhor indivíduo para a geração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com escala, PCA e SVM. A média da população oscila porque a mutação introduz indivíduos ruins.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real. Honestidade: na semente 1 perdeu. Com 5 sementes, o ganho de 1,4 ponto é indicativo, não conclusivo.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Convergência das duas estratégias.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pipeline é uma árvore: escala → seleção → modelo. A mutação troca um nó ou uma subárvore.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 do TPOT.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Acurácia × complexidade (número de atributos). Uma solução está na fronteira se nenhuma outra é melhor nos dois critérios. NSGA-II (Deb et al., 2002).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Escolha na fronteira conforme o orçamento de complexidade.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TPOT (Olson e Moore, 2016): evolui pipelines do scikit-learn e exporta o código Python do melhor. Este trecho no livro é sem execução, por não ter sido possível instalar a biblioteca.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honesto.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Sem ela a população converge cedo para um ótimo local.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Representa as melhores concessões entre objetivos.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nos Apêndices D 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Fim da Parte II. Na Parte III, automatizamos o pipeline além dos hiperparâmetros.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AutoML: Teoria e Prática  ·  Cap. 7 — Métodos evolutivos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AutoML: Teoria e Prática  ·  Cap. 7 — Métodos evolutivos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2"/>
                </a:solidFill>
              </a:rPr>
              <a:t>CAPÍTULO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Parte II — Otimização de Hiperparâmetros</a:t>
            </a:r>
            <a:endParaRPr lang="en-US" sz="1400" dirty="0"/>
          </a:p>
        </p:txBody>
      </p:sp>
      <p:sp>
        <p:nvSpPr>
          <p:cNvPr id="4" name="Título"/>
          <p:cNvSpPr txBox="1"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evolutivos e TPOT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</a:rPr>
              <a:t>Deixar a seleção natural procurar o melhor pipeline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AutoML: Teoria e Prática  ·  Araken de Medeiros Santos</a:t>
            </a:r>
            <a:endParaRPr lang="en-US" sz="1200" dirty="0"/>
          </a:p>
        </p:txBody>
      </p:sp>
      <p:pic>
        <p:nvPicPr>
          <p:cNvPr id="7" name="Banner do capítulo" descr="Ilustração do capítulo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7303"/>
            <a:ext cx="9144000" cy="1721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44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Descrever o ciclo de um algoritmo genético</a:t>
            </a:r>
            <a:endParaRPr lang="en-US" sz="1500" dirty="0"/>
          </a:p>
        </p:txBody>
      </p:sp>
      <p:sp>
        <p:nvSpPr>
          <p:cNvPr id="7" name="Cartão 2"/>
          <p:cNvSpPr/>
          <p:nvPr/>
        </p:nvSpPr>
        <p:spPr>
          <a:xfrm>
            <a:off x="466344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944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Implementar seleção, cruzamento, mutação e elitismo</a:t>
            </a:r>
            <a:endParaRPr lang="en-US" sz="1500" dirty="0"/>
          </a:p>
        </p:txBody>
      </p:sp>
      <p:sp>
        <p:nvSpPr>
          <p:cNvPr id="11" name="Cartão 3"/>
          <p:cNvSpPr/>
          <p:nvPr/>
        </p:nvSpPr>
        <p:spPr>
          <a:xfrm>
            <a:off x="45720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28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Comparar evolução e busca aleatória com honestidade</a:t>
            </a:r>
            <a:endParaRPr lang="en-US" sz="1500" dirty="0"/>
          </a:p>
        </p:txBody>
      </p:sp>
      <p:sp>
        <p:nvSpPr>
          <p:cNvPr id="15" name="Cartão 4"/>
          <p:cNvSpPr/>
          <p:nvPr/>
        </p:nvSpPr>
        <p:spPr>
          <a:xfrm>
            <a:off x="466344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7286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Entender a programação genética e pipelines em árvore</a:t>
            </a:r>
            <a:endParaRPr lang="en-US" sz="1500" dirty="0"/>
          </a:p>
        </p:txBody>
      </p:sp>
      <p:sp>
        <p:nvSpPr>
          <p:cNvPr id="19" name="Cartão 5"/>
          <p:cNvSpPr/>
          <p:nvPr/>
        </p:nvSpPr>
        <p:spPr>
          <a:xfrm>
            <a:off x="45720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51276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Usar a fronteira de Pareto em duas metas</a:t>
            </a:r>
            <a:endParaRPr lang="en-US" sz="1500" dirty="0"/>
          </a:p>
        </p:txBody>
      </p:sp>
      <p:sp>
        <p:nvSpPr>
          <p:cNvPr id="23" name="Cartão 6"/>
          <p:cNvSpPr/>
          <p:nvPr/>
        </p:nvSpPr>
        <p:spPr>
          <a:xfrm>
            <a:off x="466344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3512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Conhecer o TPOT, suas vantagens e limites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457200" y="118872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7.1–7.2</a:t>
            </a:r>
            <a:endParaRPr lang="en-US" sz="1600" dirty="0"/>
          </a:p>
        </p:txBody>
      </p:sp>
      <p:sp>
        <p:nvSpPr>
          <p:cNvPr id="5" name="Faixa 1"/>
          <p:cNvSpPr/>
          <p:nvPr/>
        </p:nvSpPr>
        <p:spPr>
          <a:xfrm>
            <a:off x="1463040" y="1188720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1887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Natureza otimizadora e vocabulário</a:t>
            </a:r>
            <a:endParaRPr lang="en-US" sz="1700" dirty="0"/>
          </a:p>
        </p:txBody>
      </p:sp>
      <p:sp>
        <p:nvSpPr>
          <p:cNvPr id="7" name="Número 2"/>
          <p:cNvSpPr/>
          <p:nvPr/>
        </p:nvSpPr>
        <p:spPr>
          <a:xfrm>
            <a:off x="457200" y="1847088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7.3–7.4</a:t>
            </a:r>
            <a:endParaRPr lang="en-US" sz="1600" dirty="0"/>
          </a:p>
        </p:txBody>
      </p:sp>
      <p:sp>
        <p:nvSpPr>
          <p:cNvPr id="9" name="Faixa 2"/>
          <p:cNvSpPr/>
          <p:nvPr/>
        </p:nvSpPr>
        <p:spPr>
          <a:xfrm>
            <a:off x="1463040" y="1847088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8470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 algoritmo genético do zero e comparação</a:t>
            </a:r>
            <a:endParaRPr lang="en-US" sz="1700" dirty="0"/>
          </a:p>
        </p:txBody>
      </p:sp>
      <p:sp>
        <p:nvSpPr>
          <p:cNvPr id="11" name="Número 3"/>
          <p:cNvSpPr/>
          <p:nvPr/>
        </p:nvSpPr>
        <p:spPr>
          <a:xfrm>
            <a:off x="457200" y="2505456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054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7.5</a:t>
            </a:r>
            <a:endParaRPr lang="en-US" sz="1600" dirty="0"/>
          </a:p>
        </p:txBody>
      </p:sp>
      <p:sp>
        <p:nvSpPr>
          <p:cNvPr id="13" name="Faixa 3"/>
          <p:cNvSpPr/>
          <p:nvPr/>
        </p:nvSpPr>
        <p:spPr>
          <a:xfrm>
            <a:off x="1463040" y="2505456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2505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Programação genética e pipelines em árvore</a:t>
            </a:r>
            <a:endParaRPr lang="en-US" sz="1700" dirty="0"/>
          </a:p>
        </p:txBody>
      </p:sp>
      <p:sp>
        <p:nvSpPr>
          <p:cNvPr id="15" name="Número 4"/>
          <p:cNvSpPr/>
          <p:nvPr/>
        </p:nvSpPr>
        <p:spPr>
          <a:xfrm>
            <a:off x="457200" y="3163824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638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7.6</a:t>
            </a:r>
            <a:endParaRPr lang="en-US" sz="1600" dirty="0"/>
          </a:p>
        </p:txBody>
      </p:sp>
      <p:sp>
        <p:nvSpPr>
          <p:cNvPr id="17" name="Faixa 4"/>
          <p:cNvSpPr/>
          <p:nvPr/>
        </p:nvSpPr>
        <p:spPr>
          <a:xfrm>
            <a:off x="1463040" y="3163824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31638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Dois objetivos e a fronteira de Pareto</a:t>
            </a:r>
            <a:endParaRPr lang="en-US" sz="1700" dirty="0"/>
          </a:p>
        </p:txBody>
      </p:sp>
      <p:sp>
        <p:nvSpPr>
          <p:cNvPr id="19" name="Número 5"/>
          <p:cNvSpPr/>
          <p:nvPr/>
        </p:nvSpPr>
        <p:spPr>
          <a:xfrm>
            <a:off x="457200" y="3822192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221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7.7–7.9</a:t>
            </a:r>
            <a:endParaRPr lang="en-US" sz="1600" dirty="0"/>
          </a:p>
        </p:txBody>
      </p:sp>
      <p:sp>
        <p:nvSpPr>
          <p:cNvPr id="21" name="Faixa 5"/>
          <p:cNvSpPr/>
          <p:nvPr/>
        </p:nvSpPr>
        <p:spPr>
          <a:xfrm>
            <a:off x="1463040" y="3822192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38221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TPOT, vantagens, limites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natureza como otimizadora</a:t>
            </a:r>
            <a:endParaRPr lang="en-US" sz="3000" dirty="0"/>
          </a:p>
        </p:txBody>
      </p:sp>
      <p:pic>
        <p:nvPicPr>
          <p:cNvPr id="3" name="Figura" descr="A natureza como otimizado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9811"/>
            <a:ext cx="8229600" cy="2669579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Uma população de soluções evolui e se concentra nas melhores regiões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criação de cães de corrida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Criadores cruzam os cães mais rápidos por gerações. Com variação, seleção e hereditariedade, a raça melhora.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Algoritmo genético: população de soluções; aptidão = nota de validação; seleção, cruzamento, mutação e elitismo.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do algoritmo genético</a:t>
            </a:r>
            <a:endParaRPr lang="en-US" sz="3000" dirty="0"/>
          </a:p>
        </p:txBody>
      </p:sp>
      <p:pic>
        <p:nvPicPr>
          <p:cNvPr id="3" name="Figura" descr="O ciclo do algoritmo genéti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262" y="1097280"/>
            <a:ext cx="5851477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Avaliar, selecionar, cruzar, mutar, repetir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Cruzamento e mutação</a:t>
            </a:r>
            <a:endParaRPr lang="en-US" sz="3000" dirty="0"/>
          </a:p>
        </p:txBody>
      </p:sp>
      <p:pic>
        <p:nvPicPr>
          <p:cNvPr id="3" name="Figura" descr="Cruzamento e mut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550" y="1097280"/>
            <a:ext cx="5876899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Cruzamento combina boas ideias; mutação mantém a diversidade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motores da evolução</a:t>
            </a:r>
            <a:endParaRPr lang="en-US" sz="3000" dirty="0"/>
          </a:p>
        </p:txBody>
      </p:sp>
      <p:sp>
        <p:nvSpPr>
          <p:cNvPr id="3" name="Cabeçalho 1"/>
          <p:cNvSpPr/>
          <p:nvPr/>
        </p:nvSpPr>
        <p:spPr>
          <a:xfrm>
            <a:off x="457200" y="118872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Cruzamento</a:t>
            </a:r>
            <a:endParaRPr lang="en-US" sz="1800" dirty="0"/>
          </a:p>
        </p:txBody>
      </p:sp>
      <p:sp>
        <p:nvSpPr>
          <p:cNvPr id="5" name="Corpo 1"/>
          <p:cNvSpPr/>
          <p:nvPr/>
        </p:nvSpPr>
        <p:spPr>
          <a:xfrm>
            <a:off x="457200" y="1874520"/>
            <a:ext cx="402336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Combina genes de dois pais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Reúne boas ideias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Explora combinações novas</a:t>
            </a:r>
            <a:endParaRPr lang="en-US" sz="1500" dirty="0"/>
          </a:p>
        </p:txBody>
      </p:sp>
      <p:sp>
        <p:nvSpPr>
          <p:cNvPr id="7" name="Cabeçalho 2"/>
          <p:cNvSpPr/>
          <p:nvPr/>
        </p:nvSpPr>
        <p:spPr>
          <a:xfrm>
            <a:off x="4663440" y="118872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188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Mutação</a:t>
            </a:r>
            <a:endParaRPr lang="en-US" sz="1800" dirty="0"/>
          </a:p>
        </p:txBody>
      </p:sp>
      <p:sp>
        <p:nvSpPr>
          <p:cNvPr id="9" name="Corpo 2"/>
          <p:cNvSpPr/>
          <p:nvPr/>
        </p:nvSpPr>
        <p:spPr>
          <a:xfrm>
            <a:off x="4663440" y="1874520"/>
            <a:ext cx="402336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9659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Altera um gene ao acaso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Mantém diversidade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Evita convergência precoce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Elitismo: o melhor nunca é perdido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algoritmo genético do zero (SVM no Digits)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2157984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geração | pipelines avaliados | melhor nota | nota média da população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0 |                  14 |       0.900 | 0.624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1 |                  24 |       0.930 | 0.832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2 |                  36 |       0.930 | 0.740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3 |                  47 |       0.930 | 0.697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4 |                  57 |       0.937 | 0.750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5 |                  68 |       0.937 | 0.727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039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melhor nota sobe de 0,900 para 0,937 em 68 avaliações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× aleatória, em 5 sementes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2157984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semente 0: genético = 0.937 | aleatória = 0.907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semente 1: genético = 0.900 | aleatória = 0.903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semente 2: genético = 0.930 | aleatória = 0.927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semente 3: genético = 0.930 | aleatória = 0.903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semente 4: genético = 0.920 | aleatória = 0.903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Média: genético = 0.923 | aleatória = 0.909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039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genético vence em 4 de 5 sementes: ganho pequeno, mas visível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× aleatória: convergência</a:t>
            </a:r>
            <a:endParaRPr lang="en-US" sz="3000" dirty="0"/>
          </a:p>
        </p:txBody>
      </p:sp>
      <p:pic>
        <p:nvPicPr>
          <p:cNvPr id="3" name="Figura" descr="Evolução × aleatória: convergênc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587" y="1097280"/>
            <a:ext cx="700082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evolução aproveita o que já achou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genética: pipelines em árvore</a:t>
            </a:r>
            <a:endParaRPr lang="en-US" sz="3000" dirty="0"/>
          </a:p>
        </p:txBody>
      </p:sp>
      <p:pic>
        <p:nvPicPr>
          <p:cNvPr id="3" name="Figura" descr="Programação genética: pipelines em árv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0657" y="1097280"/>
            <a:ext cx="548268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 cruzamento troca subárvores inteiras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Montando com blocos de LEGO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Dois castelos de LEGO podem trocar torres inteiras; uma peça pode ser trocada de cor ao acaso.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Em programação genética, os indivíduos são árvores e os operadores trabalham sobre subárvores.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objetivos ao mesmo tempo</a:t>
            </a:r>
            <a:endParaRPr lang="en-US" sz="3000" dirty="0"/>
          </a:p>
        </p:txBody>
      </p:sp>
      <p:pic>
        <p:nvPicPr>
          <p:cNvPr id="3" name="Figura" descr="Dois objetivos ao mesmo tem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3528" y="1097280"/>
            <a:ext cx="5216944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fronteira de Pareto mostra as melhores concessões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fronteira de Pareto do exemplo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901952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Pipelines distintos avaliados: 68 | na fronteira de Pareto: 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 | acurácia | pipeline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10 |    0.903 | escala=minmax, PCA=10, svm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20 |    0.930 | escala=minmax, PCA=20, svm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30 |    0.937 | escala=minmax, PCA=30, svm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478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 20 atributos já se chega a 0,930: ganho de simplicidade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fluxo do TPOT</a:t>
            </a:r>
            <a:endParaRPr lang="en-US" sz="3000" dirty="0"/>
          </a:p>
        </p:txBody>
      </p:sp>
      <p:pic>
        <p:nvPicPr>
          <p:cNvPr id="3" name="Figura" descr="O fluxo do TP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102" y="1097280"/>
            <a:ext cx="613579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População de pipelines evoluída por validação cruzada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 e limites dos métodos evolutivos</a:t>
            </a:r>
            <a:endParaRPr lang="en-US" sz="3000" dirty="0"/>
          </a:p>
        </p:txBody>
      </p:sp>
      <p:sp>
        <p:nvSpPr>
          <p:cNvPr id="3" name="Cabeçalho 1"/>
          <p:cNvSpPr/>
          <p:nvPr/>
        </p:nvSpPr>
        <p:spPr>
          <a:xfrm>
            <a:off x="457200" y="118872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Vantagens</a:t>
            </a:r>
            <a:endParaRPr lang="en-US" sz="1800" dirty="0"/>
          </a:p>
        </p:txBody>
      </p:sp>
      <p:sp>
        <p:nvSpPr>
          <p:cNvPr id="5" name="Corpo 1"/>
          <p:cNvSpPr/>
          <p:nvPr/>
        </p:nvSpPr>
        <p:spPr>
          <a:xfrm>
            <a:off x="457200" y="1874520"/>
            <a:ext cx="402336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Espaços discretos e estruturados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Pipelines inteiros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Multiobjetivo natural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Código exportável (TPOT)</a:t>
            </a:r>
            <a:endParaRPr lang="en-US" sz="1500" dirty="0"/>
          </a:p>
        </p:txBody>
      </p:sp>
      <p:sp>
        <p:nvSpPr>
          <p:cNvPr id="7" name="Cabeçalho 2"/>
          <p:cNvSpPr/>
          <p:nvPr/>
        </p:nvSpPr>
        <p:spPr>
          <a:xfrm>
            <a:off x="4663440" y="118872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188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Limites</a:t>
            </a:r>
            <a:endParaRPr lang="en-US" sz="1800" dirty="0"/>
          </a:p>
        </p:txBody>
      </p:sp>
      <p:sp>
        <p:nvSpPr>
          <p:cNvPr id="9" name="Corpo 2"/>
          <p:cNvSpPr/>
          <p:nvPr/>
        </p:nvSpPr>
        <p:spPr>
          <a:xfrm>
            <a:off x="4663440" y="1874520"/>
            <a:ext cx="402336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9659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Muitas avaliações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Resultados variam por semente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Hiperparâmetros próprios (população, mutação)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Nem sempre vence a aleatória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Compare sempre com a busca aleatória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Qual é o papel da mutação em um algoritmo genético?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Copiar o melhor indivíduo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Manter a diversidade da população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Calcular a aptidão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Reduzir o orçamento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que é a fronteira de Pareto?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melhor modelo em acurácia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 soluções que nenhuma outra supera em todos os objetivos ao mesmo tempo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média das soluções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pior modelo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levar na mochila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e 1" descr="marc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90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Algoritmo genético: população, aptidão, seleção, cruzamento, mutação, elitismo</a:t>
            </a:r>
            <a:endParaRPr lang="en-US" sz="1300" dirty="0"/>
          </a:p>
        </p:txBody>
      </p:sp>
      <p:sp>
        <p:nvSpPr>
          <p:cNvPr id="6" name="Cartão 2"/>
          <p:cNvSpPr/>
          <p:nvPr/>
        </p:nvSpPr>
        <p:spPr>
          <a:xfrm>
            <a:off x="466344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2" descr="marc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990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3036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Cruzamento combina; mutação diversifica</a:t>
            </a:r>
            <a:endParaRPr lang="en-US" sz="1300" dirty="0"/>
          </a:p>
        </p:txBody>
      </p:sp>
      <p:sp>
        <p:nvSpPr>
          <p:cNvPr id="9" name="Cartão 3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e 3" descr="marca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134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412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Programação genética: soluções em árvore</a:t>
            </a:r>
            <a:endParaRPr lang="en-US" sz="1300" dirty="0"/>
          </a:p>
        </p:txBody>
      </p:sp>
      <p:sp>
        <p:nvSpPr>
          <p:cNvPr id="12" name="Cartão 4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e 4" descr="marc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1343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036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TPOT evolui pipelines e exporta código</a:t>
            </a:r>
            <a:endParaRPr lang="en-US" sz="1300" dirty="0"/>
          </a:p>
        </p:txBody>
      </p:sp>
      <p:sp>
        <p:nvSpPr>
          <p:cNvPr id="15" name="Cartão 5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 5" descr="marcad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2783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412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Multiobjetivo: fronteira de Pareto e NSGA-II</a:t>
            </a:r>
            <a:endParaRPr lang="en-US" sz="1300" dirty="0"/>
          </a:p>
        </p:txBody>
      </p:sp>
      <p:sp>
        <p:nvSpPr>
          <p:cNvPr id="18" name="Cartão 6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6" descr="marcad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2783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3036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Nenhuma família vence sempre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3" name="Faixa 1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73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73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143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Seleção por torneio  </a:t>
            </a:r>
            <a:r>
              <a:rPr lang="en-US" sz="1400" dirty="0">
                <a:solidFill>
                  <a:schemeClr val="tx1"/>
                </a:solidFill>
              </a:rPr>
              <a:t>Qual o efeito do tamanho do torneio?</a:t>
            </a:r>
            <a:endParaRPr lang="en-US" sz="1400" dirty="0"/>
          </a:p>
        </p:txBody>
      </p:sp>
      <p:sp>
        <p:nvSpPr>
          <p:cNvPr id="7" name="Faixa 2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31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431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288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 para um SVM  </a:t>
            </a:r>
            <a:r>
              <a:rPr lang="en-US" sz="1400" dirty="0">
                <a:solidFill>
                  <a:schemeClr val="tx1"/>
                </a:solidFill>
              </a:rPr>
              <a:t>Codificação real, log10(C) e log10(gamma)</a:t>
            </a:r>
            <a:endParaRPr lang="en-US" sz="1400" dirty="0"/>
          </a:p>
        </p:txBody>
      </p:sp>
      <p:sp>
        <p:nvSpPr>
          <p:cNvPr id="11" name="Faixa 3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289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289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5146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Fronteira de Pareto  </a:t>
            </a:r>
            <a:r>
              <a:rPr lang="en-US" sz="1400" dirty="0">
                <a:solidFill>
                  <a:schemeClr val="tx1"/>
                </a:solidFill>
              </a:rPr>
              <a:t>Acurácia × atributos</a:t>
            </a:r>
            <a:endParaRPr lang="en-US" sz="1400" dirty="0"/>
          </a:p>
        </p:txBody>
      </p:sp>
      <p:sp>
        <p:nvSpPr>
          <p:cNvPr id="15" name="Faixa 4"/>
          <p:cNvSpPr/>
          <p:nvPr/>
        </p:nvSpPr>
        <p:spPr>
          <a:xfrm>
            <a:off x="457200" y="32004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147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147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2004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Mutação e elitismo  </a:t>
            </a:r>
            <a:r>
              <a:rPr lang="en-US" sz="1400" dirty="0">
                <a:solidFill>
                  <a:schemeClr val="tx1"/>
                </a:solidFill>
              </a:rPr>
              <a:t>Compare configurações</a:t>
            </a:r>
            <a:endParaRPr lang="en-US" sz="1400" dirty="0"/>
          </a:p>
        </p:txBody>
      </p:sp>
      <p:sp>
        <p:nvSpPr>
          <p:cNvPr id="19" name="Faixa 5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005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0005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PROJETO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8862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Evolução com honestidade  </a:t>
            </a:r>
            <a:r>
              <a:rPr lang="en-US" sz="1400" dirty="0">
                <a:solidFill>
                  <a:schemeClr val="tx1"/>
                </a:solidFill>
              </a:rPr>
              <a:t>GA × aleatória em várias sementes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fim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Ícone fim" descr="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68680"/>
            <a:ext cx="457200" cy="457200"/>
          </a:xfrm>
          <a:prstGeom prst="rect">
            <a:avLst/>
          </a:prstGeom>
        </p:spPr>
      </p:pic>
      <p:sp>
        <p:nvSpPr>
          <p:cNvPr id="4" name="Frase final"/>
          <p:cNvSpPr txBox="1"/>
          <p:nvPr/>
        </p:nvSpPr>
        <p:spPr>
          <a:xfrm>
            <a:off x="73152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evolução também é busca: variar, selecionar e repetir</a:t>
            </a:r>
            <a:endParaRPr lang="en-US" sz="3000" dirty="0"/>
          </a:p>
        </p:txBody>
      </p:sp>
      <p:sp>
        <p:nvSpPr>
          <p:cNvPr id="5" name="Próximo capítulo"/>
          <p:cNvSpPr/>
          <p:nvPr/>
        </p:nvSpPr>
        <p:spPr>
          <a:xfrm>
            <a:off x="1371600" y="3611880"/>
            <a:ext cx="6400800" cy="77724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3611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seguir: </a:t>
            </a:r>
            <a:r>
              <a:rPr lang="en-US" sz="1600" dirty="0">
                <a:solidFill>
                  <a:schemeClr val="bg1"/>
                </a:solidFill>
              </a:rPr>
              <a:t>Capítulo 8: engenharia e seleção automática de atributos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L">
  <a:themeElements>
    <a:clrScheme name="AutoML">
      <a:dk1>
        <a:srgbClr val="11182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uto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AutoML: Teoria e Prática — Capítulo 7: Métodos evolutivos e TPOT</dc:title>
  <dc:subject>Slides de sala de aula</dc:subject>
  <dc:creator>Araken de Medeiros Santos</dc:creator>
  <cp:lastModifiedBy>Araken de Medeiros Santos</cp:lastModifiedBy>
  <cp:revision>1</cp:revision>
  <dcterms:created xsi:type="dcterms:W3CDTF">2026-10-26T18:45:25Z</dcterms:created>
  <dcterms:modified xsi:type="dcterms:W3CDTF">2026-10-26T18:45:25Z</dcterms:modified>
</cp:coreProperties>
</file>