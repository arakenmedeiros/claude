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Ideia central: gastar pouco com todos e muito só com os promissores.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um clube que testa muitos jovens por pouco tempo e só treina a fundo os melhores.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Menos épocas, menos dados, menos atributos, imagens menores, menos partes da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a aposta falha, o método falha também (próximos slides).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cada rodada mantém 1/3 dos candidatos e triplica o orçamento. Economia de 95% do custo, com um bom vencedor.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297 épocas contra 6.561 se todos fossem treinados por 81 épocas: cerca de 95% de economia. (81×81 = 6.561; o halving gasta 297 porque cada rodada reaproveita o treino anterior.)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as curvas não se cruzam, o ranking inicial vale. Se se cruzam, o corte injusto elimina quem só brilha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real: a terceira campeã estava em 20º lugar após 3 épocas.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Fidelidade = número de exemplos de treino. A diferença de acurácia é irrelevante diante da economia.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 escolher o corte 'certo' (Li et al., 2018).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R=81, η=3. O primeiro bracket testa 81 candidatos com 1 época; o último, 5 com 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reais; vantagem pequena mas consistente.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reais; as vantagens são pequenas (0,4 a 0,8 ponto), mas o desvio menor é relevante.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Falkner et al., 2018: combina robustez do Hyperband e eficiência da busca bayesiana.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report() informa o progresso e should_prune() interrompe as tentativas piores que a mediana.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Corta para 1/η e multiplica o orçamento por η.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Curvas de aprendizado que se cruzam.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e se a busca evoluísse como os seres vivos?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6 — Multifidelidade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6 — Multifidelidade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2"/>
                </a:solidFill>
              </a:rPr>
              <a:t>CAPÍTULO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II — Otimização de Hiperparâmetros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Multifidelidade: Halving, Hyperband e BOHB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Desistir cedo dos candidatos fracos para investir nos fortes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fidelidade e avaliação barata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Aplicar o Successive Halving e contar o custo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Saber quando o corte precoce funciona e quando falha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Entender o Hyperband e o BOHB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Usar halving no scikit-learn e podadores no Optuna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as armadilhas da multifidelidade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6.1–6.2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Peneira de talentos e fidelidade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6.3–6.4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Successive Halving e limites do corte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6.5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Halving no scikit-learn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6.6–6.7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Hyperband e BOHB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6.8–6.9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Podas no Optuna e armadilhas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peneira de talentos</a:t>
            </a:r>
            <a:endParaRPr lang="en-US" sz="3000" dirty="0"/>
          </a:p>
        </p:txBody>
      </p:sp>
      <p:pic>
        <p:nvPicPr>
          <p:cNvPr id="3" name="Figura" descr="A peneira de tal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882" y="1097280"/>
            <a:ext cx="586023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Candidatos fracos saem cedo e gastam pouco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fidelidade?</a:t>
            </a:r>
            <a:endParaRPr lang="en-US" sz="3000" dirty="0"/>
          </a:p>
        </p:txBody>
      </p:sp>
      <p:pic>
        <p:nvPicPr>
          <p:cNvPr id="3" name="Figura" descr="O que é fidelidade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4807" y="1097280"/>
            <a:ext cx="649438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Versões baratas de uma avaliação cara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Provar com a ponta da colher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Para saber se um molho está bom você não come o prato todo. Uma colherada dá uma ideia razoável do final.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Aposta central: o ranking em baixa fidelidade se parece com o ranking em alta fidelidade.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Successive Halving com 81 candidatos (η =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candidatos com  1 épocas | melhor acurácia = 0.948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candidatos com  3 épocas | melhor acurácia = 0.961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candidatos com  9 épocas | melhor acurácia = 0.969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candidatos com 27 épocas | melhor acurácia = 0.969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candidatos com 81 épocas | melhor acurácia = 0.956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297 épocas gastas, contra 6.561 para treinar todos até o fim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economia do halving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épocas gastas pelo halving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32766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766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6.561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4137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épocas se treinássemos todos até o fim</a:t>
            </a:r>
            <a:endParaRPr lang="en-US" sz="1400" dirty="0"/>
          </a:p>
        </p:txBody>
      </p:sp>
      <p:sp>
        <p:nvSpPr>
          <p:cNvPr id="9" name="Cartão de número 3"/>
          <p:cNvSpPr/>
          <p:nvPr/>
        </p:nvSpPr>
        <p:spPr>
          <a:xfrm>
            <a:off x="60960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960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2331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economia</a:t>
            </a:r>
            <a:endParaRPr lang="en-US" sz="1400" dirty="0"/>
          </a:p>
        </p:txBody>
      </p:sp>
      <p:sp>
        <p:nvSpPr>
          <p:cNvPr id="12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 ganho é de ordem de grandeza, não de detalhe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corte precoce funciona (e quando não)</a:t>
            </a:r>
            <a:endParaRPr lang="en-US" sz="3000" dirty="0"/>
          </a:p>
        </p:txBody>
      </p:sp>
      <p:pic>
        <p:nvPicPr>
          <p:cNvPr id="3" name="Figura" descr="Quando o corte precoce funciona (e quando não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183" y="1097280"/>
            <a:ext cx="6065634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Curvas que se cruzam eliminam campeãs lentas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sobreviveria ao corte?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configuração 30: posto final = 1 | posto após 3 épocas =  5 de 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configuração 14: posto final = 2 | posto após 3 épocas = 10 de 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configuração 35: posto final = 3 | posto após 3 épocas = 20 de 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Cortando para as 13 melhores após 3 épocas: 2 das 3 campeãs sobrevivem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Uma das três melhores seria eliminada por azar do corte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Halving no scikit-learn: SVM no Digits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completa : 180 treinos | melhor acurácia = 0.989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Halving        : candidatos por rodada [36, 12, 4] | exemplos por rodada [100, 300, 900]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melhor acurácia (na última rodada) = 0.987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 aproximado (exemplos processados): grade = 258,660 | halving = 43,200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Economia: 83%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83% mais barato, 0,2 ponto a menos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Vários torneios, várias apostas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Um técnico pode apostar em testar muitos jogadores por pouco tempo, ou poucos por muito tempo. Hyperband faz as duas apostas, em torneios diferentes.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Hyperband executa vários Successive Halving com compromissos diferentes entre número de candidatos e orçamento por candidato.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torneios (brackets) do Hyperband</a:t>
            </a:r>
            <a:endParaRPr lang="en-US" sz="3000" dirty="0"/>
          </a:p>
        </p:txBody>
      </p:sp>
      <p:pic>
        <p:nvPicPr>
          <p:cNvPr id="3" name="Figura" descr="Os torneios (brackets) do Hyperb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101" y="1097280"/>
            <a:ext cx="6237798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 mais agressivo ao mais conservador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Hyperband × aleatória (12 sementes)</a:t>
            </a:r>
            <a:endParaRPr lang="en-US" sz="3000" dirty="0"/>
          </a:p>
        </p:txBody>
      </p:sp>
      <p:pic>
        <p:nvPicPr>
          <p:cNvPr id="3" name="Figura" descr="Hyperband × aleatória (12 semente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1097280"/>
            <a:ext cx="533400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vantagem existe, mas é modesta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orçamento, mais candidatos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Orçamento de 297 épocas: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Successive Halving (81 configurações): 0.963 (±0.005)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Aleatória (só 3 configurações)         : 0.955 (±0.012)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Orçamento de 1581 épocas: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Hyperband (143 configurações)      : 0.969 (±0.002)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Aleatória (só 19 configurações)      : 0.965 (±0.007)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Mais candidatos exploram melhor; o desvio também cai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BOHB: Hyperband + inteligência</a:t>
            </a:r>
            <a:endParaRPr lang="en-US" sz="3000" dirty="0"/>
          </a:p>
        </p:txBody>
      </p:sp>
      <p:pic>
        <p:nvPicPr>
          <p:cNvPr id="3" name="Figura" descr="BOHB: Hyperband + inteligên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086" y="1097280"/>
            <a:ext cx="683182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Torneios do Hyperband com candidatos sugeridos por um modelo TPE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Poda no Optuna: MedianPruner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877824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poda     : tentativas podadas =  0/40 | épocas treinadas = 2400 | melhor acurácia = 0.972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MedianPruner : tentativas podadas = 20/40 | épocas treinadas = 1297 | melhor acurácia = 0.969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46% menos treino, 0,3 ponto a menos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Armadilhas e boas práticas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Curvas que se cruzam enganam o corte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Fidelidade muito baixa gera ranking ruidoso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Meça a correlação entre fidelidades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Reserve um mínimo de orçamento por candidato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Compare com busca aleatória de mesmo custo</a:t>
            </a:r>
            <a:endParaRPr lang="en-US" sz="18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Desistir cedo é bom, mas só com evidência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Successive Halving com η = 3, o que acontece a cada rodada?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Mantém 1/3 dos candidatos e triplica o orçamento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Dobra os candidatos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Reinicia a busca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Mantém todos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Qual é o risco central do corte precoce?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Gastar demais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Eliminar candidatas que só brilham no fim do treino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Perder o conjunto de teste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Usar poucos dados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Multifidelidade: muitos candidatos baratos, poucos caros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Fidelidade: épocas, dados, atributos, resolução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Halving: mantém 1/η e multiplica o orçamento por η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Hyperband: vários torneios, sem escolher o corte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BOHB = Hyperband + TPE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Risco: curvas que se cruzam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Custo do halving  </a:t>
            </a:r>
            <a:r>
              <a:rPr lang="en-US" sz="1400" dirty="0">
                <a:solidFill>
                  <a:schemeClr val="tx1"/>
                </a:solidFill>
              </a:rPr>
              <a:t>Conte as épocas gastas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Fator η  </a:t>
            </a:r>
            <a:r>
              <a:rPr lang="en-US" sz="1400" dirty="0">
                <a:solidFill>
                  <a:schemeClr val="tx1"/>
                </a:solidFill>
              </a:rPr>
              <a:t>Efeito de η = 2, 3 e 4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Hyperband à mão  </a:t>
            </a:r>
            <a:r>
              <a:rPr lang="en-US" sz="1400" dirty="0">
                <a:solidFill>
                  <a:schemeClr val="tx1"/>
                </a:solidFill>
              </a:rPr>
              <a:t>Implemente os brackets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Podadores do Optuna  </a:t>
            </a:r>
            <a:r>
              <a:rPr lang="en-US" sz="1400" dirty="0">
                <a:solidFill>
                  <a:schemeClr val="tx1"/>
                </a:solidFill>
              </a:rPr>
              <a:t>Compare Median e Hyperband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Busca econômica  </a:t>
            </a:r>
            <a:r>
              <a:rPr lang="en-US" sz="1400" dirty="0">
                <a:solidFill>
                  <a:schemeClr val="tx1"/>
                </a:solidFill>
              </a:rPr>
              <a:t>Compare custo e acurácia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Gaste pouco com todos; invista em quem merece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7: métodos evolutivos e TPOT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6: Multifidelidade: Halving, Hyperband e BOHB</dc:title>
  <dc:subject>Slides de sala de aula</dc:subject>
  <dc:creator>Araken de Medeiros Santos</dc:creator>
  <cp:lastModifiedBy>Araken de Medeiros Santos</cp:lastModifiedBy>
  <cp:revision>1</cp:revision>
  <dcterms:created xsi:type="dcterms:W3CDTF">2026-10-26T18:45:24Z</dcterms:created>
  <dcterms:modified xsi:type="dcterms:W3CDTF">2026-10-26T18:45:24Z</dcterms:modified>
</cp:coreProperties>
</file>