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Capítulo de revisão: nivela a turma. Mensagem central: avaliar com honestidade é mais importante do que treinar.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ideias que sustentam todo 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do livro: cada linha é um exemplo (um paciente, um vinho). Classificação prevê categorias; regressão prevê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 de decisão (perguntas sucessivas), k-vizinhos (pergunta aos vizinhos), regressão logística (reta), floresta (muitas árvores votando).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capítulo: max_depth = 3 e a árvore aprendeu 15 nós; a pergunta da raiz foi worst radius &lt;= 16,8.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à figura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modelos nos mesmos pontos: reta (subajuste), curva suave (bom), curva que passa por todos os pontos (sobreajuste).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 (Breast Cancer, UCI). A acurácia de treino sobe até 1,000, mas a de validação estaciona. Por isso a validação é quem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Conjunto de teste = cofre. Se você o abre várias vezes para decidir, ele vira validação e a nota final fica otimista. No exemplo: 341 para treino, 114 validação, 114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real: notas das 5 rodadas [0,956 0,974 0,982 1,000 0,982]; média 0,979 e desvio 0,014. Mostre que a média é mais confiável que uma única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Desvio-padrão mostra a variação entre as rodadas.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Verdadeiros e falsos positivos e negativos. Precisão: dos que previ positivos, quantos eram. Revocação: dos positivos reais, quantos encontrei.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com 5% de casos doentes. 'Sempre saudável' acerta 95% e nunca encontra um doente. A regressão logística tem acurácia menor, mas revocação 0,65 e AUC 0,803. Escolha a métrica pelo custo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Conjunto Diabetes. MAE: erro absoluto médio; RMSE penaliza erros grandes; R² compara com a média.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à turma exemplos de linha de base em outros contextos.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 do capítulo: rótulos sem relação com os atributos; 300 modelos testados. O melhor teve 0,667 na validação, mas 0,503 (acaso) em dados novos. Quanto mais se busca, mais otimista fica a nota do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 o tema dos Capítulos 4 e 13: otimismo da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prático.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Usá-lo para decidir o transforma em validação e contamina a estimativa.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Use revocação, F1 ou AUC; a revocação desse modelo é 0.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 Apêndice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o vazamento de dados é a forma mais comum de trapaça sem querer.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2 — Aprendizado de máquina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2 — Aprendizado de máquina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CAPÍTULO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 — Fundamentos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 em um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O essencial para avaliar modelos com honestidade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Distinguir exemplo, atributo e alvo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Diferenciar classificação e regressão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Separar parâmetros de hiperparâmetros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subajuste e sobreajuste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Usar treino, validação, teste e validação cruzada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Escolher métricas e entender o efeito do vencedor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2.2–2.3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Dados e quatro algoritmos clássicos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2.4–2.5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Hiperparâmetros e o erro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2.6–2.7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Treino, validação, teste e validação cruzada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2.8–2.9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Métricas e linha de base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2.10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perigo do efeito do vencedor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tabela de dados</a:t>
            </a:r>
            <a:endParaRPr lang="en-US" sz="3000" dirty="0"/>
          </a:p>
        </p:txBody>
      </p:sp>
      <p:pic>
        <p:nvPicPr>
          <p:cNvPr id="3" name="Figura" descr="Uma tabela de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574" y="1097280"/>
            <a:ext cx="599485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Linha = exemplo · coluna = atributo · última coluna = alvo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algoritmos, quatro jeitos de separar</a:t>
            </a:r>
            <a:endParaRPr lang="en-US" sz="3000" dirty="0"/>
          </a:p>
        </p:txBody>
      </p:sp>
      <p:pic>
        <p:nvPicPr>
          <p:cNvPr id="3" name="Figura" descr="Quatro algoritmos, quatro jeitos de separ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010" y="1097280"/>
            <a:ext cx="770598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algoritmo desenha a fronteira à sua maneira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× hiperparâmetros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Parâmetros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modelo aprende sozinho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Mudam durante o treino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Ex.: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os nós de uma árvore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Hiperparâmetros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Você define antes do treino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Controlam como o modelo aprende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Ex.: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profundidade máxima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Hiperparâmetros são os botões do forno; parâmetros, a massa que assa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Decorar × entender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Um aluno que decora o gabarito vai bem na prova antiga e mal na nova. Um modelo que decora o treino faz o mesmo.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Sobreajuste: erro de treino baixo e erro de validação alto. Subajuste: modelo simples demais, erro alto nos dois.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Subajuste, ajuste certo, sobreajuste</a:t>
            </a:r>
            <a:endParaRPr lang="en-US" sz="3000" dirty="0"/>
          </a:p>
        </p:txBody>
      </p:sp>
      <p:pic>
        <p:nvPicPr>
          <p:cNvPr id="3" name="Figura" descr="Subajuste, ajuste certo, sobreaju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611" y="1097280"/>
            <a:ext cx="726277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Nem simples demais, nem decorando o treino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profundo, mais decora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profundidade | acurácia no treino | acurácia na validação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1 |              0.924 |                 0.900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2 |              0.952 |                 0.928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3 |              0.974 |                 0.917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5 |              0.991 |                 0.916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8 |              1.000 |                 0.916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12 |              1.000 |                 0.917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treino chega a 100%; a validação para em ~92%: o excesso é decoreba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cofre do teste</a:t>
            </a:r>
            <a:endParaRPr lang="en-US" sz="3000" dirty="0"/>
          </a:p>
        </p:txBody>
      </p:sp>
      <p:pic>
        <p:nvPicPr>
          <p:cNvPr id="3" name="Figura" descr="O cofre do te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121" y="1097280"/>
            <a:ext cx="685575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Treino aprende · validação escolhe · teste mede, uma só vez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cruzada: todo mundo vira prova</a:t>
            </a:r>
            <a:endParaRPr lang="en-US" sz="3000" dirty="0"/>
          </a:p>
        </p:txBody>
      </p:sp>
      <p:pic>
        <p:nvPicPr>
          <p:cNvPr id="3" name="Figura" descr="Validação cruzada: todo mundo vira pro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290" y="1097280"/>
            <a:ext cx="626342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Cinco rodadas dão uma nota mais estável que uma divisão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várias provas?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Avaliar um aluno por uma única prova é arriscado: o dia pode ter sido bom ou ruim. A média de cinco provas conta uma história mais justa.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Validação cruzada de k partes: treinar e avaliar k vezes, trocando a parte de validação, e reportar média e desvio.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confusão: de onde saem as métricas</a:t>
            </a:r>
            <a:endParaRPr lang="en-US" sz="3000" dirty="0"/>
          </a:p>
        </p:txBody>
      </p:sp>
      <p:pic>
        <p:nvPicPr>
          <p:cNvPr id="3" name="Figura" descr="Matriz de confusão: de onde saem as métric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045" y="1097280"/>
            <a:ext cx="612990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Acurácia, precisão, revocação e F1 vêm dos mesmos quatro números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acurácia engana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'saudável'    acurácia=0.950  revocação=0.000  F1=0.000  AUC=0.500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Regressão logística  acurácia=0.763  revocação=0.650  F1=0.215  AUC=0.803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Um modelo inútil tem 95% de acurácia em dados desbalanceados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Regressão: o erro tem unidade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a média   MAE=  58.3  RMSE=  70.5  R²=-0.000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Regressão Ridge  MAE=  44.9  RMSE=  56.5  R²= 0.357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R² = 0 é igual a prever sempre a média: a linha de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base: o ponto de comparação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Um modelo simples (sempre a média, a classe mais comum)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Dá sentido à nota: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0,95 é bom ou ruim?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 o AutoML não bate a linha de base, não se justifica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Sem linha de base, nota alguma tem significado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 do vencedor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0,667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melhor nota de validação entre 300 modelos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0,503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acurácia do mesmo modelo em dados novos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Os dados eram ruído puro: a 'melhor' nota era pura sorte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loteria dos palpites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Se 300 pessoas chutam o resultado de 20 jogos, alguém acerta muito. Isso não prova que sabe de futebol.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Escolher o máximo entre muitas notas ruidosas superestima a qualidade real. Daí a necessidade de um teste intocado.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Separe o teste antes de qualquer decisão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Use validação cruzada para escolher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Relate média e desvio, não só um número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Escolha a métrica pelo custo do erro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Compare sempre com uma linha de base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Honestidade antes de sofisticação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o conjunto de teste deve ser usado uma única vez?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é pequeno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que a nota final não seja otimista por decisões baseadas nele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 computador esquece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economizar tempo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Em dados com 5% de casos positivos, 'sempre negativo' tem 95% de acurácia. O que isso mostra?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é excelente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acurácia engana em dados desbalanceados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teste está errado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há linha de 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Exemplo = linha; atributo = coluna; alvo = o que prever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Parâmetros o modelo aprende; hiperparâmetros você define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Subajuste: simples demais; sobreajuste: decorou o treino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Treino aprende, validação escolhe, teste mede uma vez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Acurácia engana: prefira F1, revocação ou AUC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Efeito do vencedor: o melhor entre muitos parece bom por sorte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4302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4302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Curvas de aprendizado  </a:t>
            </a:r>
            <a:r>
              <a:rPr lang="en-US" sz="1400" dirty="0">
                <a:solidFill>
                  <a:schemeClr val="tx1"/>
                </a:solidFill>
              </a:rPr>
              <a:t>Treino × validação por profundidade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200025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0027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0027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00025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Métricas em dados desbalanceados  </a:t>
            </a:r>
            <a:r>
              <a:rPr lang="en-US" sz="1400" dirty="0">
                <a:solidFill>
                  <a:schemeClr val="tx1"/>
                </a:solidFill>
              </a:rPr>
              <a:t>Compare acurácia, F1 e AUC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85750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05752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5752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85750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Uma nota ou várias?  </a:t>
            </a:r>
            <a:r>
              <a:rPr lang="en-US" sz="1400" dirty="0">
                <a:solidFill>
                  <a:schemeClr val="tx1"/>
                </a:solidFill>
              </a:rPr>
              <a:t>Variação da validação cruzada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714750"/>
            <a:ext cx="8229600" cy="765810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14775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914775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714750"/>
            <a:ext cx="6675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Protocolo de avaliação honesta  </a:t>
            </a:r>
            <a:r>
              <a:rPr lang="en-US" sz="1400" dirty="0">
                <a:solidFill>
                  <a:schemeClr val="tx1"/>
                </a:solidFill>
              </a:rPr>
              <a:t>Reproduza o efeito do vencedor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com honestidade vale mais que treinar com sofisticação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3: pipelines e pré-processamento sem vazamento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2: Aprendizado de máquina em um capítulo</dc:title>
  <dc:subject>Slides de sala de aula</dc:subject>
  <dc:creator>Araken de Medeiros Santos</dc:creator>
  <cp:lastModifiedBy>Araken de Medeiros Santos</cp:lastModifiedBy>
  <cp:revision>1</cp:revision>
  <dcterms:created xsi:type="dcterms:W3CDTF">2026-10-26T18:45:20Z</dcterms:created>
  <dcterms:modified xsi:type="dcterms:W3CDTF">2026-10-26T18:45:20Z</dcterms:modified>
</cp:coreProperties>
</file>