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princípios do AutoML não mudam; mudam as armadilhas e os componentes do espaço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técnica de provar e ajustar é a mesma; o preparo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AutoML é o cozinheiro; o preparo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séries, embaralhar deixa o modelo treinar com meses posteriores aos que prevê. Bergmeir e Benítez (2012).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diferenciação, o alvo é y(t) − y(t−12): quanto o valor mudou em relação ao mesmo mês do ano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Árvores não extrapolam tendência. 526 meses, 1958–2001; últimos 36 meses para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ajuda o boosting.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Espaço: 2 modelos × 3 atrasos × 2 (diferenciação sim/não).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MAE em ppm. O ganho é claro porque a série tem tendência e sazonalidade regulares.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Prever um mês à frente é mais fácil que prever 12 meses de uma vez: os erros se acumulam.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TF-IDF dá peso alto a palavras frequentes no documento e raras na coleção.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Texto simulado: negação em 40% das frases. Não representa texto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simulados de propósito, para exagerar um fenômeno real. Os números não medem texto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Taxa de aprendizado e número de épocas entram no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Deslocar, girar e adicionar ruído. O modelo aprende que um 7 deslocado continua sendo 7. AutoAugment (Cubuk et al., 2019) busca políticas de ampliação.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continha distorções; por isso premiou políticas robustas. A validação deve se parecer com o uso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Perda de 2,3 pontos no limpo; ganho de 34 pontos no distorcido.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Séries: validação temporal e lags. Texto: representação. Imagens: ampliação e transferência.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É vazamento do futuro: algo impossível em produção.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'não bom' inverte o sentido; palavras isoladas não veem a relação.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12 — Séries, texto e imagens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12 — Séries, texto e imagens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4"/>
                </a:solidFill>
              </a:rPr>
              <a:t>CAPÍTULO 12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IV — Redes Neurais e Novos Domínios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AutoML para séries temporais, texto e imagens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Mesmos princípios, outras armadilhas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o que muda em séries, texto e imagens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Validar séries sem olhar o futuro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Construir um mini-AutoML de previsão com atrasos e diferenciação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Buscar a representação de um texto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Buscar uma política de ampliação de dados em imagens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Entender o papel de modelos pré-treinados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12.1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Além das tabelas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12.2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Séries temporais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12.3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Texto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12.4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Imagens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12.5–12.6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Quadro-resumo e boas práticas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domínios fora da tabela</a:t>
            </a:r>
            <a:endParaRPr lang="en-US" sz="3000" dirty="0"/>
          </a:p>
        </p:txBody>
      </p:sp>
      <p:pic>
        <p:nvPicPr>
          <p:cNvPr id="3" name="Figura" descr="Três domínios fora da tab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27" y="1097280"/>
            <a:ext cx="597654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Séries têm ordem; textos viram números; imagens têm forma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Peixe, grão e fruta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O mesmo cozinheiro lida com ingredientes diferentes: o peixe exige um preparo, o grão outro e a fruta outro.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Série temporal: respeitar a ordem. Texto: transformar em números. Imagem: cuidar da forma e da variação.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 aleatória vaza o futuro</a:t>
            </a:r>
            <a:endParaRPr lang="en-US" sz="3000" dirty="0"/>
          </a:p>
        </p:txBody>
      </p:sp>
      <p:pic>
        <p:nvPicPr>
          <p:cNvPr id="3" name="Figura" descr="A validação aleatória vaza o futu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048" y="1097280"/>
            <a:ext cx="5851904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Passado treina, futuro testa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série vira tabela</a:t>
            </a:r>
            <a:endParaRPr lang="en-US" sz="3000" dirty="0"/>
          </a:p>
        </p:txBody>
      </p:sp>
      <p:pic>
        <p:nvPicPr>
          <p:cNvPr id="3" name="Figura" descr="A série vira tab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280" y="1097280"/>
            <a:ext cx="641743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Atrasos (lags) + mês do ano = atributos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Aleatória × temporal (CO₂ de Mauna Loa)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ridge: MAE com validação aleatória = 0.248 | temporal = 0.295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hgb  : MAE com validação aleatória = 0.562 | temporal = 1.707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Para o boosting em valores brutos, a validação aleatória é muito otimista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Prever a safra do próximo ano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Quem aprende com safras de qualquer ano, até as futuras, 'adivinha' sem mérito. Só vale prever o futuro usando o passado.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Árvores e boosting repetem valores já vistos: não extrapolam uma tendência de crescimento.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Mini-AutoML de previsão: 12 configurações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Validação temporal (MAE), melhores e piores: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0.257  ridge lags=24 diferenciação=não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0.266  ridge lags= 6 diferenciação=não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0.278  ridge lags=24 diferenciação=sim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1.777  hgb   lags=24 diferenciação=não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2.109  hgb   lags= 6 diferenciação=não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boosting em valores brutos ficou 7 a 8 vezes pior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Teste: um mês à frente, últimos 36 meses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8859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0,227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mini-AutoML (Ridge, 24 lags)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2571750" y="118872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71750" y="1280160"/>
            <a:ext cx="18859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08910" y="246888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ingênua (mês anterior)</a:t>
            </a:r>
            <a:endParaRPr lang="en-US" sz="1400" dirty="0"/>
          </a:p>
        </p:txBody>
      </p:sp>
      <p:sp>
        <p:nvSpPr>
          <p:cNvPr id="9" name="Cartão de número 3"/>
          <p:cNvSpPr/>
          <p:nvPr/>
        </p:nvSpPr>
        <p:spPr>
          <a:xfrm>
            <a:off x="4686300" y="118872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86300" y="1280160"/>
            <a:ext cx="18859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1,413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246888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sazonal ingênua</a:t>
            </a:r>
            <a:endParaRPr lang="en-US" sz="1400" dirty="0"/>
          </a:p>
        </p:txBody>
      </p:sp>
      <p:sp>
        <p:nvSpPr>
          <p:cNvPr id="12" name="Cartão de número 4"/>
          <p:cNvSpPr/>
          <p:nvPr/>
        </p:nvSpPr>
        <p:spPr>
          <a:xfrm>
            <a:off x="6800850" y="118872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00850" y="1280160"/>
            <a:ext cx="18859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1,399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38010" y="246888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pior configuração</a:t>
            </a:r>
            <a:endParaRPr lang="en-US" sz="1400" dirty="0"/>
          </a:p>
        </p:txBody>
      </p:sp>
      <p:sp>
        <p:nvSpPr>
          <p:cNvPr id="15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Seis vezes menos erro que a pior; quatro e meia vezes menos que a ingênua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previsões</a:t>
            </a:r>
            <a:endParaRPr lang="en-US" sz="3000" dirty="0"/>
          </a:p>
        </p:txBody>
      </p:sp>
      <p:pic>
        <p:nvPicPr>
          <p:cNvPr id="3" name="Figura" descr="As previsõ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196" y="1097280"/>
            <a:ext cx="4955608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linha verde acompanha o real; a vermelha, não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de texto</a:t>
            </a:r>
            <a:endParaRPr lang="en-US" sz="3000" dirty="0"/>
          </a:p>
        </p:txBody>
      </p:sp>
      <p:pic>
        <p:nvPicPr>
          <p:cNvPr id="3" name="Figura" descr="O pipeline de tex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086" y="1097280"/>
            <a:ext cx="683182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Vetorizar (TF-IDF) e classificar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frases ou palavras soltas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Lendo só as palavras soltas 'não' e 'bom', você não sabe se é 'não é bom' ou 'é bom, não é?'.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Bigramas ('não bom') recuperam o sentido que as palavras isoladas perdem.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representação pesa mais que o classificador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Validação cruzada (18 configurações):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1.000  n-gramas=(1, 2)  SVM linear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0.999  n-gramas=(1, 3)  SVM linear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0.551  n-gramas=(1, 1)  LogReg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0.544  n-gramas=(1, 1)  Naive Bayes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TESTE: melhor = 1.000 | pipeline padrão = 0.607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Palavras isoladas: perto do acaso. Bigramas: quase perfeito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era dos modelos pré-treinados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BERT (Devlin et al., 2019) e Transformers (Vaswani et al., 2017)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Ajuste fino: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reaproveitar um modelo treinado em muito texto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espaço de busca vira: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qual modelo e como ajustar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lógica de busca, validação e orçamento é a mesma</a:t>
            </a:r>
            <a:endParaRPr lang="en-US" sz="18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Muda o espaço, não a lógica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Ampliação de dados</a:t>
            </a:r>
            <a:endParaRPr lang="en-US" sz="3000" dirty="0"/>
          </a:p>
        </p:txBody>
      </p:sp>
      <p:pic>
        <p:nvPicPr>
          <p:cNvPr id="3" name="Figura" descr="Ampliação de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7191"/>
            <a:ext cx="8229600" cy="2054819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Um dígito, vários exemplos de treino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Mini-AutoAugment no Digits (300 imagens)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133856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ampliação        : teste limpo = 0.962 | teste distorcido = 0.529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política       : deslocamento=1.44, rotação=13.1°, ruído=0.62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a melhor política : teste limpo = 0.939 | teste distorcido = 0.873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977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Sob distorção: de 0,529 para 0,873, com pequena perda no limpo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da melhor política</a:t>
            </a:r>
            <a:endParaRPr lang="en-US" sz="3000" dirty="0"/>
          </a:p>
        </p:txBody>
      </p:sp>
      <p:pic>
        <p:nvPicPr>
          <p:cNvPr id="3" name="Figura" descr="Efeito da melhor polít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97" y="1097280"/>
            <a:ext cx="4626807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ampliação não é de graça, mas compensa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e o que permanece</a:t>
            </a:r>
            <a:endParaRPr lang="en-US" sz="3000" dirty="0"/>
          </a:p>
        </p:txBody>
      </p:sp>
      <p:pic>
        <p:nvPicPr>
          <p:cNvPr id="3" name="Figura" descr="O que muda e o que permane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02" y="1097280"/>
            <a:ext cx="613579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Espaço, avaliação honesta, linhas de base e orçamento permanecem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 que embaralhar uma série temporal na validação é um erro?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Deixa o modelo treinar com o futuro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Aumenta o tempo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 atributos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a métrica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 que bigramas ajudaram no texto simulado?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Aumentam o teste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negação só aparece na combinação de palavras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Removem palavras raras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Aceleram o treino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Séries: validação temporal; nunca embaralhar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Compare com a ingênua e a sazonal ingênua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Árvores não extrapolam tendência; diferencie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Texto: a representação pesa mais que o classificador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Imagens: ampliação de dados e transferência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validação deve se parecer com o uso real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Validação aleatória ou temporal  </a:t>
            </a:r>
            <a:r>
              <a:rPr lang="en-US" sz="1400" dirty="0">
                <a:solidFill>
                  <a:schemeClr val="tx1"/>
                </a:solidFill>
              </a:rPr>
              <a:t>CO₂ com Ridge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Três linhas de base  </a:t>
            </a:r>
            <a:r>
              <a:rPr lang="en-US" sz="1400" dirty="0">
                <a:solidFill>
                  <a:schemeClr val="tx1"/>
                </a:solidFill>
              </a:rPr>
              <a:t>Ingênua, sazonal e média móvel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Quando n-gramas importam  </a:t>
            </a:r>
            <a:r>
              <a:rPr lang="en-US" sz="1400" dirty="0">
                <a:solidFill>
                  <a:schemeClr val="tx1"/>
                </a:solidFill>
              </a:rPr>
              <a:t>Com e sem negação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Qual distorção ajuda mais  </a:t>
            </a:r>
            <a:r>
              <a:rPr lang="en-US" sz="1400" dirty="0">
                <a:solidFill>
                  <a:schemeClr val="tx1"/>
                </a:solidFill>
              </a:rPr>
              <a:t>Deslocar, girar, ruído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Manchas solares com mini-AutoML  </a:t>
            </a:r>
            <a:r>
              <a:rPr lang="en-US" sz="1400" dirty="0">
                <a:solidFill>
                  <a:schemeClr val="tx1"/>
                </a:solidFill>
              </a:rPr>
              <a:t>Walk-forward de 1 ano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princípios são os mesmos; as armadilhas, outras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13: explicabilidade, ética e limitações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12: AutoML para séries temporais, texto e imagens</dc:title>
  <dc:subject>Slides de sala de aula</dc:subject>
  <dc:creator>Araken de Medeiros Santos</dc:creator>
  <cp:lastModifiedBy>Araken de Medeiros Santos</cp:lastModifiedBy>
  <cp:revision>1</cp:revision>
  <dcterms:created xsi:type="dcterms:W3CDTF">2026-10-26T18:45:31Z</dcterms:created>
  <dcterms:modified xsi:type="dcterms:W3CDTF">2026-10-26T18:45:31Z</dcterms:modified>
</cp:coreProperties>
</file>