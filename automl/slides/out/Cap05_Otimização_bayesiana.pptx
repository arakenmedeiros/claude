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busca aleatória ignora o que aprendeu, a bayesiana usa a memória. Mas o capítulo mostra também quando ela NÃO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furo é caro (um treino). A bayesiana usa os furos anteriores para escolher o próximo.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ajustar o modelo substituto; 2) calcular a aquisição; 3) escolher o ponto; 4) avaliar a função cara; 5) atualizar e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Dilema clássico, central em toda busca inteligente.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azul é a média do modelo; a faixa, a incerteza. Quatro momentos de uma otimização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PI: probabilidade de melhorar; EI: melhoria esperada; UCB: média + incerteza.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à esquerda (função-agulha) e à direita (outro cenário).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real. Com 5 avaliações, o modelo ainda não aprendeu; a BO só vence a partir de ~15.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TPE (Bergstra et al., 2011): modela l(x) das boas e g(x) das ruins; escolhe onde l/g é grande. Bom para espaços condicionais.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SMAC (Hutter et al., 2011; Lindauer et al., 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Optuna (Akiba et al., 2019): espaço define-by-run, escrito com if 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bom resultado, mas veja a comparação honesta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espaço condicional escolhe o algoritmo e seus botões. Observação honesta: o SVM teve só 5 tentativas e acabou mal avaliado; o TPE concentrou o esforço na floresta.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no Digits. Resultado honesto: não vença a aleatória por decreto;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Limitações: ruído, alta dimensionalidade, custo do próprio modelo substituto.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Ela dá uma nota de interesse a cada ponto candidato.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região boa é grande; sorteios a encontram rapidamente.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e se desistíssemos cedo das tentativas ruins?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5 — Otimização bayesiana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5 — Otimização bayesiana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2"/>
                </a:solidFill>
              </a:rPr>
              <a:t>CAPÍTULO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 — Otimização de Hiperparâmetros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 bayesiana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Aprender com cada tentativa para escolher a próxima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o problema da caixa-preta cara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Descrever o modelo substituto e a incerteza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explorar × aproveitar e funções de aquisição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Implementar uma otimização bayesiana simples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Conhecer TPE, SMAC e o Optuna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Resolver o CASH com o Optuna e avaliar o ganho com honestidade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5.1–5.3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Caixa-preta cara, modelo substituto, explorar × aproveitar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5.4–5.5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Processo gaussiano e funções de aquisição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5.6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Construindo do zero e comparando com aleatória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5.7–5.8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TPE e SMAC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5.9–5.11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Optuna, CASH e quanto ganhamos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garimpeiro inteligente</a:t>
            </a:r>
            <a:endParaRPr lang="en-US" sz="3000" dirty="0"/>
          </a:p>
        </p:txBody>
      </p:sp>
      <p:pic>
        <p:nvPicPr>
          <p:cNvPr id="3" name="Figura" descr="O garimpeiro intelig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82" y="1097280"/>
            <a:ext cx="586023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Decidir onde furar com base no que já descobriu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da otimização bayesiana</a:t>
            </a:r>
            <a:endParaRPr lang="en-US" sz="3000" dirty="0"/>
          </a:p>
        </p:txBody>
      </p:sp>
      <p:pic>
        <p:nvPicPr>
          <p:cNvPr id="3" name="Figura" descr="O ciclo da otimização bayesi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158" y="1097280"/>
            <a:ext cx="598568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Só o passo 4 é caro; os demais são baratos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 ou aproveitar?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Você tem um restaurante favorito (aproveitar), mas pode haver um melhor na esquina (explorar). Quanto arriscar?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As funções de aquisição (PI, EI, UCB) equilibram média prevista alta (aproveitar) e incerteza alta (explorar).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gaussiano: previsão com incerteza</a:t>
            </a:r>
            <a:endParaRPr lang="en-US" sz="3000" dirty="0"/>
          </a:p>
        </p:txBody>
      </p:sp>
      <p:pic>
        <p:nvPicPr>
          <p:cNvPr id="3" name="Figura" descr="Processo gaussiano: previsão com incertez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438" y="1097280"/>
            <a:ext cx="5291123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Onde há poucos dados, a incerteza é grande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de aquisição</a:t>
            </a:r>
            <a:endParaRPr lang="en-US" sz="3000" dirty="0"/>
          </a:p>
        </p:txBody>
      </p:sp>
      <p:pic>
        <p:nvPicPr>
          <p:cNvPr id="3" name="Figura" descr="Funções de aquisi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475" y="1097280"/>
            <a:ext cx="790305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uma sugere um próximo ponto diferente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Bayesiana × aleatória, do zero</a:t>
            </a:r>
            <a:endParaRPr lang="en-US" sz="3000" dirty="0"/>
          </a:p>
        </p:txBody>
      </p:sp>
      <p:pic>
        <p:nvPicPr>
          <p:cNvPr id="3" name="Figura" descr="Bayesiana × aleatória, do z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48" y="1097280"/>
            <a:ext cx="6610303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 função-agulha, a BO passa à frente com mais avaliações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Agulha no palheiro: BO × aleatória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avaliações | melhor valor médio (bayesiana x aleatória) | % que achou a agulha (&gt; 0,95)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5 | 0.544 x 0.616                      |   5% x  25%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 | 0.719 x 0.700                      |  30% x  30%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15 | 0.813 x 0.740                      |  48% x  32%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começo a aleatória até ganha; com mais avaliações, a bayesiana aprende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TPE: outro modelo substituto</a:t>
            </a:r>
            <a:endParaRPr lang="en-US" sz="3000" dirty="0"/>
          </a:p>
        </p:txBody>
      </p:sp>
      <p:pic>
        <p:nvPicPr>
          <p:cNvPr id="3" name="Figura" descr="TPE: outro modelo substitu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918" y="1097280"/>
            <a:ext cx="665216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Compara a densidade das boas tentativas com a das ruins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modelos substitutos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Processo gaussiano: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poucos pontos, poucas dimensões contínuas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TPE: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espaços condicionais e mistos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SMAC: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florestas aleatórias como substituto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Nenhum é o melhor sempre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Escolha o substituto pelo formato do espaço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Optuna: as peças</a:t>
            </a:r>
            <a:endParaRPr lang="en-US" sz="3000" dirty="0"/>
          </a:p>
        </p:txBody>
      </p:sp>
      <p:pic>
        <p:nvPicPr>
          <p:cNvPr id="3" name="Figura" descr="Optuna: as peç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82" y="1097280"/>
            <a:ext cx="586023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Estudo, tentativa, sampler e pruner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no Digits com TPE (30 tentativas)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133856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acurácia: 0.9911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Melhores valores: C = 16.77, gamma = 0.15476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Tentativa em que o melhor apareceu: 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Resultado real com o Optuna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Resolvendo o CASH com um 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vencedor: floresta | acurácia = 0.9766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   tentativas = 20 | melhor nota = 0.977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logistica  tentativas =  5 | melhor nota = 0.971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       tentativas =  5 | melhor nota = 0.299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TPE gastou pouco no SVM, que ficou com 0,299 nas 5 tentativas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ganhamos de verdade?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avaliações | aleatória | TPE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5 |   0.981   | 0.894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 |   0.986   | 0.986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20 |   0.990   | 0.990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30 |   0.990   | 0.991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TPE empatou com a aleatória: em problemas fáceis, o ganho é pequeno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bayesiana ajuda</a:t>
            </a:r>
            <a:endParaRPr lang="en-US" sz="3000" dirty="0"/>
          </a:p>
        </p:txBody>
      </p:sp>
      <p:sp>
        <p:nvSpPr>
          <p:cNvPr id="3" name="Cabeçalho 1"/>
          <p:cNvSpPr/>
          <p:nvPr/>
        </p:nvSpPr>
        <p:spPr>
          <a:xfrm>
            <a:off x="45720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Ajuda</a:t>
            </a:r>
            <a:endParaRPr lang="en-US" sz="1800" dirty="0"/>
          </a:p>
        </p:txBody>
      </p:sp>
      <p:sp>
        <p:nvSpPr>
          <p:cNvPr id="5" name="Corpo 1"/>
          <p:cNvSpPr/>
          <p:nvPr/>
        </p:nvSpPr>
        <p:spPr>
          <a:xfrm>
            <a:off x="45720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Treino muito caro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Poucas avaliações possíveis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Muitas dimensões bem comportadas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Paisagem suave</a:t>
            </a:r>
            <a:endParaRPr lang="en-US" sz="1500" dirty="0"/>
          </a:p>
        </p:txBody>
      </p:sp>
      <p:sp>
        <p:nvSpPr>
          <p:cNvPr id="7" name="Cabeçalho 2"/>
          <p:cNvSpPr/>
          <p:nvPr/>
        </p:nvSpPr>
        <p:spPr>
          <a:xfrm>
            <a:off x="4663440" y="11887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Ajuda pouco</a:t>
            </a:r>
            <a:endParaRPr lang="en-US" sz="1800" dirty="0"/>
          </a:p>
        </p:txBody>
      </p:sp>
      <p:sp>
        <p:nvSpPr>
          <p:cNvPr id="9" name="Corpo 2"/>
          <p:cNvSpPr/>
          <p:nvPr/>
        </p:nvSpPr>
        <p:spPr>
          <a:xfrm>
            <a:off x="4663440" y="1874520"/>
            <a:ext cx="402336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96596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Treino barato, muitas tentativas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Problema fácil (região boa grande)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Muito ruído nas avaliações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Espaço muito irregular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Sempre compare com a busca aleatória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Comece com a busca aleatória como linha de base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Use TPE (Optuna) para espaços condicionais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Fixe a semente do sampler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Aqueça com configurações conhecidas (Cap. 9)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Meça o resultado em teste intocado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Inteligente, mas verificado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a função de aquisição faz?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Treina o modelo final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Equilibra explorar e aproveitar para escolher o próximo ponto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treino e teste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Padroniza os atributos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TPE empatou com a busca aleatória no SVM/Digits. O que concluir?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TPE está quebrado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 problemas fáceis e baratos, o ganho pode ser nulo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aleatória é sempre melhor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Dados insuficientes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BO serve para caixas-pretas caras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Modelo substituto dá previsão e incerteza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Aquisição equilibra explorar e aproveitar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TPE compara l(x) das boas com g(x) das ruins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Optuna: espaço define-by-run e CASH com if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Nem sempre vence a aleatória: teste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Explorar ou aproveitar  </a:t>
            </a:r>
            <a:r>
              <a:rPr lang="en-US" sz="1400" dirty="0">
                <a:solidFill>
                  <a:schemeClr val="tx1"/>
                </a:solidFill>
              </a:rPr>
              <a:t>Ajuste o peso da incerteza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Função de aquisição  </a:t>
            </a:r>
            <a:r>
              <a:rPr lang="en-US" sz="1400" dirty="0">
                <a:solidFill>
                  <a:schemeClr val="tx1"/>
                </a:solidFill>
              </a:rPr>
              <a:t>Compare PI, EI e UCB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Optuna no SVM  </a:t>
            </a:r>
            <a:r>
              <a:rPr lang="en-US" sz="1400" dirty="0">
                <a:solidFill>
                  <a:schemeClr val="tx1"/>
                </a:solidFill>
              </a:rPr>
              <a:t>Rode e interprete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CASH condicional  </a:t>
            </a:r>
            <a:r>
              <a:rPr lang="en-US" sz="1400" dirty="0">
                <a:solidFill>
                  <a:schemeClr val="tx1"/>
                </a:solidFill>
              </a:rPr>
              <a:t>Algoritmo + botões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Busca bayesiana com avaliação honesta  </a:t>
            </a:r>
            <a:r>
              <a:rPr lang="en-US" sz="1400" dirty="0">
                <a:solidFill>
                  <a:schemeClr val="tx1"/>
                </a:solidFill>
              </a:rPr>
              <a:t>Compare com aleatória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com as tentativas é bom; verificar o ganho é obrigatório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6: Successive Halving, Hyperband e BOHB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5: Otimização bayesiana</dc:title>
  <dc:subject>Slides de sala de aula</dc:subject>
  <dc:creator>Araken de Medeiros Santos</dc:creator>
  <cp:lastModifiedBy>Araken de Medeiros Santos</cp:lastModifiedBy>
  <cp:revision>1</cp:revision>
  <dcterms:created xsi:type="dcterms:W3CDTF">2026-10-26T18:45:23Z</dcterms:created>
  <dcterms:modified xsi:type="dcterms:W3CDTF">2026-10-26T18:45:23Z</dcterms:modified>
</cp:coreProperties>
</file>