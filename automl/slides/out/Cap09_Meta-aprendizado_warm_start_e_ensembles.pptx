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ideias: aprender com problemas passados, começar a quente e combinar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iniciante pede todos os exames; o experiente reconhece o caso e vai direto aos exames mais prováveis.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Rice formulou o problema da seleção de algoritmos: dado um problema, qual algoritmo resolve melhor?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Landmarker: nota de um modelo simples e rápido usada como característica do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reais do livro (parte das colunas).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150 conjuntos simulados, validação deixando um conjunto de fora. Resultado honesto: sem meta-conjunto grande, o ganho é pequeno.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150 conjuntos simulados, o SVM foi o melhor em 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ao próximo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 em conjuntos reais nunca vistos. O ganho é grande nas primeiras tentativas e some quando o orçamento cresce.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verde é o melhor da grade; o warm start sai na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Condição: os modelos precisam errar em lugares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modelos, três fronteiras; o voto majoritário corrige parte dos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Wolpert (1992). O meta-modelo aprende, por exemplo, em quem confiar em cada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cruzada de 5 partes no treino, em problema simulado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Caruana et al. (2004): adiciona, com reposição, o modelo que mais melhora 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Honestidade: o ensemble não vence o melhor individual do teste (inalcançável na prática), mas supera a escolha realista pela validação (0,684) e a média simples (0,730).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Feurer et al. (2015; 2022). Código de uso no Capítulo 10, sem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Um portfólio de configurações conhecidas acelera as primeiras tentativas.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Sem diversidade, combinar equivale a repetir o mesmo modelo.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agora vamos às ferramentas prontas.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9 — Meta-aprendizado e ensembles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9 — Meta-aprendizado e ensembles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3"/>
                </a:solidFill>
              </a:rPr>
              <a:t>CAPÍTULO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III — Automação do Pipeline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Meta-aprendizado, warm start e ensembles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Aprender com a experiência e combinar modelos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meta-aprendizado e o quadro de Rice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Calcular meta-atributos de um conjunto de dados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Aplicar warm start para acelerar a busca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por que combinar modelos costuma ajudar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Usar votação, stacking e a seleção de Caruana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Descrever a arquitetura do Auto-sklearn e os limites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9.1–9.3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Meta-aprendizado, quadro de Rice, meta-atributos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 meta-aprendizado do zero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9.5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Warm start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9.6–9.7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Ensembles e seleção de Caruana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9.8–9.9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Auto-sklearn e 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iniciante × experiente</a:t>
            </a:r>
            <a:endParaRPr lang="en-US" sz="3000" dirty="0"/>
          </a:p>
        </p:txBody>
      </p:sp>
      <p:pic>
        <p:nvPicPr>
          <p:cNvPr id="3" name="Figura" descr="Médico iniciante × exper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382" y="1097280"/>
            <a:ext cx="649123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meta-aprendizado dá ao AutoML a experiência de problemas passados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quadro de Rice (1976)</a:t>
            </a:r>
            <a:endParaRPr lang="en-US" sz="3000" dirty="0"/>
          </a:p>
        </p:txBody>
      </p:sp>
      <p:pic>
        <p:nvPicPr>
          <p:cNvPr id="3" name="Figura" descr="O quadro de Rice (197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624" y="1097280"/>
            <a:ext cx="628475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Problemas → características → meta-modelo → algoritmo → desempenho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Meta-atributos: o retrato de um conjunto</a:t>
            </a:r>
            <a:endParaRPr lang="en-US" sz="3000" dirty="0"/>
          </a:p>
        </p:txBody>
      </p:sp>
      <p:pic>
        <p:nvPicPr>
          <p:cNvPr id="3" name="Figura" descr="Meta-atributos: o retrato de um conju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290" y="1097280"/>
            <a:ext cx="634342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Simples, teoria da informação, complexidade e landmarkers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Meta-atributos de quatro conjuntos reais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 |   log(n) |   log(d) |    n/d | classes | entropia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    |    5.01  |    1.39  |  37.50 |    3    |   1.00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    |    5.18  |    2.56  |  13.69 |    3    |   0.99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   |    6.34  |    3.40  |  18.97 |    2    |   0.95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   |    7.49  |    4.16  |  28.08 |   10    |   1.00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conjunto vira uma linha de números: o 'retrato' do problema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Recomendar o algoritmo é difícil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0,593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acerto do meta-modelo ao indicar o melhor algoritmo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0,593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acerto da regra 'sempre SVM'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0,0100 × 0,0110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perda média de acurácia (meta-modelo × sempre SVM)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meta-modelo empatou com a regra mais simples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Meta-modelo × 'sempre o mais frequente'</a:t>
            </a:r>
            <a:endParaRPr lang="en-US" sz="3000" dirty="0"/>
          </a:p>
        </p:txBody>
      </p:sp>
      <p:pic>
        <p:nvPicPr>
          <p:cNvPr id="3" name="Figura" descr="Meta-modelo × 'sempre o mais frequente'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87" y="1097280"/>
            <a:ext cx="700082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Honestidade: o ganho do meta-modelo é pequeno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Começar com a mala meio pronta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Quem já viajou muito monta a mala em minutos com o essencial; quem nunca viajou começa do zero.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Warm start: iniciar a busca por configurações que funcionaram em problemas parecidos (um portfólio).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start: portfólio de 3 configurações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Portfólio (C, gamma relativo): [(1, 1), (10, 1), (10, 0.1)]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   | portfólio: 1, 2, 3 tent. | aleatório: 1, 3, 6 tent. | melhor possível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  |   0.947, 0.953, 0.967    |   0.848, 0.956, 0.963    |    0.967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  |   0.983, 0.989, 0.989    |   0.788, 0.965, 0.988    |    0.994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 |   0.972, 0.972, 0.977    |   0.897, 0.965, 0.973    |    0.977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 1 tentativa o portfólio já chega perto do melhor possível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start: as primeiras tentativas já são boas</a:t>
            </a:r>
            <a:endParaRPr lang="en-US" sz="3000" dirty="0"/>
          </a:p>
        </p:txBody>
      </p:sp>
      <p:pic>
        <p:nvPicPr>
          <p:cNvPr id="3" name="Figura" descr="Warm start: as primeiras tentativas já são bo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761" y="1097280"/>
            <a:ext cx="718247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Aproveite o que já sabe antes de explorar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sabedoria das multidões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Na feira de ciências, a média das notas de vários jurados costuma ser mais justa que a de um só.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Ensembles combinam modelos diversos; erros diferentes se compensam.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Diversidade: erram em lugares diferentes</a:t>
            </a:r>
            <a:endParaRPr lang="en-US" sz="3000" dirty="0"/>
          </a:p>
        </p:txBody>
      </p:sp>
      <p:pic>
        <p:nvPicPr>
          <p:cNvPr id="3" name="Figura" descr="Diversidade: erram em lugares difer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9396"/>
            <a:ext cx="8229600" cy="2770408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votação combina o melhor de cada um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Stacking: um meta-modelo combina os outros</a:t>
            </a:r>
            <a:endParaRPr lang="en-US" sz="3000" dirty="0"/>
          </a:p>
        </p:txBody>
      </p:sp>
      <p:pic>
        <p:nvPicPr>
          <p:cNvPr id="3" name="Figura" descr="Stacking: um meta-modelo combina os ou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63" y="1097280"/>
            <a:ext cx="756627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Aprender a combinar as previsões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Votação e stacking no problema difícil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                 acurácia = 0.750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                 acurácia = 0.740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                 acurácia = 0.603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                  acurácia = 0.723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votação (soft)       acurácia = 0.765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stacking             acurácia = 0.791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stacking superou o melhor modelo individual em 4 pontos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ensembles de Caruana</a:t>
            </a:r>
            <a:endParaRPr lang="en-US" sz="3000" dirty="0"/>
          </a:p>
        </p:txBody>
      </p:sp>
      <p:pic>
        <p:nvPicPr>
          <p:cNvPr id="3" name="Figura" descr="Seleção de ensembles de Caru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87" y="1097280"/>
            <a:ext cx="700082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Escolhe modelos de uma biblioteca de forma gulosa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Caruana contra a escolha única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modelo escolhido pela validação (rf): TESTE = 0.684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simples dos 40 modelos             : TESTE = 0.730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 de Caruana (11 modelos)         : TESTE = 0.738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(Melhor individual no teste, com informação do futuro: 0.738)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ensemble protege de escolher mal: empata com o 'oráculo'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Auto-sklearn: tudo junto</a:t>
            </a:r>
            <a:endParaRPr lang="en-US" sz="3000" dirty="0"/>
          </a:p>
        </p:txBody>
      </p:sp>
      <p:pic>
        <p:nvPicPr>
          <p:cNvPr id="3" name="Figura" descr="Auto-sklearn: tudo ju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Meta-aprendizado + otimização bayesiana + ensemble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é warm start?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Treinar com GPU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Começar a busca por configurações que funcionaram em problemas parecidos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Aquecer o computador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o teste no treino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Quando um ensemble tende a ajudar mais?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os modelos são idênticos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os modelos erram em lugares diferentes (diversidade)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só há um modelo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o teste é pequeno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Meta-aprendizado usa a experiência de problemas anteriores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Quadro de Rice: problema → meta-atributos → algoritmo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Recomendar algoritmo é difícil: empate com 'sempre SVM'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Warm start: ganho claro nas primeiras tentativas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Ensembles: votação, stacking e Caruana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Média simples captura boa parte do ganho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retrato de um conjunto  </a:t>
            </a:r>
            <a:r>
              <a:rPr lang="en-US" sz="1400" dirty="0">
                <a:solidFill>
                  <a:schemeClr val="tx1"/>
                </a:solidFill>
              </a:rPr>
              <a:t>Meta-atributos de três versões do Wine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Votação dura ou suave  </a:t>
            </a:r>
            <a:r>
              <a:rPr lang="en-US" sz="1400" dirty="0">
                <a:solidFill>
                  <a:schemeClr val="tx1"/>
                </a:solidFill>
              </a:rPr>
              <a:t>Qual funciona melhor?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Diversidade importa  </a:t>
            </a:r>
            <a:r>
              <a:rPr lang="en-US" sz="1400" dirty="0">
                <a:solidFill>
                  <a:schemeClr val="tx1"/>
                </a:solidFill>
              </a:rPr>
              <a:t>Florestas × tipos diferentes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Warm start com o Optuna  </a:t>
            </a:r>
            <a:r>
              <a:rPr lang="en-US" sz="1400" dirty="0">
                <a:solidFill>
                  <a:schemeClr val="tx1"/>
                </a:solidFill>
              </a:rPr>
              <a:t>enqueue_trial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 mini Auto-sklearn  </a:t>
            </a:r>
            <a:r>
              <a:rPr lang="en-US" sz="1400" dirty="0">
                <a:solidFill>
                  <a:schemeClr val="tx1"/>
                </a:solidFill>
              </a:rPr>
              <a:t>Warm start, TPE e ensemble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com o passado e combinar vozes: dois atalhos do AutoML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10: ferramentas de AutoML na prática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9: Meta-aprendizado, warm start e ensembles</dc:title>
  <dc:subject>Slides de sala de aula</dc:subject>
  <dc:creator>Araken de Medeiros Santos</dc:creator>
  <cp:lastModifiedBy>Araken de Medeiros Santos</cp:lastModifiedBy>
  <cp:revision>1</cp:revision>
  <dcterms:created xsi:type="dcterms:W3CDTF">2026-10-26T18:45:27Z</dcterms:created>
  <dcterms:modified xsi:type="dcterms:W3CDTF">2026-10-26T18:45:27Z</dcterms:modified>
</cp:coreProperties>
</file>