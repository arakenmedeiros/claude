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IV. NAS é AutoML aplicado ao desenho da 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objetivos.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Treinar é construir; a arquitetura é a planta. Camadas, neurônios, conexões e função de ativação.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Elsken, Metzen e Hutter (2019). É a mesma estrutura do AutoML clássico.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cadeia; baseado em células (Zoph et al., 2018); hierárquico.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NAS real o espaço é astronômico. Aqui avaliamos tudo no Digits (UCI).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MLPClassifier, 40 iterações, semente fixa.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linha roxa é a fronteira de Pareto: acurácia × número de parâmetros.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Zoph e Le (2017), Real et al. (2019), DARTS (Liu et al., 2019), ENAS (Pham et al., 2018).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Mutações do mini-NAS: mudar largura, inserir camada, remover camada, trocar ativação.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Posto mediano 1,5 contra 6. Mas veja o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evolução converge um pouco melhor depois de ~15 avaliações.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lições: espaço generoso e otimismo da busca.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estimativa barata tem erro: o que importa é preservar a ordem.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favorável; não é garantia em qualquer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menor a correlação, mais perigoso o corte (redes lentas que só brilham no fim).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 e Le (2019) escalam famílias de redes de forma coordenada.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dados tabulares típicos, árvores seguem muito competitivas (Grinsztajn et al., 2022).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Elsken, Metzen e Hutter (2019).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A vantagem na validação foi em parte otimismo da busca.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Soluções nos Apêndices D e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Ponte: o AutoML além das tabelas.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AutoML: Teoria e Prática  ·  Cap. 11 — NAS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AutoML: Teoria e Prática  ·  Cap. 11 — NAS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4"/>
                </a:solidFill>
              </a:rPr>
              <a:t>CAPÍTULO 11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Parte IV — Redes Neurais e Novos Domínios</a:t>
            </a:r>
            <a:endParaRPr lang="en-US" sz="1400" dirty="0"/>
          </a:p>
        </p:txBody>
      </p:sp>
      <p:sp>
        <p:nvSpPr>
          <p:cNvPr id="4" name="Título"/>
          <p:cNvSpPr txBox="1"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de arquitetura neural (NAS)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</a:rPr>
              <a:t>Quem desenha a planta da rede?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AutoML: Teoria e Prática  ·  Araken de Medeiros Santos</a:t>
            </a:r>
            <a:endParaRPr lang="en-US" sz="1200" dirty="0"/>
          </a:p>
        </p:txBody>
      </p:sp>
      <p:pic>
        <p:nvPicPr>
          <p:cNvPr id="7" name="Banner do capítulo" descr="Ilustração do capítulo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47303"/>
            <a:ext cx="9144000" cy="17218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944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Explicar o que é arquitetura de rede neural</a:t>
            </a:r>
            <a:endParaRPr lang="en-US" sz="1500" dirty="0"/>
          </a:p>
        </p:txBody>
      </p:sp>
      <p:sp>
        <p:nvSpPr>
          <p:cNvPr id="7" name="Cartão 2"/>
          <p:cNvSpPr/>
          <p:nvPr/>
        </p:nvSpPr>
        <p:spPr>
          <a:xfrm>
            <a:off x="466344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3944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Descrever os três pilares do NAS</a:t>
            </a:r>
            <a:endParaRPr lang="en-US" sz="1500" dirty="0"/>
          </a:p>
        </p:txBody>
      </p:sp>
      <p:sp>
        <p:nvSpPr>
          <p:cNvPr id="11" name="Cartão 3"/>
          <p:cNvSpPr/>
          <p:nvPr/>
        </p:nvSpPr>
        <p:spPr>
          <a:xfrm>
            <a:off x="45720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7286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Contar o tamanho de um espaço e explorá-lo por inteiro</a:t>
            </a:r>
            <a:endParaRPr lang="en-US" sz="1500" dirty="0"/>
          </a:p>
        </p:txBody>
      </p:sp>
      <p:sp>
        <p:nvSpPr>
          <p:cNvPr id="15" name="Cartão 4"/>
          <p:cNvSpPr/>
          <p:nvPr/>
        </p:nvSpPr>
        <p:spPr>
          <a:xfrm>
            <a:off x="466344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37286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Comparar busca aleatória e evolução regularizada</a:t>
            </a:r>
            <a:endParaRPr lang="en-US" sz="1500" dirty="0"/>
          </a:p>
        </p:txBody>
      </p:sp>
      <p:sp>
        <p:nvSpPr>
          <p:cNvPr id="19" name="Cartão 5"/>
          <p:cNvSpPr/>
          <p:nvPr/>
        </p:nvSpPr>
        <p:spPr>
          <a:xfrm>
            <a:off x="45720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351276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Reconhecer reforço, evolução, gradiente e pesos compartilhados</a:t>
            </a:r>
            <a:endParaRPr lang="en-US" sz="1500" dirty="0"/>
          </a:p>
        </p:txBody>
      </p:sp>
      <p:sp>
        <p:nvSpPr>
          <p:cNvPr id="23" name="Cartão 6"/>
          <p:cNvSpPr/>
          <p:nvPr/>
        </p:nvSpPr>
        <p:spPr>
          <a:xfrm>
            <a:off x="466344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35127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Discutir custo, estimativas baratas e busca multiobjetivo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3" name="Número 1"/>
          <p:cNvSpPr/>
          <p:nvPr/>
        </p:nvSpPr>
        <p:spPr>
          <a:xfrm>
            <a:off x="457200" y="1188720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11.1–11.2</a:t>
            </a:r>
            <a:endParaRPr lang="en-US" sz="1600" dirty="0"/>
          </a:p>
        </p:txBody>
      </p:sp>
      <p:sp>
        <p:nvSpPr>
          <p:cNvPr id="5" name="Faixa 1"/>
          <p:cNvSpPr/>
          <p:nvPr/>
        </p:nvSpPr>
        <p:spPr>
          <a:xfrm>
            <a:off x="1463040" y="1188720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1887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Arquitetura e os três pilares</a:t>
            </a:r>
            <a:endParaRPr lang="en-US" sz="1700" dirty="0"/>
          </a:p>
        </p:txBody>
      </p:sp>
      <p:sp>
        <p:nvSpPr>
          <p:cNvPr id="7" name="Número 2"/>
          <p:cNvSpPr/>
          <p:nvPr/>
        </p:nvSpPr>
        <p:spPr>
          <a:xfrm>
            <a:off x="457200" y="1847088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470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11.3–11.4</a:t>
            </a:r>
            <a:endParaRPr lang="en-US" sz="1600" dirty="0"/>
          </a:p>
        </p:txBody>
      </p:sp>
      <p:sp>
        <p:nvSpPr>
          <p:cNvPr id="9" name="Faixa 2"/>
          <p:cNvSpPr/>
          <p:nvPr/>
        </p:nvSpPr>
        <p:spPr>
          <a:xfrm>
            <a:off x="1463040" y="1847088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184708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Espaço de busca e o mapa do tesouro</a:t>
            </a:r>
            <a:endParaRPr lang="en-US" sz="1700" dirty="0"/>
          </a:p>
        </p:txBody>
      </p:sp>
      <p:sp>
        <p:nvSpPr>
          <p:cNvPr id="11" name="Número 3"/>
          <p:cNvSpPr/>
          <p:nvPr/>
        </p:nvSpPr>
        <p:spPr>
          <a:xfrm>
            <a:off x="457200" y="2505456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0545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11.5–11.6</a:t>
            </a:r>
            <a:endParaRPr lang="en-US" sz="1600" dirty="0"/>
          </a:p>
        </p:txBody>
      </p:sp>
      <p:sp>
        <p:nvSpPr>
          <p:cNvPr id="13" name="Faixa 3"/>
          <p:cNvSpPr/>
          <p:nvPr/>
        </p:nvSpPr>
        <p:spPr>
          <a:xfrm>
            <a:off x="1463040" y="2505456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45920" y="25054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Estratégias e o mini-NAS</a:t>
            </a:r>
            <a:endParaRPr lang="en-US" sz="1700" dirty="0"/>
          </a:p>
        </p:txBody>
      </p:sp>
      <p:sp>
        <p:nvSpPr>
          <p:cNvPr id="15" name="Número 4"/>
          <p:cNvSpPr/>
          <p:nvPr/>
        </p:nvSpPr>
        <p:spPr>
          <a:xfrm>
            <a:off x="457200" y="3163824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6382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11.7</a:t>
            </a:r>
            <a:endParaRPr lang="en-US" sz="1600" dirty="0"/>
          </a:p>
        </p:txBody>
      </p:sp>
      <p:sp>
        <p:nvSpPr>
          <p:cNvPr id="17" name="Faixa 4"/>
          <p:cNvSpPr/>
          <p:nvPr/>
        </p:nvSpPr>
        <p:spPr>
          <a:xfrm>
            <a:off x="1463040" y="3163824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0" y="316382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Estimar sem treinar tudo</a:t>
            </a:r>
            <a:endParaRPr lang="en-US" sz="1700" dirty="0"/>
          </a:p>
        </p:txBody>
      </p:sp>
      <p:sp>
        <p:nvSpPr>
          <p:cNvPr id="19" name="Número 5"/>
          <p:cNvSpPr/>
          <p:nvPr/>
        </p:nvSpPr>
        <p:spPr>
          <a:xfrm>
            <a:off x="457200" y="3822192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221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11.8–11.11</a:t>
            </a:r>
            <a:endParaRPr lang="en-US" sz="1600" dirty="0"/>
          </a:p>
        </p:txBody>
      </p:sp>
      <p:sp>
        <p:nvSpPr>
          <p:cNvPr id="21" name="Faixa 5"/>
          <p:cNvSpPr/>
          <p:nvPr/>
        </p:nvSpPr>
        <p:spPr>
          <a:xfrm>
            <a:off x="1463040" y="3822192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45920" y="382219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Multiobjetivo, custo, ferramentas e boas práticas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de rede = planta da casa</a:t>
            </a:r>
            <a:endParaRPr lang="en-US" sz="3000" dirty="0"/>
          </a:p>
        </p:txBody>
      </p:sp>
      <p:pic>
        <p:nvPicPr>
          <p:cNvPr id="3" name="Figura" descr="Arquitetura de rede = planta da cas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102" y="1097280"/>
            <a:ext cx="613579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Uma planta ruim não é salva por pedreiros excelentes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pilares do NAS</a:t>
            </a:r>
            <a:endParaRPr lang="en-US" sz="3000" dirty="0"/>
          </a:p>
        </p:txBody>
      </p:sp>
      <p:pic>
        <p:nvPicPr>
          <p:cNvPr id="3" name="Figura" descr="Os três pilares do N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727" y="1097280"/>
            <a:ext cx="597654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Espaço, estratégia e estimativa barata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jeitos de definir o espaço</a:t>
            </a:r>
            <a:endParaRPr lang="en-US" sz="3000" dirty="0"/>
          </a:p>
        </p:txBody>
      </p:sp>
      <p:pic>
        <p:nvPicPr>
          <p:cNvPr id="3" name="Figura" descr="Três jeitos de definir o espaç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830" y="1097280"/>
            <a:ext cx="5600340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 espaço define o teto do que a busca pode achar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tamanho do nosso espaço</a:t>
            </a:r>
            <a:endParaRPr lang="en-US" sz="3000" dirty="0"/>
          </a:p>
        </p:txBody>
      </p:sp>
      <p:sp>
        <p:nvSpPr>
          <p:cNvPr id="3" name="Cartão de número 1"/>
          <p:cNvSpPr/>
          <p:nvPr/>
        </p:nvSpPr>
        <p:spPr>
          <a:xfrm>
            <a:off x="457200" y="1188720"/>
            <a:ext cx="40005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0005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310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37261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arquiteturas: 1 a 3 camadas, 5 larguras, 2 ativações</a:t>
            </a:r>
            <a:endParaRPr lang="en-US" sz="1400" dirty="0"/>
          </a:p>
        </p:txBody>
      </p:sp>
      <p:sp>
        <p:nvSpPr>
          <p:cNvPr id="6" name="Cartão de número 2"/>
          <p:cNvSpPr/>
          <p:nvPr/>
        </p:nvSpPr>
        <p:spPr>
          <a:xfrm>
            <a:off x="4686300" y="1188720"/>
            <a:ext cx="40005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86300" y="1280160"/>
            <a:ext cx="40005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4823460" y="2468880"/>
            <a:ext cx="37261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redes por ativação: 5 + 25 + 125</a:t>
            </a:r>
            <a:endParaRPr lang="en-US" sz="1400" dirty="0"/>
          </a:p>
        </p:txBody>
      </p:sp>
      <p:sp>
        <p:nvSpPr>
          <p:cNvPr id="9" name="Conclusão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578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703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310 = 2 × (5 + 25 + 125): pequeno de propósito, para conhecer a verdade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mapa do tesouro: avaliando as 310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389888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 do espaço: 310 arquiteturas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Validação: pior = 0.546 | mediana = 0.928 | melhor = 0.970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 arquitetura: (128, 128) relu | parâmetros: 26122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Seu acerto no TESTE: 0.964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Muitas redes diferentes chegam perto do topo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310 arquiteturas</a:t>
            </a:r>
            <a:endParaRPr lang="en-US" sz="3000" dirty="0"/>
          </a:p>
        </p:txBody>
      </p:sp>
      <p:pic>
        <p:nvPicPr>
          <p:cNvPr id="3" name="Figura" descr="As 310 arquitetur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3659" y="1097280"/>
            <a:ext cx="4576683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Crescer a rede compra pouco depois de certo tamanho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estratégias de busca</a:t>
            </a:r>
            <a:endParaRPr lang="en-US" sz="3000" dirty="0"/>
          </a:p>
        </p:txBody>
      </p:sp>
      <p:pic>
        <p:nvPicPr>
          <p:cNvPr id="3" name="Figura" descr="Quatro estratégias de bus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0657" y="1097280"/>
            <a:ext cx="548268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Aleatória, reforço, evolução e gradiente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Escalando uma equipe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Aleatória: jogadores por sorteio. Evolução: mantém o elenco e testa pequenas variações dos melhores, e o mais antigo se aposenta. Reforço: um técnico aprende com os resultados.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Evolução regularizada (Real et al., 2019): sorteia, escolhe a melhor, muta e descarta a mais velha.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Mini-NAS: 30 avaliações, 300 repetições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aleatória  val. = 0.965 | posto = 6.0 | top 5% = 84%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evolução   val. = 0.969 | posto = 1.5 | top 5% = 90%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 do espaço (validação): 0.970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 médio das 310 redes: 0.907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evolução achou redes melhor posicionadas na validação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Curvas do mini-NAS</a:t>
            </a:r>
            <a:endParaRPr lang="en-US" sz="3000" dirty="0"/>
          </a:p>
        </p:txBody>
      </p:sp>
      <p:pic>
        <p:nvPicPr>
          <p:cNvPr id="3" name="Figura" descr="Curvas do mini-N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7086" y="1097280"/>
            <a:ext cx="4749829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Mediana de 300 repetições, com faixa entre os quartis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Ganhar na validação não é ganhar no teste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evolução venceu no critério que ela mesma otimiza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No teste, as duas escolhas ficaram praticamente iguais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Parte do ganho é otimismo da busca (Cap. 2)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Sempre relate o teste final, medido uma vez</a:t>
            </a:r>
            <a:endParaRPr lang="en-US" sz="20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No espaço generoso, a aleatória já faz bom trabalho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Estimar sem treinar até o fim</a:t>
            </a:r>
            <a:endParaRPr lang="en-US" sz="3000" dirty="0"/>
          </a:p>
        </p:txBody>
      </p:sp>
      <p:pic>
        <p:nvPicPr>
          <p:cNvPr id="3" name="Figura" descr="Estimar sem treinar até o f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727" y="1097280"/>
            <a:ext cx="597654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Treino curto, pesos compartilhados, extrapolação, preditores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Filtrando com a avaliação barata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2157984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Correlação de Spearman entre 10 e 40 iterações: 0.872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 mantidas | % do custo | melhor rede sobrevive?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10     |    28%     |   sim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30     |    35%     |   sim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60     |    44%     |   sim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120     |    64%     |   sim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039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 28% do custo, a melhor rede do espaço sobreviveu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ordem se preserva</a:t>
            </a:r>
            <a:endParaRPr lang="en-US" sz="3000" dirty="0"/>
          </a:p>
        </p:txBody>
      </p:sp>
      <p:pic>
        <p:nvPicPr>
          <p:cNvPr id="3" name="Figura" descr="A ordem se preser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6277" y="1097280"/>
            <a:ext cx="355144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Spearman = 0,87: boa correlação entre fidelidades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 boa e pequena</a:t>
            </a:r>
            <a:endParaRPr lang="en-US" sz="3000" dirty="0"/>
          </a:p>
        </p:txBody>
      </p:sp>
      <p:sp>
        <p:nvSpPr>
          <p:cNvPr id="3" name="Cartão de número 1"/>
          <p:cNvSpPr/>
          <p:nvPr/>
        </p:nvSpPr>
        <p:spPr>
          <a:xfrm>
            <a:off x="457200" y="1188720"/>
            <a:ext cx="25908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259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26.122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parâmetros da mais acurada (0,970)</a:t>
            </a:r>
            <a:endParaRPr lang="en-US" sz="1400" dirty="0"/>
          </a:p>
        </p:txBody>
      </p:sp>
      <p:sp>
        <p:nvSpPr>
          <p:cNvPr id="6" name="Cartão de número 2"/>
          <p:cNvSpPr/>
          <p:nvPr/>
        </p:nvSpPr>
        <p:spPr>
          <a:xfrm>
            <a:off x="3276600" y="1188720"/>
            <a:ext cx="25908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276600" y="1280160"/>
            <a:ext cx="259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11.794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3413760" y="24688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parâmetros da rede (128,8,128): 0,960</a:t>
            </a:r>
            <a:endParaRPr lang="en-US" sz="1400" dirty="0"/>
          </a:p>
        </p:txBody>
      </p:sp>
      <p:sp>
        <p:nvSpPr>
          <p:cNvPr id="9" name="Cartão de número 3"/>
          <p:cNvSpPr/>
          <p:nvPr/>
        </p:nvSpPr>
        <p:spPr>
          <a:xfrm>
            <a:off x="6096000" y="1188720"/>
            <a:ext cx="25908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096000" y="1280160"/>
            <a:ext cx="259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−55%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6233160" y="24688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tamanho, por 1 ponto de acurácia</a:t>
            </a:r>
            <a:endParaRPr lang="en-US" sz="1400" dirty="0"/>
          </a:p>
        </p:txBody>
      </p:sp>
      <p:sp>
        <p:nvSpPr>
          <p:cNvPr id="12" name="Conclusão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578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703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 fronteira de Pareto, acurácia e custo conversam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custo do NAS e a IA verde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Treinar muitas redes consome energia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Strubell et al. (2019):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busca multiplica o custo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Schwartz et al. (2020):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reporte o custo junto da acurácia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Comece pequeno e compare com linhas de base fortes</a:t>
            </a:r>
            <a:endParaRPr lang="en-US" sz="20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Eficiência também é resultado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Quais são os três pilares do NAS?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Dados, rótulos, métrica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Espaço de busca, estratégia de busca, estimativa de desempenho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Treino, validação, teste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Camada, neurônio, ativação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 que mostrou o mini-NAS sobre aleatória × evolução no teste?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evolução venceu por 10 pontos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 escolhas ficaram praticamente iguais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aleatória falhou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Não foi medido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levar na mochila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Ícone 1" descr="marc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9903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NAS: busca automática da arquitetura</a:t>
            </a:r>
            <a:endParaRPr lang="en-US" sz="1300" dirty="0"/>
          </a:p>
        </p:txBody>
      </p:sp>
      <p:sp>
        <p:nvSpPr>
          <p:cNvPr id="6" name="Cartão 2"/>
          <p:cNvSpPr/>
          <p:nvPr/>
        </p:nvSpPr>
        <p:spPr>
          <a:xfrm>
            <a:off x="466344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Ícone 2" descr="marca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9903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3036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Três pilares: espaço, estratégia, estimativa</a:t>
            </a:r>
            <a:endParaRPr lang="en-US" sz="1300" dirty="0"/>
          </a:p>
        </p:txBody>
      </p:sp>
      <p:sp>
        <p:nvSpPr>
          <p:cNvPr id="9" name="Cartão 3"/>
          <p:cNvSpPr/>
          <p:nvPr/>
        </p:nvSpPr>
        <p:spPr>
          <a:xfrm>
            <a:off x="45720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Ícone 3" descr="marcad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134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2412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 espaço define o teto da busca</a:t>
            </a:r>
            <a:endParaRPr lang="en-US" sz="1300" dirty="0"/>
          </a:p>
        </p:txBody>
      </p:sp>
      <p:sp>
        <p:nvSpPr>
          <p:cNvPr id="12" name="Cartão 4"/>
          <p:cNvSpPr/>
          <p:nvPr/>
        </p:nvSpPr>
        <p:spPr>
          <a:xfrm>
            <a:off x="466344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Ícone 4" descr="marcad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13432"/>
            <a:ext cx="310896" cy="31089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036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Evolução × aleatória: ganho na validação, empate no teste</a:t>
            </a:r>
            <a:endParaRPr lang="en-US" sz="1300" dirty="0"/>
          </a:p>
        </p:txBody>
      </p:sp>
      <p:sp>
        <p:nvSpPr>
          <p:cNvPr id="15" name="Cartão 5"/>
          <p:cNvSpPr/>
          <p:nvPr/>
        </p:nvSpPr>
        <p:spPr>
          <a:xfrm>
            <a:off x="45720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Ícone 5" descr="marcad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27832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2412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Estimativa barata só vale se preservar a ordem</a:t>
            </a:r>
            <a:endParaRPr lang="en-US" sz="1300" dirty="0"/>
          </a:p>
        </p:txBody>
      </p:sp>
      <p:sp>
        <p:nvSpPr>
          <p:cNvPr id="18" name="Cartão 6"/>
          <p:cNvSpPr/>
          <p:nvPr/>
        </p:nvSpPr>
        <p:spPr>
          <a:xfrm>
            <a:off x="466344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Ícone 6" descr="marcad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27832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3036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Multiobjetivo: acurácia e custo; relate o custo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3" name="Faixa 1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573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573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1430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Contando arquiteturas  </a:t>
            </a:r>
            <a:r>
              <a:rPr lang="en-US" sz="1400" dirty="0">
                <a:solidFill>
                  <a:schemeClr val="tx1"/>
                </a:solidFill>
              </a:rPr>
              <a:t>360 redes; 12 horas para avaliar todas</a:t>
            </a:r>
            <a:endParaRPr lang="en-US" sz="1400" dirty="0"/>
          </a:p>
        </p:txBody>
      </p:sp>
      <p:sp>
        <p:nvSpPr>
          <p:cNvPr id="7" name="Faixa 2"/>
          <p:cNvSpPr/>
          <p:nvPr/>
        </p:nvSpPr>
        <p:spPr>
          <a:xfrm>
            <a:off x="457200" y="18288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431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431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8288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Maior é sempre melhor?  </a:t>
            </a:r>
            <a:r>
              <a:rPr lang="en-US" sz="1400" dirty="0">
                <a:solidFill>
                  <a:schemeClr val="tx1"/>
                </a:solidFill>
              </a:rPr>
              <a:t>Spearman entre parâmetros e acurácia</a:t>
            </a:r>
            <a:endParaRPr lang="en-US" sz="1400" dirty="0"/>
          </a:p>
        </p:txBody>
      </p:sp>
      <p:sp>
        <p:nvSpPr>
          <p:cNvPr id="11" name="Faixa 3"/>
          <p:cNvSpPr/>
          <p:nvPr/>
        </p:nvSpPr>
        <p:spPr>
          <a:xfrm>
            <a:off x="457200" y="25146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289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289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5146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Aleatória ou hill climbing  </a:t>
            </a:r>
            <a:r>
              <a:rPr lang="en-US" sz="1400" dirty="0">
                <a:solidFill>
                  <a:schemeClr val="tx1"/>
                </a:solidFill>
              </a:rPr>
              <a:t>Breast Cancer, 5 sementes</a:t>
            </a:r>
            <a:endParaRPr lang="en-US" sz="1400" dirty="0"/>
          </a:p>
        </p:txBody>
      </p:sp>
      <p:sp>
        <p:nvSpPr>
          <p:cNvPr id="15" name="Faixa 4"/>
          <p:cNvSpPr/>
          <p:nvPr/>
        </p:nvSpPr>
        <p:spPr>
          <a:xfrm>
            <a:off x="457200" y="32004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3147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3147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2004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Quanto confiar na avaliação barata  </a:t>
            </a:r>
            <a:r>
              <a:rPr lang="en-US" sz="1400" dirty="0">
                <a:solidFill>
                  <a:schemeClr val="tx1"/>
                </a:solidFill>
              </a:rPr>
              <a:t>Halving em 30 redes</a:t>
            </a:r>
            <a:endParaRPr lang="en-US" sz="1400" dirty="0"/>
          </a:p>
        </p:txBody>
      </p:sp>
      <p:sp>
        <p:nvSpPr>
          <p:cNvPr id="19" name="Faixa 5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005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0005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PROJETO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38862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Uma rede enxuta por busca  </a:t>
            </a:r>
            <a:r>
              <a:rPr lang="en-US" sz="1400" dirty="0">
                <a:solidFill>
                  <a:schemeClr val="tx1"/>
                </a:solidFill>
              </a:rPr>
              <a:t>Fronteira de Pareto e teste único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fim"/>
          <p:cNvSpPr/>
          <p:nvPr/>
        </p:nvSpPr>
        <p:spPr>
          <a:xfrm>
            <a:off x="4114800" y="64008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" name="Ícone fim" descr="f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868680"/>
            <a:ext cx="457200" cy="457200"/>
          </a:xfrm>
          <a:prstGeom prst="rect">
            <a:avLst/>
          </a:prstGeom>
        </p:spPr>
      </p:pic>
      <p:sp>
        <p:nvSpPr>
          <p:cNvPr id="4" name="Frase final"/>
          <p:cNvSpPr txBox="1"/>
          <p:nvPr/>
        </p:nvSpPr>
        <p:spPr>
          <a:xfrm>
            <a:off x="731520" y="17373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 a planta da rede, mas lembre-se de medir o custo da obra</a:t>
            </a:r>
            <a:endParaRPr lang="en-US" sz="3000" dirty="0"/>
          </a:p>
        </p:txBody>
      </p:sp>
      <p:sp>
        <p:nvSpPr>
          <p:cNvPr id="5" name="Próximo capítulo"/>
          <p:cNvSpPr/>
          <p:nvPr/>
        </p:nvSpPr>
        <p:spPr>
          <a:xfrm>
            <a:off x="1371600" y="3611880"/>
            <a:ext cx="6400800" cy="777240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54480" y="36118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seguir: </a:t>
            </a:r>
            <a:r>
              <a:rPr lang="en-US" sz="1600" dirty="0">
                <a:solidFill>
                  <a:schemeClr val="bg1"/>
                </a:solidFill>
              </a:rPr>
              <a:t>Capítulo 12: séries temporais, texto e imagens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L">
  <a:themeElements>
    <a:clrScheme name="AutoML">
      <a:dk1>
        <a:srgbClr val="11182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utoM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AutoML: Teoria e Prática — Capítulo 11: Busca de arquitetura neural (NAS)</dc:title>
  <dc:subject>Slides de sala de aula</dc:subject>
  <dc:creator>Araken de Medeiros Santos</dc:creator>
  <cp:lastModifiedBy>Araken de Medeiros Santos</cp:lastModifiedBy>
  <cp:revision>1</cp:revision>
  <dcterms:created xsi:type="dcterms:W3CDTF">2026-10-26T18:45:29Z</dcterms:created>
  <dcterms:modified xsi:type="dcterms:W3CDTF">2026-10-26T18:45:29Z</dcterms:modified>
</cp:coreProperties>
</file>