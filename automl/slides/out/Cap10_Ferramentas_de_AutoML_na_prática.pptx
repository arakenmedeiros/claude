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Visita à feira de ferramentas. Mais importante que escolher um campeão é aprender a usar bem e comparar com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cozinha tem estilo, especialidade e preço (tempo e computação).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Auto-sklearn (meta-aprendizado, bayesiana e ensemble); TPOT (programação genética); H2O AutoML e AutoGluon (muitos modelos e ensembles empilhados); FLAML (busca de baixo custo).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ferramenta escolhe tratamento, algoritmos e ajustes; avalia por validação; devolve o melhor modelo ou um 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Wang et al. (2021).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Dados: Breast Cancer (UCI), 25%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Atributos úteis: best_estimator, best_config, best_loss, config_history (melhorias registradas).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time_budget, metric, estimator_list, n_splits, seed, max_iter.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 importante para pesquisa 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Digits, duas divisões. Duas divisões mostram tendência, não lei.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laranja: as duas divisões.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Honestidade: os trechos das quatro bibliotecas não foram executados na elaboração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Mesmos dados e divisões; mesmo orçamento; teste final intocado; várias divisões; várias bases; linhas de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Acurácia média em 3 divisões. Honestidade: a busca aleatória com 10 sorteios até piorou o boosting padrão em 3 de 4 bases. No Digits, o FLAML escolheu sgd e lrl1 em duas divisões.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Wine, 1 exemplo vale mais de 2 pontos percentuais (45 exemplos de teste).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Demšar (2006).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poucas bases, o teste tem pouco poder. Três divisões de uma base não são três bases. Pesquisas sérias usam dezenas de bases (AMLB, Gijsbers et al.,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FLAML: rapidez e pouco recurso. TPOT: auditar o pipeline. AutoGluon/H2O: máxima precisão. Auto-sklearn: ecossistema scikit-learn. H2O: dados muito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Gijsbers et al., 2024; Zöller e Huber, 2021; Grinsztajn et al., 2022; Hollmann et al.,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Elas estabilizam a nota da base, mas não ampliam o número de 'rodadas' independentes.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 relógio varia por máquina; o número de tentativas é controlável.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10 — Ferramentas de AutoML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10 — Ferramentas de AutoML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3"/>
                </a:solidFill>
              </a:rPr>
              <a:t>CAPÍTULO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III — Automação do Pipeline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de AutoML na prática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Conhecer as cozinhas profissionais e compará-las com rigor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as principais ferramentas e suas ideias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Usar o FLAML com orçamento de tempo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Ler o resultado de uma busca automática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Montar um pequeno experimento comparativo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Aplicar postos e o teste de Friedman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Escolher uma ferramenta pelo problema e pelos recursos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10.1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Feira de ferramentas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10.2–10.3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FLAML na prática e orçamento de tempo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10.4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Código de uso das outras (sem execução)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10.5–10.6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Comparação justa, postos e Friedman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10.7–10.9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Literatura, escolha e boas práticas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receitas às cozinhas profissionais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Você já sabe cortar, refogar e temperar (capítulos anteriores). Agora visita as cozinhas que servem o prato inteiro.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Ferramentas prontas empacotam espaço de busca, estratégia e avaliação em uma interface simples.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feira de ferramentas</a:t>
            </a:r>
            <a:endParaRPr lang="en-US" sz="3000" dirty="0"/>
          </a:p>
        </p:txBody>
      </p:sp>
      <p:pic>
        <p:nvPicPr>
          <p:cNvPr id="3" name="Figura" descr="A feira de ferram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375" y="1097280"/>
            <a:ext cx="537725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Cinco ferramentas, cinco receitas principais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contrato comum</a:t>
            </a:r>
            <a:endParaRPr lang="en-US" sz="3000" dirty="0"/>
          </a:p>
        </p:txBody>
      </p:sp>
      <p:pic>
        <p:nvPicPr>
          <p:cNvPr id="3" name="Figura" descr="O contrato com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086" y="1097280"/>
            <a:ext cx="683182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Dados + orçamento entram; modelo pronto sai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garimpeiro prudente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Começa com peneiradas rápidas em vários pontos do rio e só cava fundo onde viu brilho.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FLAML: testa configurações baratas primeiro (modelos pequenos) e só aumenta o esforço onde vale a pena.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FLAML em cinco linhas</a:t>
            </a:r>
            <a:endParaRPr lang="en-US" sz="3000" dirty="0"/>
          </a:p>
        </p:txBody>
      </p:sp>
      <p:sp>
        <p:nvSpPr>
          <p:cNvPr id="3" name="Quadro de códig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ódigo"/>
          <p:cNvSpPr txBox="1"/>
          <p:nvPr/>
        </p:nvSpPr>
        <p:spPr>
          <a:xfrm>
            <a:off x="640080" y="12801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flaml import AutoML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automl = AutoML()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automl.fit(Xtr, ytr, task="classification",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time_budget=10, metric="accuracy",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eval_method="cv", n_splits=3, seed=0)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print(automl.best_estimator)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print(automl.best_loss)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Observe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60020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time_budget: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tempo máximo, em segundos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metric: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que otimizar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estimator_list: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algoritmos permitidos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seed: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fixa a parte aleatória, mas não o relógio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FLAML devolveu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Vencedor: extra_tree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pronto: ExtraTreesClassifier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erro por algoritmo (validação cruzada):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extra_tree  erro = 0.0399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lgbm        erro = 0.0469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rf          erro = 0.0493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lrl1        erro = 0.0986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Isto é o CASH do Capítulo 1 funcionando por baixo dos panos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botões de uma chamada</a:t>
            </a:r>
            <a:endParaRPr lang="en-US" sz="3000" dirty="0"/>
          </a:p>
        </p:txBody>
      </p:sp>
      <p:pic>
        <p:nvPicPr>
          <p:cNvPr id="3" name="Figura" descr="Os botões de uma cham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158" y="1097280"/>
            <a:ext cx="598568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Quase toda ferramenta tem os mesmos botões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e reprodutibilidade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Orçamento em tempo: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 relógio varia por máquina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Fixar a semente não basta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Para reproduzir: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limite o número de tentativas (max_iter)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Registre as versões das bibliotecas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Tempo de relógio não é reprodutível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tempo, melhor modelo?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orçamento  2 s : acurácia no teste = 0.956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orçamento  5 s : acurácia no teste = 0.937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orçamento 10 s : acurácia no teste = 0.970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orçamento 20 s : acurácia no teste = 0.970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Melhora no começo e estabiliza; o 'buraco' de 5 s é azar da busca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Retornos decrescentes, de novo</a:t>
            </a:r>
            <a:endParaRPr lang="en-US" sz="3000" dirty="0"/>
          </a:p>
        </p:txBody>
      </p:sp>
      <p:pic>
        <p:nvPicPr>
          <p:cNvPr id="3" name="Figura" descr="Retornos decrescentes, de no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689" y="1097280"/>
            <a:ext cx="492462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Mais tempo ajuda no começo; depois, pouco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Auto-sklearn, TPOT, H2O e AutoGluon</a:t>
            </a:r>
            <a:endParaRPr lang="en-US" sz="3000" dirty="0"/>
          </a:p>
        </p:txBody>
      </p:sp>
      <p:sp>
        <p:nvSpPr>
          <p:cNvPr id="3" name="Cabeçalho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Código sem execução</a:t>
            </a:r>
            <a:endParaRPr lang="en-US" sz="1800" dirty="0"/>
          </a:p>
        </p:txBody>
      </p:sp>
      <p:sp>
        <p:nvSpPr>
          <p:cNvPr id="5" name="Corpo 1"/>
          <p:cNvSpPr/>
          <p:nvPr/>
        </p:nvSpPr>
        <p:spPr>
          <a:xfrm>
            <a:off x="45720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Não instalamos essas bibliotecas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Trechos seguem a documentação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Sem resultados reportados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Confira a versão antes de usar</a:t>
            </a:r>
            <a:endParaRPr lang="en-US" sz="1500" dirty="0"/>
          </a:p>
        </p:txBody>
      </p:sp>
      <p:sp>
        <p:nvSpPr>
          <p:cNvPr id="7" name="Cabeçalho 2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 que têm em comum</a:t>
            </a:r>
            <a:endParaRPr lang="en-US" sz="1800" dirty="0"/>
          </a:p>
        </p:txBody>
      </p:sp>
      <p:sp>
        <p:nvSpPr>
          <p:cNvPr id="9" name="Corpo 2"/>
          <p:cNvSpPr/>
          <p:nvPr/>
        </p:nvSpPr>
        <p:spPr>
          <a:xfrm>
            <a:off x="466344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Dados + orçamento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Tabela de modelos (leaderboard)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Um preditor pronto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TPOT exporta o código do pipeline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Aprender uma ferramenta ajuda a aprender as outras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cuidados para uma comparação justa</a:t>
            </a:r>
            <a:endParaRPr lang="en-US" sz="3000" dirty="0"/>
          </a:p>
        </p:txBody>
      </p:sp>
      <p:pic>
        <p:nvPicPr>
          <p:cNvPr id="3" name="Figura" descr="Seis cuidados para uma comparação ju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262" y="1097280"/>
            <a:ext cx="5851477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Sem isso, qualquer vencedor é fantasia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Duelo em miniatura: 4 métodos × 4 bases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    Floresta  Boosting  Aleat.  FLAML(10 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       0.993     1.000   0.993     1.000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      0.951     0.949   0.958     0.953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      0.978     0.971   0.964     0.965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Ruidosa     0.880     0.872   0.862     0.879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 nenhuma base o FLAML foi claramente superior à linha de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é uma divisão</a:t>
            </a:r>
            <a:endParaRPr lang="en-US" sz="3000" dirty="0"/>
          </a:p>
        </p:txBody>
      </p:sp>
      <p:pic>
        <p:nvPicPr>
          <p:cNvPr id="3" name="Figura" descr="Cada ponto é uma divis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671" y="1097280"/>
            <a:ext cx="673865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dispersão entre divisões é do tamanho das diferenças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campeonato de pontos corridos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O título vai para quem teve a melhor posição média nas rodadas, não para quem fez o gol mais bonito.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Postos: em cada base, ordene os métodos (1 = melhor) e calcule o posto médio. O teste de Friedman testa se todos são equivalentes.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Postos médios e Friedman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Floresta padrão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257175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7175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0891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FLAML (10 s)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468630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8630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Boosting padrão</a:t>
            </a:r>
            <a:endParaRPr lang="en-US" sz="1400" dirty="0"/>
          </a:p>
        </p:txBody>
      </p:sp>
      <p:sp>
        <p:nvSpPr>
          <p:cNvPr id="12" name="Cartão de número 4"/>
          <p:cNvSpPr/>
          <p:nvPr/>
        </p:nvSpPr>
        <p:spPr>
          <a:xfrm>
            <a:off x="6800850" y="1188720"/>
            <a:ext cx="1885950" cy="22860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00850" y="1280160"/>
            <a:ext cx="18859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38010" y="246888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 aleatória</a:t>
            </a:r>
            <a:endParaRPr lang="en-US" sz="1400" dirty="0"/>
          </a:p>
        </p:txBody>
      </p:sp>
      <p:sp>
        <p:nvSpPr>
          <p:cNvPr id="15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Friedman: valor-p = 0,629 — nada a rejeitar com apenas 4 bases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ferramenta escolher?</a:t>
            </a:r>
            <a:endParaRPr lang="en-US" sz="3000" dirty="0"/>
          </a:p>
        </p:txBody>
      </p:sp>
      <p:pic>
        <p:nvPicPr>
          <p:cNvPr id="3" name="Figura" descr="Qual ferramenta escolher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375" y="1097280"/>
            <a:ext cx="537725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dúvida, compare duas ou três com o mesmo orçamento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literatura ensina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Não existe vencedor universal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 orçamento pesa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Ensembles ajudam, com custo na produção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Árvores com boosting dominam tabelas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TabPFN: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modelos pré-treinados mudam o cenário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Compare no seu problema, não no anúncio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três divisões de uma mesma base NÃO equivalem a três bases no Friedman?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São recortes dos mesmos dados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são três algoritmos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teste exige 3 GPUs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valor-p muda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Como obter resultados mais reprodutíveis em ferramentas com orçamento de tempo?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Aumentar o tempo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Limitar o número de tentativas e registrar as versões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Trocar a semente a cada execução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menos dados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Auto-sklearn, TPOT, H2O, AutoGluon e FLAML: cada um com sua receita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Contrato comum: dados + orçamento → modelo e leaderboard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Orçamento de tempo atrapalha a reprodutibilidade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Comparação justa: seis cuidados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Postos e Friedman: poucas bases, pouco poder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Sem vencedor universal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Primeiro contato com o FLAML  </a:t>
            </a:r>
            <a:r>
              <a:rPr lang="en-US" sz="1400" dirty="0">
                <a:solidFill>
                  <a:schemeClr val="tx1"/>
                </a:solidFill>
              </a:rPr>
              <a:t>Wine, lgbm e rf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Tempo ou tentativas?  </a:t>
            </a:r>
            <a:r>
              <a:rPr lang="en-US" sz="1400" dirty="0">
                <a:solidFill>
                  <a:schemeClr val="tx1"/>
                </a:solidFill>
              </a:rPr>
              <a:t>Qual é mais reprodutível?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AutoML bate a linha de base?  </a:t>
            </a:r>
            <a:r>
              <a:rPr lang="en-US" sz="1400" dirty="0">
                <a:solidFill>
                  <a:schemeClr val="tx1"/>
                </a:solidFill>
              </a:rPr>
              <a:t>5 divisões na base ruidosa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Postos e Friedman à mão  </a:t>
            </a:r>
            <a:r>
              <a:rPr lang="en-US" sz="1400" dirty="0">
                <a:solidFill>
                  <a:schemeClr val="tx1"/>
                </a:solidFill>
              </a:rPr>
              <a:t>5 bases e 3 métodos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Duelo de AutoML em miniatura  </a:t>
            </a:r>
            <a:r>
              <a:rPr lang="en-US" sz="1400" dirty="0">
                <a:solidFill>
                  <a:schemeClr val="tx1"/>
                </a:solidFill>
              </a:rPr>
              <a:t>Com todos os cuidados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são ótimas; comparação rigorosa é melhor ainda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11: busca de arquitetura neural (NAS)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10: Ferramentas de AutoML na prática</dc:title>
  <dc:subject>Slides de sala de aula</dc:subject>
  <dc:creator>Araken de Medeiros Santos</dc:creator>
  <cp:lastModifiedBy>Araken de Medeiros Santos</cp:lastModifiedBy>
  <cp:revision>1</cp:revision>
  <dcterms:created xsi:type="dcterms:W3CDTF">2026-10-26T18:45:28Z</dcterms:created>
  <dcterms:modified xsi:type="dcterms:W3CDTF">2026-10-26T18:45:28Z</dcterms:modified>
</cp:coreProperties>
</file>