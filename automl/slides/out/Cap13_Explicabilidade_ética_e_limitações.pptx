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sensível. Lembre que os dados do capítulo são simulados, para podermos conhecer a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AutoML desloca a responsabilidade humana; não a elimina.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Rudin (2019): em decisões de alto risco, prefira modelos interpretáveis. Breast Cancer, validação cruzada de 10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Global: importância média dos atributos. Local: contribuição de cada atributo em uma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LIME (Ribeiro et al., 2016) é a outra ferramenta comum: ajusta um modelo simples ao redor de uma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são simulados: sabemos a 'verdade', o que no mundo real nunca sabemos.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renda do grupo 1 é menor por razões estruturais: usar a renda é, em parte, usar 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Mehrabi et al. (2021). O AutoML otimiza a métrica dada, inclusive reproduzindo o viés.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TPR: entre quem mereceria a aprovação, quantos foram aprovados (Hardt et al., 2016).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Renda e CEP-score reconstroem 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real: entre quem de fato pagaria.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simulação. Em dados reais a verdade é desconhecida, definições de justiça podem conflitar e a escolha do critério é decisão humana, social e às vezes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conclua que o ajuste 'resolve o viés'.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 verde: eficiência como critério.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Limites: não define o problema, não corrige dados ruins, não há almoço grátis (Wolpert, 1996), otimiza a validação, não prevê mudanças do mundo, tem custo, pode esconder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Imprima e use em projetos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Renda e CEP reconstroem o grupo; os rótulos já são enviesados.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Um modelo enviesado pode ser perfeitamente explicável.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13 — Ética e limitações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13 — Ética e limitações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6"/>
                </a:solidFill>
              </a:rPr>
              <a:t>CAPÍTULO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V — Responsabilidade e Prática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Explicabilidade, ética e limitações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Confiar com os olhos abertos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Distinguir modelo interpretável e explicação pós-hoc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Calcular importância por permutação e valores SHAP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Medir taxa de seleção e igualdade de oportunidade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por que remover o atributo sensível não basta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Estimar o custo de uma busca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os limites do AutoML e usar um checklist ético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13.1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Três perguntas antes de confiar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13.2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Explicabilidade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13.3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Justiça e vieses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13.4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Custo da busca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13.5–13.7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Limites, checklist e boas práticas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antes de confiar</a:t>
            </a:r>
            <a:endParaRPr lang="en-US" sz="3000" dirty="0"/>
          </a:p>
        </p:txBody>
      </p:sp>
      <p:pic>
        <p:nvPicPr>
          <p:cNvPr id="3" name="Figura" descr="Três perguntas antes de confi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689" y="1097280"/>
            <a:ext cx="6116622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Entendo? É justo? Quanto custa e o que não faz?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piloto automático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O comandante precisa saber o que o piloto automático faz, quando ele falha e quando assumir o controle.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AutoML é um piloto automático para modelos: automatiza a busca, não a responsabilidade.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Interpretável perde? Nem sempre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Regressão logística (interpretável)    acurácia = 0.981 (desvio 0.020)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Boosting (caixa-preta)                 acurácia = 0.968 (desvio 0.022)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empate técnico, escolha o modelo simples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 global e local</a:t>
            </a:r>
            <a:endParaRPr lang="en-US" sz="3000" dirty="0"/>
          </a:p>
        </p:txBody>
      </p:sp>
      <p:pic>
        <p:nvPicPr>
          <p:cNvPr id="3" name="Figura" descr="Explicação global e lo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158" y="1097280"/>
            <a:ext cx="598568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que o modelo valoriza × por que decidiu isto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a conta do restaurante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Como dividir de forma justa um jantar com pratos compartilhados? Calculando a contribuição média de cada pessoa em todas as ordens possíveis.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SHAP (Lundberg e Lee, 2017) divide a diferença entre a previsão e a média entre os atributos, com base nos valores de Shapley.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simulado: o viés está nos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 de aprovação NOS DADOS HISTÓRICOS  : grupo 0 = 0.51 | grupo 1 = 0.29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 de bons pagadores (verdade, só aqui): grupo 0 = 0.51 | grupo 1 = 0.49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Mesma proporção de bons pagadores; aprovação bem menor para o grupo 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por permutação e SHAP</a:t>
            </a:r>
            <a:endParaRPr lang="en-US" sz="3000" dirty="0"/>
          </a:p>
        </p:txBody>
      </p:sp>
      <p:pic>
        <p:nvPicPr>
          <p:cNvPr id="3" name="Figura" descr="Importância por permutação e SH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39" y="1097280"/>
            <a:ext cx="7484523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renda domina; explicar não é justificar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viés?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Histórico: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decisões injustas do passado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Representação: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grupo pouco presente nos dados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Medição: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variável que retrata mal o que importa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Feedback: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 modelo altera os dados futuros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algoritmo raramente é a origem; os dados são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formas de comparar grupos</a:t>
            </a:r>
            <a:endParaRPr lang="en-US" sz="3000" dirty="0"/>
          </a:p>
        </p:txBody>
      </p:sp>
      <p:pic>
        <p:nvPicPr>
          <p:cNvPr id="3" name="Figura" descr="Duas formas de comparar grup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82" y="1097280"/>
            <a:ext cx="586023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Taxa de seleção e igualdade de oportunidade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Apagar a coluna 'grupo' não apaga o viés</a:t>
            </a:r>
            <a:endParaRPr lang="en-US" sz="3000" dirty="0"/>
          </a:p>
        </p:txBody>
      </p:sp>
      <p:pic>
        <p:nvPicPr>
          <p:cNvPr id="3" name="Figura" descr="Apagar a coluna 'grupo' não apaga o vi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27" y="1097280"/>
            <a:ext cx="59765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Variáveis proxy e rótulos históricos carregam o viés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 sem o CEP-score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133856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versão     seleção g0  seleção g1 | TPR real g0  TPR real g1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CEP        0.478       0.378   |    0.814        0.670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CEP        0.480       0.394   |    0.831        0.692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Retirar o proxy não resolveu: o grupo 1 segue sendo aprovado menos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Mitigação: limiar por grupo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limiar único (0,5)  acc hist=0.818 | acc verdade=0.847 | seleção 0.49/0.37 | TPR 0.84/0.67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limiares por grupo  acc hist=0.801 | acc verdade=0.858 | seleção 0.49/0.49 | TPR 0.84/0.81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TPR real do grupo 1 sobe de 0,67 para 0,81; a acurácia contra a verdade também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e TPR por grupo</a:t>
            </a:r>
            <a:endParaRPr lang="en-US" sz="3000" dirty="0"/>
          </a:p>
        </p:txBody>
      </p:sp>
      <p:pic>
        <p:nvPicPr>
          <p:cNvPr id="3" name="Figura" descr="Seleção e TPR por gru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159" y="1097280"/>
            <a:ext cx="730568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Limiares ajustados reduzem a disparidade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da busca: conte os treinos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estratégia                                        treinos  horas*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5x5x5 com validação cruzada de 5              625    20.8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Aleatória: 60 sorteios, validação cruzada de 5      300    10.0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Bayesiana (TPE): 60 tentativas, CV de 5             300    10.0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Aleatória: 60 sorteios, holdout                      60     2.0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Halving/Hyperband: ~30 treinos equivalentes          30    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supondo 2 minutos por treino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Strubell et al. (2019) e Schwartz et al. (2020): relate o custo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AutoML faz e o que continua humano</a:t>
            </a:r>
            <a:endParaRPr lang="en-US" sz="3000" dirty="0"/>
          </a:p>
        </p:txBody>
      </p:sp>
      <p:pic>
        <p:nvPicPr>
          <p:cNvPr id="3" name="Figura" descr="O que o AutoML faz e o que continua huma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82" y="1097280"/>
            <a:ext cx="586023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Problema, dados, justiça e explicação continuam conosco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verificação ética</a:t>
            </a:r>
            <a:endParaRPr lang="en-US" sz="3000" dirty="0"/>
          </a:p>
        </p:txBody>
      </p:sp>
      <p:pic>
        <p:nvPicPr>
          <p:cNvPr id="3" name="Figura" descr="Lista de verificação ét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262" y="1097280"/>
            <a:ext cx="5851477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Antes, durante e depois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retirar o atributo 'grupo' não elimina o viés?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modelo adivinha o futuro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variáveis proxy e rótulos enviesados carregam a informação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grupo é aleatório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teste é pequeno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'explicar não é justificar' quer dizer?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Explicações são sempre falsas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explicação mostra como o modelo decidiu, não se a decisão é justa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SHAP é proibido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Modelos simples não precisam de explicação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Em alto risco, prefira o interpretável; no empate, o simples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Global × local; permutação, SHAP, LIME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Viés entra pelos dados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Meça por grupo: seleção e TPR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Proxies: remover a coluna não remove o viés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Conte os treinos e relate o custo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Quem importa?  </a:t>
            </a:r>
            <a:r>
              <a:rPr lang="en-US" sz="1400" dirty="0">
                <a:solidFill>
                  <a:schemeClr val="tx1"/>
                </a:solidFill>
              </a:rPr>
              <a:t>Permutação: logística × boosting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Disparidade por grupo  </a:t>
            </a:r>
            <a:r>
              <a:rPr lang="en-US" sz="1400" dirty="0">
                <a:solidFill>
                  <a:schemeClr val="tx1"/>
                </a:solidFill>
              </a:rPr>
              <a:t>Seleção e TPR real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Detectando proxies  </a:t>
            </a:r>
            <a:r>
              <a:rPr lang="en-US" sz="1400" dirty="0">
                <a:solidFill>
                  <a:schemeClr val="tx1"/>
                </a:solidFill>
              </a:rPr>
              <a:t>AUC para prever o grupo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Igualdade com rótulos disponíveis  </a:t>
            </a:r>
            <a:r>
              <a:rPr lang="en-US" sz="1400" dirty="0">
                <a:solidFill>
                  <a:schemeClr val="tx1"/>
                </a:solidFill>
              </a:rPr>
              <a:t>E se o rótulo é enviesado?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Auditoria ética  </a:t>
            </a:r>
            <a:r>
              <a:rPr lang="en-US" sz="1400" dirty="0">
                <a:solidFill>
                  <a:schemeClr val="tx1"/>
                </a:solidFill>
              </a:rPr>
              <a:t>FLAML, grupos e relatório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bom modelo explica, respeita as pessoas e conhece seus limites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14: MLOps, implantação e projeto integrador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13: Explicabilidade, ética e limitações</dc:title>
  <dc:subject>Slides de sala de aula</dc:subject>
  <dc:creator>Araken de Medeiros Santos</dc:creator>
  <cp:lastModifiedBy>Araken de Medeiros Santos</cp:lastModifiedBy>
  <cp:revision>1</cp:revision>
  <dcterms:created xsi:type="dcterms:W3CDTF">2026-10-26T18:45:32Z</dcterms:created>
  <dcterms:modified xsi:type="dcterms:W3CDTF">2026-10-26T18:45:32Z</dcterms:modified>
</cp:coreProperties>
</file>