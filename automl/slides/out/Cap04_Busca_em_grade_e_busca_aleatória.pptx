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II: a busca de hiperparâmetros (HPO). Duas estratégias simples e o grande aviso: otimismo da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ideias.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HPO: encontrar boas posições para todos os botões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Contínuo, inteiro, categórico, logarítmico e condicional.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Sorteando C entre 0,001 e 1000: uniforme quase nunca visita valores pequenos; logarítmica cobre todas as ordens de grandeza.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escala certa vale muito mais que muita busca.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GridSearchCV.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como a conta cresce.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5 valores por botão, 5 botões já dão 3.125 combinações. Com validação cruzada de 5, são 15.625 treinos.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Bergstra e Bengio (2012): quando só alguns botões importam, sorteios exploram muito mais valores do que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figura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real. A diferença é pequena, mas consistente: até o pior sorteio superou a 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Paisagem calculada para um SVM no Digits. Muitas combinações perto do topo.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sobe muito no início e depois estabiliza. Pare quando o ganho marginal não compensa o custo.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Ajuda a decidir o orçamento.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Validação aninhada: o laço externo mede, o interno escolhe. O teste não participa da escolha.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real. Quase 3 pontos de acurácia a mais; em outros problemas pode ser muito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Concentre o orçamento nos botões que importam (Probst et al., 2019, sobre tunabilidade).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prático.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Com poucos botões importantes, a grade repete valores e desperdiça tentativas.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O laço externo avalia o procedimento que inclui a escolha feita no laço interno.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Ponte: e se a busca aprendesse com o que já tentou?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4 — Grade e aleatória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4 — Grade e aleatória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2"/>
                </a:solidFill>
              </a:rPr>
              <a:t>CAPÍTULO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II — Otimização de Hiperparâmetros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em grade e busca aleatória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Girar os botões do algoritmo com método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Definir hiperparâmetros e espaço de busca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Distinguir tipos de hiperparâmetro e usar escala logarítmica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Implementar busca em grade e busca aleatória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Explicar por que a aleatória costuma vencer a grade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o otimismo da busca e usar validação aninhada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Descobrir quais botões realmente importam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4.1–4.2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Botões e espaço de busca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4.3–4.4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Grade e seu custo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4.5–4.6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Aleatória e a paisagem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4.7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Quanto orçamento?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4.8–4.9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Otimismo da busca e importância dos botões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botões do algoritmo</a:t>
            </a:r>
            <a:endParaRPr lang="en-US" sz="3000" dirty="0"/>
          </a:p>
        </p:txBody>
      </p:sp>
      <p:pic>
        <p:nvPicPr>
          <p:cNvPr id="3" name="Figura" descr="Os botões do algorit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6262" y="1097280"/>
            <a:ext cx="5851477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Cada algoritmo tem botões próprios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hiperparâmetro</a:t>
            </a:r>
            <a:endParaRPr lang="en-US" sz="3000" dirty="0"/>
          </a:p>
        </p:txBody>
      </p:sp>
      <p:pic>
        <p:nvPicPr>
          <p:cNvPr id="3" name="Figura" descr="Tipos de hiperparâmet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27" y="1097280"/>
            <a:ext cx="597654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Cada tipo pede um jeito de sortear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escala logarítmica?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0,001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fração de sorteios abaixo de 1 em escala uniforme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46863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863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0,403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8234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fração de sorteios abaixo de 1 em escala logarítmica</a:t>
            </a:r>
            <a:endParaRPr lang="en-US" sz="1400" dirty="0"/>
          </a:p>
        </p:txBody>
      </p:sp>
      <p:sp>
        <p:nvSpPr>
          <p:cNvPr id="9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Para C, gamma e taxas de aprendizado, sorteie em escala log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receita do bolo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Dosar sal em colheres pequenas e açúcar em xícaras: você ajusta cada ingrediente na sua escala natural.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Hiperparâmetros de ordem de grandeza (C, gamma) pedem escala logarítmica; profundidade e número de árvores, escala linear inteira.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em grade (grid search)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Testa todas as combinações de uma grade de valores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Simples e reprodutível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Custo exponencial: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cada botão multiplica o total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Repete os mesmos valores de cada botão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Completa, porém cara e repetitiva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4×4 em um SVM (Digits)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389888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Combinações testadas: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Treinos realizados  : 80 (16 combinações x 5 partes)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combinação   : {'C': 10, 'gamma': 0.1}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acurácia     : 0.988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35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16 combinações × 5 partes = 80 treinos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explosão da grade</a:t>
            </a:r>
            <a:endParaRPr lang="en-US" sz="3000" dirty="0"/>
          </a:p>
        </p:txBody>
      </p:sp>
      <p:pic>
        <p:nvPicPr>
          <p:cNvPr id="3" name="Figura" descr="A explosão da gra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7291" y="1097280"/>
            <a:ext cx="544941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Cada novo botão multiplica o custo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× aleatória: quem explora mais?</a:t>
            </a:r>
            <a:endParaRPr lang="en-US" sz="3000" dirty="0"/>
          </a:p>
        </p:txBody>
      </p:sp>
      <p:pic>
        <p:nvPicPr>
          <p:cNvPr id="3" name="Figura" descr="Grade × aleatória: quem explora mais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691" y="1097280"/>
            <a:ext cx="5878618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 9 tentativas, a grade vê só 3 valores do botão importante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Procurando um tesouro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Cavar buracos em linhas regulares pode perder um tesouro entre duas linhas; sortear lugares cobre mais pontos diferentes.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Em 9 tentativas, a grade 3×3 testa 3 valores distintos de cada botão; a aleatória testa 9.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Aleatória × grade no mesmo orçamento (27 tentativas)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0,983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melhor da grade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32766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766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0,989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34137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média da aleatória (8 repetições)</a:t>
            </a:r>
            <a:endParaRPr lang="en-US" sz="1400" dirty="0"/>
          </a:p>
        </p:txBody>
      </p:sp>
      <p:sp>
        <p:nvSpPr>
          <p:cNvPr id="9" name="Cartão de número 3"/>
          <p:cNvSpPr/>
          <p:nvPr/>
        </p:nvSpPr>
        <p:spPr>
          <a:xfrm>
            <a:off x="60960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960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0,988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2331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pior das 8 repetições aleatórias</a:t>
            </a:r>
            <a:endParaRPr lang="en-US" sz="1400" dirty="0"/>
          </a:p>
        </p:txBody>
      </p:sp>
      <p:sp>
        <p:nvSpPr>
          <p:cNvPr id="12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Mesmo orçamento, melhor resultado, e ainda mais estável do que parece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paisagem de hiperparâmetros</a:t>
            </a:r>
            <a:endParaRPr lang="en-US" sz="3000" dirty="0"/>
          </a:p>
        </p:txBody>
      </p:sp>
      <p:pic>
        <p:nvPicPr>
          <p:cNvPr id="3" name="Figura" descr="A paisagem de hiperparâmet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705" y="1097280"/>
            <a:ext cx="5222589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Há uma região boa e extensa: achá-la importa mais que a posição exata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orçamento é suficiente?</a:t>
            </a:r>
            <a:endParaRPr lang="en-US" sz="3000" dirty="0"/>
          </a:p>
        </p:txBody>
      </p:sp>
      <p:pic>
        <p:nvPicPr>
          <p:cNvPr id="3" name="Figura" descr="Quanto orçamento é suficiente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9330" y="1097280"/>
            <a:ext cx="568534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Retornos decrescentes: as primeiras tentativas rendem mais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primeiros bocados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A primeira fatia da pizza dá muito mais prazer que a quinta. As primeiras tentativas da busca fazem o mesmo.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Curva do melhor resultado até agora em função do número de tentativas: côncava, com retornos decrescentes.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perigo escondido: o otimismo da busca</a:t>
            </a:r>
            <a:endParaRPr lang="en-US" sz="3000" dirty="0"/>
          </a:p>
        </p:txBody>
      </p:sp>
      <p:pic>
        <p:nvPicPr>
          <p:cNvPr id="3" name="Figura" descr="O perigo escondido: o otimismo da bus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423" y="1097280"/>
            <a:ext cx="5723155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Quem escolhe não pode ser quem mede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preço do otimismo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0,979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nota da busca (best_score_)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32766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766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0,950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34137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nota aninhada (honesta)</a:t>
            </a:r>
            <a:endParaRPr lang="en-US" sz="1400" dirty="0"/>
          </a:p>
        </p:txBody>
      </p:sp>
      <p:sp>
        <p:nvSpPr>
          <p:cNvPr id="9" name="Cartão de número 3"/>
          <p:cNvSpPr/>
          <p:nvPr/>
        </p:nvSpPr>
        <p:spPr>
          <a:xfrm>
            <a:off x="6096000" y="1188720"/>
            <a:ext cx="25908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96000" y="1280160"/>
            <a:ext cx="259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+0,029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6233160" y="2468880"/>
            <a:ext cx="231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otimismo médio da busca</a:t>
            </a:r>
            <a:endParaRPr lang="en-US" sz="1400" dirty="0"/>
          </a:p>
        </p:txBody>
      </p:sp>
      <p:sp>
        <p:nvSpPr>
          <p:cNvPr id="12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nota do vencedor é inflada pela seleção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botões importam?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901952"/>
          </a:xfrm>
          <a:prstGeom prst="roundRect">
            <a:avLst>
              <a:gd name="adj" fmla="val 384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Correlação de Spearman entre cada hiperparâmetro e a acurácia: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n_estimators      rho = +0.10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max_depth         rho = +0.69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max_features      rho = -0.43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min_samples_leaf  rho = -0.05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Acurácia: mínima = 0.595 | máxima = 0.931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5478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 uma floresta, a profundidade pesou mais que o número de árvores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práticas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Sorteie em escala log quando fizer sentido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Prefira a aleatória à grade como padrão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Defina o orçamento antes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Meça com validação aninhada ou teste final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Descubra quais botões importam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Busca simples, avaliação honesta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 que a busca aleatória costuma superar a grade com o mesmo orçamento?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usa menos dados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explora mais valores distintos dos botões que importam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é determinística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dispensa validação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 que mede a validação aninhada?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desempenho da busca inteira, sem o otimismo da seleção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o tempo de treino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número de hiperparâmetros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escala dos atributos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HPO: achar boas posições para todos os botões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Escala logarítmica para C, gamma e taxas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Grade: exponencial e repetitiva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Aleatória: explora mais valores do que importa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Retornos decrescentes: as primeiras tentativas rendem mais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Otimismo da busca: use validação aninhada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Curvas de aprendizado  </a:t>
            </a:r>
            <a:r>
              <a:rPr lang="en-US" sz="1400" dirty="0">
                <a:solidFill>
                  <a:schemeClr val="tx1"/>
                </a:solidFill>
              </a:rPr>
              <a:t>Treino × validação por botão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Ampliando o espaço  </a:t>
            </a:r>
            <a:r>
              <a:rPr lang="en-US" sz="1400" dirty="0">
                <a:solidFill>
                  <a:schemeClr val="tx1"/>
                </a:solidFill>
              </a:rPr>
              <a:t>Mais botões, mais custo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 efeito da semente  </a:t>
            </a:r>
            <a:r>
              <a:rPr lang="en-US" sz="1400" dirty="0">
                <a:solidFill>
                  <a:schemeClr val="tx1"/>
                </a:solidFill>
              </a:rPr>
              <a:t>Varie random_state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Contando treinos  </a:t>
            </a:r>
            <a:r>
              <a:rPr lang="en-US" sz="1400" dirty="0">
                <a:solidFill>
                  <a:schemeClr val="tx1"/>
                </a:solidFill>
              </a:rPr>
              <a:t>Calcule o custo de cada busca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Orçamento e honestidade  </a:t>
            </a:r>
            <a:r>
              <a:rPr lang="en-US" sz="1400" dirty="0">
                <a:solidFill>
                  <a:schemeClr val="tx1"/>
                </a:solidFill>
              </a:rPr>
              <a:t>Compare grade e aleatória com validação aninhada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Sorteie com inteligência e meça com honestidade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5: otimização bayesiana, aprendendo com as tentativas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4: Busca em grade e busca aleatória</dc:title>
  <dc:subject>Slides de sala de aula</dc:subject>
  <dc:creator>Araken de Medeiros Santos</dc:creator>
  <cp:lastModifiedBy>Araken de Medeiros Santos</cp:lastModifiedBy>
  <cp:revision>1</cp:revision>
  <dcterms:created xsi:type="dcterms:W3CDTF">2026-10-26T18:45:22Z</dcterms:created>
  <dcterms:modified xsi:type="dcterms:W3CDTF">2026-10-26T18:45:22Z</dcterms:modified>
</cp:coreProperties>
</file>