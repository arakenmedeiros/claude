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III. Mensagem: atributos muitas vezes pesam mais que o algoritmo, mas criar atributos em massa pode piorar.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Idade vira faixa etária; data vira dia da semana; compras viram média por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à próxima figura.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espaço (x1, x2) nenhuma reta separa os círculos; ao acrescentar x1² e x2², sim.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real com PolynomialFeatures(2): x1, x2, x1², x1x2, x2².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Avalie sempre: a transformação certa depende do problema. 65 atributos para poucos dados geram 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Filtro: nota univariada (teste F, informação mútua). Wrapper: testa subconjuntos com o modelo (RFE). Embutido: o próprio modelo seleciona (penalidade L1).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com 13 atributos reais e 100 de ruído. RFE e L1 chegam a 0,983 com ~10 atributos.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à seleção.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Feature Synthesis (Kanter e Veeramachani, 2015): média, máximo, contagem de compras por cliente. Respeite a linha do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Simulação do livro; os dados são sintéticos. AUC 0,5 é o acaso.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8 colunas e várias operações são 72 atributos. Muitos são redundantes.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honesto e instrutivo: gerar sem critério e sem seleção rigorosa degrada o modelo. Gerar e selecionar devem ocorrer dentro da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seleção usa todos os dados, há vazamento (Cap.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A seleção ocorre durante o treino do modelo.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Sem seleção rigorosa, mais atributos aumentam o sobreajuste.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Soluções nos Apêndices D 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Ponte: aprender com problemas anteriores.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AutoML: Teoria e Prática  ·  Cap. 8 — Atributos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AutoML: Teoria e Prática  ·  Cap. 8 — Atributos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3"/>
                </a:solidFill>
              </a:rPr>
              <a:t>CAPÍTULO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Parte III — Automação do Pipeline</a:t>
            </a:r>
            <a:endParaRPr lang="en-US" sz="1400" dirty="0"/>
          </a:p>
        </p:txBody>
      </p:sp>
      <p:sp>
        <p:nvSpPr>
          <p:cNvPr id="4" name="Título"/>
          <p:cNvSpPr txBox="1"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Engenharia e seleção de atributos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</a:rPr>
              <a:t>Transformar o que se mede em informação que o modelo entende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AutoML: Teoria e Prática  ·  Araken de Medeiros Santos</a:t>
            </a:r>
            <a:endParaRPr lang="en-US" sz="1200" dirty="0"/>
          </a:p>
        </p:txBody>
      </p:sp>
      <p:pic>
        <p:nvPicPr>
          <p:cNvPr id="7" name="Banner do capítulo" descr="Ilustração do capítulo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7303"/>
            <a:ext cx="9144000" cy="17218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944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Explicar o que é engenharia de atributos</a:t>
            </a:r>
            <a:endParaRPr lang="en-US" sz="1500" dirty="0"/>
          </a:p>
        </p:txBody>
      </p:sp>
      <p:sp>
        <p:nvSpPr>
          <p:cNvPr id="7" name="Cartão 2"/>
          <p:cNvSpPr/>
          <p:nvPr/>
        </p:nvSpPr>
        <p:spPr>
          <a:xfrm>
            <a:off x="466344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944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Aplicar transformações úteis (quadrados, razões, faixas)</a:t>
            </a:r>
            <a:endParaRPr lang="en-US" sz="1500" dirty="0"/>
          </a:p>
        </p:txBody>
      </p:sp>
      <p:sp>
        <p:nvSpPr>
          <p:cNvPr id="11" name="Cartão 3"/>
          <p:cNvSpPr/>
          <p:nvPr/>
        </p:nvSpPr>
        <p:spPr>
          <a:xfrm>
            <a:off x="45720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28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Distinguir filtros, wrappers e métodos embutidos</a:t>
            </a:r>
            <a:endParaRPr lang="en-US" sz="1500" dirty="0"/>
          </a:p>
        </p:txBody>
      </p:sp>
      <p:sp>
        <p:nvSpPr>
          <p:cNvPr id="15" name="Cartão 4"/>
          <p:cNvSpPr/>
          <p:nvPr/>
        </p:nvSpPr>
        <p:spPr>
          <a:xfrm>
            <a:off x="466344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37286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Entender a DFS em várias tabelas</a:t>
            </a:r>
            <a:endParaRPr lang="en-US" sz="1500" dirty="0"/>
          </a:p>
        </p:txBody>
      </p:sp>
      <p:sp>
        <p:nvSpPr>
          <p:cNvPr id="19" name="Cartão 5"/>
          <p:cNvSpPr/>
          <p:nvPr/>
        </p:nvSpPr>
        <p:spPr>
          <a:xfrm>
            <a:off x="45720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51276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Reconhecer riscos da criação automática em massa</a:t>
            </a:r>
            <a:endParaRPr lang="en-US" sz="1500" dirty="0"/>
          </a:p>
        </p:txBody>
      </p:sp>
      <p:sp>
        <p:nvSpPr>
          <p:cNvPr id="23" name="Cartão 6"/>
          <p:cNvSpPr/>
          <p:nvPr/>
        </p:nvSpPr>
        <p:spPr>
          <a:xfrm>
            <a:off x="466344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35127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Manter tudo dentro do pipeline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3" name="Número 1"/>
          <p:cNvSpPr/>
          <p:nvPr/>
        </p:nvSpPr>
        <p:spPr>
          <a:xfrm>
            <a:off x="457200" y="118872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8.1–8.2</a:t>
            </a:r>
            <a:endParaRPr lang="en-US" sz="1600" dirty="0"/>
          </a:p>
        </p:txBody>
      </p:sp>
      <p:sp>
        <p:nvSpPr>
          <p:cNvPr id="5" name="Faixa 1"/>
          <p:cNvSpPr/>
          <p:nvPr/>
        </p:nvSpPr>
        <p:spPr>
          <a:xfrm>
            <a:off x="1463040" y="1188720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1887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Matéria-prima e transformações</a:t>
            </a:r>
            <a:endParaRPr lang="en-US" sz="1700" dirty="0"/>
          </a:p>
        </p:txBody>
      </p:sp>
      <p:sp>
        <p:nvSpPr>
          <p:cNvPr id="7" name="Número 2"/>
          <p:cNvSpPr/>
          <p:nvPr/>
        </p:nvSpPr>
        <p:spPr>
          <a:xfrm>
            <a:off x="457200" y="1847088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470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8.3</a:t>
            </a:r>
            <a:endParaRPr lang="en-US" sz="1600" dirty="0"/>
          </a:p>
        </p:txBody>
      </p:sp>
      <p:sp>
        <p:nvSpPr>
          <p:cNvPr id="9" name="Faixa 2"/>
          <p:cNvSpPr/>
          <p:nvPr/>
        </p:nvSpPr>
        <p:spPr>
          <a:xfrm>
            <a:off x="1463040" y="1847088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84708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Seleção: filtros, wrappers, embutidos</a:t>
            </a:r>
            <a:endParaRPr lang="en-US" sz="1700" dirty="0"/>
          </a:p>
        </p:txBody>
      </p:sp>
      <p:sp>
        <p:nvSpPr>
          <p:cNvPr id="11" name="Número 3"/>
          <p:cNvSpPr/>
          <p:nvPr/>
        </p:nvSpPr>
        <p:spPr>
          <a:xfrm>
            <a:off x="457200" y="2505456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054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8.4–8.5</a:t>
            </a:r>
            <a:endParaRPr lang="en-US" sz="1600" dirty="0"/>
          </a:p>
        </p:txBody>
      </p:sp>
      <p:sp>
        <p:nvSpPr>
          <p:cNvPr id="13" name="Faixa 3"/>
          <p:cNvSpPr/>
          <p:nvPr/>
        </p:nvSpPr>
        <p:spPr>
          <a:xfrm>
            <a:off x="1463040" y="2505456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2505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DFS e aprender a criar atributos</a:t>
            </a:r>
            <a:endParaRPr lang="en-US" sz="1700" dirty="0"/>
          </a:p>
        </p:txBody>
      </p:sp>
      <p:sp>
        <p:nvSpPr>
          <p:cNvPr id="15" name="Número 4"/>
          <p:cNvSpPr/>
          <p:nvPr/>
        </p:nvSpPr>
        <p:spPr>
          <a:xfrm>
            <a:off x="457200" y="3163824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638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8.6–8.7</a:t>
            </a:r>
            <a:endParaRPr lang="en-US" sz="1600" dirty="0"/>
          </a:p>
        </p:txBody>
      </p:sp>
      <p:sp>
        <p:nvSpPr>
          <p:cNvPr id="17" name="Faixa 4"/>
          <p:cNvSpPr/>
          <p:nvPr/>
        </p:nvSpPr>
        <p:spPr>
          <a:xfrm>
            <a:off x="1463040" y="3163824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316382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Criação em massa: perigos e cuidados</a:t>
            </a:r>
            <a:endParaRPr lang="en-US" sz="1700" dirty="0"/>
          </a:p>
        </p:txBody>
      </p:sp>
      <p:sp>
        <p:nvSpPr>
          <p:cNvPr id="19" name="Número 5"/>
          <p:cNvSpPr/>
          <p:nvPr/>
        </p:nvSpPr>
        <p:spPr>
          <a:xfrm>
            <a:off x="457200" y="3822192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221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8.8</a:t>
            </a:r>
            <a:endParaRPr lang="en-US" sz="1600" dirty="0"/>
          </a:p>
        </p:txBody>
      </p:sp>
      <p:sp>
        <p:nvSpPr>
          <p:cNvPr id="21" name="Faixa 5"/>
          <p:cNvSpPr/>
          <p:nvPr/>
        </p:nvSpPr>
        <p:spPr>
          <a:xfrm>
            <a:off x="1463040" y="3822192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382219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Boas práticas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matéria-prima do modelo</a:t>
            </a:r>
            <a:endParaRPr lang="en-US" sz="3000" dirty="0"/>
          </a:p>
        </p:txBody>
      </p:sp>
      <p:pic>
        <p:nvPicPr>
          <p:cNvPr id="3" name="Figura" descr="A matéria-prima do mode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689" y="1097280"/>
            <a:ext cx="6116622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Transformar o que se mede em informação útil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tempero antes do fogo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Um bom cozinheiro prepara os ingredientes antes de cozinhar. Cortar, temperar e combinar muda o resultado mais que a panela.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Engenharia de atributos: criar, transformar e selecionar colunas; muitas vezes pesa mais que o algoritmo.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círculos que uma reta não separa</a:t>
            </a:r>
            <a:endParaRPr lang="en-US" sz="3000" dirty="0"/>
          </a:p>
        </p:txBody>
      </p:sp>
      <p:pic>
        <p:nvPicPr>
          <p:cNvPr id="3" name="Figura" descr="Dois círculos que uma reta não sepa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36598"/>
            <a:ext cx="8229600" cy="2756004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 o quadrado das coordenadas, a reta resolve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poder de uma boa transformação</a:t>
            </a:r>
            <a:endParaRPr lang="en-US" sz="3000" dirty="0"/>
          </a:p>
        </p:txBody>
      </p:sp>
      <p:sp>
        <p:nvSpPr>
          <p:cNvPr id="3" name="Cartão de número 1"/>
          <p:cNvSpPr/>
          <p:nvPr/>
        </p:nvSpPr>
        <p:spPr>
          <a:xfrm>
            <a:off x="457200" y="1188720"/>
            <a:ext cx="40005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00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0,443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3726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acurácia com os atributos originais</a:t>
            </a:r>
            <a:endParaRPr lang="en-US" sz="1400" dirty="0"/>
          </a:p>
        </p:txBody>
      </p:sp>
      <p:sp>
        <p:nvSpPr>
          <p:cNvPr id="6" name="Cartão de número 2"/>
          <p:cNvSpPr/>
          <p:nvPr/>
        </p:nvSpPr>
        <p:spPr>
          <a:xfrm>
            <a:off x="4686300" y="1188720"/>
            <a:ext cx="40005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86300" y="1280160"/>
            <a:ext cx="400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4823460" y="2468880"/>
            <a:ext cx="3726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acurácia com termos quadráticos</a:t>
            </a:r>
            <a:endParaRPr lang="en-US" sz="1400" dirty="0"/>
          </a:p>
        </p:txBody>
      </p:sp>
      <p:sp>
        <p:nvSpPr>
          <p:cNvPr id="9" name="Conclusão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57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Mesmo modelo linear; só mudou o atributo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mais atributos nem sempre ajudam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877824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 originais (10)        : R² = 0.49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termos quadráticos (65)     : R² = 0.459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2374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 outro problema, 55 atributos a mais pioraram o R²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 de atributos: três famílias</a:t>
            </a:r>
            <a:endParaRPr lang="en-US" sz="3000" dirty="0"/>
          </a:p>
        </p:txBody>
      </p:sp>
      <p:pic>
        <p:nvPicPr>
          <p:cNvPr id="3" name="Figura" descr="Seleção de atributos: três famíli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786" y="1097280"/>
            <a:ext cx="6690428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Filtros (rápidos), wrappers (precisos e caros) e embutidos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Selecionando 10 entre 113 atributos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901952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                             | acurácia | atributos | reais entre eles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seleção (113 atributos)        |    0.949 |       113 | 13 de 13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filtro: teste F (k=10)             |    0.955 |        10 | 10 de 13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filtro: informação mútua (k=10)    |    0.960 |        10 | 10 de 13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wrapper: RFE (10)                  |    0.983 |        10 | 10 de 13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embutido: penalidade L1            |    0.983 |         9 |  9 de 13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478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Menos atributos, melhor acurácia: o ruído atrapalhava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Arrumar a mala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Levar tudo pesa e atrapalha. Escolher o essencial deixa a viagem mais leve e você acha o que precisa.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Remover atributos irrelevantes reduz o sobreajuste e o custo, e ajuda a explicar o modelo.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DFS: atributos de várias tabelas</a:t>
            </a:r>
            <a:endParaRPr lang="en-US" sz="3000" dirty="0"/>
          </a:p>
        </p:txBody>
      </p:sp>
      <p:pic>
        <p:nvPicPr>
          <p:cNvPr id="3" name="Figura" descr="DFS: atributos de várias tabel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6812" y="1097280"/>
            <a:ext cx="549037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Agregações ao longo dos caminhos entre tabelas relacionadas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valor da tabela de compras</a:t>
            </a:r>
            <a:endParaRPr lang="en-US" sz="3000" dirty="0"/>
          </a:p>
        </p:txBody>
      </p:sp>
      <p:sp>
        <p:nvSpPr>
          <p:cNvPr id="3" name="Cartão de número 1"/>
          <p:cNvSpPr/>
          <p:nvPr/>
        </p:nvSpPr>
        <p:spPr>
          <a:xfrm>
            <a:off x="457200" y="1188720"/>
            <a:ext cx="40005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00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0,483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3726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AUC só com a tabela de clientes</a:t>
            </a:r>
            <a:endParaRPr lang="en-US" sz="1400" dirty="0"/>
          </a:p>
        </p:txBody>
      </p:sp>
      <p:sp>
        <p:nvSpPr>
          <p:cNvPr id="6" name="Cartão de número 2"/>
          <p:cNvSpPr/>
          <p:nvPr/>
        </p:nvSpPr>
        <p:spPr>
          <a:xfrm>
            <a:off x="4686300" y="1188720"/>
            <a:ext cx="40005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86300" y="1280160"/>
            <a:ext cx="400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0,857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4823460" y="2468880"/>
            <a:ext cx="3726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AUC com atributos agregados das compras</a:t>
            </a:r>
            <a:endParaRPr lang="en-US" sz="1400" dirty="0"/>
          </a:p>
        </p:txBody>
      </p:sp>
      <p:sp>
        <p:nvSpPr>
          <p:cNvPr id="9" name="Conclusão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57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Informação escondida em outra tabela dobrou a capacidade do modelo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explosão de atributos candidatos</a:t>
            </a:r>
            <a:endParaRPr lang="en-US" sz="3000" dirty="0"/>
          </a:p>
        </p:txBody>
      </p:sp>
      <p:pic>
        <p:nvPicPr>
          <p:cNvPr id="3" name="Figura" descr="A explosão de atributos candida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1013" y="1097280"/>
            <a:ext cx="5521974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Poucos atributos e operações geram milhares de candidatos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Criação automática 'na marra' piorou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conjunto | modelo                 | original | com atributos gerados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Wine     | regressão logística    |    0.983 | 0.950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Wine     | gradient boosting      |    0.949 | 0.921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Cancer   | regressão logística    |    0.979 | 0.963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Cancer   | gradient boosting      |    0.965 | 0.946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72 atributos gerados: todos os quatro resultados pioraram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da criação automática</a:t>
            </a:r>
            <a:endParaRPr lang="en-US" sz="3000" dirty="0"/>
          </a:p>
        </p:txBody>
      </p:sp>
      <p:pic>
        <p:nvPicPr>
          <p:cNvPr id="3" name="Figura" descr="O ciclo da criação automát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290" y="1097280"/>
            <a:ext cx="6263421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Gerar e selecionar, sempre dentro da validação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× cuidados</a:t>
            </a:r>
            <a:endParaRPr lang="en-US" sz="3000" dirty="0"/>
          </a:p>
        </p:txBody>
      </p:sp>
      <p:sp>
        <p:nvSpPr>
          <p:cNvPr id="3" name="Cabeçalho 1"/>
          <p:cNvSpPr/>
          <p:nvPr/>
        </p:nvSpPr>
        <p:spPr>
          <a:xfrm>
            <a:off x="457200" y="118872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Riscos</a:t>
            </a:r>
            <a:endParaRPr lang="en-US" sz="1800" dirty="0"/>
          </a:p>
        </p:txBody>
      </p:sp>
      <p:sp>
        <p:nvSpPr>
          <p:cNvPr id="5" name="Corpo 1"/>
          <p:cNvSpPr/>
          <p:nvPr/>
        </p:nvSpPr>
        <p:spPr>
          <a:xfrm>
            <a:off x="457200" y="1874520"/>
            <a:ext cx="402336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Explosão de candidatos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Redundância e ruído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Vazamento temporal (DFS)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Sorte na seleção</a:t>
            </a:r>
            <a:endParaRPr lang="en-US" sz="1500" dirty="0"/>
          </a:p>
        </p:txBody>
      </p:sp>
      <p:sp>
        <p:nvSpPr>
          <p:cNvPr id="7" name="Cabeçalho 2"/>
          <p:cNvSpPr/>
          <p:nvPr/>
        </p:nvSpPr>
        <p:spPr>
          <a:xfrm>
            <a:off x="4663440" y="118872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188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Cuidados</a:t>
            </a:r>
            <a:endParaRPr lang="en-US" sz="1800" dirty="0"/>
          </a:p>
        </p:txBody>
      </p:sp>
      <p:sp>
        <p:nvSpPr>
          <p:cNvPr id="9" name="Corpo 2"/>
          <p:cNvSpPr/>
          <p:nvPr/>
        </p:nvSpPr>
        <p:spPr>
          <a:xfrm>
            <a:off x="4663440" y="1874520"/>
            <a:ext cx="402336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96596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Tudo dentro do pipeline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Respeitar a linha do tempo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Limitar o número de candidatos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Avaliar com validação aninhada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Atributo bom é aquele que sobrevive à validação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que é um método embutido de seleção de atributos?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filtro por correlação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próprio modelo seleciona (por exemplo, penalidade L1)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teste final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etapa de imputação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Por que a criação de 72 atributos piorou os resultados?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o computador errou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Excesso de candidatos redundantes e ruído para poucos dados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o teste foi alterado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a escala mudou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levar na mochila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Ícone 1" descr="marc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90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Atributos muitas vezes pesam mais que o algoritmo</a:t>
            </a:r>
            <a:endParaRPr lang="en-US" sz="1300" dirty="0"/>
          </a:p>
        </p:txBody>
      </p:sp>
      <p:sp>
        <p:nvSpPr>
          <p:cNvPr id="6" name="Cartão 2"/>
          <p:cNvSpPr/>
          <p:nvPr/>
        </p:nvSpPr>
        <p:spPr>
          <a:xfrm>
            <a:off x="466344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2" descr="marc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990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3036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Transformações ajudam, mas avalie sempre</a:t>
            </a:r>
            <a:endParaRPr lang="en-US" sz="1300" dirty="0"/>
          </a:p>
        </p:txBody>
      </p:sp>
      <p:sp>
        <p:nvSpPr>
          <p:cNvPr id="9" name="Cartão 3"/>
          <p:cNvSpPr/>
          <p:nvPr/>
        </p:nvSpPr>
        <p:spPr>
          <a:xfrm>
            <a:off x="45720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e 3" descr="marca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134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412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Filtros, wrappers e embutidos</a:t>
            </a:r>
            <a:endParaRPr lang="en-US" sz="1300" dirty="0"/>
          </a:p>
        </p:txBody>
      </p:sp>
      <p:sp>
        <p:nvSpPr>
          <p:cNvPr id="12" name="Cartão 4"/>
          <p:cNvSpPr/>
          <p:nvPr/>
        </p:nvSpPr>
        <p:spPr>
          <a:xfrm>
            <a:off x="466344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Ícone 4" descr="marcad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1343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036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DFS agrega tabelas relacionadas; respeite o tempo</a:t>
            </a:r>
            <a:endParaRPr lang="en-US" sz="1300" dirty="0"/>
          </a:p>
        </p:txBody>
      </p:sp>
      <p:sp>
        <p:nvSpPr>
          <p:cNvPr id="15" name="Cartão 5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e 5" descr="marcad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2783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2412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Criação em massa: explosão e piora</a:t>
            </a:r>
            <a:endParaRPr lang="en-US" sz="1300" dirty="0"/>
          </a:p>
        </p:txBody>
      </p:sp>
      <p:sp>
        <p:nvSpPr>
          <p:cNvPr id="18" name="Cartão 6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6" descr="marcad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27832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3036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Tudo dentro do pipeline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3" name="Faixa 1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73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73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143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Quais transformações?  </a:t>
            </a:r>
            <a:r>
              <a:rPr lang="en-US" sz="1400" dirty="0">
                <a:solidFill>
                  <a:schemeClr val="tx1"/>
                </a:solidFill>
              </a:rPr>
              <a:t>Compare log, quadrado e razão</a:t>
            </a:r>
            <a:endParaRPr lang="en-US" sz="1400" dirty="0"/>
          </a:p>
        </p:txBody>
      </p:sp>
      <p:sp>
        <p:nvSpPr>
          <p:cNvPr id="7" name="Faixa 2"/>
          <p:cNvSpPr/>
          <p:nvPr/>
        </p:nvSpPr>
        <p:spPr>
          <a:xfrm>
            <a:off x="457200" y="18288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31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431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8288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Filtro, wrapper ou embutido?  </a:t>
            </a:r>
            <a:r>
              <a:rPr lang="en-US" sz="1400" dirty="0">
                <a:solidFill>
                  <a:schemeClr val="tx1"/>
                </a:solidFill>
              </a:rPr>
              <a:t>Compare métodos na mesma base</a:t>
            </a:r>
            <a:endParaRPr lang="en-US" sz="1400" dirty="0"/>
          </a:p>
        </p:txBody>
      </p:sp>
      <p:sp>
        <p:nvSpPr>
          <p:cNvPr id="11" name="Faixa 3"/>
          <p:cNvSpPr/>
          <p:nvPr/>
        </p:nvSpPr>
        <p:spPr>
          <a:xfrm>
            <a:off x="457200" y="25146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289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289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5146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Vazamento na seleção  </a:t>
            </a:r>
            <a:r>
              <a:rPr lang="en-US" sz="1400" dirty="0">
                <a:solidFill>
                  <a:schemeClr val="tx1"/>
                </a:solidFill>
              </a:rPr>
              <a:t>Selecione dentro e fora do pipeline</a:t>
            </a:r>
            <a:endParaRPr lang="en-US" sz="1400" dirty="0"/>
          </a:p>
        </p:txBody>
      </p:sp>
      <p:sp>
        <p:nvSpPr>
          <p:cNvPr id="15" name="Faixa 4"/>
          <p:cNvSpPr/>
          <p:nvPr/>
        </p:nvSpPr>
        <p:spPr>
          <a:xfrm>
            <a:off x="457200" y="32004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147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3147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2004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Atributos de data  </a:t>
            </a:r>
            <a:r>
              <a:rPr lang="en-US" sz="1400" dirty="0">
                <a:solidFill>
                  <a:schemeClr val="tx1"/>
                </a:solidFill>
              </a:rPr>
              <a:t>Dia da semana e mês</a:t>
            </a:r>
            <a:endParaRPr lang="en-US" sz="1400" dirty="0"/>
          </a:p>
        </p:txBody>
      </p:sp>
      <p:sp>
        <p:nvSpPr>
          <p:cNvPr id="19" name="Faixa 5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005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0005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PROJETO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8862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Gerar sem se perder  </a:t>
            </a:r>
            <a:r>
              <a:rPr lang="en-US" sz="1400" dirty="0">
                <a:solidFill>
                  <a:schemeClr val="tx1"/>
                </a:solidFill>
              </a:rPr>
              <a:t>Gerar, selecionar e avaliar honestamente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fim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Ícone fim" descr="f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868680"/>
            <a:ext cx="457200" cy="457200"/>
          </a:xfrm>
          <a:prstGeom prst="rect">
            <a:avLst/>
          </a:prstGeom>
        </p:spPr>
      </p:pic>
      <p:sp>
        <p:nvSpPr>
          <p:cNvPr id="4" name="Frase final"/>
          <p:cNvSpPr txBox="1"/>
          <p:nvPr/>
        </p:nvSpPr>
        <p:spPr>
          <a:xfrm>
            <a:off x="73152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atributos não é melhor: melhor é o que resiste à validação</a:t>
            </a:r>
            <a:endParaRPr lang="en-US" sz="3000" dirty="0"/>
          </a:p>
        </p:txBody>
      </p:sp>
      <p:sp>
        <p:nvSpPr>
          <p:cNvPr id="5" name="Próximo capítulo"/>
          <p:cNvSpPr/>
          <p:nvPr/>
        </p:nvSpPr>
        <p:spPr>
          <a:xfrm>
            <a:off x="1371600" y="3611880"/>
            <a:ext cx="6400800" cy="777240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54480" y="36118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seguir: </a:t>
            </a:r>
            <a:r>
              <a:rPr lang="en-US" sz="1600" dirty="0">
                <a:solidFill>
                  <a:schemeClr val="bg1"/>
                </a:solidFill>
              </a:rPr>
              <a:t>Capítulo 9: meta-aprendizado, warm start e ensembles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L">
  <a:themeElements>
    <a:clrScheme name="AutoML">
      <a:dk1>
        <a:srgbClr val="11182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uto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AutoML: Teoria e Prática — Capítulo 8: Engenharia e seleção de atributos</dc:title>
  <dc:subject>Slides de sala de aula</dc:subject>
  <dc:creator>Araken de Medeiros Santos</dc:creator>
  <cp:lastModifiedBy>Araken de Medeiros Santos</cp:lastModifiedBy>
  <cp:revision>1</cp:revision>
  <dcterms:created xsi:type="dcterms:W3CDTF">2026-10-26T18:45:26Z</dcterms:created>
  <dcterms:modified xsi:type="dcterms:W3CDTF">2026-10-26T18:45:26Z</dcterms:modified>
</cp:coreProperties>
</file>