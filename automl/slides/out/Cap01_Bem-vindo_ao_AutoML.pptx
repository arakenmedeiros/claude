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Pergunte à turma: quem já testou várias configurações até algo 'ficar bom' (celular, chuveiro, receita)? Diga que o capítulo parte exatamente dessa intuição.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rapidamente. Sinalize que o último é prático: no fim da aula todos terão rodado um mini-AutoML.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aula. A parte prática ocupa cerca de um terço do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história: um cozinheiro testa cinco receitas em uma semana; o ajudante incansável testa centenas, anota tudo e investiga as promissoras. O ajudante é o AutoML. A pessoa continua provando e decidindo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 da turma. Conecte: 'botões' do chuveiro = hiperparâmetros; 'conforto' = métrica.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cada termo com calma, pois são a base do livro. Reforce: a pessoa continua responsável pelo problema, pelos dados e pela decisão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Hiperparâmetro versus parâmetro: o primeiro você define antes do treino (profundidade da árvore); o segundo o modelo aprende (os pesos). Cada escolha mexe nas demais, e por isso o espaço de busca é enorme.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as sete etapas: coletar e limpar, preparar, atributos, algoritmo, hiperparâmetros, combinar, avaliar e implantar. Introduza a palavra pipeline: sequência de etapas que transforma dados brutos em previsões.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razões: faltam especialistas; espaço de busca gigante (Feurer et al., 2015); tempo humano caro; reprodutibilidade, pois a busca registra cada tentativa.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um exemplo: otimizar acurácia em um problema com 99% de casos negativos. O modelo 'acerta' tudo dizendo sempre não. A métrica precisa refletir o custo real dos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CASH: Combined Algorithm Selection and Hyperparameter optimization (Thornton et al., 2013). A árvore tem o botão 'profundidade'; os k-vizinhos têm 'número de vizinhos'. Não dá para ajustar tudo separadamente: a melhor escolha de algoritmo depende de quão bem cada um foi ajustado.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fórmula do livro só como 'tradução em palavras'. O erro é medido em dados de validação, que o modelo não usou para aprender, e em várias divisões para não depender de sorte. Exemplo numérico: receitas A=6,1, B=7,4, C=6,8: fica a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Auto-WEKA (2013): primeiro CASH completo. Auto-sklearn (2015): meta-aprendizado e ensembles. TPOT (2016): programação genética. NAS (2017). Hyperband e BOHB (2018). Optuna (2019). AutoGluon e H2O (2020). FLAML (2021). AMLB (2024). TabPFN (2025). Todos aparecem ao longo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didática do livro, inspirada nos níveis de automação veicular; não é classificação oficial. Nível 0 manual; 1 uma tarefa; 2 busca inteligente; 3 pipeline inteiro; 4 ciclo completo; 5 autonomia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mito a mito. No mito 4, antecipe: buscar demais ajusta o modelo ao acaso da validação (Cawley e Talbot, 2010), tema dos Capítulos 4 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Divisão de trabalho: a máquina busca e compara; a pessoa define o problema, cuida dos dados, interpreta e decide. Regra de ouro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a transição para o código: primeiro testamos três modelos manualmente; depois deixamos um mini-AutoML sortear 40 candidatos.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Acurácia é a fração de acertos. A regressão logística venceu com folga entre os três. Lembre que são resultados reais, com semente fixa.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honesto: o mini-AutoML empatou com o melhor modelo manual neste problema fácil. O ganho do AutoML aparece quando o espaço é grande e o problema difícil. O valor está em explorar sistematicamente e registrar cada tentativa.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espinha dorsal do curso. Capítulos 4 a 7: estratégias. Capítulos 2 e 3: avaliação honesta. Capítulos 8 a 10: espaços mais amplos (atributos, ensembles, ferramentas).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Os botões mudam conforme o algoritmo escolhido, então não dá para ajustar tudo separadamente.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Ambos chegaram a 0,983 de acurácia; o valor do AutoML aparece em espaços maiores e problemas mais difíceis.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cartões em voz alta; peça que a turma escolha o que mais a surpreendeu.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exercícios estão no fim do capítulo, com soluções no Apêndice D e projeto no Apêndice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metáfora da lasanha. Prepare o próximo capítulo: antes de automatizar, é preciso entender validação, treino 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1 — Bem-vindo ao AutoML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1 — Bem-vindo ao AutoML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CAPÍTULO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 — Fundamentos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ao AutoML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Como um ajudante incansável escolhe e ajusta modelos por nós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com suas palavras o que é AutoML e por que existe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Identificar quais etapas de um projeto de ML podem ser automatizadas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Formular o problema CASH e entender por que é difícil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marcos históricos e famílias de métodos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Saber o que o AutoML faz, o que não faz e o papel da pessoa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Rodar seu primeiro mini-AutoML em poucas linhas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4876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1.1–1.2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48768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história da lasanha e a definição de AutoML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767840"/>
            <a:ext cx="914400" cy="4876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67840"/>
            <a:ext cx="91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1.3–1.4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767840"/>
            <a:ext cx="7223760" cy="48768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76784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Pipeline e por que o AutoML existe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346960"/>
            <a:ext cx="914400" cy="4876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46960"/>
            <a:ext cx="91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1.5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346960"/>
            <a:ext cx="7223760" cy="48768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34696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problema CASH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2926080"/>
            <a:ext cx="914400" cy="4876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26080"/>
            <a:ext cx="91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1.6–1.8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2926080"/>
            <a:ext cx="7223760" cy="48768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292608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História, níveis de automação e mitos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505200"/>
            <a:ext cx="914400" cy="4876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05200"/>
            <a:ext cx="91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1.9–1.12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505200"/>
            <a:ext cx="7223760" cy="48768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50520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Mão na massa: manual × automático</a:t>
            </a:r>
            <a:endParaRPr lang="en-US" sz="1700" dirty="0"/>
          </a:p>
        </p:txBody>
      </p:sp>
      <p:sp>
        <p:nvSpPr>
          <p:cNvPr id="23" name="Número 6"/>
          <p:cNvSpPr/>
          <p:nvPr/>
        </p:nvSpPr>
        <p:spPr>
          <a:xfrm>
            <a:off x="457200" y="4084320"/>
            <a:ext cx="914400" cy="4876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084320"/>
            <a:ext cx="91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1.13</a:t>
            </a:r>
            <a:endParaRPr lang="en-US" sz="1600" dirty="0"/>
          </a:p>
        </p:txBody>
      </p:sp>
      <p:sp>
        <p:nvSpPr>
          <p:cNvPr id="25" name="Faixa 6"/>
          <p:cNvSpPr/>
          <p:nvPr/>
        </p:nvSpPr>
        <p:spPr>
          <a:xfrm>
            <a:off x="1463040" y="4084320"/>
            <a:ext cx="7223760" cy="48768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45920" y="4084320"/>
            <a:ext cx="694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Os três ingredientes de todo AutoML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receita de lasanha perfeita</a:t>
            </a:r>
            <a:endParaRPr lang="en-US" sz="3000" dirty="0"/>
          </a:p>
        </p:txBody>
      </p:sp>
      <p:pic>
        <p:nvPicPr>
          <p:cNvPr id="3" name="Figura" descr="A receita de lasanha perfei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213" y="1097280"/>
            <a:ext cx="5513574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Testar poucas receitas × explorar com método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faz isso todos os dias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Ajustar a temperatura do chuveiro até ficar boa é uma busca por uma boa configuração. Comparar três planos de celular também.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AutoML é a mesma ideia aplicada a modelos de aprendizado de máquina, só que com método e registro de cada tentativa.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AutoML?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Aprendizado de máquina: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programas que aprendem padrões dos dados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 programa que aprendeu o padrão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AutoML: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automatiza as decisões para construir um bom modelo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Espaço de busca: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todas as combinações possíveis de escolhas</a:t>
            </a:r>
            <a:endParaRPr lang="en-US" sz="18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AutoML = automatizar as escolhas feitas por tentativa e erro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decisões o AutoML automatiza?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Preparar os dados: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valores ausentes, escalas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Atributos: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quais colunas usar ou criar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Algoritmo: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árvore, regressão, rede neural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Hiperparâmetros: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os botões de ajuste, definidos antes do treino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Combinar modelos e avaliar o resultado</a:t>
            </a:r>
            <a:endParaRPr lang="en-US" sz="18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Cada escolha influencia as outras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de montagem do aprendizado de máquina</a:t>
            </a:r>
            <a:endParaRPr lang="en-US" sz="3000" dirty="0"/>
          </a:p>
        </p:txBody>
      </p:sp>
      <p:pic>
        <p:nvPicPr>
          <p:cNvPr id="3" name="Figura" descr="A linha de montagem do aprendizado de máqu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829" y="1097280"/>
            <a:ext cx="617234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AutoML cobre sobretudo do preparo à combinação de modelos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AutoML existe?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algoritmos para escolher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766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4137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botões para ajustar no espaço do Auto-sklearn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960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dias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2331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trabalho de um especialista por modelo</a:t>
            </a:r>
            <a:endParaRPr lang="en-US" sz="1400" dirty="0"/>
          </a:p>
        </p:txBody>
      </p:sp>
      <p:sp>
        <p:nvSpPr>
          <p:cNvPr id="12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Ninguém testa isso tudo à mão: faltam especialistas, tempo e registro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Atenção: automático não é automático demais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Modelo ótimo para o problema errado é inútil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 AutoML otimiza o que você mandar otimizar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Métrica errada = coisa errada otimizada, com muita eficiência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Automatizar não é abandonar o raciocínio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CASH tem forma de árvore</a:t>
            </a:r>
            <a:endParaRPr lang="en-US" sz="3000" dirty="0"/>
          </a:p>
        </p:txBody>
      </p:sp>
      <p:pic>
        <p:nvPicPr>
          <p:cNvPr id="3" name="Figura" descr="O problema CASH tem forma de árv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374" y="1097280"/>
            <a:ext cx="5171252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Escolher o ramo muda quais botões existem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CASH: a escolha do restaurante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Escolher entre pizzaria, sushi e churrascaria e, ao mesmo tempo, escolher o prato, o ponto da carne e o acompanhamento. Os botões dependem do restaurante.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Procure o par (algoritmo, hiperparâmetros) com o menor erro médio nos dados de validação, calculado em k divisões dos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breve história do AutoML</a:t>
            </a:r>
            <a:endParaRPr lang="en-US" sz="3000" dirty="0"/>
          </a:p>
        </p:txBody>
      </p:sp>
      <p:pic>
        <p:nvPicPr>
          <p:cNvPr id="3" name="Figura" descr="Uma breve história do AutoM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954" y="1097280"/>
            <a:ext cx="5178092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2013 a 2025: cada marco trouxe uma ideia do livro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Níveis de automação (como nos carros)</a:t>
            </a:r>
            <a:endParaRPr lang="en-US" sz="3000" dirty="0"/>
          </a:p>
        </p:txBody>
      </p:sp>
      <p:pic>
        <p:nvPicPr>
          <p:cNvPr id="3" name="Figura" descr="Níveis de automação (como nos carro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489" y="1097280"/>
            <a:ext cx="5869022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nível 5, autonomia total, ainda não existe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mitos sobre o AutoML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Elimina especialistas? Não: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muda o trabalho deles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Sempre vence o modelo manual? Nem sempre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Corrige dados ruins? Não: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ajusta melhor o erro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Mais busca é sempre melhor? Não: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overfitting da busca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É de graça? Não: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tempo, energia e dinheiro</a:t>
            </a:r>
            <a:endParaRPr lang="en-US" sz="18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Desmistificar para usar bem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quê?</a:t>
            </a:r>
            <a:endParaRPr lang="en-US" sz="3000" dirty="0"/>
          </a:p>
        </p:txBody>
      </p:sp>
      <p:pic>
        <p:nvPicPr>
          <p:cNvPr id="3" name="Figura" descr="Quem faz o quê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934" y="1097280"/>
            <a:ext cx="6324132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Contexto, ética e confiança continuam humanos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× automático</a:t>
            </a:r>
            <a:endParaRPr lang="en-US" sz="3000" dirty="0"/>
          </a:p>
        </p:txBody>
      </p:sp>
      <p:sp>
        <p:nvSpPr>
          <p:cNvPr id="3" name="Cabeçalho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 jeito manual</a:t>
            </a:r>
            <a:endParaRPr lang="en-US" sz="1800" dirty="0"/>
          </a:p>
        </p:txBody>
      </p:sp>
      <p:sp>
        <p:nvSpPr>
          <p:cNvPr id="5" name="Corpo 1"/>
          <p:cNvSpPr/>
          <p:nvPr/>
        </p:nvSpPr>
        <p:spPr>
          <a:xfrm>
            <a:off x="45720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Você escolhe 3 modelos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Usa os botões padrão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Compara notas em validação cruzada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Poucas tentativas</a:t>
            </a:r>
            <a:endParaRPr lang="en-US" sz="1500" dirty="0"/>
          </a:p>
        </p:txBody>
      </p:sp>
      <p:sp>
        <p:nvSpPr>
          <p:cNvPr id="7" name="Cabeçalho 2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 jeito automático</a:t>
            </a:r>
            <a:endParaRPr lang="en-US" sz="1800" dirty="0"/>
          </a:p>
        </p:txBody>
      </p:sp>
      <p:sp>
        <p:nvSpPr>
          <p:cNvPr id="9" name="Corpo 2"/>
          <p:cNvSpPr/>
          <p:nvPr/>
        </p:nvSpPr>
        <p:spPr>
          <a:xfrm>
            <a:off x="466344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programa sorteia candidatos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Testa algoritmos e hiperparâmetros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Registra cada tentativa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Guarda o melhor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Mesma pergunta, método diferente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Manual: três modelos no conjunto Wine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133856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Árvore de decisão    acurácia média = 0.888  (±0.040)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k-vizinhos           acurácia média = 0.949  (±0.038)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Regressão logística  acurácia média = 0.983  (±0.014)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977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Wine (UCI): 178 vinhos, 13 medidas, 3 categorias. O ± mostra a variação entre as 5 divisões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Automático: mini-AutoML com 40 sorteios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tentativa  0: novo melhor = 0.972  floresta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tentativa  4: novo melhor = 0.978  logistica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tentativa  5: novo melhor = 0.983  logistica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tentativa 23: novo melhor = 0.983  logistica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encontrado: logistica, acurácia = 0.983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Hiperparâmetros: {'C': 0.073}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busca chegou ao mesmo patamar que o melhor modelo manual: e isso é honesto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ingredientes de todo AutoML</a:t>
            </a:r>
            <a:endParaRPr lang="en-US" sz="3000" dirty="0"/>
          </a:p>
        </p:txBody>
      </p:sp>
      <p:sp>
        <p:nvSpPr>
          <p:cNvPr id="3" name="Passo 1"/>
          <p:cNvSpPr/>
          <p:nvPr/>
        </p:nvSpPr>
        <p:spPr>
          <a:xfrm>
            <a:off x="149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3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Cartão do passo 1"/>
          <p:cNvSpPr/>
          <p:nvPr/>
        </p:nvSpPr>
        <p:spPr>
          <a:xfrm>
            <a:off x="457200" y="1874520"/>
            <a:ext cx="26212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243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Espaço de busca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2401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que pode ser tentado: algoritmos, botões, etapas</a:t>
            </a:r>
            <a:endParaRPr lang="en-US" sz="1300" dirty="0"/>
          </a:p>
        </p:txBody>
      </p:sp>
      <p:sp>
        <p:nvSpPr>
          <p:cNvPr id="8" name="Passo 2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Cartão do passo 2"/>
          <p:cNvSpPr/>
          <p:nvPr/>
        </p:nvSpPr>
        <p:spPr>
          <a:xfrm>
            <a:off x="3261360" y="1874520"/>
            <a:ext cx="26212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2800" y="1920240"/>
            <a:ext cx="243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Estratégia de busca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71088" y="2468880"/>
            <a:ext cx="2401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Como escolher o próximo candidato: sorteio, guia bayesiano, evolução</a:t>
            </a:r>
            <a:endParaRPr lang="en-US" sz="1300" dirty="0"/>
          </a:p>
        </p:txBody>
      </p:sp>
      <p:sp>
        <p:nvSpPr>
          <p:cNvPr id="13" name="Passo 3"/>
          <p:cNvSpPr/>
          <p:nvPr/>
        </p:nvSpPr>
        <p:spPr>
          <a:xfrm>
            <a:off x="7101840" y="11887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018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Cartão do passo 3"/>
          <p:cNvSpPr/>
          <p:nvPr/>
        </p:nvSpPr>
        <p:spPr>
          <a:xfrm>
            <a:off x="6065520" y="1874520"/>
            <a:ext cx="26212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56960" y="1920240"/>
            <a:ext cx="243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Avaliação honesta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75248" y="2468880"/>
            <a:ext cx="2401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Como saber se um candidato é bom: validação sem trapaça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Espaço, estratégia e avaliação: o resto do livro detalha cada um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o CASH é 'combinado'?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combina vários conjuntos de dados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a escolha do algoritmo e a dos hiperparâmetros dependem uma da outra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usa dois computadores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combina treino e teste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mini-AutoML do capítulo, qual foi a conclusão honesta?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AutoML sempre vence a regressão logística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mini-AutoML empatou com o melhor modelo manual neste problema fácil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mini-AutoML piorou o resultado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resultados não foram executados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AutoML automatiza as escolhas feitas por tentativa e erro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CASH: escolher algoritmo e hiperparâmetros juntos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Três ingredientes: espaço, estratégia e avaliação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pessoa define o problema, cuida dos dados e decide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Automático tem graus (níveis 0 a 5)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AutoML tem custo e não corrige dados ruins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4302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4302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Por que precisamos de uma linha de base?  </a:t>
            </a:r>
            <a:r>
              <a:rPr lang="en-US" sz="1400" dirty="0">
                <a:solidFill>
                  <a:schemeClr val="tx1"/>
                </a:solidFill>
              </a:rPr>
              <a:t>Compare modelos padrão antes de qualquer busca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200025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0027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0027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00025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Ampliando o espaço de busca  </a:t>
            </a:r>
            <a:r>
              <a:rPr lang="en-US" sz="1400" dirty="0">
                <a:solidFill>
                  <a:schemeClr val="tx1"/>
                </a:solidFill>
              </a:rPr>
              <a:t>Acrescente algoritmos e veja o que muda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85750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05752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5752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85750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efeito da semente  </a:t>
            </a:r>
            <a:r>
              <a:rPr lang="en-US" sz="1400" dirty="0">
                <a:solidFill>
                  <a:schemeClr val="tx1"/>
                </a:solidFill>
              </a:rPr>
              <a:t>Repita a busca com sementes diferentes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71475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91477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91477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71475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Orçamento de busca e honestidade  </a:t>
            </a:r>
            <a:r>
              <a:rPr lang="en-US" sz="1400" dirty="0">
                <a:solidFill>
                  <a:schemeClr val="tx1"/>
                </a:solidFill>
              </a:rPr>
              <a:t>Compare 5, 20 e 80 sorteios e relate com sinceridade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AutoML é um ajudante incansável: você continua sendo o chef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2: o essencial de aprendizado de máquina em um capítulo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1: Bem-vindo ao AutoML</dc:title>
  <dc:subject>Slides de sala de aula</dc:subject>
  <dc:creator>Araken de Medeiros Santos</dc:creator>
  <cp:lastModifiedBy>Araken de Medeiros Santos</cp:lastModifiedBy>
  <cp:revision>1</cp:revision>
  <dcterms:created xsi:type="dcterms:W3CDTF">2026-10-26T18:45:19Z</dcterms:created>
  <dcterms:modified xsi:type="dcterms:W3CDTF">2026-10-26T18:45:19Z</dcterms:modified>
</cp:coreProperties>
</file>