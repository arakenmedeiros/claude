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capítulo 6. Apresente o tema e peça que a turma pense em uma situação do dia a dia relacionada.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os objetivos. Este é o primeiro capítulo da Parte II: antes de qualquer ferramenta, o que quero que o estudante saiba fazer. Tempo: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 a cena: Renata pede à IA um plano sobre frações no 6º ano, aplica com jogo de pizzas e quiz, mas a prova pede comparar frações de denominadores diferentes. O plano era atraente, mas nunca esclareceu o que os estudantes deveriam ser capazes de fazer. Cena fictícia. Pergunte se algo parecido já ocorreu.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como roteiro: o que é um objetivo, Bloom revisada, alinhamento construtivo, planejamento de trás para frente, objetivos com IA e verificação. Tempo: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é o que o estudante será capaz de saber, fazer ou compreender, de forma observável. Use o bolo: fazer bolo é atividade, aprender a fazer bolo é intenção, e o objetivo é seguir a receita, medir e saber se está no ponto. Peça à turma um objetivo da sua disciplina. Tempo: 4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coisas que se confundem com objetivo: conteúdo (frações), atividade (jogo das pizzas), intenção do professor (apresentar o conceito) e a habilidade da BNCC, que é formulação ampla e curricular. A BNCC não é um currículo pronto. Peça à turma que classifique frases do próprio plano.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a transformação de um objetivo fraco em um observável. O verbo vago compreender não dá evidência. Peça que a turma reescreva um objetivo seu em um minuto. Lembre que na educação infantil o foco são direitos de aprendizagem e vivência, não desempenho. Tempo: 4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 revisada cruza tipo de conhecimento (factual, conceitual, procedimental, metacognitivo) e processo cognitivo (lembrar a criar). Tarefas de lembrar e aplicar procedimento são mais delegáveis à IA, o que não é bom nem mau em si, mas exige decidir o que o estudante faz sozinho. Tempo: 4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Atenção a um mal-entendido: os níveis iniciais não são inferiores. Sem conhecimento factual e conceitual sólido, é difícil analisar ou criar. Em Matemática, fluência em procedimentos básicos libera a atenção para o raciocínio complexo. Nem toda tarefa deve visar criar.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Alinhamento construtivo, de Biggs: objetivos, atividades e avaliação precisam pedir o mesmo processo. Mostre os desalinhamentos frequentes e peça à turma exemplos. Um deles: IA em aula para gerar respostas e prova sem IA que exige o raciocínio. Tempo: 4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Exemplos de desalinhamento. Peça à turma que reconheça um deles na sua escola. Um destaque: o último liga o alinhamento à IA, pois quem treina com IA e é testado sem ela pode não ter praticado o raciocínio.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Planejamento de trás para frente, de Wiggins e McTighe. A ordem de pensamento começa pelo fim, enquanto a ordem de execução em aula segue o sentido inverso. São modelos de planejamento, não resultados de experimentos; seu valor está na clareza.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Pausa para a frase de impacto. Pergunte à turma: no seu último plano, o que veio primeiro, a atividade ou a evidência? Tempo: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maneiras de a IA entrar no planejamento, que não devem ser confundidas: IA como apoio ao conteúdo, IA como objeto de estudo e IA como meio de trabalho do professor. Pergunte: qual dos três é o seu propósito hoje? Cada um pede critérios e avaliação próprios.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perguntas para auditar qualquer atividade ou prova, inclusive as geradas por IA. Se o objetivo é analisar e a atividade pede copiar, há desalinhamento. Treine com uma atividade do livro didático.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Fluxo do objetivo ao material com IA, em seis passos, com seta de retorno da avaliação ao objetivo. Destaque o passo de descrever o contexto sem dados pessoais.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de planejamento para o professor. Peça que escolham uma unidade real das próximas semanas. O prompt deve levar o objetivo, a evidência e o contexto sem dados pessoais. Insista na auditoria com as três perguntas. Cerca de 60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Cuidados ao usar IA no planejamento. A IA propõe atividades atraentes e verbos genéricos, e pode rotular como alinhado algo que não está. Verifique também nível, tempo e linguagem. Alerte para padronização: usar sempre o mesmo modelo empobrece abordagens e a autoria docente.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Dispense a IA ao definir o que deve ser ensinado: o objetivo é uma decisão pedagógica ligada ao currículo, à turma e aos valores. Dispense também quando já tem atividade testada e bem alinhada: não troque boa prática por novidade. Na educação infantil, cuidado com excesso de formalismo. Tempo: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Síntese: o objetivo conduz atividade, avaliação e a decisão de usar ou não IA. Se a IA não ajuda o objetivo, pode ser dispensada. Peça a cada pessoa que complete: meu objetivo de amanhã é...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Releia os itens. Volte à professora Renata e pergunte o que ela poderia ter escrito antes de pedir o plano à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Duas perguntas para duplas, 5 minutos. A primeira pode ser feita ali mesmo com um plano recente. A última treina clareza com o estudante.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Convide a turma a escolher uma ideia para experimentar nesta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2A9D8F">
              <a:alpha val="75000"/>
            </a:srgbClr>
          </a:solidFill>
          <a:ln w="12700">
            <a:solidFill>
              <a:srgbClr val="2A9D8F">
                <a:alpha val="7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840480"/>
            <a:ext cx="3840480" cy="3840480"/>
          </a:xfrm>
          <a:prstGeom prst="ellipse">
            <a:avLst/>
          </a:prstGeom>
          <a:solidFill>
            <a:srgbClr val="E9A23B">
              <a:alpha val="65000"/>
            </a:srgbClr>
          </a:solidFill>
          <a:ln w="12700">
            <a:solidFill>
              <a:srgbClr val="E9A23B">
                <a:alpha val="65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4B860"/>
                </a:solidFill>
              </a:rPr>
              <a:t>CAPÍTULO 6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737360"/>
            <a:ext cx="8412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aprendizagem e alinhamento com IA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7EFE6"/>
                </a:solidFill>
              </a:rPr>
              <a:t>Parte II — Fundamentos pedagógicos e planejamento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D9C8"/>
                </a:solidFill>
              </a:rPr>
              <a:t>Inteligência Artificial Aplicada à Educação · Araken de Medeiros Santos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aprender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4630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Formular objetivos claros, observáveis e relevantes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65176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554480" y="24688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Usar a taxonomia de Bloom revisada para analisar um objetivo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47472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34747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Explicar alinhamento construtivo e planejamento de trás para frente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448056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66344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44805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Verificar se uma atividade gerada por IA está alinhada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566928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669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554480" y="54864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Redigir pedidos à IA a partir de objetivos, não de temas soltos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9D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</a:rPr>
              <a:t>O PLANO BONITO QUE NÃO ENSINA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645920"/>
            <a:ext cx="10515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garantir que a atividade, mesmo a da IA, leva ao que eu quero ensinar?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3E6"/>
                </a:solidFill>
              </a:rPr>
              <a:t>Cena fictícia: a IA produz atividades com facilidade, mas só o professor sabe o que quer ensinar.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do capítulo</a:t>
            </a:r>
            <a:endParaRPr lang="en-US" sz="3400" dirty="0"/>
          </a:p>
        </p:txBody>
      </p:sp>
      <p:pic>
        <p:nvPicPr>
          <p:cNvPr id="4" name="Image 0" descr="Figura 6.1 — Mapa dos conceitos principais do capítul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0290" y="1325880"/>
            <a:ext cx="6300940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6.1 — Mapa dos conceitos principais do capítulo.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 objetivo de aprendizagem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A9D8F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O que os estudantes devem saber, fazer ou compreender ao final, em termos observáveis. Não é conteúdo, atividade nem intenção do professor.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o bolo: fazer bolo é atividade; o objetivo é seguir a receita e saber se ficou no ponto.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“Só o que se observa, se pode avaliar.”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confunda objetivo com...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Conteúdo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O assunto abordado. Ex.: frações.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O que se faz em aula. Ex.: jogo das pizzas.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Intenção do professor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O que o professor pretende fazer. Ex.: apresentar o conceito.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Habilidade da BNCC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Formulação ampla, que o objetivo traduz para a turma.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objetivo fraco a objetivo observável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Fraco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Compreender frações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Trabalhar o texto argumentativo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Conhecer o ciclo da água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Melhorado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Comparar frações e justificar com desenho ou cálculo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Escrever parágrafo com tese, dois argumentos e conclusão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Explicar com esquema as etapas do ciclo da água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 revisada: os seis processos cognitivos</a:t>
            </a:r>
            <a:endParaRPr lang="en-US" sz="3400" dirty="0"/>
          </a:p>
        </p:txBody>
      </p:sp>
      <p:pic>
        <p:nvPicPr>
          <p:cNvPr id="4" name="Image 0" descr="Em todos os degraus a IA pode apoiar o raciocínio ou substituí-l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6957" y="1325880"/>
            <a:ext cx="8447606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Em todos os degraus a IA pode apoiar o raciocínio ou substituí-lo.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 não é hierarquia de valor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A9D8F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A taxonomia serve para descrever objetivos. Lembrar e compreender sustentam analisar e criar: sem base, o topo desmorona.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os alicerces de uma casa: ninguém vê, mas é neles que o resto se apoia.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“Nem toda tarefa deve visar criar.”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Alinhamento construtivo: o triângulo da coerência</a:t>
            </a:r>
            <a:endParaRPr lang="en-US" sz="3400" dirty="0"/>
          </a:p>
        </p:txBody>
      </p:sp>
      <p:pic>
        <p:nvPicPr>
          <p:cNvPr id="4" name="Image 0" descr="Objetivos, atividades e avaliação precisam exigir o mesmo process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2007" y="1325880"/>
            <a:ext cx="7737505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Objetivos, atividades e avaliação precisam exigir o mesmo processo.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desalinhamentos frequentes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Analisar x lembrar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Objetivo de analisar, avaliação que só pede lembrar.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Memorizar x aplicar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Atividade de memória, prova de problemas novos.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Grupo x individual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Trabalho em grupo, avaliação individual sem prática.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em aula x prova sem IA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A prova exige um raciocínio que ninguém praticou.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Planejar de trás para frente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920240"/>
            <a:ext cx="3535680" cy="3291840"/>
          </a:xfrm>
          <a:prstGeom prst="roundRect">
            <a:avLst>
              <a:gd name="adj" fmla="val 416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996440" y="160020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99644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77440"/>
            <a:ext cx="3261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Resultados desejados: o que devem poder fazer?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4066032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</a:rPr>
              <a:t>›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312920" y="1920240"/>
            <a:ext cx="3535680" cy="3291840"/>
          </a:xfrm>
          <a:prstGeom prst="roundRect">
            <a:avLst>
              <a:gd name="adj" fmla="val 416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60720" y="160020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607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450080" y="2377440"/>
            <a:ext cx="3261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Evidências: que desempenho mostraria isso?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830312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</a:rPr>
              <a:t>›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8077200" y="1920240"/>
            <a:ext cx="3535680" cy="3291840"/>
          </a:xfrm>
          <a:prstGeom prst="roundRect">
            <a:avLst>
              <a:gd name="adj" fmla="val 416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525000" y="160020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52500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214360" y="2377440"/>
            <a:ext cx="3261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Plano de aprendizagem: que experiências levam até lá?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A2E2A"/>
                </a:solidFill>
              </a:rPr>
              <a:t>Pense do fim para o começo; execute do começo para o fim.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14400" y="1188720"/>
            <a:ext cx="10332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“Primeiro a evidência. Depois a atividade. Por último, a IA.”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52120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B860"/>
                </a:solidFill>
              </a:rPr>
              <a:t>A IA entra a serviço do objetivo, nunca antes dele.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tipos de objetivo quando há IA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conteúdo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Ex.: comparar frações. A IA só apoia a preparação.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2816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676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567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5676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letramento em IA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55676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Ex.: identificar limites de um assistente. A IA é o objeto.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10768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628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362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33628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professor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33628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Ex.: reduzir tempo de preparo. É objetivo de trabalho, não de aprendizagem.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perguntas para checar o alinhamento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920240"/>
            <a:ext cx="3535680" cy="3291840"/>
          </a:xfrm>
          <a:prstGeom prst="roundRect">
            <a:avLst>
              <a:gd name="adj" fmla="val 416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996440" y="160020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99644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77440"/>
            <a:ext cx="3261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O que o estudante vai fazer?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4066032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</a:rPr>
              <a:t>›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312920" y="1920240"/>
            <a:ext cx="3535680" cy="3291840"/>
          </a:xfrm>
          <a:prstGeom prst="roundRect">
            <a:avLst>
              <a:gd name="adj" fmla="val 416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60720" y="160020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607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450080" y="2377440"/>
            <a:ext cx="3261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Que evidência isso produz?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830312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</a:rPr>
              <a:t>›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8077200" y="1920240"/>
            <a:ext cx="3535680" cy="3291840"/>
          </a:xfrm>
          <a:prstGeom prst="roundRect">
            <a:avLst>
              <a:gd name="adj" fmla="val 416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525000" y="160020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52500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214360" y="2377440"/>
            <a:ext cx="3261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Isso exige o processo cognitivo do objetivo?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A2E2A"/>
                </a:solidFill>
              </a:rPr>
              <a:t>Não aceite o rótulo "alinhado" da IA sem fazer as três perguntas.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objetivo ao material, com verificação</a:t>
            </a:r>
            <a:endParaRPr lang="en-US" sz="3400" dirty="0"/>
          </a:p>
        </p:txBody>
      </p:sp>
      <p:pic>
        <p:nvPicPr>
          <p:cNvPr id="4" name="Image 0" descr="Fluxo com seis passos e retorno da avaliação ao objetiv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071" y="1325880"/>
            <a:ext cx="9675378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Fluxo com seis passos e retorno da avaliação ao objetivo.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Atividade: alinhar objetivo, atividade e avaliação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2941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A9D8F"/>
                </a:solidFill>
              </a:rPr>
              <a:t>PASSO A PASSO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Escreva o objetivo: "Ao final, o estudante será capaz de..."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Escreva a evidência que você aceitará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Peça à IA uma atividade e uma questão com esse objetivo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Preencha o quadro de alinhamento com as três perguntas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Corrija incoerências e verifique conteúdo, tempo e linguagem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Aplique, compare com o objetivo e anote um ajuste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TEMPO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60 minutos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0" y="3026664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136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PRODUTO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83864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Atividade e questão revisadas, quadro de alinhamento e registro das mudanças.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0" y="4636008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745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POUCOS RECURSOS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5093208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Faça em papel com um colega, sem IA; se só houver IA em casa, imprima e revise.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 e verifique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1450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14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IA propõe atividades atraentes e verbos genéricos como compreender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0322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032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5176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O rótulo "alinhado ao objetivo" pode estar errado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0919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091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84048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Confira dificuldade, tempo e linguagem para sua turma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28066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280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02920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Usar sempre o mesmo modelo empobrece a autoria docente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6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dispensar a IA no planejamento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Decisão sua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Escolher o que deve ser ensinado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Objetivos ligados a currículo, turma e valores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Na educação infantil, preservar a vivência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pode ajudar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Refinar a redação do objetivo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Sugerir rascunhos de atividades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Sempre com as três perguntas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6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Síntese: o objetivo conduz tudo</a:t>
            </a:r>
            <a:endParaRPr lang="en-US" sz="3400" dirty="0"/>
          </a:p>
        </p:txBody>
      </p:sp>
      <p:pic>
        <p:nvPicPr>
          <p:cNvPr id="4" name="Image 0" descr="Atividade, avaliação e uso (ou não) da IA partem do objetiv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2326" y="1325880"/>
            <a:ext cx="9716867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Atividade, avaliação e uso (ou não) da IA partem do objetivo.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6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A9D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vale a pena lembrar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1732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41732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Objetivo: o que o estudante será capaz de fazer, observável e específico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20980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0980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20980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Objetivo, conteúdo, atividade e intenção são coisas diferentes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00228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00228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300228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Bloom descreve objetivos, não hierarquiza valor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79476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79476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379476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Alinhar é objetivos, atividades e avaliação pedirem o mesmo processo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458724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58724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</a:rPr>
              <a:t>✓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458724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Peça à IA a partir de objetivo e evidência; aplique as três perguntas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48640" y="537972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537972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</a:rPr>
              <a:t>✓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537972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Escolher o objetivo é decisão do professor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6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pensar na sua prática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Reescreva o objetivo de um plano recente em formato observável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7180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9748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Onde há algum desalinhamento na sua avaliação?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93192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93192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tarefas do seu componente a IA faria com facilidade?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51663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44068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16636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Como explicaria ao estudante, em poucas frases, o que se espera hoje?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6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2A9D8F">
              <a:alpha val="70000"/>
            </a:srgbClr>
          </a:solidFill>
          <a:ln w="12700">
            <a:solidFill>
              <a:srgbClr val="2A9D8F">
                <a:alpha val="7000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objetivo conduz. A IA acompanha, se ajudar.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4114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4B860"/>
                </a:solidFill>
              </a:rPr>
              <a:t>A docência é insubstituível.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5029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D9C8"/>
                </a:solidFill>
              </a:rPr>
              <a:t>Obrigado(a)!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 na Educação">
  <a:themeElements>
    <a:clrScheme name="IA na Educação">
      <a:dk1>
        <a:srgbClr val="3B2A2A"/>
      </a:dk1>
      <a:lt1>
        <a:srgbClr val="FFFFFF"/>
      </a:lt1>
      <a:dk2>
        <a:srgbClr val="5A2E2A"/>
      </a:dk2>
      <a:lt2>
        <a:srgbClr val="F7EFE6"/>
      </a:lt2>
      <a:accent1>
        <a:srgbClr val="D9653B"/>
      </a:accent1>
      <a:accent2>
        <a:srgbClr val="2A9D8F"/>
      </a:accent2>
      <a:accent3>
        <a:srgbClr val="E9A23B"/>
      </a:accent3>
      <a:accent4>
        <a:srgbClr val="6D3B6E"/>
      </a:accent4>
      <a:accent5>
        <a:srgbClr val="3D7EA6"/>
      </a:accent5>
      <a:accent6>
        <a:srgbClr val="6E9A4F"/>
      </a:accent6>
      <a:hlink>
        <a:srgbClr val="3D7EA6"/>
      </a:hlink>
      <a:folHlink>
        <a:srgbClr val="6D3B6E"/>
      </a:folHlink>
    </a:clrScheme>
    <a:fontScheme name="IA na Educaçã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Capítulo 6 — Objetivos de aprendizagem e alinhamento com IA</dc:title>
  <dc:subject>PptxGenJS Presentation</dc:subject>
  <dc:creator>Araken de Medeiros Santos</dc:creator>
  <cp:lastModifiedBy>Araken de Medeiros Santos</cp:lastModifiedBy>
  <cp:revision>1</cp:revision>
  <dcterms:created xsi:type="dcterms:W3CDTF">2026-10-26T23:34:33Z</dcterms:created>
  <dcterms:modified xsi:type="dcterms:W3CDTF">2026-10-26T23:34:33Z</dcterms:modified>
</cp:coreProperties>
</file>