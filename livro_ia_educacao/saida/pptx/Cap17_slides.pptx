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17.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a turma e peça que cada pessoa marque qual deles mais lhe interessa. Avise que o capítulo trata de pesquisa, mas serve também a quem orienta TCCs e especializações.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 do mestrando Marcos. Deixe 2 a 3 minutos de debate em duplas antes de responder. Não busque culpado: busque a pergunta sobre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que significa pesquisar bem. Pergunte: o que torna uma afirmação científica confiável? Conduza até a ideia de rastreabilidade: de onde vem cada afirmação.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pilares do ofício científico. Peça exemplos de cada um na área dos participantes. A IA pode apoiar partes do trabalho, mas não ocupa o lugar de quem responde pelo conhecimento.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Distinga obrigação, recomendação e prática. Reforce que as políticas são recentes e mudam. Pergunte quem já consultou as normas do próprio programa. O texto do CNPq foi citado por fontes secundárias e precisa ser confirmado.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primeiro Pare e verifique. As políticas de IA em pesquisa mudam rápido. Peça que cada pessoa anote qual destas quatro consultas ainda não fez. Ressalve: o texto oficial do CNPq não foi consultado na elaboração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tabela de fases do capítulo em três grupos. Em cada fase, o uso possível vem junto de um cuidado. Peça à turma que diga em qual fase está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a verificação em cadeia: cada afirmação segue até a fonte primária. Use a analogia do troco. Pergunte quem já foi conferir uma referência de verdade, abrindo 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o risco central da revisão de literatura. Modelos de linguagem geram texto plausível, mas não são bases bibliográficas. Peça exemplos de como a turma busca referências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que a pesquisa permite afirmar, sem exagerar. Os estudos mostram proporções expressivas de referências inventadas ou imprecisas, variando conforme versão e tema. Na comparação de oito assistentes com 400 referências, só 26,5% estavam totalmente corretas. Sobre efeitos na formação de pós-graduandos brasileiros, ainda não há estudos conclusivos.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e peça que a turma localize o ramo do qual mais precisa. Use um minuto para percorrer os seis ramos sem se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Confidencialidade é a segunda grande linha vermelha. Diferencie dados de participantes, manuscritos sob parecer e projetos de terceiros. Pergunte: o que acontece com o que se cola em um sistema externo?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Leia em voz alta e deixe dez segundos de silêncio. Depois, pergunte quem na sala já viu esse princípio ser esquecido.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a principal do capítulo. Mostre a matriz de rastreabilidade como uma planilha simples. Destaque que a IA é opcional e só atua sobre textos lidos. Peça que escolham a pergunta de pesquisa para exercitar.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de discussão. Distribua os cartões com os casos fictícios. Cuide para que o foco seja os fundamentos e não o julgamento de pessoas. Ao final, o grupo escreve cinco diretrizes para seu laboratório.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os riscos do capítulo em quatro blocos. Peça que a turma classifique qual é o mais difícil de perceber a tempo. Lembre que a pressão por produtividade pode incentivar atalhos.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Práticas de quem orienta e avalia. O foco muda do produto para o processo. Pergunte aos orientadores presentes quais já usam e quais podem adotar. Lembre que detectores não são prova isolada.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a IA pode ser apoio ou substituta. A fronteira é quem pensa e quem verifica. Peça à turma um exemplo real de cada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Reforce que a decisão de não usar também é legítima. Se não for possível verificar cada afirmação e referência, dispense.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síntese visual: uma cadeia de quatro elos. Peça que alguém da turma narre a figura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seis pontos e peça que cada pessoa escolha um para praticar nesta semana. Reforce que as normas mudam e precisam ser reconfirmadas.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5 minutos de escrita individual e depois compartilhe em duplas. Peça que ao menos uma pessoa leia sua resposta à pergunta 1 para 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17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Pós-graduação: pesquisa, autoria e confidencialidade na era da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o que está em jogo na formação de quem pesquisa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de IA que apoiam e que comprometem a pesquisa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uma revisão com verificação em cadeia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Proteger dados, manuscritos e projetos de terceiros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Orientar e avaliar olhando o processo, não só o produto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UMA CENA FICTÍCIA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das 40 referências de uma revisão não existem. De quem é a responsabilidade?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O mestrando 'ganhou tempo' com um assistente de IA. Outra colega quer colar um manuscrito alheio nele.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Pesquisar bem: o que está em jogo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Estudantes de pós aprendem a produzir conhecimento original, com orientação, prazos, avaliação externa e pressão por publicar.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diário de bordo de um navio: sem o registro da rota, ninguém confia que você chegou onde diz.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pergunta não é 'como terminar mais rápido'.”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pilares do ofício científico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 onde vem cada afirmação? Deve dar para seguir o caminho até a fonte.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Reprodutibilidade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Outra pessoa consegue refazer e chegar a resultado compatível.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Crítica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Duvidar, comparar e justificar escolhas, inclusive as metodológicas.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assina responde pelo que está escrito.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Obrigação, recomendação e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Normas e recomendações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Resoluções do CNS e LGPD: consentimento e sigilo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ICMJE: IA não é autora; uso deve ser declarado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Agências e instituições: política própria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Periódicos e eventos: leia antes de submeter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 do grupo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Conversar cedo sobre usos permitidos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Registrar os acordos por escrito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Confirmar versões vigentes das normas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 dúvida, perguntar ao orientador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antes de submeter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Edital ou norma da agência de fomento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Política do programa e da instituição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Política do periódico ou do evento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Comitê de ética, se houver participantes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da pesquisa: onde a IA pode apoiar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Ideação e busca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Brainstorm de perguntas e termos de busca. Trate como hipótese e discuta com o orientador.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Métodos e análise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Discutir opções, apoiar código e codificação preliminar. Teste e supervise.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 e submissão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Revisão de linguagem, tradução, estrutura. Preserve a voz e declare.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Apoio a materiais e feedback inicial, sem dados de orientandos.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Seguir cada afirmação até a fonte primária, ler o trecho que a sustenta e registrar o caminho percorrido.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conferir o troco: você não confia só na caixa registradora, confere a nota na mão.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“Citou? Leu. Leu? Registrou.”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literatura: pode e não pode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(com cuidado)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Sugerir termos e sinônimos de busca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Organizar notas de textos que você leu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Conferir cada referência em bases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Ler as fontes primárias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referências que você não leu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Pedir resumo de artigo que não abriu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Citar sem conferir na base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Aceitar o texto sem o trecho de apoio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inventadas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Risco bem documentado em estudos independentes, variando por versão e tema.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número de alerta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400 referências de oito assistentes, só 26,5% estavam totalmente corretas.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Efeitos na formação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Há debate e poucas evidências. Ainda não há estudos conclusivos.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7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17.1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Confidencialidade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Dados de participantes, manuscritos e projetos de terceiros não entram em sistemas externos sem base ética e legal.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abrir a carta de outra pessoa e ler em voz alta numa praça: o sigilo não volta depois.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que não é seu não se cola.”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assina, responde.”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IA não é autora: não responde por exatidão, integridade nem originalidade.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revisão com 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pergunta e os critérios de inclusão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Buscar nas bases e registrar as estratégias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Ler os textos selecionados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a matriz: fonte, resultado, trecho e página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síntese com suas palavras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Auditoria cruzada e declaração do uso de 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 sessões de 2 horas, em duas semanas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de rastreabilidade, síntese com citações e declaração de uso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Portal de Periódicos, repositórios abertos e uma planilha simples. A etapa de IA é opcional.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júri de dilemas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cartões com casos fictícios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grupo analisa dois casos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Decidir: aceitável, com condições ou inaceitável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Apresentar e debater entre grupos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Redigir cinco diretrizes de uso de IA para o grupo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horas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Análises dos casos e diretrizes do grupo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em papel, documentos impressos e discussão presencial.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Referências e dados inventados comprometem a credibilidade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Violação de sigilo de participantes, manuscritos e projetos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Autoria e originalidade: plágio e 'lavagem' de textos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Perda de leitura crítica e de escrita científica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Orientar e avaliar o processo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de processo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Fichamentos, matriz, versões e anotações de leitura.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Defesa oral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Qualificação e bancas mostram domínio e decisões metodológicas.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Memorial reflexivo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conta como trabalhou e como usou a 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Valorizam originalidade, rigor, ética e transparência.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ou substituição?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apoio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Sugere clareza ao seu 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verifica tudo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declarado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Voz e autoria preservadas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substituta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Escreve sem 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 sem conferir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escondido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Gera a contribuição central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sensíveis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Dados de participantes, pareceres e materiais sob sigilo.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 central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Interpretação, conclusões originais e argumento da tese.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Normas proíbem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Programa, agência ou periódico proíbem ou condicionam o uso.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verificação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dá para conferir cada afirmação e referência.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da fonte à responsabilidade</a:t>
            </a:r>
            <a:endParaRPr lang="en-US" sz="3400" dirty="0"/>
          </a:p>
        </p:txBody>
      </p:sp>
      <p:pic>
        <p:nvPicPr>
          <p:cNvPr id="4" name="Image 0" descr="Figura 17.2 — Fonte lida, afirmação rastreável, texto autoral e declaração de u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927" y="1325880"/>
            <a:ext cx="922366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17.2 — Fonte lida, afirmação rastreável, texto autoral e declaração de uso.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apoia partes do trabalho, mas não substitui quem responde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Referências e resumos de textos não lidos: maior risco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Dados e manuscritos de terceiros não vão a sistemas externos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IA não é autora; declare o uso e confirme normas vigentes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Matriz, auditoria cruzada e defesa oral protegem a formação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não são prova isolada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etapas da sua pesquisa você nunca delegaria a um sistema de IA?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garantiria a rastreabilidade de cada afirmação do seu texto?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normas do seu programa, agência e periódicos sobre IA você já consultou?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cuidados você tem com dados de participantes e materiais sigilosos?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pesquisa responde pelo que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17 — Pós-graduação: pesquisa, autoria e confidencialidade na era da IA</dc:title>
  <dc:subject>PptxGenJS Presentation</dc:subject>
  <dc:creator>Araken de Medeiros Santos</dc:creator>
  <cp:lastModifiedBy>Araken de Medeiros Santos</cp:lastModifiedBy>
  <cp:revision>1</cp:revision>
  <dcterms:created xsi:type="dcterms:W3CDTF">2026-10-26T23:34:35Z</dcterms:created>
  <dcterms:modified xsi:type="dcterms:W3CDTF">2026-10-26T23:34:35Z</dcterms:modified>
</cp:coreProperties>
</file>