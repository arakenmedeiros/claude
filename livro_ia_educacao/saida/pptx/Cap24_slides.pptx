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24. Apresente o tema e peça que a turma pense em uma situação do dia a dia relacionada.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os objetivos. Avise que o capítulo dá um roteiro simples de cinco perguntas, não uma fórmula mágica. Peça que cada pessoa pense em um pedido que já fez a uma IA e não funcionou.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 a cena de Luciana: 'Faça uma aula sobre frações'. A resposta serve para qualquer turma. Pergunte à turma o que o substituto precisaria saber para dar aquela aula. Deixe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Prompt é tudo o que escrevemos ou anexamos para que o sistema gere uma resposta. O sistema leva em conta o que está na conversa; se a série, o objetivo e o tempo não estão lá, ele preenche com o que é mais comum. Peça um exemplo de lacuna em pedidos que a turma já fez.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ideias para entender o que acontece. Contexto da conversa. Janela de contexto: alguns modelos usam pior o que fica no meio de entradas longas, então coloque o essencial no começo e repita brevemente ao final. Instruções do sistema, escondidas, que variam entre produtos e versões e explicam respostas diferentes ao mesmo pedido.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cinco componentes alimentam um rascunho que passa pelo julgamento docente. Mostre a figura como mapa da aula: vamos percorrer cada caixa. Insista que o resultado é rascunho a ser verificado.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Papel e contexto. Papel define voz, público e tom; ajuda no tom e na linguagem, não na exatidão. Um estudo com vários modelos e centenas de papéis encontrou que acrescentar persona a perguntas factuais não melhorou de modo consistente a precisão. Contexto é o que mais separa rascunho genérico de útil, sem dados pessoais.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Tarefa, formato e critérios. Tarefa: verbo observável e uma coisa por vez; pedir tudo de uma vez gera um conjunto raso. Formato economiza edição. Critérios são a lista de verificação que você mesmo usará; redija antes de ver a resposta. Pequenas mudanças na formatação do pedido alteram respostas: se não funcionou, reescreva.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digitar, responda por escrito a cinco perguntas. Se você sabe responder, o pedido está praticamente escrito. Se não sabe, o problema talvez seja de planejamento, não de ferramenta. Faça em 2 minutos com a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pedidos sobre o mesmo tema: vago gera texto genérico, com lacunas gera atividade pouco alinhada, bem formulado gera rascunho útil para ajustar. Em todos, o professor decide e verifica.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Compare a versão 1 e a versão 3 do pedido de Luciana. A versão 3 não garante aula perfeita, mas devolve algo sobre o qual ela pode decidir. A versão 1 será reescrita quase inteira. Observe o fecho: pedir que liste o que supôs torna visíveis as lacunas que o sistema preencheu.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acréscimos simples: alternativas, suposições explícitas, sinalização de incerteza e uso apenas do material fornecido. Nenhum é garantia: o sistema pode errar ao indicar o que é incerto, e colar o trecho reduz a invenção mas não a elimina.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Pare e verifique: pedir 'seja preciso' ou 'não erre' não impede o erro. O tom seguro não indica correção. Todo conteúdo factual, matemático, histórico, legal ou de saúde precisa de conferência em fonte confiável antes do uso com estudantes.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Comece pelo objetivo, e não pelo tema. 'Uma atividade sobre o ciclo da água' gera material sobre o tema. O pedido com objetivo observável gera material alinhado. Aproveite também para pedir erros comuns, mas confira com sua experiência e fontes.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Modelos de pedido por nível, pontos de partida para adaptar. Em todos o destinatário do texto é o professor; contato direto de crianças pequenas exige cuidados específicos. Educação infantil: brincadeiras sem telas. Fundamental: sequência do concreto ao abstrato. Médio e profissional: situação-problema com dados fictícios. Superior e pós: roteiro de seminário e leitura crítica do próprio 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a pesquisa permite afirmar. A forma do pedido influencia as respostas, mas em tarefas de laboratório. Persona tem efeito incerto. Pessoas sem formação técnica exploram pedidos de modo pouco sistemático, o que sugere a importância de formação e prática. Não sabemos se ensinar técnicas de prompt melhora aprendizagem em contextos reais.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1: reescrevendo pedidos vagos. Em duplas, comecem sem IA preenchendo a tabela dos cinco componentes, depois reescrevam. Se houver acesso, testem a versão vaga e a reescrita; sem acesso, o facilitador traz respostas preparadas. Plenária: o que o melhor pedido não resolveu?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2: biblioteca pessoal de modelos. Liste dez tarefas recorrentes, classifique em pode, com cuidado ou não delegar, escolha três, crie modelos com campos entre colchetes e lista de verificação. Teste duas vezes e peça a um colega que use o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Riscos do capítulo: falsa sensação de controle, erros fluentes, dados pessoais no pedido, vieses, homogeneização, sensibilidade à formulação, tempo demais ajustando o pedido, e terceirizar o planejamento. Lembre que, às vezes, escrever à mão é mais rápido.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dispensar a IA e a alternativa sem IA: uma ficha de papel com os cinco campos serve como roteiro de planejamento com ou sem IA. A dinâmica desplugada de instruções vagas e detalhadas com desenho é ótima com crianças. O valor do capítulo está em especificar o que se quer.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Síntese: objetivo docente, pedido estruturado, rascunho da IA, verificação e decisão. A seta tracejada de volta indica que, se o rascunho não serve, se ajusta o pedido ou se descarta.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Releia os pontos. Peça que cada um escolha um componente que costuma esquecer e se comprometa a incluí-lo no próximo pedido. Feche com a frase: o professor decide, verifica e responde pelo que usa.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Dê 5 minutos de escrita. Peça que duplas troquem um pedido real e apontem qual componente falta.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Convide a turma a escolher uma ideia para experimentar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3D7EA6">
              <a:alpha val="75000"/>
            </a:srgbClr>
          </a:solidFill>
          <a:ln w="12700">
            <a:solidFill>
              <a:srgbClr val="3D7EA6">
                <a:alpha val="75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92640" y="3840480"/>
            <a:ext cx="3840480" cy="3840480"/>
          </a:xfrm>
          <a:prstGeom prst="ellipse">
            <a:avLst/>
          </a:prstGeom>
          <a:solidFill>
            <a:srgbClr val="E9A23B">
              <a:alpha val="65000"/>
            </a:srgbClr>
          </a:solidFill>
          <a:ln w="12700">
            <a:solidFill>
              <a:srgbClr val="E9A23B">
                <a:alpha val="65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4B860"/>
                </a:solidFill>
              </a:rPr>
              <a:t>CAPÍTULO 24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3736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Anatomia do pedido: papel, contexto, tarefa, formato e critérios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EFE6"/>
                </a:solidFill>
              </a:rPr>
              <a:t>Parte V — Prompts e interação crítica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9C8"/>
                </a:solidFill>
              </a:rPr>
              <a:t>Inteligência Artificial Aplicada à Educação · Araken de Medeiros Santos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463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Entender o que é um prompt e por que sua qualidade importa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651760"/>
            <a:ext cx="548640" cy="54864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651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24688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Redigir os cinco componentes: papel, contexto, tarefa, formato, critérios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4747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Partir de objetivos de aprendizagem, não de temas soltos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44805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44805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Transformar um pedido vago em um pedido claro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5669280"/>
            <a:ext cx="548640" cy="54864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5669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554480" y="54864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Reconhecer o que um bom pedido não garante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D7EA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14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</a:rPr>
              <a:t>FAÇA UMA AULA SOBRE FRAÇÕES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64592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você diria a um professor substituto que não conhece a sua turma?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3E6"/>
                </a:solidFill>
              </a:rPr>
              <a:t>Cena fictícia: a resposta veio longa e bem escrita, mas servia para qualquer turma.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24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Prompt: o que o sistema tem para trabalhar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7EA6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É tudo o que escrevemos ou anexamos para gerar a resposta. O que não está no pedido, o sistema preenche com o mais comum.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pedir 'uma estante' ao marceneiro: sem altura, peso e orçamento, ele faz algo, mas talvez não caiba.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“Pedir bem e conferir bem são o mesmo cuidado.”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ideias sobre como o sistema lê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Contexto da conversa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Se série, objetivo e tempo não estão lá, ele usa o mais comum.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Janela de contexto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Em textos longos, o meio pode ser mal usado. Essencial no começo.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Instruções do sistema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Orientações escondidas variam entre produtos e explicam respostas diferentes.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cinco componentes e o julgamento docente</a:t>
            </a:r>
            <a:endParaRPr lang="en-US" sz="3400" dirty="0"/>
          </a:p>
        </p:txBody>
      </p:sp>
      <p:pic>
        <p:nvPicPr>
          <p:cNvPr id="4" name="Image 0" descr="Figura 24.2 — Papel, contexto, tarefa, formato e critérios alimentam um rascunh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9709" y="1325880"/>
            <a:ext cx="7782102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24.2 — Papel, contexto, tarefa, formato e critérios alimentam um rascunho.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24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Papel e contexto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Papel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Perspectiva, público e tom. Ajuda na linguagem, não na exatidão.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'Você é especialista'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Não tornou as respostas factuais mais precisas de modo consistente.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Contexto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Turma, objetivo, conhecimentos prévios, tempo, recursos e restrições.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dados pessoais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Descreva a turma em termos gerais, nunca estudantes pelo nome.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24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Tarefa, formato e critérios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Tarefa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Um verbo claro e uma coisa por vez: liste, compare, proponha.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Formato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Tabela, lista, limite de palavras, linguagem simples.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Critérios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 que é bom e o que evitar. Escreva antes de ver a resposta.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Reescrever antes de desistir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Pequenas mudanças alteram a resposta; teste outra forma.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24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perguntas antes de digitar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243584" y="160020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243584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Quem vai ler ou usar a resposta?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D7EA6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2807208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02152" y="160020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02152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944368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 que a turma já sabe e o que não sabe?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818888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D7EA6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5065776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760720" y="160020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07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202936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 que o texto deve fazer?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077456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D7EA6"/>
                </a:solidFill>
              </a:rPr>
              <a:t>›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7324344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19288" y="160020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19288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461504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Em que formato preciso?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336024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D7EA6"/>
                </a:solidFill>
              </a:rPr>
              <a:t>›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9582912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277856" y="160020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277856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9720072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Como vou julgar se ficou bom?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Se não sabe responder, o problema é de planejamento, não de ferramenta.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24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Vago, com lacunas, bem formulado</a:t>
            </a:r>
            <a:endParaRPr lang="en-US" sz="3400" dirty="0"/>
          </a:p>
        </p:txBody>
      </p:sp>
      <p:pic>
        <p:nvPicPr>
          <p:cNvPr id="4" name="Image 0" descr="Figura 24.3 — Três pedidos sobre o mesmo tema e o que costuma resultar de cada um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2840" y="1325880"/>
            <a:ext cx="10415840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24.3 — Três pedidos sobre o mesmo tema e o que costuma resultar de cada um.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24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pedido de Luciana: antes e depois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Versão 1 (vaga)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'Faça uma aula sobre frações.'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Texto serve para qualquer turma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Dez exercícios de calcular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Será reescrito quase inteiro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Versão 3 (estruturada)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Papel, contexto, tarefa, formato e critérios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28 estudantes, 50 minutos, só quadro e papel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Tabela com atividade, material e possível erro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Pede: 'liste o que supôs e o que conferir'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24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Acréscimos que reduzem o risco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Alternativas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'Dê duas abordagens e diga quando cada uma serve.' Devolve a escolha ao professor.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Suposições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'Liste o que você supôs.' Torna visíveis as lacunas.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Incerteza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'Marque com [verificar] datas, nomes e citações.' Não é garantia.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 fornecido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'Use só o texto abaixo.' Reduz a invenção, mas não a elimina.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24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'Seja preciso' ou 'não erre' não impede o erro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Tom seguro não indica correção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Confira fatos, contas, história, leis e saúde em fonte confiável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Um pedido detalhado pode induzir a confiar demais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tema ao objetivo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do tema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'Crie uma atividade sobre o ciclo da água.'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Material 'sobre' o tema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Sem critério de sucesso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Sem tempo nem recursos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do objetivo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Explicar com desenho e frase como a água circula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Atividade de 40 min com copos, plástico e sol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Pergunta final para ver se compreenderam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Pede erros comuns para eu observar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Modelos de pedido por nível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Infantil e fundamental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Brincadeiras sem telas; sequência do concreto ao abstrato, com suposições.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Médio e profissional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Situação-problema com dados fictícios e gabarito a conferir.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Superior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Roteiro de seminário só com as leituras listadas; extras 'a conferir'.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Pós-graduação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Leitor crítico do seu texto: aponta lacunas, não reescreve nem sugere fontes.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pesquisa permite afirmar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forma importa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Instruções explícitas ajudam; pequenas mudanças de formatação alteram respostas. Estudos de laboratório.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Persona: efeito incerto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Em perguntas factuais, não melhorou a precisão de modo consistente.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não sabemos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Se ensinar técnicas de prompt melhora o ensino. Não há formato único comprovado.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24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1: reescrevendo pedidos vagos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7EA6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Receber três pedidos vagos reais e anônimos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Preencher, sem IA, a tabela dos cinco componentes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Reescrever como texto único, com objetivo, tempo e recursos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Testar a versão vaga e a reescrita e comparar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Trocar entre duplas com lista de verificação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Plenária: o que o melhor pedido não resolveu?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90 minutos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Tabela dos componentes, pedido reescrito, comparação e modelo pessoal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Tudo em papel; o facilitador leva respostas genéricas e específicas já geradas.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24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2: biblioteca de modelos de pedido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7EA6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Listar dez tarefas recorrentes e classificar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Escolher três tarefas para apoio de IA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Escrever um modelo de cinco componentes para cada uma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Acrescentar uma lista de verificação a cada modelo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Testar duas vezes e trocar com um colega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Guardar a versão final com data e limitações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 sessões de 60 minutos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Três modelos com listas de verificação e a classificação das tarefas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Cartões de papel, um por modelo, em pasta de planejamento; teste em duplas.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24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Riscos e limites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Falsa sensação de controle e erros que passam despercebidos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Dados pessoais colocados no pedido por descuido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Homogeneização: pedidos copiados geram materiais iguais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Gastar mais tempo ajustando o pedido do que escrevendo à mão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24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Dispensar a IA: a ficha de papel basta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Dispense a IA se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O pedido exigir dados pessoais ou sigilosos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Você ainda não sabe o que quer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Escrever do zero for mais rápido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Não há como verificar a precisão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tecnologia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Ficha de papel com os cinco campos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Roteiro de planejamento, com ou sem IA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Dinâmica do desenho: instruções vagas e detalhadas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Um computador: preparar em papel e testar em grupo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24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Síntese: do objetivo à decisão</a:t>
            </a:r>
            <a:endParaRPr lang="en-US" sz="3400" dirty="0"/>
          </a:p>
        </p:txBody>
      </p:sp>
      <p:pic>
        <p:nvPicPr>
          <p:cNvPr id="4" name="Image 0" descr="Figura 24.4 — O pedido parte do objetivo docente e termina na verificação e na decisã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3071" y="1325880"/>
            <a:ext cx="9675378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24.4 — O pedido parte do objetivo docente e termina na verificação e na decisão.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24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3D7EA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vale a pena lembrar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7EA6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41732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Prompt melhora a utilidade do rascunho, não a verdade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20980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0980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7EA6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20980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Cinco componentes: papel, contexto, tarefa, formato e critérios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0228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00228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7EA6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00228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Contexto separa rascunho genérico de útil; sem dados pessoais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379476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79476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7EA6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379476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'Aja como especialista' não torna a resposta mais verdadeira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458724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58724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7EA6"/>
                </a:solidFill>
              </a:rPr>
              <a:t>✓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458724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Comece pelo objetivo; peça suposições e o que conferir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537972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537972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7EA6"/>
                </a:solidFill>
              </a:rPr>
              <a:t>✓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537972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O professor decide, verifica e responde pelo que usa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24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pensar na sua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pedido você faria hoje? Que informações da turma faltariam?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718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9748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Em que tarefas escrever o pedido é mais trabalhoso do que escrever o texto?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9319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Como explicar a um colega que um pedido bem escrito não garante resposta correta?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4406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16636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modelos de pedido você compartilharia com a equipe?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24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3D7EA6">
              <a:alpha val="70000"/>
            </a:srgbClr>
          </a:solidFill>
          <a:ln w="12700">
            <a:solidFill>
              <a:srgbClr val="3D7EA6">
                <a:alpha val="70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Pedir bem ajuda. Conferir bem decide.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114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B860"/>
                </a:solidFill>
              </a:rPr>
              <a:t>A docência é insubstituível.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5029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D9C8"/>
                </a:solidFill>
              </a:rPr>
              <a:t>Obrigado(a)!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 na Educação">
  <a:themeElements>
    <a:clrScheme name="IA na Educação">
      <a:dk1>
        <a:srgbClr val="3B2A2A"/>
      </a:dk1>
      <a:lt1>
        <a:srgbClr val="FFFFFF"/>
      </a:lt1>
      <a:dk2>
        <a:srgbClr val="5A2E2A"/>
      </a:dk2>
      <a:lt2>
        <a:srgbClr val="F7EFE6"/>
      </a:lt2>
      <a:accent1>
        <a:srgbClr val="D9653B"/>
      </a:accent1>
      <a:accent2>
        <a:srgbClr val="2A9D8F"/>
      </a:accent2>
      <a:accent3>
        <a:srgbClr val="E9A23B"/>
      </a:accent3>
      <a:accent4>
        <a:srgbClr val="6D3B6E"/>
      </a:accent4>
      <a:accent5>
        <a:srgbClr val="3D7EA6"/>
      </a:accent5>
      <a:accent6>
        <a:srgbClr val="6E9A4F"/>
      </a:accent6>
      <a:hlink>
        <a:srgbClr val="3D7EA6"/>
      </a:hlink>
      <a:folHlink>
        <a:srgbClr val="6D3B6E"/>
      </a:folHlink>
    </a:clrScheme>
    <a:fontScheme name="IA na Educ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Capítulo 24 — Anatomia do pedido: papel, contexto, tarefa, formato e critérios</dc:title>
  <dc:subject>PptxGenJS Presentation</dc:subject>
  <dc:creator>Araken de Medeiros Santos</dc:creator>
  <cp:lastModifiedBy>Araken de Medeiros Santos</cp:lastModifiedBy>
  <cp:revision>1</cp:revision>
  <dcterms:created xsi:type="dcterms:W3CDTF">2026-10-26T23:34:36Z</dcterms:created>
  <dcterms:modified xsi:type="dcterms:W3CDTF">2026-10-26T23:34:36Z</dcterms:modified>
</cp:coreProperties>
</file>