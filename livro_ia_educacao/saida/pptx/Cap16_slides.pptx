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capítulo 16. Apresente o tema e peça que a turma pense em uma situação do dia a dia relacionada.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os objetivos. A graduação é a etapa com mais estudos sobre IA generativa, mas as evidências são heterogêneas e de curto prazo. Tempo: 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Cena fictícia: a professora Beatriz recebe um parecer com cinco decisões judiciais e descobre que três não existem; o estudante achou que era uma base de dados. No mesmo semestre outro grupo treinou argumentação com bons resultados. Pergunte: proíbo, libero, como avalio?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Mapa: público e contexto, evidências, orientações de uso, atividades, avaliação e integridade, riscos e cuidados. Visão geral em um minuto.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graduação é diversa: recém-saídos do ensino médio, trabalhadores noturnos, estudantes a distância, quem retoma os estudos. Muitos conciliam trabalho e estudo, com tempo e recursos desiguais. Cada curso forma para uma profissão com responsabilidade técnica, ética e legal.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Seja fiel às ressalvas. Revisões: aplicações concentradas em engenharia, saúde e línguas, geralmente no nível de aumento da prática; melhora em conhecimento e afeto, mas variação em processos cognitivos; tensão entre adoção estudantil e resistência docente. Cite os números só como contexto.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Estudos com estudantes, cada um com limites. Tutor desenhado em Física: mais aprendizado em menos tempo, em conteúdo específico. Estudo com 51 estudantes de Psicologia: engajamento associado a notas, sem causalidade. Uso para construir conhecimento associa-se a aprendizagem de nível mais alto. Em escrita: texto melhor, sem ganho de transferência.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Resuma a conclusão prudente: amostras pequenas, curto prazo, autosseleção e poucos estudos no Brasil. Não se pode afirmar que a IA melhore em geral a aprendizagem. Tempo: 1 minuto.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analogia da biblioteca: a IA não consulta uma base de decisões; ela gera texto plausível. Por isso o estudante de Beatriz foi enganado. Diferencie base de dados de gerador de texto. Peça exemplos de áreas da turma.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Direitos autorais: materiais de aula, artigos e livros. Verifique licenças e termos de uso antes de enviar textos de terceiros. Não envie provas, bancos de questões ou materiais de colegas sem autorização. Confira também a política institucional e a proteção de dados dos estudantes.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Proposta do autor: três níveis de uso. Nível 1, sem IA, para domínio individual. Nível 2, IA como apoio declarado. Nível 3, IA como objeto e parceira de projeto. Cada atividade indica o nível, os critérios e a forma de declaração.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analogia do semáforo no plano de ensino. Quadro simples: atividade, nível, como declarar, consequências. Explique na primeira aula e retome. Convide a turma a comentar e ajustar ao longo do semestre.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Resuma a atividade 1 antes de apresentar o detalhe. Cada etapa verifica fundamentos em fontes primárias. Finalize com o protocolo pessoal de uso de IA na prática profissional.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1: o professor prepara a resposta de IA e a verifica, podendo plantar falhas. Caso fictício, sem dados reais. Duas aulas de 100 minutos. Cuide de direitos autorais e formatos acessíveis.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Prática de recuperação: responder de memória antes de consultar. O estudante pede perguntas sem respostas à IA, responde sem consulta e confere no material original, não só com a IA. Analogia da academia: levantar o peso você mesmo é o que fortalece.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2: três sessões de 30 minutos espaçadas em duas semanas. Respeite direitos autorais ao colar trechos. Peça que o estudante aponte perguntas ruins da IA (ambíguas, erradas ou superficiais).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Síntese: política de uso, atividades alinhadas, avaliação diversificada e verificação. No centro, formação. Peça que a turma diga qual bloco falta na sua disciplina.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Detectores não são prova. Um estudo com 14 ferramentas concluiu que não eram precisas nem confiáveis, tendendo a classificar texto como humano e piorando com ofuscação. Há viés contra falantes não nativos de inglês. Um documento da agência australiana convida a repensar a avaliação, sem solução única.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Experimente a bitácora de uso de IA, uma ou duas linhas por semana: usei para, aprendi, verifiquei. Revise amostras ao longo do semestre; dados anônimos orientam ajustes na política. Peça que a turma escreva uma linha agora.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Riscos do capítulo. Versões pagas dão mais recursos: equidade exige avaliações que não dependam delas. Vigilância e desconfiança prejudicam a relação professor-estudante. Políticas inconsistentes entre disciplinas geram conflito.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dispensar a IA: avaliações de domínio individual, prática de habilidades essenciais, dados pessoais, sigilosos ou protegidos, falta de verificação ou política institucional que proíbe. Com pouca conectividade, priorize estratégias que dispensam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Rodada rápida. Retome Beatriz: que política ela poderia escrever no plano de ensino? Cada pessoa escolhe uma ideia.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Dê 3 minutos de escrita e 3 de troca em duplas. Peça que cada um classifique uma atividade da sua disciplina em Nível 1, 2 ou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Convide a turma a escolher uma ideia para experimentar nesta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463040"/>
            <a:ext cx="5943600" cy="5943600"/>
          </a:xfrm>
          <a:prstGeom prst="ellipse">
            <a:avLst/>
          </a:prstGeom>
          <a:solidFill>
            <a:srgbClr val="E9A23B">
              <a:alpha val="75000"/>
            </a:srgbClr>
          </a:solidFill>
          <a:ln w="12700">
            <a:solidFill>
              <a:srgbClr val="E9A23B">
                <a:alpha val="7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3840480"/>
            <a:ext cx="3840480" cy="3840480"/>
          </a:xfrm>
          <a:prstGeom prst="ellipse">
            <a:avLst/>
          </a:prstGeom>
          <a:solidFill>
            <a:srgbClr val="E9A23B">
              <a:alpha val="65000"/>
            </a:srgbClr>
          </a:solidFill>
          <a:ln w="12700">
            <a:solidFill>
              <a:srgbClr val="E9A23B">
                <a:alpha val="65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4B860"/>
                </a:solidFill>
              </a:rPr>
              <a:t>CAPÍTULO 16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737360"/>
            <a:ext cx="8412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Graduação: autonomia, integridade e formação profissional com IA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7EFE6"/>
                </a:solidFill>
              </a:rPr>
              <a:t>Parte III — Práticas por nível educacional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D9C8"/>
                </a:solidFill>
              </a:rPr>
              <a:t>Inteligência Artificial Aplicada à Educação · Araken de Medeiros Santos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aprender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4630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Caracterizar o público e as tensões da graduação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2651760"/>
            <a:ext cx="548640" cy="54864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554480" y="246888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Interpretar com critério as evidências sobre IA no ensino superior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347472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1520" y="3657600"/>
            <a:ext cx="548640" cy="54864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554480" y="34747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Elaborar orientações de uso por níveis, com declaração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448056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4663440"/>
            <a:ext cx="548640" cy="54864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554480" y="44805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Planejar atividades de análise crítica e de recuperação espaçada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548640" y="548640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1520" y="5669280"/>
            <a:ext cx="548640" cy="54864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5669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554480" y="54864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Desenhar avaliações que valorizem processo e autenticidade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9A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22960" y="914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</a:rPr>
              <a:t>PENSE UM POUCO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645920"/>
            <a:ext cx="10515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das cinco decisões citadas não existem. Proíbo, libero ou avalio de outro modo?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3E6"/>
                </a:solidFill>
              </a:rPr>
              <a:t>Cena fictícia: o parecer com jurisprudência inventada.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do capítulo</a:t>
            </a:r>
            <a:endParaRPr lang="en-US" sz="3400" dirty="0"/>
          </a:p>
        </p:txBody>
      </p:sp>
      <p:pic>
        <p:nvPicPr>
          <p:cNvPr id="4" name="Image 0" descr="Figura 16.1 — Mapa dos conceitos principais do capítul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0290" y="1325880"/>
            <a:ext cx="6300940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Figura 16.1 — Mapa dos conceitos principais do capítulo.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público da graduação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Trajetórias diversas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Jovens, trabalhadores, educação a distância e quem retoma os estudos.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2816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6760" y="169164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567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5676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Oportunidades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55676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Estudo autônomo com apoio, acessibilidade e preparação para um mercado em mudança.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810768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628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362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33628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Riscos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833628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Fraude, dependência, desigualdade de acesso e perda de competências essenciais.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Evidências: o que as revisões mostram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139 artigos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Aplicações em engenharia, saúde e línguas, em geral no nível de "aumento" da prática.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2816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6760" y="169164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567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5676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 estudos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55676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Melhoram aquisição de conhecimento e afeto; habilidades cognitivas variam bastante.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810768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628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362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33628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125 estudos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833628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Tensão entre adoção estudantil e resistência docente; formação não vira transformação automática.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Evidências: estudos com estudantes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Tutor em Física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Ensaio randomizado: aprenderam mais em menos tempo, em conteúdo específico.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Recuperação espaçada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51 estudantes de Psicologia: mais engajados, notas mais altas; causalidade limitada.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de domínio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192 reflexões: construir conhecimento associa-se a aprendizagem de nível mais alto.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Escrita com IA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Texto melhor, sem ganho de transferência: possível preguiça metacognitiva.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914400" y="1188720"/>
            <a:ext cx="10332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 desenho pedagógico e a mediação fazem a diferença.”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52120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4B860"/>
                </a:solidFill>
              </a:rPr>
              <a:t>Não se pode afirmar que a IA melhore, em geral, a aprendizagem na graduação.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Texto plausível não é base de dados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9A23B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Assistentes de IA podem gerar fundamentos, números e citações que parecem reais e não existem. Fontes primárias confirmam.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um colega que fala com segurança sobre um livro que nunca leu: soa bem, mas é preciso abrir o livro.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“Citou, abriu a fonte, confirmou.”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 e verifique: direitos autorais e dados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1450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145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Textos de terceiros têm direitos autorais: verifique licenças e termos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0322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032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5176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Não envie provas, bancos de questões ou materiais de colegas sem autorização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38404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09194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0919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84048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Confira a política institucional sobre ferramentas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28066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2806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02920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Proteja os dados dos estudantes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níveis de uso de IA na disciplina</a:t>
            </a:r>
            <a:endParaRPr lang="en-US" sz="3400" dirty="0"/>
          </a:p>
        </p:txBody>
      </p:sp>
      <p:pic>
        <p:nvPicPr>
          <p:cNvPr id="4" name="Image 0" descr="Figura 16.2 — Proposta do autor; adapte à disciplina e à política institucional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9750" y="1325880"/>
            <a:ext cx="7862021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Figura 16.2 — Proposta do autor; adapte à disciplina e à política institucional.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quadro de uso no plano de ensino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9A23B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Coloque no plano de ensino: atividade, nível de uso de IA, como declarar e consequências. Explique na primeira aula e retome nas atividades.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o placar visível no estádio: todos sabem as regras antes do jogo, e há menos discussão no fim.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“Regra dita antes evita conflito depois.”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Parecer crítico: o caminho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43584" y="160020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243584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Caso hipotético sem dados reais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2560320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A23B"/>
                </a:solidFill>
              </a:rPr>
              <a:t>›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2807208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02152" y="160020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02152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944368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Resposta de IA entregue sem aviso de erros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818888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A23B"/>
                </a:solidFill>
              </a:rPr>
              <a:t>›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5065776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60720" y="160020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76072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202936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Quadro: afirmação, fundamento, existe?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077456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A23B"/>
                </a:solidFill>
              </a:rPr>
              <a:t>›</a:t>
            </a:r>
            <a:endParaRPr lang="en-US" sz="2800" dirty="0"/>
          </a:p>
        </p:txBody>
      </p:sp>
      <p:sp>
        <p:nvSpPr>
          <p:cNvPr id="19" name="Shape 16"/>
          <p:cNvSpPr/>
          <p:nvPr/>
        </p:nvSpPr>
        <p:spPr>
          <a:xfrm>
            <a:off x="7324344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019288" y="160020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019288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461504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Parecer crítico de uma página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9336024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A23B"/>
                </a:solidFill>
              </a:rPr>
              <a:t>›</a:t>
            </a:r>
            <a:endParaRPr lang="en-US" sz="2800" dirty="0"/>
          </a:p>
        </p:txBody>
      </p:sp>
      <p:sp>
        <p:nvSpPr>
          <p:cNvPr id="24" name="Shape 21"/>
          <p:cNvSpPr/>
          <p:nvPr/>
        </p:nvSpPr>
        <p:spPr>
          <a:xfrm>
            <a:off x="9582912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277856" y="160020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0277856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9720072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Protocolo pessoal de uso na profissão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A2E2A"/>
                </a:solidFill>
              </a:rPr>
              <a:t>Erro factual, fundamento inexistente, raciocínio, omissão ou viés?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16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 1: parecer crítico de uma resposta de IA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949440" cy="4663440"/>
          </a:xfrm>
          <a:prstGeom prst="roundRect">
            <a:avLst>
              <a:gd name="adj" fmla="val 2941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9A23B"/>
                </a:solidFill>
              </a:rPr>
              <a:t>PASSO A PASSO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965960"/>
            <a:ext cx="6400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Apresente um caso hipotético, sem dados pessoais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Entregue a resposta de IA sem indicar erros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Grupos: afirmação, fundamento, existe? adequado ao caso?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Classifique os problemas encontrados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Escreva o parecer crítico: certo, corrigir, faltou, riscos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Cada um redige um protocolo pessoal de uso de IA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0" y="1417320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15270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TEMPO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1874520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2 aulas de 100 minutos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0" y="3026664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31363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PRODUTO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483864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Quadro preenchido, parecer crítico e protocolo pessoal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772400" y="4636008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01000" y="47457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POUCOS RECURSOS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5093208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Cópias impressas de fontes e da resposta de IA; busca em grupo, com um computador.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Prática de recuperação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9A23B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A IA gera perguntas sem respostas; você responde de memória, confere no material original e reestuda as lacunas, em sessões espaçadas.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a academia: só o peso que você mesmo levanta fortalece o músculo; olhar o gabarito é como ver outro treinar.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“Lembrar sem consultar é o treino.”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 2: recuperação com perguntas da IA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949440" cy="4663440"/>
          </a:xfrm>
          <a:prstGeom prst="roundRect">
            <a:avLst>
              <a:gd name="adj" fmla="val 2941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9A23B"/>
                </a:solidFill>
              </a:rPr>
              <a:t>PASSO A PASSO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965960"/>
            <a:ext cx="6400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Escolha um trecho e peça 10 perguntas sem as respostas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Responda de memória, sem consultar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Confira no material original: acerto, parcial ou lacuna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Reestude as lacunas e registre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Repita 3 a 4 dias depois e uma semana depois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Reflita: o que mudou e quais perguntas eram ruins?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0" y="1417320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15270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TEMPO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1874520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3 sessões de 30 min em duas semanas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0" y="3026664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31363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PRODUTO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483864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Folha de registro, perguntas avaliadas e reflexão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772400" y="4636008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01000" y="47457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POUCOS RECURSOS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5093208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Fichas em papel e perguntas feitas por colegas, em grupos.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Síntese: quatro blocos ligados</a:t>
            </a:r>
            <a:endParaRPr lang="en-US" sz="3400" dirty="0"/>
          </a:p>
        </p:txBody>
      </p:sp>
      <p:pic>
        <p:nvPicPr>
          <p:cNvPr id="4" name="Image 0" descr="Figura 16.3 — Política clara, atividades alinhadas, avaliação diversificada e verificaçã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7335" y="1325880"/>
            <a:ext cx="8626850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Figura 16.3 — Política clara, atividades alinhadas, avaliação diversificada e verificação.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Avaliação e integridade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Detectores não são prova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14 ferramentas avaliadas: nem precisas nem confiáveis; viés contra falantes não nativos de inglês.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Repensar a avaliação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Documento australiano convida instituições a rever avaliações, sem solução única.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Avaliação autêntica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Entregas intermediárias, defesas orais, portfólios, estudos de caso e provas em sala.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Processo justo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Evidências de processo, conversa e oportunidade de defesa.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16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Experimente: bitácora de uso de IA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Usei para...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O estudante registra a finalidade, uma ou duas linhas por semana.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2816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6760" y="169164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567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5676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Aprendi...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55676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O que a interação ensinou de fato.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810768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628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362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33628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Verifiquei...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833628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Que fonte confirmou. Revise amostras e ajuste a política.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16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 e verifique: riscos na graduação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1450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145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Terceirização de trabalhos, fabricação de fontes e plágio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0322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032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5176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Desigualdade: versões pagas oferecem mais recursos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38404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09194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0919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84048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Vigilância e desconfiança prejudicam a relação com a turma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28066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2806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02920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Políticas inconsistentes entre disciplinas e cursos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16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dispensar a IA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Dispense a IA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Avaliações de domínio individual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Prática de cálculo, raciocínio clínico, jurídico ou escrita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Dados pessoais, sigilosos ou protegidos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Sem como verificar, ou política que proíbe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63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92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Alternativas sem IA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Fichas de recuperação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Estudo em grupo e leitura guiada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Avaliação oral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Atividades curtas e offline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16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9A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vale a pena lembrar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1732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9A23B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41732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A graduação é diversa; a formação pede responsabilidade e ética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20980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20980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9A23B"/>
                </a:solidFill>
              </a:rPr>
              <a:t>✓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20980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Evidências heterogêneas e de curto prazo; o desenho importa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300228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00228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9A23B"/>
                </a:solidFill>
              </a:rPr>
              <a:t>✓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300228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Explicite níveis de uso por atividade e a forma de declaração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379476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79476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9A23B"/>
                </a:solidFill>
              </a:rPr>
              <a:t>✓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1463040" y="379476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Análise crítica e recuperação espaçada com verificação são viáveis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458724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58724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9A23B"/>
                </a:solidFill>
              </a:rPr>
              <a:t>✓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1463040" y="458724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Detectores não são prova; avalie processo e autenticidade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48640" y="537972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" y="537972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9A23B"/>
                </a:solidFill>
              </a:rPr>
              <a:t>✓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1463040" y="537972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Atenção a direitos autorais, privacidade e desigualdade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16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pensar na sua prática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Que atividades da sua disciplina seriam Nível 1, 2 ou 3?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7180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9748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Como comunica à turma o que é permitido?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393192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20624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93192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Que competências da profissão não poderiam ser delegadas à IA?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516636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44068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16636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Como garantir equidade entre quem tem e quem não tem ferramentas pagas?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16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E9A23B">
              <a:alpha val="70000"/>
            </a:srgbClr>
          </a:solidFill>
          <a:ln w="12700">
            <a:solidFill>
              <a:srgbClr val="E9A23B">
                <a:alpha val="7000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1097280" y="182880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Política clara, verificação e processo: assim a IA forma em vez de enfraquecer.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4114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4B860"/>
                </a:solidFill>
              </a:rPr>
              <a:t>A docência é insubstituível.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5029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D9C8"/>
                </a:solidFill>
              </a:rPr>
              <a:t>Obrigado(a)!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 na Educação">
  <a:themeElements>
    <a:clrScheme name="IA na Educação">
      <a:dk1>
        <a:srgbClr val="3B2A2A"/>
      </a:dk1>
      <a:lt1>
        <a:srgbClr val="FFFFFF"/>
      </a:lt1>
      <a:dk2>
        <a:srgbClr val="5A2E2A"/>
      </a:dk2>
      <a:lt2>
        <a:srgbClr val="F7EFE6"/>
      </a:lt2>
      <a:accent1>
        <a:srgbClr val="D9653B"/>
      </a:accent1>
      <a:accent2>
        <a:srgbClr val="2A9D8F"/>
      </a:accent2>
      <a:accent3>
        <a:srgbClr val="E9A23B"/>
      </a:accent3>
      <a:accent4>
        <a:srgbClr val="6D3B6E"/>
      </a:accent4>
      <a:accent5>
        <a:srgbClr val="3D7EA6"/>
      </a:accent5>
      <a:accent6>
        <a:srgbClr val="6E9A4F"/>
      </a:accent6>
      <a:hlink>
        <a:srgbClr val="3D7EA6"/>
      </a:hlink>
      <a:folHlink>
        <a:srgbClr val="6D3B6E"/>
      </a:folHlink>
    </a:clrScheme>
    <a:fontScheme name="IA na Educaçã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Capítulo 16 — Graduação: autonomia, integridade e formação profissional com IA</dc:title>
  <dc:subject>PptxGenJS Presentation</dc:subject>
  <dc:creator>Araken de Medeiros Santos</dc:creator>
  <cp:lastModifiedBy>Araken de Medeiros Santos</cp:lastModifiedBy>
  <cp:revision>1</cp:revision>
  <dcterms:created xsi:type="dcterms:W3CDTF">2026-10-26T23:34:35Z</dcterms:created>
  <dcterms:modified xsi:type="dcterms:W3CDTF">2026-10-26T23:34:35Z</dcterms:modified>
</cp:coreProperties>
</file>