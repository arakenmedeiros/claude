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capítulo 21. Apresente o tema e peça que a turma pense em uma situação do dia a dia relacionada.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os objetivos. Pergunte quem já participou de um projeto que ficou bonito e vazio. Anuncie que o capítulo tem muitas ferramentas de mediação para evitar isso. Tempo: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cena da professora Lúcia: roteiro de IA sobre a água, estudantes copiaram textos genéricos e ninguém foi à rua. Cartaz caprichado, mas sem resposta sobre a água daquele bairro. Pergunte à turma o que faltou.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Separe os termos. PBL em problemas: problema complexo sem resposta única. PBL em projetos: produto em resposta a uma pergunta. Interdisciplinaridade: perguntas de uma área ajudam a responder as da outra. Se as áreas só ficam lado a lado, é multidisciplinaridade. Não há definição única aceita por toda a literatura.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o exemplo da reforma da cozinha. Ninguém separa por disciplina: o problema chama os saberes. Pergunte que problema real do bairro da escola funcionaria assim.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 sobre mediação. Há debate de décadas entre autonomia e orientação. A convergência prática: projetos bem desenhados incluem andaimes, apoios gradualmente retirados.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critérios de uma boa pergunta motriz, aqui em quatro blocos. Peça que a turma avalie 'Pesquise sobre a água' contra esses critérios. Pergunta fraca pede só coleta de informação; a mais forte: o que fazer para reduzir o desperdício de água na escola e como saberemos se funcionou?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perguntas fracas e fortes. Pesquise sobre a água é só coleta. Faça um cartaz sobre alimentação é produto sem pergunta. A pergunta forte nasce do contexto da turma. A IA pode propor cinco versões, mas o professor adapta e descarta.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ciclo do projeto com seis etapas e a mediação e checagem do professor no centro. Peça que a turma localize em qual etapa seus projetos costumam travar.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a IA pode entrar em cada fase. Docentes: listas de perguntas, cronograma, riscos. Estudantes: perguntas de reflexão, mas eles decidem. Investigação: termos de busca e rascunho de entrevista, sem substituir campo. Produção: revisão de clareza, sem gerar o produto final. Apresentação: ensaio com perguntas do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Pare e verifique antes de usar um roteiro de projeto gerado por IA. As cinco perguntas. Peça que a turma aplique ao roteiro da professora Lúcia. Foco: fontes locais, datas, recursos e lugares existentes na sua realidade.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investigação precisa sair do computador. O valor do projeto está em dados que só aquela comunidade tem. Defina cedo o que será observado, medido ou ouvido, e registre em caderno de campo, planilha ou fotografia, com autorização.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cuidados de mediação. Pontos de checagem datados, com conversa de cinco minutos. Perguntas que só quem participou sabe responder. Registro do processo, incluindo para que serviu a IA. Sugira também os dez primeiros minutos de cada encontro para o estado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em grupo: papéis claros com rodízio. A IA não é mais um integrante: é uma ferramenta, e uma pessoa responde pelo que foi aproveitado. Dois riscos: quem faz tudo sozinho e quem dispensa o esforço porque a IA faz. A avaliação individual protege os dois.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a pesquisa permite afirmar. PBL: revisão clássica indica compreensão flexível e aprendizagem autodirigida, mas muita pesquisa vem da medicina. Meta-análises: vantagens em retenção, habilidades e satisfação; tradicional vai melhor em provas padronizadas de curto prazo. Projetos: delineamentos quase-experimentais limitam conclusões causais. Sobre IA em projetos: evidências escassas.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1: desenho colaborativo de um projeto, para professores. Dois encontros de 90 minutos. Comece pelo território e pelos interesses dos estudantes, depois pergunta, produto, marcos, campo, critérios e plano B. Etapa de IA é opcional. A troca de folhas com outra equipe docente fecha o ciclo.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2: consultoria de IA com diário de verificação, para estudantes. O professor valida o pedido antes do envio para evitar dados pessoais. A resposta é lida em voz alta e marcada em três cores. Sem equipamento, leve respostas impressas e faça a leitura crítica no papel.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Avaliação de projetos: processo e produto, grupo e indivíduo. A LDB indica avaliação contínua e cumulativa, com prevalência dos aspectos qualitativos. Registre o uso de IA sem punir o uso permitido: o foco é a responsabilidade pelas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Riscos e limites do capítulo. Falsa interdisciplinaridade, cópia e colagem, sobrecarga, desigualdade no grupo e privacidade de estudantes, famílias e moradores entrevistados.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Quando dispensar a IA. Em campo, entrevista e observação. Quando o objetivo é formular perguntas e planos. Quando o grupo é muito jovem ou o professor não tem como mediar. Quando há pessoas identificáveis. A decisão pedagógica coletiva não se terceiriza.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visual: território, professores e estudantes se encontram no projeto autêntico; a IA é uma pequena caixa de apoio ligada por seta tracejada.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Releia os pontos e peça que cada professor escolha um marco de checagem para testar no próximo projeto. Experimento sugerido: mesma pergunta para todos os grupos e comparar as respostas da IA e do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5 minutos. Peça que as duplas compartilhem o problema real do entorno da escola e o público do produto.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Convide a turma a escolher uma ideia para experimentar nesta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8412480" y="-1463040"/>
            <a:ext cx="5943600" cy="5943600"/>
          </a:xfrm>
          <a:prstGeom prst="ellipse">
            <a:avLst/>
          </a:prstGeom>
          <a:solidFill>
            <a:srgbClr val="6D3B6E">
              <a:alpha val="75000"/>
            </a:srgbClr>
          </a:solidFill>
          <a:ln w="12700">
            <a:solidFill>
              <a:srgbClr val="6D3B6E">
                <a:alpha val="7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692640" y="3840480"/>
            <a:ext cx="3840480" cy="3840480"/>
          </a:xfrm>
          <a:prstGeom prst="ellipse">
            <a:avLst/>
          </a:prstGeom>
          <a:solidFill>
            <a:srgbClr val="E9A23B">
              <a:alpha val="65000"/>
            </a:srgbClr>
          </a:solidFill>
          <a:ln w="12700">
            <a:solidFill>
              <a:srgbClr val="E9A23B">
                <a:alpha val="65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4B860"/>
                </a:solidFill>
              </a:rPr>
              <a:t>CAPÍTULO 21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37360"/>
            <a:ext cx="8412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 interdisciplinares e aprendizagem baseada em problemas com apoio de IA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7EFE6"/>
                </a:solidFill>
              </a:rPr>
              <a:t>Parte IV — Aplicações práticas no trabalho docente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6035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D9C8"/>
                </a:solidFill>
              </a:rPr>
              <a:t>Inteligência Artificial Aplicada à Educação ·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45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46304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Distinguir projeto, problema e interdisciplinaridade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46888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4688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Formular uma pergunta motriz autêntica e viável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6576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4747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Ver em cada fase do ciclo onde a IA entra e onde fica de fora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6634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663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4805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Planejar mediação, trabalho em grupo e avaliação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548640" y="5486400"/>
            <a:ext cx="11064240" cy="914400"/>
          </a:xfrm>
          <a:prstGeom prst="roundRect">
            <a:avLst>
              <a:gd name="adj" fmla="val 12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6692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669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554480" y="54864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Ler com cautela as evidências sobre projetos e IA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22960" y="914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UM PROJETO BONITO E VAZIO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64592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'O projeto era de todo mundo e de ninguém.'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3E6"/>
                </a:solidFill>
              </a:rPr>
              <a:t>Cena fictícia: o roteiro veio pronto, mas a investigação não saiu da tela.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Projeto, problema, interdisciplinaridade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Baseada em problemas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Problema complexo, sem resposta única; o grupo estuda e aplica.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Baseada em projetos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Período mais longo para produzir algo em resposta a uma pergunta.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Interdisciplinar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Perguntas de uma área ajudam a responder as da outra.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Multidisciplinar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Áreas lado a lado, sem integração.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chama os saberes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Bons projetos escolares imitam a vida: o problema real mobiliza matemática, ciências, leitura e negociação juntas.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reformar a cozinha: orçamento, medidas, umidade e contrato, tudo ao mesmo tempo.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“Ninguém separa o problema por disciplina.”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914400" y="1188720"/>
            <a:ext cx="103327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“Projeto não é ausência de aula.”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5212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4B860"/>
                </a:solidFill>
              </a:rPr>
              <a:t>Há explicação, modelagem, ensaio, devolutiva e andaimes.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uma boa pergunta motriz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 de verdade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Interessa aos estudantes ou à comunidade, não só ao programa.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resposta pronta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Exige evidências, comparação de alternativas e decisão.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Viável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Cabe no tempo, nos recursos e na idade do grupo.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Gera produto e avaliação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Produto mostrável a alguém além do professor; dá para dizer o que é boa resposta.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 fraca, pergunta mais forte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Fraca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'Pesquise sobre a água.'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'Explique o ciclo do lixo.'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'Faça um cartaz sobre alimentação.'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Cabe em qualquer lugar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forte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Como reduzir o desperdício de água na escola?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Que destino têm os resíduos do bairro? Que mudança propor?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Como montar um lanche saudável e barato?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Nasce do território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do projeto e checagens do professor</a:t>
            </a:r>
            <a:endParaRPr lang="en-US" sz="3400" dirty="0"/>
          </a:p>
        </p:txBody>
      </p:sp>
      <p:pic>
        <p:nvPicPr>
          <p:cNvPr id="4" name="Image 0" descr="Figura 21.2 — Ciclo de um projeto com pontos de checagem do professor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2258" y="1325880"/>
            <a:ext cx="6277004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21.2 — Ciclo de um projeto com pontos de checagem do professor.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fase, o papel da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Planejar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Docentes: perguntas, cronograma, riscos. Estudantes: perguntas para refletir.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Investigar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Termos de busca e rascunho de roteiro. Não substitui campo nem entrevista.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Produzir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Ideias de formato e revisão de clareza. Não gera o produto final.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Apresentar e refletir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Ensaio com perguntas do público; sem nota automática do projeto.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 e verifique o roteiro gerado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As habilidades e os objetivos do currículo estão nele?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Datas, recursos e lugares existem na sua realidade?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Há fontes locais ou só informação genérica?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O produto responde à pergunta motriz? O cronograma é real?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investigação sai do computador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6675120" cy="2926080"/>
          </a:xfrm>
          <a:prstGeom prst="roundRect">
            <a:avLst>
              <a:gd name="adj" fmla="val 4688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002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O QUE É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011680"/>
            <a:ext cx="6126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3B2A2A"/>
                </a:solidFill>
              </a:rPr>
              <a:t>O valor está em dados que só a comunidade tem: entrevistas, medições no pátio, visitas. A IA não produz esses dados.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7498080" y="1463040"/>
            <a:ext cx="4114800" cy="2926080"/>
          </a:xfrm>
          <a:prstGeom prst="roundRect">
            <a:avLst>
              <a:gd name="adj" fmla="val 4688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É COMO…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01168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pedir a um mapa a temperatura da rua: a resposta só vem de quem sai e mede.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5488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i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“Trocar a coleta pelo assistente vira recitação.”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Mediação do professor: três cuidados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99644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964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Pontos de checagem datados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06603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431292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76072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7607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45008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Perguntas que só quem participou responde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30312" y="3200400"/>
            <a:ext cx="265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D3B6E"/>
                </a:solidFill>
              </a:rPr>
              <a:t>›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77200" y="1920240"/>
            <a:ext cx="3535680" cy="3291840"/>
          </a:xfrm>
          <a:prstGeom prst="roundRect">
            <a:avLst>
              <a:gd name="adj" fmla="val 416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525000" y="160020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5250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214360" y="2377440"/>
            <a:ext cx="3261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Registro do processo, inclusive do uso de IA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486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2E2A"/>
                </a:solidFill>
              </a:rPr>
              <a:t>Dez minutos iniciais: o que fizemos, o que travou, o que faremos.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em grupo: papéis e IA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Papéis claros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Relator, dados, fontes e tempo, com rodízio.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é ferramenta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Não é integrante. Uma pessoa responde pelo que foi aproveitado.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riscos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Quem faz tudo sozinho e quem deixa a IA fazer.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individual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Protege quem trabalha e quem precisa de apoio.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pesquisa permite afirmar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(PBL)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Ajuda retenção e habilidades; vai pior em provas curtas. Dados do ensino superior.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32816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676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56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55676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Projetos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5676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Estudos sem sorteio limitam conclusões causais. Fatores são orientações, não garantias.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8107680" y="1463040"/>
            <a:ext cx="3505200" cy="4480560"/>
          </a:xfrm>
          <a:prstGeom prst="roundRect">
            <a:avLst>
              <a:gd name="adj" fmla="val 3913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33628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3362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8336280" y="2468880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em projetos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36280" y="3337560"/>
            <a:ext cx="304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B2A2A"/>
                </a:solidFill>
              </a:rPr>
              <a:t>Evidências escassas. Alertas vêm de outros formatos, como a 'preguiça metacognitiva'.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1: desenho de um projeto interdisciplinar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Listar problemas reais do entorno e escolher um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Cada docente indica 2 ou 3 habilidades do seu componente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três perguntas motrizes, testar e definir o produto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Definir cinco marcos e o plano de campo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critérios e plano B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Trocar a folha com outra equipe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encontros de 90 min + 30 min de ajustes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Folha do projeto: pergunta, produto, marcos, campo, critérios, plano B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Papel e reunião presencial; coleta de campo com caderno, fita e entrevistas.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Atividade 2: consultoria de IA com diário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6949440" cy="4663440"/>
          </a:xfrm>
          <a:prstGeom prst="roundRect">
            <a:avLst>
              <a:gd name="adj" fmla="val 2941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D3B6E"/>
                </a:solidFill>
              </a:rPr>
              <a:t>PASSO A PASSO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96596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Escrever a pergunta do grupo e o que já sabem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Elaborar o pedido à IA; o professor valida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Marcar a resposta: verde sabemos, amarelo conferir, vermelho não serve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Indicar fonte ou procedimento para cada item amarelo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3B2A2A"/>
                </a:solidFill>
              </a:rPr>
              <a:t>Registrar a decisão e o que não aproveitaram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0" y="1417320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0100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TEMPO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01000" y="1874520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2 aulas de 50 minutos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72400" y="3026664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1363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PRODUTO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483864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Ficha de verificação do grupo e plano de coleta de dados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772400" y="4636008"/>
            <a:ext cx="3840480" cy="1444752"/>
          </a:xfrm>
          <a:prstGeom prst="roundRect">
            <a:avLst>
              <a:gd name="adj" fmla="val 9494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01000" y="474573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</a:rPr>
              <a:t>POUCOS RECURSOS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01000" y="5093208"/>
            <a:ext cx="33832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Um único equipamento do professor, ou respostas impressas lidas no papel.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Avaliar projetos: o que olhar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48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e grupo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Diário de bordo e marcos cumpridos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Qualidade das decisões e das fontes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Avaliação entre pares com roteiro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Devolutiva pública, quando seguro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94960" cy="4572000"/>
          </a:xfrm>
          <a:prstGeom prst="roundRect">
            <a:avLst>
              <a:gd name="adj" fmla="val 3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63640" y="1463040"/>
            <a:ext cx="5394960" cy="731520"/>
          </a:xfrm>
          <a:prstGeom prst="roundRect">
            <a:avLst>
              <a:gd name="adj" fmla="val 18750"/>
            </a:avLst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92240" y="14630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Indivíduo e produto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653796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Autoavaliação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Explicação oral breve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Pergunta escrita sobre o conteúdo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3B2A2A"/>
                </a:solidFill>
              </a:rPr>
              <a:t>Registro do uso de IA, sem punir o permitido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Riscos e limites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1450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145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Projeto genérico que ignora o território e os estudantes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65176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322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032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5176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Cópia e colagem no lugar de investigação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548640" y="384048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919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0919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84048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Falsa interdisciplinaridade e sobrecarga do professor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FDECE4"/>
          </a:solidFill>
          <a:ln w="12700">
            <a:solidFill>
              <a:srgbClr val="F2B8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28066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2806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!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029200"/>
            <a:ext cx="9784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B2A2A"/>
                </a:solidFill>
              </a:rPr>
              <a:t>Privacidade de estudantes, famílias e moradores entrevistados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dispensar a IA no projeto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77724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Campo e entrevista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Observar, medir e ouvir é trabalho dos estudantes, sem tela.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16916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61188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361188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 perguntas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61188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Quando o objetivo é exercitar a capacidade de perguntar e planejar.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21792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46520" y="1691640"/>
            <a:ext cx="640080" cy="64008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4652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mediação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Grupo muito jovem ou professor sem como mediar e verificar.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9052560" y="1463040"/>
            <a:ext cx="2560320" cy="4480560"/>
          </a:xfrm>
          <a:prstGeom prst="roundRect">
            <a:avLst>
              <a:gd name="adj" fmla="val 5357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81160" y="1691640"/>
            <a:ext cx="640080" cy="640080"/>
          </a:xfrm>
          <a:prstGeom prst="ellipse">
            <a:avLst/>
          </a:prstGeom>
          <a:solidFill>
            <a:srgbClr val="3D7EA6"/>
          </a:solidFill>
          <a:ln w="12700">
            <a:solidFill>
              <a:srgbClr val="3D7E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811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9281160" y="24688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de pessoas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37560"/>
            <a:ext cx="2103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B2A2A"/>
                </a:solidFill>
              </a:rPr>
              <a:t>Pessoas identificáveis da comunidade e decisão pedagógica da equipe.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Síntese: o projeto autêntico</a:t>
            </a:r>
            <a:endParaRPr lang="en-US" sz="3400" dirty="0"/>
          </a:p>
        </p:txBody>
      </p:sp>
      <p:pic>
        <p:nvPicPr>
          <p:cNvPr id="4" name="Image 0" descr="Figura 21.3 — O professor, o território e os estudantes no centro; a IA como apoio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0155" y="1325880"/>
            <a:ext cx="8101209" cy="4434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5F59"/>
                </a:solidFill>
              </a:rPr>
              <a:t>Figura 21.3 — O professor, o território e os estudantes no centro; a IA como apoio.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6D3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vale a pena lembrar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173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173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463040" y="14173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Projeto e problema pedem pergunta autêntica, produto e mediação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20980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220980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0980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Pergunta fraca: nenhuma ferramenta salva o projeto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00228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00228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463040" y="300228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 investigação ocupa o território, as pessoas e os dados do grupo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379476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79476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1463040" y="379476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Projeto não é ausência de aula: andaimes e marcos fazem parte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548640" y="458724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458724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458724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Avalie processo e produto, grupo e indivíduo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548640" y="5379720"/>
            <a:ext cx="11064240" cy="682752"/>
          </a:xfrm>
          <a:prstGeom prst="roundRect">
            <a:avLst>
              <a:gd name="adj" fmla="val 16071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FFFFFF">
                <a:alpha val="88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5379720"/>
            <a:ext cx="54864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D3B6E"/>
                </a:solidFill>
              </a:rPr>
              <a:t>✓</a:t>
            </a:r>
            <a:endParaRPr lang="en-US" sz="2400" dirty="0"/>
          </a:p>
        </p:txBody>
      </p:sp>
      <p:sp>
        <p:nvSpPr>
          <p:cNvPr id="21" name="Text 18"/>
          <p:cNvSpPr txBox="1"/>
          <p:nvPr/>
        </p:nvSpPr>
        <p:spPr>
          <a:xfrm>
            <a:off x="1463040" y="5379720"/>
            <a:ext cx="9966960" cy="682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2A2A"/>
                </a:solidFill>
              </a:rPr>
              <a:t>Evidências sobre IA em projetos: ainda escassas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D9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5A2E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pensar na sua prática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48640" y="14630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77240" y="173736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600200" y="146304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problema real do entorno poderia mobilizar mais de uma área?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7180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971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600200" y="269748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Que marcos e perguntas de checagem mostrariam quem entende o quê?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393192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20624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393192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Em que fase a IA ajudaria sem tirar a parte formadora dos estudantes?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16636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F7EFE6"/>
          </a:solidFill>
          <a:ln w="12700">
            <a:solidFill>
              <a:srgbClr val="F7EFE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5440680"/>
            <a:ext cx="548640" cy="548640"/>
          </a:xfrm>
          <a:prstGeom prst="ellipse">
            <a:avLst/>
          </a:prstGeom>
          <a:solidFill>
            <a:srgbClr val="6D3B6E"/>
          </a:solidFill>
          <a:ln w="12700">
            <a:solidFill>
              <a:srgbClr val="6D3B6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600200" y="5166360"/>
            <a:ext cx="9784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B2A2A"/>
                </a:solidFill>
              </a:rPr>
              <a:t>Como avaliar individualmente em um trabalho de grupo?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Educação · Cap. 21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5A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6D3B6E">
              <a:alpha val="70000"/>
            </a:srgbClr>
          </a:solidFill>
          <a:ln w="12700">
            <a:solidFill>
              <a:srgbClr val="6D3B6E">
                <a:alpha val="7000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projeto nasce no território, não no roteiro pronto.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4114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4B860"/>
                </a:solidFill>
              </a:rPr>
              <a:t>A docência é insubstituível.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5029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D9C8"/>
                </a:solidFill>
              </a:rPr>
              <a:t>Obrigado(a)!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A na Educação">
  <a:themeElements>
    <a:clrScheme name="IA na Educação">
      <a:dk1>
        <a:srgbClr val="3B2A2A"/>
      </a:dk1>
      <a:lt1>
        <a:srgbClr val="FFFFFF"/>
      </a:lt1>
      <a:dk2>
        <a:srgbClr val="5A2E2A"/>
      </a:dk2>
      <a:lt2>
        <a:srgbClr val="F7EFE6"/>
      </a:lt2>
      <a:accent1>
        <a:srgbClr val="D9653B"/>
      </a:accent1>
      <a:accent2>
        <a:srgbClr val="2A9D8F"/>
      </a:accent2>
      <a:accent3>
        <a:srgbClr val="E9A23B"/>
      </a:accent3>
      <a:accent4>
        <a:srgbClr val="6D3B6E"/>
      </a:accent4>
      <a:accent5>
        <a:srgbClr val="3D7EA6"/>
      </a:accent5>
      <a:accent6>
        <a:srgbClr val="6E9A4F"/>
      </a:accent6>
      <a:hlink>
        <a:srgbClr val="3D7EA6"/>
      </a:hlink>
      <a:folHlink>
        <a:srgbClr val="6D3B6E"/>
      </a:folHlink>
    </a:clrScheme>
    <a:fontScheme name="IA na Educaçã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21 — Projetos interdisciplinares e aprendizagem baseada em problemas com apoio de IA</dc:title>
  <dc:subject>PptxGenJS Presentation</dc:subject>
  <dc:creator>Araken de Medeiros Santos</dc:creator>
  <cp:lastModifiedBy>Araken de Medeiros Santos</cp:lastModifiedBy>
  <cp:revision>1</cp:revision>
  <dcterms:created xsi:type="dcterms:W3CDTF">2026-10-26T23:34:36Z</dcterms:created>
  <dcterms:modified xsi:type="dcterms:W3CDTF">2026-10-26T23:34:36Z</dcterms:modified>
</cp:coreProperties>
</file>