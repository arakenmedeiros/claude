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19.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os objetivos. Avise que o fio condutor é um só: deslocar o foco do produto para o processo. Peça que a turma pense em um texto 'impecável demais' que já recebeu.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cena de Rafael, Camila e Jonas: redação fluente demais, frases históricas inexistentes e imagens geradas como trabalho de criação. Pergunte: o que há de comum nas três cenas? Resposta esperada: o produto chegou sem o percurso.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Nas linguagens e humanidades, o processo é muitas vezes o próprio objeto de aprendizagem. Escrever organiza o pensamento, ler constrói sentido, criar é escolher. Peça exemplos da disciplina de cada participante.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linha vai da autoria do estudante à autoria do sistema. Não marca certo e errado: ajuda a conversar com a turma sobre onde cada tarefa deve ficar. Uma redação diagnóstica fica perto da autoria do estudante; comparar duas versões de parágrafo pode usar trechos gerados.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momentos para a leitura. Regra de sala: primeiro o estudante tenta, depois compara. Problemático: trocar o texto por resumo ou aceitar interpretações do sistema como se fossem a leitura do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 do GPS. O GPS é ótimo em trajeto desconhecido, mas não ensina quem precisa conhecer o bairro. A meta de aprender a ler precisa continuar valendo. Pergunte: o que você perde quando só lê o resumo?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processo de escrita em cinco etapas e o lugar possível da IA. Planejar e rascunhar têm restrições: o rascunho próprio é a evidência de autoria. Os modelos clássicos descrevem a escrita como processos que se alternam, e não como linha 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Resuma a tabela por etapa. Rascunho: nenhum apoio, ou só ao final para comparar. Edição da forma: a IA indica trechos e o estudante corrige. Dois recursos fortalecem a autoria: portfólio de versões e escrita em sala. As práticas eficazes de ensino de escrita vêm de pesquisa anterior à IA generativa e não foram testadas com 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impacto. Leia devagar e pergunte quem já viu uma correção automática total ensinar algo. Não ensina: o estudante precisa aprender a identificar o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Retorno em três camadas. Forma: a IA pode indicar ocorrências. Organização: perguntas de apoio. Sentido e autoria: professor e colegas. Peça indicações e perguntas, não reescritas. Um estudo mostrou desempenho misto do retorno de IA em comparação ao humano; não permite concluir substituição.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dispensar a IA em linguagens. Detectores de texto gerado por IA erram e têm viés contra quem escreve em língua não nativa. Nunca devem ser prova isolada. Textos íntimos não devem ir a sistemas externos.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Línguas: português, estrangeiras e Libras. Atenção à variação linguística: sistemas tendem a favorecer a norma-padrão e podem tratar falas regionais como erro. Em Libras, não substitua intérpretes, professores surdos e a comunidade surda. A evidência sobre ganhos de proficiência a longo prazo é escassa.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Artes: o que se aprende está no fazer, no fruir e no contextualizar. Defina com a turma o que é criação própria. Não peça imitação do estilo de artistas vivos para exibir como própria. Dança, teatro e música dependem de presença.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Humanidades: três hábitos ao lado de uma boa pergunta. Citações e frases famosas devem ser localizadas em obra ou documento verificável: se não for localizada, não entra. Leitura lateral: abrir outras fontes para checar quem produziu a informação.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mapa do capítulo como retomada. Peça que a turma localize o ramo do qual a sua disciplina mais depende.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1. Aula 1: planejamento e rascunho em sala, sem IA. Depois a camada do sentido com colegas, a organização e, por fim, a forma, com IA opcional pedindo indicações sem reescrita. A nota de processo registra a autoria. Menores só sob mediação do professor, em dispositivo da escola.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2: auditoria de um texto em humanidades. O professor traz texto de cerca de 200 palavras com problemas propositais: frase sem fonte, anacronismo, vozes ausentes. Os estudantes não precisam usar IA. Cuide de temas sensíveis com contexto e acolhimento.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Alternativas sem IA: nada do capítulo exige tecnologia. Portfólios em caderno, escrita em sala, revisão por pares, círculos de leitura e saraus. Em artes e humanidades, o acervo local e a entrevista com pessoas mais velhas trazem vozes que nenhum sistema substitui.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 e verifique antes de aceitar texto, tradução ou imagem. Percorra as perguntas lentamente e peça um exemplo para cada. Lembre da pesquisa: textos mais rápidos de adultos em tarefas curtas não demonstram aprendizagem de escrita em estudantes.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Síntese: o processo do estudante no centro, com três apoios (retorno, glossário, comparação) e três cuidados (autoria, fontes, dados).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Releia os pontos e peça que cada pessoa escolha uma regra de sala para propor à turma, por exemplo a tabela de usos: o que pode, o que pode com declaração e o que não pode.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5 minutos de escrita. Convide a turma a compartilhar a regra de uso que construiria. Regras construídas coletivamente são mais compreendidas e mais respeitadas.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6D3B6E">
              <a:alpha val="75000"/>
            </a:srgbClr>
          </a:solidFill>
          <a:ln w="12700">
            <a:solidFill>
              <a:srgbClr val="6D3B6E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19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Leitura, escrita, revisão, línguas, artes e humanidades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IV — Aplicações práticas no trabalho docente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Distinguir usos que apoiam e usos que esvaziam o processo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Planejar a escrita com momentos com e sem IA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Dar retorno em três camadas, mantendo a leitura do professor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Ver limites da IA em línguas, artes e humanidades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Propor atividades de baixo custo e sem IA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O TEXTO IMPECÁVEL DEMAIS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redação é ótima, mas a estudante não sabe explicar o que escreveu.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Cena fictícia: três professores, três áreas, o mesmo dilema.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processo é o que se aprende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Escrever organiza o pensamento, ler constrói sentido, criar é escolher e assumir. Sem o percurso, o produto vale pouco.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ganhar a foto do topo da montanha sem subir: a imagem existe, mas o treino e a vista não.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“Foque no processo, não só no produto.”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cada tarefa deve estar?</a:t>
            </a:r>
            <a:endParaRPr lang="en-US" sz="3400" dirty="0"/>
          </a:p>
        </p:txBody>
      </p:sp>
      <p:pic>
        <p:nvPicPr>
          <p:cNvPr id="4" name="Image 0" descr="Figura 19.2 — Do trabalho do estudante ao trabalho do sistem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432635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19.2 — Do trabalho do estudante ao trabalho do sistema.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Leitura: a IA como andaime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ler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Conhecimentos prévios, vocabulário-chave e perguntas-guia que o professor revisa.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Durante a leitura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Versão com glossário ou frases curtas, sempre com acesso ao texto original.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 de ler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estudante escreve a síntese e só então compara com outras versões.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crítica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Dois pontos de vista sobre a questão: o que cada um deixa de fora?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não substitui a leitura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Pedir resumo de um texto que o estudante não leu é o jeito mais direto de contornar a leitura.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usar o GPS todo dia e nunca aprender o caminho do próprio bairro.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“Primeiro o estudante tenta. Depois compara.”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Escrita como processo: onde a IA entra</a:t>
            </a:r>
            <a:endParaRPr lang="en-US" sz="3400" dirty="0"/>
          </a:p>
        </p:txBody>
      </p:sp>
      <p:pic>
        <p:nvPicPr>
          <p:cNvPr id="4" name="Image 0" descr="Figura 19.3 — O processo de escrita e o lugar possível da I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395780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19.3 — O processo de escrita e o lugar possível da IA.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Escrita: o que fica com quem?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Fica com o estudante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Escolher tema, tese e repertório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Produzir o primeiro rascunho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Decidir o que manter, cortar e reorganizar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Registrar o que mudou e por quê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Apoio possível da IA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Perguntas, depois das ideias do estudante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Nenhum no rascunho; só ao final, para comparar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'O que um leitor não entenderia?'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Indicar trechos de forma, com a regra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rascunho próprio é a evidência de autoria.”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Portfólio de versões e escrita em sala protegem o processo.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Retorno em três camadas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Ortografia, pontuação, coesão. A IA indica; o estudante corrige e explica a regra.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Organização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Estrutura e progressão. Perguntas como 'onde está a tese?'; discussão com colegas.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Sentido e autoria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Ideias, posicionamento e voz. Cabe ao professor e aos colegas, por leitura atenta.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dispensar a IA na escrita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Para avaliar autoria e voz de um texto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Em diários, cartas e relatos íntimos de estudantes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Como única fonte de nota em trabalhos escritos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Detectores: pouco confiáveis; podem punir quem escreve em outra língua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Línguas: possibilidades e limites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Língua portuguesa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Comparar gêneros e registros. Cuidado: variedades podem ser tratadas como 'erro'.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Língua estrangeira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Conversação simulada, reformulação e comparação de traduções, com revisão.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Pronúncia e cultura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Frases naturais podem estar incorretas. Ouça falantes reais.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Libras e outras línguas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Não substitua intérpretes, professores surdos e comunidades.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Artes: apoiar o fazer, não substituí-lo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Possibilidades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Análise crítica de imagens geradas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Ideias de composição para depois criar à mão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Discussão sobre autoria e direitos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Registro do processo em caderno de bordo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Imagem gerada entregue como criação própria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Estereótipos e apropriação cultural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Uso de obras de terceiros e licenças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Corpo, voz e presença não se substituem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Humanidades: três hábitos de checagem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996440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9964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Pedir a fonte e ir até ela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06603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31292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45008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Fazer leitura lateral em outras fontes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83031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807720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525000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5250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21436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Perguntar: quem falta nesta resposta?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Frase plausível não é frase documentada.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Figura 19.1 — Mapa dos conceitos principais do capí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9790" y="1325880"/>
            <a:ext cx="6081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19.1 — Mapa dos conceitos principais do capítulo.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1: da escrita própria ao retorno em 3 camadas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Planejar e rascunhar em sala, sem IA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Colegas respondem: ideia principal e o que faltou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Reorganizar o texto com base nas perguntas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Forma: IA só indica trechos e regra, sem reescrever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Comparar versões e escrever nota de processo de 5 linhas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 aulas de 50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Rascunho, versão final, registro do retorno e nota de processo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Tudo em papel: gramática, dicionário e lista de revisão da turma.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2: fontes e vozes, auditoria de um texto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Receber texto de ~200 palavras com problemas propositais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Sublinhar afirmações verificáveis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Buscar duas fontes independentes e classificar cada afirmação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Perguntar: quem falta? Que perspectiva se assume como única?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Reescrever só com o confirmado, com fontes e vozes ausentes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aulas de 50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Ficha de auditoria com fontes e texto revisado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Texto impresso; fontes do livro didático, biblioteca e entrevistas na comunidade.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IA também se aprende muito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e escrita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Portfólios de versões em caderno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Escrita em sala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Revisão por pares com lista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Círculos de leitura e saraus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Línguas, artes e humanidades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Conversação entre colegas com roteiros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Escuta de falantes da comunidade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Acervo local e visita a espaços culturais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Entrevista com pessoas mais velhas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A fonte de cada citação foi localizada?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O texto respeita o contexto histórico, cultural e linguístico?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O estudante explica oralmente o que escreveu?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Os direitos de uso de obras e imagens estão claros?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o processo é o centro</a:t>
            </a:r>
            <a:endParaRPr lang="en-US" sz="3400" dirty="0"/>
          </a:p>
        </p:txBody>
      </p:sp>
      <p:pic>
        <p:nvPicPr>
          <p:cNvPr id="4" name="Image 0" descr="Figura 19.4 — Ler, escrever, criar e interpreta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286" y="1325880"/>
            <a:ext cx="8824948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19.4 — Ler, escrever, criar e interpretar.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6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O processo é o objeto de aprendizagem: peça versões e justificativas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89048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89048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89048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Primeiro o estudante tenta; depois compara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160776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60776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160776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Retorno em três camadas: forma, organização, sentido e autoria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4032504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032504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4032504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Peça indicações e perguntas, não reescritas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904232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904232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904232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Em línguas, artes e humanidades: pessoas, fazer e fontes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77596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77596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77596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Detectores não devem ser prova isolada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Em que tarefa da sua disciplina o processo vale mais que o produto?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evidências de autoria você já recolhe? Que outras poderia recolher?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explicar a diferença entre usar a IA para aprender e para entregar?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vozes costumam faltar nos textos e imagens que seus estudantes consultam?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6D3B6E">
              <a:alpha val="70000"/>
            </a:srgbClr>
          </a:solidFill>
          <a:ln w="12700">
            <a:solidFill>
              <a:srgbClr val="6D3B6E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processo é o que se aprende.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19 — Leitura, escrita, revisão, línguas, artes e humanidades</dc:title>
  <dc:subject>PptxGenJS Presentation</dc:subject>
  <dc:creator>Araken de Medeiros Santos</dc:creator>
  <cp:lastModifiedBy>Araken de Medeiros Santos</cp:lastModifiedBy>
  <cp:revision>1</cp:revision>
  <dcterms:created xsi:type="dcterms:W3CDTF">2026-10-26T18:54:20Z</dcterms:created>
  <dcterms:modified xsi:type="dcterms:W3CDTF">2026-10-26T18:54:20Z</dcterms:modified>
</cp:coreProperties>
</file>