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15. Apresente o tema e peça que a turma pense em uma situação do dia a dia relacionada.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Leia os objetivos. Destaque que, na educação profissional, um erro técnico pode virar acidente: a verificação é conteúdo de formação.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Cena fictícia: o professor Rogério revisa um procedimento de manutenção em painel elétrico gerado com IA. Falta o passo de desenergização e uma norma é citada de modo impreciso. Pergunte: o que muda quando o erro pode ser um acidente?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Mapa: características da etapa, IA como ferramenta de trabalho, IA como apoio ao ensino, verificação técnica e normativa, avaliação por demonstração e riscos específicos.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EPT abrange qualificação, ensino técnico de nível médio e cursos superiores de tecnologia. Ênfase em competências, articulação com o trabalho e formação integral. As normas mudam: consulte as versões vigentes. Pergunte quais especificidades aparecem no curso da turma.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lugares da IA: objeto e ferramenta de trabalho (formar para usar, avaliar e questionar) e apoio ao ensino. Em ambos, verificação técnica e responsabilidade humana. Peça exemplos de cada lado na área da turma.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profissional não pode terceirizar a responsabilidade. Analogia do copiloto: ele ajuda, mas quem assina o voo é o comandante. Peça à turma exemplos de decisões em que o profissional responde pessoalmente.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Seja fiel às ressalvas: pouca pesquisa específica sobre IA generativa na EPT; revisões tratam de ensino superior e educação básica. Para o trabalho, ênfase em interpretar dados, detectar erros e decidir. Não se pode afirmar melhora na aprendizagem prática, na segurança ou nos estágios.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dos usos da tabela, com o que verificar. Rascunhos de listas e procedimentos exigem conferir com normas e manuais oficiais. Código e planilhas: teste. Relatórios: fidelidade e confidencialidade.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Alerta central do capítulo: nunca aplicar procedimento gerado por IA sem conferir norma, manual do fabricante e profissional habilitado. Sistemas podem citar versões antigas, números errados ou normas inexistentes. A verificação é conteúdo de formação.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Resuma o fluxo da síntese visual: resposta da IA, conferência, validação, prática supervisionada. Sem verificação, a aplicação é proibida. Peça que a turma diga quem faz cada passo na sua área.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Pausa para fixar. Pergunte: que erro de IA na sua área seria mais grave? Tempo: 1 minuto.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1: o professor prepara o procedimento com IA, confere e pode inserir falhas conhecidas. Material fictício ou genérico, sem instruções que causem dano se aplicadas fora de contexto. Discuta responsabilidade ao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Prepare a atividade 2. Um relatório que descreve o que deveria ter sido feito, e não o que foi feito, é um problema ético e de segurança. Analogia do diário de bordo. A IA organiza texto, nunca inventa fatos.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2: nunca insira dados de empresas, clientes ou pacientes; em estágios, siga as regras do local. O prompt manda usar só as informações das anotações e escrever [não informado] quando faltar. Compare linha a linha.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Síntese do capítulo: da resposta da IA ao trabalho seguro, com placa de alerta. Se houver tempo, peça aos estudantes que adaptem o fluxo para a sua área.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Avaliar por desempenho. Demonstração prática com lista de verificação, rubricas com requisitos mínimos de segurança, portfólio, defesa oral técnica e provas controladas. Dar nota por IA ou aprovar com base em respostas geradas não é adequado.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Experimente: convide um profissional da área para conversar sobre como usa ou evita IA, erros que já viu e o que mudaria na formação. Os estudantes preparam perguntas. Aproxima formação e trabalho sem reduzir a formação a treinamento de ferramentas.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Riscos do capítulo. Previsões sobre automação e emprego são incertas: ajude a refletir sem alarmismo. Pressão do setor produtivo por treinamento rápido de ferramentas pode ir contra a formação integral.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dispensar a IA: habilidade manual e julgamento sensorial como objetivo, procedimentos de risco sem verificação normativa, avaliações de competência e dados sensíveis. A tradição de aprender fazendo já dispensa 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Rodada rápida. Retome o professor Rogério: que passo ele deve ensinar primeiro a seus estudantes? Cada pessoa escolhe uma ideia.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Dê 3 minutos de escrita e 3 de troca. Se possível, peça que cada pessoa liste uma norma ou manual que deve ser conferido antes de usar IA na sua área.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Convide a turma a escolher uma ideia para experimentar nesta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E9A23B">
              <a:alpha val="75000"/>
            </a:srgbClr>
          </a:solidFill>
          <a:ln w="12700">
            <a:solidFill>
              <a:srgbClr val="E9A23B">
                <a:alpha val="7500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692640" y="3840480"/>
            <a:ext cx="3840480" cy="3840480"/>
          </a:xfrm>
          <a:prstGeom prst="ellipse">
            <a:avLst/>
          </a:prstGeom>
          <a:solidFill>
            <a:srgbClr val="E9A23B">
              <a:alpha val="65000"/>
            </a:srgbClr>
          </a:solidFill>
          <a:ln w="12700">
            <a:solidFill>
              <a:srgbClr val="E9A23B">
                <a:alpha val="65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4B860"/>
                </a:solidFill>
              </a:rPr>
              <a:t>CAPÍTULO 15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737360"/>
            <a:ext cx="8412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Educação profissional e tecnológica: competências, segurança e o mundo do trabalho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EFE6"/>
                </a:solidFill>
              </a:rPr>
              <a:t>Parte III — Práticas por nível educacional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9C8"/>
                </a:solidFill>
              </a:rPr>
              <a:t>Inteligência Artificial Aplicada à Educação · Araken de Medeiros Santos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aprender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463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Caracterizar a educação profissional e suas especificidades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4688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65176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651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554480" y="24688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Distinguir IA como ferramenta de trabalho e como apoio ao ensino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4747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34747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Exigir verificação técnica e normativa antes de qualquer aplicação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44805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44805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Avaliar competências por demonstração prática e evidências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566928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5669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554480" y="548640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Reconhecer riscos: segurança, responsabilidade, confidencialidade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15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A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914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</a:rPr>
              <a:t>PENSE UM POUCO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645920"/>
            <a:ext cx="10515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outras áreas, um erro assim vale nota. Aqui, pode ser um acidente.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3E6"/>
                </a:solidFill>
              </a:rPr>
              <a:t>Cena fictícia: o procedimento que parecia perfeito.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15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do capítulo</a:t>
            </a:r>
            <a:endParaRPr lang="en-US" sz="3400" dirty="0"/>
          </a:p>
        </p:txBody>
      </p:sp>
      <p:pic>
        <p:nvPicPr>
          <p:cNvPr id="4" name="Image 0" descr="Figura 15.1 — Mapa dos conceitos principais do capítul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30290" y="1325880"/>
            <a:ext cx="6300940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15.1 — Mapa dos conceitos principais do capítulo.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15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Especificidades da educação profissional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Saber fazer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Laboratórios, oficinas, estágios e projetos.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Normas e segurança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Normas técnicas e de segurança do trabalho regulam muitas áreas.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Responsabilidade técnica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Erros podem causar acidentes, danos e responsabilização legal.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Empresas e dados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Processos e segredos industriais exigem confidencialidade.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Dois lugares da IA na educação profissional</a:t>
            </a:r>
            <a:endParaRPr lang="en-US" sz="3400" dirty="0"/>
          </a:p>
        </p:txBody>
      </p:sp>
      <p:pic>
        <p:nvPicPr>
          <p:cNvPr id="4" name="Image 0" descr="Figura 15.2 — Em ambos, verificação técnica e responsabilidade human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11064240" cy="3821609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15.2 — Em ambos, verificação técnica e responsabilidade humana.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Responsabilidade técnica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9A23B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O profissional responde por suas decisões, ainda que apoiadas por IA. A formação deve ensinar a usar, avaliar e questionar essas ferramentas.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o copiloto: ajuda a conduzir o voo, mas quem responde pela decisão final é o comandante.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“Quem aplica, responde.”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15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pesquisa permite afirmar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Pouca pesquisa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Poucos estudos específicos sobre IA generativa na EPT; revisões tratam de outras etapas.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Competências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Ênfase em interpretar dados e ferramentas, detectar erros e decidir com apoio de IA.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se pode afirmar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Melhora na aprendizagem prática, na segurança ou nos estágios: depende de cada área.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15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Apoios ao ensino, com verificação técnica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Conceitos técnicos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Sensor, circuito. Conferir exatidão, unidades e limites.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Procedimentos (rascunho)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Etapas de manutenção. Conferir com normas e manuais oficiais.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Programação e planilhas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Testar o código; checar erros e segurança.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Documentação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Relatórios de prática. Fidelidade ao que ocorreu e confidencialidade.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15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 e verifique: áreas de risco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Nunca aplique procedimento de IA sem norma, manual e profissional habilitado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IA pode citar versões antigas, números errados ou normas inexistentes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Verificar é conteúdo de formação, não só cuidado do professor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15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resposta da IA ao trabalho seguro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920240"/>
            <a:ext cx="2594610" cy="3291840"/>
          </a:xfrm>
          <a:prstGeom prst="roundRect">
            <a:avLst>
              <a:gd name="adj" fmla="val 5286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525905" y="160020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525905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77440"/>
            <a:ext cx="232029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Resposta da IA (rascunho)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3124962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9A23B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3371850" y="1920240"/>
            <a:ext cx="2594610" cy="3291840"/>
          </a:xfrm>
          <a:prstGeom prst="roundRect">
            <a:avLst>
              <a:gd name="adj" fmla="val 5286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49115" y="160020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349115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509010" y="2377440"/>
            <a:ext cx="232029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Conferência com norma e manual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948172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9A23B"/>
                </a:solidFill>
              </a:rPr>
              <a:t>›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6195060" y="1920240"/>
            <a:ext cx="2594610" cy="3291840"/>
          </a:xfrm>
          <a:prstGeom prst="roundRect">
            <a:avLst>
              <a:gd name="adj" fmla="val 5286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172325" y="160020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172325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332220" y="2377440"/>
            <a:ext cx="232029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Validação por profissional habilitado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8771382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9A23B"/>
                </a:solidFill>
              </a:rPr>
              <a:t>›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9018270" y="1920240"/>
            <a:ext cx="2594610" cy="3291840"/>
          </a:xfrm>
          <a:prstGeom prst="roundRect">
            <a:avLst>
              <a:gd name="adj" fmla="val 5286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995535" y="160020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995535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155430" y="2377440"/>
            <a:ext cx="232029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Prática supervisionada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2E2A"/>
                </a:solidFill>
              </a:rPr>
              <a:t>Sem verificação, a aplicação é proibida.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15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914400" y="1188720"/>
            <a:ext cx="103327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“Em áreas de risco, a resposta da IA é rascunho, nunca autorização.”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4B860"/>
                </a:solidFill>
              </a:rPr>
              <a:t>Norma, manual e profissional habilitado decidem.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15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1: auditoria técnica de um procedimento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9A23B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Apresente o procedimento de IA sem dizer se tem falhas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Duplas marcam o correto e o duvidoso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Comparem item a item com o trecho oficial da norma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Classifiquem: crítico, importante ou menor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Cada dupla apresenta as duas falhas mais críticas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Cada um escreve cinco práticas de uso seguro de IA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 aulas de 50 minutos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Tabela de comparação, falhas críticas apresentadas e lista de práticas seguras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Impressões, manuais e normas da biblioteca; a discussão é o centro.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15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Fidelidade ao registro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9A23B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Relatório técnico descreve o que foi feito, não o que deveria ter sido feito. A IA pode organizar o texto, mas sem acrescentar fatos.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diário de bordo de um navio: se o registro é inventado, ninguém sabe o que realmente aconteceu.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“Relatório bonito não vale relatório verdadeiro.”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15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2: documentação técnica fiel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9A23B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Prática no laboratório e anotações brutas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Higienização: retire dados sensíveis e confidenciais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Peça à IA que organize em relatório, sem acrescentar fatos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Compare linha a linha com as anotações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Corrija até refletir exatamente o que ocorreu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Entregue anotações, relatório e tabela de conferência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90 minutos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Relatório fiel, anotações brutas e tabela de conferência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Modelo impresso e redação à mão; o professor ou colega organiza o texto.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Síntese: da resposta da IA ao trabalho seguro</a:t>
            </a:r>
            <a:endParaRPr lang="en-US" sz="3400" dirty="0"/>
          </a:p>
        </p:txBody>
      </p:sp>
      <p:pic>
        <p:nvPicPr>
          <p:cNvPr id="4" name="Image 0" descr="Figura 15.3 — Sem verificação, a aplicação é proibid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11064240" cy="3957809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15.3 — Sem verificação, a aplicação é proibida.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avaliar na educação profissional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Demonstração prática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Laboratório ou oficina, com lista de verificação observável.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Rubrica por competência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Segurança como requisito mínimo: falha crítica reprova a etapa.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Portfólio e defesa oral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Registros de prática e "explique por que fez assim".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 controlada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Sem IA, quando for preciso garantir domínio individual.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15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Experimente: conversa com um profissional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Convide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Alguém da área para falar de IA no trabalho.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Prepare perguntas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Como usa ou evita IA? Que erros já viu?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Conecte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O que a formação deveria mudar? Que competências emergem?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15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 e verifique: riscos na EPT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Procedimentos incorretos ou incompletos podem causar acidentes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Confidencialidade: empresas, clientes e pacientes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Pressão por treinamento rápido, em detrimento da formação integral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Automação e emprego: previsões incertas, sem alarmismo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15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dispensar a 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Dispense a IA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Habilidade manual e julgamento sensorial como objetivo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Procedimento de risco sem verificação normativa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Avaliações de competência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Dados sensíveis de empresas, clientes ou pacientes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Aprender fazendo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Oficinas e projetos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Estudos de caso e visitas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Auditoria com textos impressos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Conversa com profissionais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15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9A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vale a pena lembrar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1732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41732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A educação profissional forma por competências e responsabilidade técnica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20980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0980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20980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A IA tem dois lugares: ferramenta de trabalho e apoio ao ensino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0228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00228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00228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Em risco: norma, manual e profissional habilitado antes da prática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379476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79476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379476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Pouca pesquisa específica; evite generalizar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458724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58724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458724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Avalie por demonstração, rubrica com segurança e defesa oral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537972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537972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537972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Proteja dados de empresas, clientes e pacientes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15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pensar na sua prática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Em que situação da sua área um erro técnico seria mais grave?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718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9748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normas e manuais devem ser conferidos antes de usar IA?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2062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93192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Como garantir que competências práticas sejam demonstradas?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4406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16636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Como dialogar com o setor sem reduzir a formação a treinamento?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15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E9A23B">
              <a:alpha val="70000"/>
            </a:srgbClr>
          </a:solidFill>
          <a:ln w="12700">
            <a:solidFill>
              <a:srgbClr val="E9A23B">
                <a:alpha val="70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Competência profissional se demonstra, não se gera.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114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4B860"/>
                </a:solidFill>
              </a:rPr>
              <a:t>A docência é insubstituível.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5029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D9C8"/>
                </a:solidFill>
              </a:rPr>
              <a:t>Obrigado(a)!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 na Educação">
  <a:themeElements>
    <a:clrScheme name="IA na Educação">
      <a:dk1>
        <a:srgbClr val="3B2A2A"/>
      </a:dk1>
      <a:lt1>
        <a:srgbClr val="FFFFFF"/>
      </a:lt1>
      <a:dk2>
        <a:srgbClr val="5A2E2A"/>
      </a:dk2>
      <a:lt2>
        <a:srgbClr val="F7EFE6"/>
      </a:lt2>
      <a:accent1>
        <a:srgbClr val="D9653B"/>
      </a:accent1>
      <a:accent2>
        <a:srgbClr val="2A9D8F"/>
      </a:accent2>
      <a:accent3>
        <a:srgbClr val="E9A23B"/>
      </a:accent3>
      <a:accent4>
        <a:srgbClr val="6D3B6E"/>
      </a:accent4>
      <a:accent5>
        <a:srgbClr val="3D7EA6"/>
      </a:accent5>
      <a:accent6>
        <a:srgbClr val="6E9A4F"/>
      </a:accent6>
      <a:hlink>
        <a:srgbClr val="3D7EA6"/>
      </a:hlink>
      <a:folHlink>
        <a:srgbClr val="6D3B6E"/>
      </a:folHlink>
    </a:clrScheme>
    <a:fontScheme name="IA na Educ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Capítulo 15 — Educação profissional e tecnológica: competências, segurança e o mundo do trabalho</dc:title>
  <dc:subject>PptxGenJS Presentation</dc:subject>
  <dc:creator>Araken de Medeiros Santos</dc:creator>
  <cp:lastModifiedBy>Araken de Medeiros Santos</cp:lastModifiedBy>
  <cp:revision>1</cp:revision>
  <dcterms:created xsi:type="dcterms:W3CDTF">2026-10-26T23:34:35Z</dcterms:created>
  <dcterms:modified xsi:type="dcterms:W3CDTF">2026-10-26T23:34:35Z</dcterms:modified>
</cp:coreProperties>
</file>