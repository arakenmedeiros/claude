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do capítulo 31. Apresente o tema e peça que a turma pense em uma situação do dia a dia relacionada.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capítulo abre a parte final do livro: implementação e desenvolvimento profissional. A pergunta é prática: por onde começar e como avançar sem atropelar pessoas nem evidências. Dois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 a cena fictícia: a secretaria anuncia a ferramenta 'em todas as escolas até dezembro'. A formadora Cláudia pergunta o que os professores já usam, que problemas querem resolver, quem decide sobre dados e como saberão em março se deu certo. Ninguém sabe responder. Peça que a turma responda a uma dessas perguntas para a sua escola. Três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do capítulo: por que diagnosticar, dimensões e instrumentos, formação docente, desenho do piloto, limites das evidências e decisão. Um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Muitas iniciativas fracassam porque partem da solução e não do problema. A história das tecnologias na escola mostra equipamentos subutilizados quando faltam objetivos, formação e tempo. Um bom diagnóstico dá voz, revela usos informais, identifica condições e lacunas e cria uma linha de base para comparar depois.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dimensões: necessidades pedagógicas, usos atuais (inclusive o uso na sombra, informal), conhecimento e atitudes, infraestrutura e acesso, dados e normas, apoio e tempo. Entusiasmo e resistência são informações valiosas, não obstáculos. Peça que a turma escolha a dimensão mais frágil na sua escola.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Não é preciso aparato complexo: combine instrumentos diferentes para que um compense os limites do outro. Questionário curto, roda de conversa, inventário de usos, análise de documentos e mapeamento de infraestrutura. Ouvir quem não usa IA é tão importante quanto ouvir quem usa. Cuidados éticos: finalidade explicada, participação voluntária, coleta mínima, guarda segura e retorno dos resultados; com menores e pesquisa acadêmica, normas de ética e confirmação da vigência dos textos oficiais.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Sínteses de pesquisa mostram que formações eficazes costumam ter foco em conteúdo e pedagogia, aprendizagem ativa, colaboração, modelos de prática, acompanhamento, feedback e duração sustentada. Funcionam pior: palestra única, foco na interface de uma ferramenta, formação fora do horário e sem remuneração, modelo único e tom de convencimento. Formação em IA específica ainda é campo recente; trate como extrapolação fundamentada.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Guskey observou que mudanças de crenças e atitudes dos docentes costumam vir depois de ver resultados positivos com seus estudantes, não só depois de uma palestra. Isso reforça a lógica do piloto. Lembre: uma formação que ensina cliques envelhece rápido; uma que ensina critérios permanece útil.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Percurso formativo em três movimentos: sensibilização e escuta, prática guiada com acompanhamento, comunidade de prática e autonomia. Os seis blocos de conteúdo: compreender, decidir, aplicar, interagir, proteger e aprender junto, que correspondem a partes deste livro.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piloto é uma experiência delimitada no tempo, no espaço e no número de participantes, feita para aprender antes de ampliar. Não é implantação disfarçada nem demonstração para convencer. Deve nascer com perguntas e critérios. Dê o exemplo de questão: versões de leitura em níveis diferentes reduzem o tempo de preparo sem piorar a qualidade?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elementos de um bom piloto. Os critérios de sucesso, ajuste e interrupção são escritos antes de começar. Interrupção pode vir de um incidente com dados ou de queixas de equidade. Inclua também responsabilidades, plano de saída e retorno aos participantes.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Ciclo de um piloto: diagnosticar, desenhar com critérios, formar e executar, observar e registrar, decidir. A decisão retorna ao diagnóstico. Peça que um voluntário narre o ciclo com um exemplo da escola.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Quatro armadilhas na interpretação. Voluntários são mais entusiastas; novidade eleva o engajamento no início; um ensaio com professores de Ciências na Inglaterra mostrou menos tempo de planejamento em contexto delimitado e por poucas semanas, o que não autoriza concluir o mesmo para outras disciplinas ou países; gostei e economizei tempo não substituem evidências sobre aprendizagem. Se possível, inclua grupo de comparação.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piloto bem conduzido termina com decisão explícita. Continuar é ampliar com ajustes; modificar é repetir em outro desenho; interromper é registrar o que foi aprendido e por que não se segue. Interromper não é fracasso: poupa recursos e protege pessoas. Instituições que só aceitam pilotos bem-sucedidos escondem problemas.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Síntese: do diagnóstico à decisão, passando por formação e piloto, com três saídas: continuar, modificar ou interromper. Peça que a turma refaça o caminho da rede da Cláudia.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Pausa. Leia a frase e pergunte à turma que decisão da escola já foi tomada sem teste prévio.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Atividade 1, três semanas: planejamento, coleta e análise com devolutiva. Garanta voluntariedade e anonimato, inclua quem não usa IA e devolva os resultados. O prompt é opcional e restrito a respostas anônimas agregadas. Registre também o que NÃO será feito agora.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Atividade 2, dois encontros de 90 minutos, com redação entre eles. Parta de uma prioridade do diagnóstico e verifique se a IA é adequada. Escreva critérios antes de começar e faça o pré-mortem: imagine que o piloto fracassou, o que deu errado? Participação voluntária e dados mínimos.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 e verifique. Percorra os riscos: diagnóstico pro forma, coleta excessiva de dados, formação-vitrine, pilotos permanentes que nunca decidem. Acrescente sobrecarga dos participantes sem redução de outras tarefas e desigualdade quando só escolas com mais recursos participam.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dispensar a IA como solução: se o diagnóstico mostrar falta de tempo de planejamento, de apoio pedagógico, de infraestrutura básica ou de condições de trabalho, nenhuma ferramenta resolve sozinha. Dispense também ampliar um piloto que feriu critérios de interrupção. Alternativa de poucos recursos: questionário em papel, encontros quinzenais e piloto com um professor.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Feche com as ideias centrais e peça que cada pessoa diga o primeiro passo que dará na sua escola.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de reflexão individual e depois conversa em duplas. Peça respostas concretas, em especial sobre quem ficaria sem voz.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Encerramento. Convide a turma a escolher uma ideia para experimentar nesta semana.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2E2A"/>
        </a:solidFill>
      </p:bgPr>
    </p:bg>
    <p:spTree>
      <p:nvGrpSpPr>
        <p:cNvPr id="1" name=""/>
        <p:cNvGrpSpPr/>
        <p:nvPr/>
      </p:nvGrpSpPr>
      <p:grpSpPr>
        <a:xfrm>
          <a:off x="0" y="0"/>
          <a:ext cx="0" cy="0"/>
          <a:chOff x="0" y="0"/>
          <a:chExt cx="0" cy="0"/>
        </a:xfrm>
      </p:grpSpPr>
      <p:sp>
        <p:nvSpPr>
          <p:cNvPr id="3" name="Shape 0"/>
          <p:cNvSpPr/>
          <p:nvPr/>
        </p:nvSpPr>
        <p:spPr>
          <a:xfrm>
            <a:off x="8412480" y="-1463040"/>
            <a:ext cx="5943600" cy="5943600"/>
          </a:xfrm>
          <a:prstGeom prst="ellipse">
            <a:avLst/>
          </a:prstGeom>
          <a:solidFill>
            <a:srgbClr val="6E9A4F">
              <a:alpha val="75000"/>
            </a:srgbClr>
          </a:solidFill>
          <a:ln w="12700">
            <a:solidFill>
              <a:srgbClr val="6E9A4F">
                <a:alpha val="75000"/>
              </a:srgbClr>
            </a:solidFill>
            <a:prstDash val="solid"/>
          </a:ln>
        </p:spPr>
      </p:sp>
      <p:sp>
        <p:nvSpPr>
          <p:cNvPr id="4" name="Shape 1"/>
          <p:cNvSpPr/>
          <p:nvPr/>
        </p:nvSpPr>
        <p:spPr>
          <a:xfrm>
            <a:off x="9692640" y="3840480"/>
            <a:ext cx="3840480" cy="3840480"/>
          </a:xfrm>
          <a:prstGeom prst="ellipse">
            <a:avLst/>
          </a:prstGeom>
          <a:solidFill>
            <a:srgbClr val="E9A23B">
              <a:alpha val="65000"/>
            </a:srgbClr>
          </a:solidFill>
          <a:ln w="12700">
            <a:solidFill>
              <a:srgbClr val="E9A23B">
                <a:alpha val="65000"/>
              </a:srgbClr>
            </a:solidFill>
            <a:prstDash val="solid"/>
          </a:ln>
        </p:spPr>
      </p:sp>
      <p:sp>
        <p:nvSpPr>
          <p:cNvPr id="5" name="Text 2"/>
          <p:cNvSpPr txBox="1"/>
          <p:nvPr/>
        </p:nvSpPr>
        <p:spPr>
          <a:xfrm>
            <a:off x="731520" y="1188720"/>
            <a:ext cx="7315200" cy="457200"/>
          </a:xfrm>
          <a:prstGeom prst="rect">
            <a:avLst/>
          </a:prstGeom>
          <a:noFill/>
          <a:ln/>
        </p:spPr>
        <p:txBody>
          <a:bodyPr wrap="square" lIns="0" tIns="0" rIns="0" bIns="0" rtlCol="0" anchor="ctr"/>
          <a:lstStyle/>
          <a:p>
            <a:pPr indent="0" marL="0">
              <a:buNone/>
            </a:pPr>
            <a:r>
              <a:rPr lang="en-US" sz="1800" b="1" spc="400" kern="0" dirty="0">
                <a:solidFill>
                  <a:srgbClr val="F4B860"/>
                </a:solidFill>
              </a:rPr>
              <a:t>CAPÍTULO 31</a:t>
            </a:r>
            <a:endParaRPr lang="en-US" sz="1800" dirty="0"/>
          </a:p>
        </p:txBody>
      </p:sp>
      <p:sp>
        <p:nvSpPr>
          <p:cNvPr id="6" name="Text 3"/>
          <p:cNvSpPr txBox="1"/>
          <p:nvPr/>
        </p:nvSpPr>
        <p:spPr>
          <a:xfrm>
            <a:off x="731520" y="1737360"/>
            <a:ext cx="8412480" cy="23774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Diagnóstico, formação docente e pilotos</a:t>
            </a:r>
            <a:endParaRPr lang="en-US" sz="4000" dirty="0"/>
          </a:p>
        </p:txBody>
      </p:sp>
      <p:sp>
        <p:nvSpPr>
          <p:cNvPr id="7" name="Text 4"/>
          <p:cNvSpPr txBox="1"/>
          <p:nvPr/>
        </p:nvSpPr>
        <p:spPr>
          <a:xfrm>
            <a:off x="731520" y="4297680"/>
            <a:ext cx="8229600" cy="457200"/>
          </a:xfrm>
          <a:prstGeom prst="rect">
            <a:avLst/>
          </a:prstGeom>
          <a:noFill/>
          <a:ln/>
        </p:spPr>
        <p:txBody>
          <a:bodyPr wrap="square" lIns="0" tIns="0" rIns="0" bIns="0" rtlCol="0" anchor="ctr"/>
          <a:lstStyle/>
          <a:p>
            <a:pPr indent="0" marL="0">
              <a:buNone/>
            </a:pPr>
            <a:r>
              <a:rPr lang="en-US" sz="1800" i="1" dirty="0">
                <a:solidFill>
                  <a:srgbClr val="F7EFE6"/>
                </a:solidFill>
              </a:rPr>
              <a:t>Parte VII — Implementação e desenvolvimento profissional</a:t>
            </a:r>
            <a:endParaRPr lang="en-US" sz="1800" dirty="0"/>
          </a:p>
        </p:txBody>
      </p:sp>
      <p:sp>
        <p:nvSpPr>
          <p:cNvPr id="8" name="Text 5"/>
          <p:cNvSpPr txBox="1"/>
          <p:nvPr/>
        </p:nvSpPr>
        <p:spPr>
          <a:xfrm>
            <a:off x="731520" y="6035040"/>
            <a:ext cx="9144000" cy="365760"/>
          </a:xfrm>
          <a:prstGeom prst="rect">
            <a:avLst/>
          </a:prstGeom>
          <a:noFill/>
          <a:ln/>
        </p:spPr>
        <p:txBody>
          <a:bodyPr wrap="square" lIns="0" tIns="0" rIns="0" bIns="0" rtlCol="0" anchor="ctr"/>
          <a:lstStyle/>
          <a:p>
            <a:pPr indent="0" marL="0">
              <a:buNone/>
            </a:pPr>
            <a:r>
              <a:rPr lang="en-US" sz="1300" dirty="0">
                <a:solidFill>
                  <a:srgbClr val="E9D9C8"/>
                </a:solidFill>
              </a:rPr>
              <a:t>Inteligência Artificial Aplicada à Educação · Araken de Medeiros Santos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O que vamos aprender</a:t>
            </a:r>
            <a:endParaRPr lang="en-US" sz="3400" dirty="0"/>
          </a:p>
        </p:txBody>
      </p:sp>
      <p:sp>
        <p:nvSpPr>
          <p:cNvPr id="4" name="Shape 1"/>
          <p:cNvSpPr/>
          <p:nvPr/>
        </p:nvSpPr>
        <p:spPr>
          <a:xfrm>
            <a:off x="548640" y="1463040"/>
            <a:ext cx="11064240" cy="914400"/>
          </a:xfrm>
          <a:prstGeom prst="roundRect">
            <a:avLst>
              <a:gd name="adj" fmla="val 12000"/>
            </a:avLst>
          </a:prstGeom>
          <a:solidFill>
            <a:srgbClr val="F7EFE6"/>
          </a:solidFill>
          <a:ln w="12700">
            <a:solidFill>
              <a:srgbClr val="F7EFE6"/>
            </a:solidFill>
            <a:prstDash val="solid"/>
          </a:ln>
        </p:spPr>
      </p:sp>
      <p:sp>
        <p:nvSpPr>
          <p:cNvPr id="5" name="Shape 2"/>
          <p:cNvSpPr/>
          <p:nvPr/>
        </p:nvSpPr>
        <p:spPr>
          <a:xfrm>
            <a:off x="731520" y="1645920"/>
            <a:ext cx="548640" cy="548640"/>
          </a:xfrm>
          <a:prstGeom prst="ellipse">
            <a:avLst/>
          </a:prstGeom>
          <a:solidFill>
            <a:srgbClr val="6E9A4F"/>
          </a:solidFill>
          <a:ln w="12700">
            <a:solidFill>
              <a:srgbClr val="6E9A4F"/>
            </a:solidFill>
            <a:prstDash val="solid"/>
          </a:ln>
        </p:spPr>
      </p:sp>
      <p:sp>
        <p:nvSpPr>
          <p:cNvPr id="6" name="Text 3"/>
          <p:cNvSpPr txBox="1"/>
          <p:nvPr/>
        </p:nvSpPr>
        <p:spPr>
          <a:xfrm>
            <a:off x="731520" y="16459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1554480" y="1463040"/>
            <a:ext cx="9875520" cy="914400"/>
          </a:xfrm>
          <a:prstGeom prst="rect">
            <a:avLst/>
          </a:prstGeom>
          <a:noFill/>
          <a:ln/>
        </p:spPr>
        <p:txBody>
          <a:bodyPr wrap="square" lIns="0" tIns="0" rIns="0" bIns="0" rtlCol="0" anchor="ctr"/>
          <a:lstStyle/>
          <a:p>
            <a:pPr indent="0" marL="0">
              <a:buNone/>
            </a:pPr>
            <a:r>
              <a:rPr lang="en-US" sz="2000" dirty="0">
                <a:solidFill>
                  <a:srgbClr val="3B2A2A"/>
                </a:solidFill>
              </a:rPr>
              <a:t>Justificar por que se começa pelo diagnóstico</a:t>
            </a:r>
            <a:endParaRPr lang="en-US" sz="2000" dirty="0"/>
          </a:p>
        </p:txBody>
      </p:sp>
      <p:sp>
        <p:nvSpPr>
          <p:cNvPr id="8" name="Shape 5"/>
          <p:cNvSpPr/>
          <p:nvPr/>
        </p:nvSpPr>
        <p:spPr>
          <a:xfrm>
            <a:off x="548640" y="2468880"/>
            <a:ext cx="11064240" cy="914400"/>
          </a:xfrm>
          <a:prstGeom prst="roundRect">
            <a:avLst>
              <a:gd name="adj" fmla="val 12000"/>
            </a:avLst>
          </a:prstGeom>
          <a:solidFill>
            <a:srgbClr val="F7EFE6"/>
          </a:solidFill>
          <a:ln w="12700">
            <a:solidFill>
              <a:srgbClr val="F7EFE6"/>
            </a:solidFill>
            <a:prstDash val="solid"/>
          </a:ln>
        </p:spPr>
      </p:sp>
      <p:sp>
        <p:nvSpPr>
          <p:cNvPr id="9" name="Shape 6"/>
          <p:cNvSpPr/>
          <p:nvPr/>
        </p:nvSpPr>
        <p:spPr>
          <a:xfrm>
            <a:off x="731520" y="2651760"/>
            <a:ext cx="548640" cy="548640"/>
          </a:xfrm>
          <a:prstGeom prst="ellipse">
            <a:avLst/>
          </a:prstGeom>
          <a:solidFill>
            <a:srgbClr val="6E9A4F"/>
          </a:solidFill>
          <a:ln w="12700">
            <a:solidFill>
              <a:srgbClr val="6E9A4F"/>
            </a:solidFill>
            <a:prstDash val="solid"/>
          </a:ln>
        </p:spPr>
      </p:sp>
      <p:sp>
        <p:nvSpPr>
          <p:cNvPr id="10" name="Text 7"/>
          <p:cNvSpPr txBox="1"/>
          <p:nvPr/>
        </p:nvSpPr>
        <p:spPr>
          <a:xfrm>
            <a:off x="731520" y="2651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8"/>
          <p:cNvSpPr txBox="1"/>
          <p:nvPr/>
        </p:nvSpPr>
        <p:spPr>
          <a:xfrm>
            <a:off x="1554480" y="2468880"/>
            <a:ext cx="9875520" cy="914400"/>
          </a:xfrm>
          <a:prstGeom prst="rect">
            <a:avLst/>
          </a:prstGeom>
          <a:noFill/>
          <a:ln/>
        </p:spPr>
        <p:txBody>
          <a:bodyPr wrap="square" lIns="0" tIns="0" rIns="0" bIns="0" rtlCol="0" anchor="ctr"/>
          <a:lstStyle/>
          <a:p>
            <a:pPr indent="0" marL="0">
              <a:buNone/>
            </a:pPr>
            <a:r>
              <a:rPr lang="en-US" sz="2000" dirty="0">
                <a:solidFill>
                  <a:srgbClr val="3B2A2A"/>
                </a:solidFill>
              </a:rPr>
              <a:t>Planejar um diagnóstico com cuidados éticos</a:t>
            </a:r>
            <a:endParaRPr lang="en-US" sz="2000" dirty="0"/>
          </a:p>
        </p:txBody>
      </p:sp>
      <p:sp>
        <p:nvSpPr>
          <p:cNvPr id="12" name="Shape 9"/>
          <p:cNvSpPr/>
          <p:nvPr/>
        </p:nvSpPr>
        <p:spPr>
          <a:xfrm>
            <a:off x="548640" y="3474720"/>
            <a:ext cx="11064240" cy="914400"/>
          </a:xfrm>
          <a:prstGeom prst="roundRect">
            <a:avLst>
              <a:gd name="adj" fmla="val 12000"/>
            </a:avLst>
          </a:prstGeom>
          <a:solidFill>
            <a:srgbClr val="F7EFE6"/>
          </a:solidFill>
          <a:ln w="12700">
            <a:solidFill>
              <a:srgbClr val="F7EFE6"/>
            </a:solidFill>
            <a:prstDash val="solid"/>
          </a:ln>
        </p:spPr>
      </p:sp>
      <p:sp>
        <p:nvSpPr>
          <p:cNvPr id="13" name="Shape 10"/>
          <p:cNvSpPr/>
          <p:nvPr/>
        </p:nvSpPr>
        <p:spPr>
          <a:xfrm>
            <a:off x="731520" y="3657600"/>
            <a:ext cx="548640" cy="548640"/>
          </a:xfrm>
          <a:prstGeom prst="ellipse">
            <a:avLst/>
          </a:prstGeom>
          <a:solidFill>
            <a:srgbClr val="6E9A4F"/>
          </a:solidFill>
          <a:ln w="12700">
            <a:solidFill>
              <a:srgbClr val="6E9A4F"/>
            </a:solidFill>
            <a:prstDash val="solid"/>
          </a:ln>
        </p:spPr>
      </p:sp>
      <p:sp>
        <p:nvSpPr>
          <p:cNvPr id="14" name="Text 11"/>
          <p:cNvSpPr txBox="1"/>
          <p:nvPr/>
        </p:nvSpPr>
        <p:spPr>
          <a:xfrm>
            <a:off x="731520" y="36576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2"/>
          <p:cNvSpPr txBox="1"/>
          <p:nvPr/>
        </p:nvSpPr>
        <p:spPr>
          <a:xfrm>
            <a:off x="1554480" y="3474720"/>
            <a:ext cx="9875520" cy="914400"/>
          </a:xfrm>
          <a:prstGeom prst="rect">
            <a:avLst/>
          </a:prstGeom>
          <a:noFill/>
          <a:ln/>
        </p:spPr>
        <p:txBody>
          <a:bodyPr wrap="square" lIns="0" tIns="0" rIns="0" bIns="0" rtlCol="0" anchor="ctr"/>
          <a:lstStyle/>
          <a:p>
            <a:pPr indent="0" marL="0">
              <a:buNone/>
            </a:pPr>
            <a:r>
              <a:rPr lang="en-US" sz="2000" dirty="0">
                <a:solidFill>
                  <a:srgbClr val="3B2A2A"/>
                </a:solidFill>
              </a:rPr>
              <a:t>Relacionar formação docente eficaz a percursos sobre IA</a:t>
            </a:r>
            <a:endParaRPr lang="en-US" sz="2000" dirty="0"/>
          </a:p>
        </p:txBody>
      </p:sp>
      <p:sp>
        <p:nvSpPr>
          <p:cNvPr id="16" name="Shape 13"/>
          <p:cNvSpPr/>
          <p:nvPr/>
        </p:nvSpPr>
        <p:spPr>
          <a:xfrm>
            <a:off x="548640" y="4480560"/>
            <a:ext cx="11064240" cy="914400"/>
          </a:xfrm>
          <a:prstGeom prst="roundRect">
            <a:avLst>
              <a:gd name="adj" fmla="val 12000"/>
            </a:avLst>
          </a:prstGeom>
          <a:solidFill>
            <a:srgbClr val="F7EFE6"/>
          </a:solidFill>
          <a:ln w="12700">
            <a:solidFill>
              <a:srgbClr val="F7EFE6"/>
            </a:solidFill>
            <a:prstDash val="solid"/>
          </a:ln>
        </p:spPr>
      </p:sp>
      <p:sp>
        <p:nvSpPr>
          <p:cNvPr id="17" name="Shape 14"/>
          <p:cNvSpPr/>
          <p:nvPr/>
        </p:nvSpPr>
        <p:spPr>
          <a:xfrm>
            <a:off x="731520" y="4663440"/>
            <a:ext cx="548640" cy="548640"/>
          </a:xfrm>
          <a:prstGeom prst="ellipse">
            <a:avLst/>
          </a:prstGeom>
          <a:solidFill>
            <a:srgbClr val="6E9A4F"/>
          </a:solidFill>
          <a:ln w="12700">
            <a:solidFill>
              <a:srgbClr val="6E9A4F"/>
            </a:solidFill>
            <a:prstDash val="solid"/>
          </a:ln>
        </p:spPr>
      </p:sp>
      <p:sp>
        <p:nvSpPr>
          <p:cNvPr id="18" name="Text 15"/>
          <p:cNvSpPr txBox="1"/>
          <p:nvPr/>
        </p:nvSpPr>
        <p:spPr>
          <a:xfrm>
            <a:off x="731520" y="46634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6"/>
          <p:cNvSpPr txBox="1"/>
          <p:nvPr/>
        </p:nvSpPr>
        <p:spPr>
          <a:xfrm>
            <a:off x="1554480" y="4480560"/>
            <a:ext cx="9875520" cy="914400"/>
          </a:xfrm>
          <a:prstGeom prst="rect">
            <a:avLst/>
          </a:prstGeom>
          <a:noFill/>
          <a:ln/>
        </p:spPr>
        <p:txBody>
          <a:bodyPr wrap="square" lIns="0" tIns="0" rIns="0" bIns="0" rtlCol="0" anchor="ctr"/>
          <a:lstStyle/>
          <a:p>
            <a:pPr indent="0" marL="0">
              <a:buNone/>
            </a:pPr>
            <a:r>
              <a:rPr lang="en-US" sz="2000" dirty="0">
                <a:solidFill>
                  <a:srgbClr val="3B2A2A"/>
                </a:solidFill>
              </a:rPr>
              <a:t>Desenhar um piloto com critérios definidos de antemão</a:t>
            </a:r>
            <a:endParaRPr lang="en-US" sz="2000" dirty="0"/>
          </a:p>
        </p:txBody>
      </p:sp>
      <p:sp>
        <p:nvSpPr>
          <p:cNvPr id="20" name="Shape 17"/>
          <p:cNvSpPr/>
          <p:nvPr/>
        </p:nvSpPr>
        <p:spPr>
          <a:xfrm>
            <a:off x="548640" y="5486400"/>
            <a:ext cx="11064240" cy="914400"/>
          </a:xfrm>
          <a:prstGeom prst="roundRect">
            <a:avLst>
              <a:gd name="adj" fmla="val 12000"/>
            </a:avLst>
          </a:prstGeom>
          <a:solidFill>
            <a:srgbClr val="F7EFE6"/>
          </a:solidFill>
          <a:ln w="12700">
            <a:solidFill>
              <a:srgbClr val="F7EFE6"/>
            </a:solidFill>
            <a:prstDash val="solid"/>
          </a:ln>
        </p:spPr>
      </p:sp>
      <p:sp>
        <p:nvSpPr>
          <p:cNvPr id="21" name="Shape 18"/>
          <p:cNvSpPr/>
          <p:nvPr/>
        </p:nvSpPr>
        <p:spPr>
          <a:xfrm>
            <a:off x="731520" y="5669280"/>
            <a:ext cx="548640" cy="548640"/>
          </a:xfrm>
          <a:prstGeom prst="ellipse">
            <a:avLst/>
          </a:prstGeom>
          <a:solidFill>
            <a:srgbClr val="6E9A4F"/>
          </a:solidFill>
          <a:ln w="12700">
            <a:solidFill>
              <a:srgbClr val="6E9A4F"/>
            </a:solidFill>
            <a:prstDash val="solid"/>
          </a:ln>
        </p:spPr>
      </p:sp>
      <p:sp>
        <p:nvSpPr>
          <p:cNvPr id="22" name="Text 19"/>
          <p:cNvSpPr txBox="1"/>
          <p:nvPr/>
        </p:nvSpPr>
        <p:spPr>
          <a:xfrm>
            <a:off x="731520" y="56692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3" name="Text 20"/>
          <p:cNvSpPr txBox="1"/>
          <p:nvPr/>
        </p:nvSpPr>
        <p:spPr>
          <a:xfrm>
            <a:off x="1554480" y="5486400"/>
            <a:ext cx="9875520" cy="914400"/>
          </a:xfrm>
          <a:prstGeom prst="rect">
            <a:avLst/>
          </a:prstGeom>
          <a:noFill/>
          <a:ln/>
        </p:spPr>
        <p:txBody>
          <a:bodyPr wrap="square" lIns="0" tIns="0" rIns="0" bIns="0" rtlCol="0" anchor="ctr"/>
          <a:lstStyle/>
          <a:p>
            <a:pPr indent="0" marL="0">
              <a:buNone/>
            </a:pPr>
            <a:r>
              <a:rPr lang="en-US" sz="2000" dirty="0">
                <a:solidFill>
                  <a:srgbClr val="3B2A2A"/>
                </a:solidFill>
              </a:rPr>
              <a:t>Decidir entre continuar, modificar ou interromper</a:t>
            </a:r>
            <a:endParaRPr lang="en-US" sz="2000" dirty="0"/>
          </a:p>
        </p:txBody>
      </p:sp>
      <p:sp>
        <p:nvSpPr>
          <p:cNvPr id="24"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E9A4F"/>
        </a:solidFill>
      </p:bgPr>
    </p:bg>
    <p:spTree>
      <p:nvGrpSpPr>
        <p:cNvPr id="1" name=""/>
        <p:cNvGrpSpPr/>
        <p:nvPr/>
      </p:nvGrpSpPr>
      <p:grpSpPr>
        <a:xfrm>
          <a:off x="0" y="0"/>
          <a:ext cx="0" cy="0"/>
          <a:chOff x="0" y="0"/>
          <a:chExt cx="0" cy="0"/>
        </a:xfrm>
      </p:grpSpPr>
      <p:sp>
        <p:nvSpPr>
          <p:cNvPr id="3" name="Text 0"/>
          <p:cNvSpPr txBox="1"/>
          <p:nvPr/>
        </p:nvSpPr>
        <p:spPr>
          <a:xfrm>
            <a:off x="822960" y="914400"/>
            <a:ext cx="10058400" cy="457200"/>
          </a:xfrm>
          <a:prstGeom prst="rect">
            <a:avLst/>
          </a:prstGeom>
          <a:noFill/>
          <a:ln/>
        </p:spPr>
        <p:txBody>
          <a:bodyPr wrap="square" lIns="0" tIns="0" rIns="0" bIns="0" rtlCol="0" anchor="ctr"/>
          <a:lstStyle/>
          <a:p>
            <a:pPr indent="0" marL="0">
              <a:buNone/>
            </a:pPr>
            <a:r>
              <a:rPr lang="en-US" sz="1800" b="1" spc="400" kern="0" dirty="0">
                <a:solidFill>
                  <a:srgbClr val="FFFFFF"/>
                </a:solidFill>
              </a:rPr>
              <a:t>PENSE UM POUCO</a:t>
            </a:r>
            <a:endParaRPr lang="en-US" sz="1800" dirty="0"/>
          </a:p>
        </p:txBody>
      </p:sp>
      <p:sp>
        <p:nvSpPr>
          <p:cNvPr id="4" name="Text 1"/>
          <p:cNvSpPr txBox="1"/>
          <p:nvPr/>
        </p:nvSpPr>
        <p:spPr>
          <a:xfrm>
            <a:off x="822960" y="1645920"/>
            <a:ext cx="10515600" cy="3291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Como incorporar a IA partindo das necessidades reais e testando em pequena escala?</a:t>
            </a:r>
            <a:endParaRPr lang="en-US" sz="3800" dirty="0"/>
          </a:p>
        </p:txBody>
      </p:sp>
      <p:sp>
        <p:nvSpPr>
          <p:cNvPr id="5" name="Text 2"/>
          <p:cNvSpPr txBox="1"/>
          <p:nvPr/>
        </p:nvSpPr>
        <p:spPr>
          <a:xfrm>
            <a:off x="822960" y="5120640"/>
            <a:ext cx="10515600" cy="914400"/>
          </a:xfrm>
          <a:prstGeom prst="rect">
            <a:avLst/>
          </a:prstGeom>
          <a:noFill/>
          <a:ln/>
        </p:spPr>
        <p:txBody>
          <a:bodyPr wrap="square" lIns="0" tIns="0" rIns="0" bIns="0" rtlCol="0" anchor="ctr"/>
          <a:lstStyle/>
          <a:p>
            <a:pPr indent="0" marL="0">
              <a:buNone/>
            </a:pPr>
            <a:r>
              <a:rPr lang="en-US" sz="1800" i="1" dirty="0">
                <a:solidFill>
                  <a:srgbClr val="FFF3E6"/>
                </a:solidFill>
              </a:rPr>
              <a:t>Cláudia: 'Como saberemos, em março, se deu certo?'</a:t>
            </a:r>
            <a:endParaRPr lang="en-US" sz="1800" dirty="0"/>
          </a:p>
        </p:txBody>
      </p:sp>
      <p:sp>
        <p:nvSpPr>
          <p:cNvPr id="6" name="Text 3"/>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E9D9C8"/>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Mapa do capítulo</a:t>
            </a:r>
            <a:endParaRPr lang="en-US" sz="3400" dirty="0"/>
          </a:p>
        </p:txBody>
      </p:sp>
      <p:pic>
        <p:nvPicPr>
          <p:cNvPr id="4" name="Image 0" descr="Mapa dos conceitos principais do capítulo 31.">    </p:cNvPr>
          <p:cNvPicPr>
            <a:picLocks noChangeAspect="1"/>
          </p:cNvPicPr>
          <p:nvPr/>
        </p:nvPicPr>
        <p:blipFill>
          <a:blip r:embed="rId1"/>
          <a:stretch>
            <a:fillRect/>
          </a:stretch>
        </p:blipFill>
        <p:spPr>
          <a:xfrm>
            <a:off x="2930290" y="1325880"/>
            <a:ext cx="6300940" cy="4434840"/>
          </a:xfrm>
          <a:prstGeom prst="rect">
            <a:avLst/>
          </a:prstGeom>
        </p:spPr>
      </p:pic>
      <p:sp>
        <p:nvSpPr>
          <p:cNvPr id="5" name="Text 1"/>
          <p:cNvSpPr txBox="1"/>
          <p:nvPr/>
        </p:nvSpPr>
        <p:spPr>
          <a:xfrm>
            <a:off x="548640" y="5852160"/>
            <a:ext cx="11064240" cy="548640"/>
          </a:xfrm>
          <a:prstGeom prst="rect">
            <a:avLst/>
          </a:prstGeom>
          <a:noFill/>
          <a:ln/>
        </p:spPr>
        <p:txBody>
          <a:bodyPr wrap="square" lIns="0" tIns="0" rIns="0" bIns="0" rtlCol="0" anchor="ctr"/>
          <a:lstStyle/>
          <a:p>
            <a:pPr algn="ctr" indent="0" marL="0">
              <a:buNone/>
            </a:pPr>
            <a:r>
              <a:rPr lang="en-US" sz="1400" i="1" dirty="0">
                <a:solidFill>
                  <a:srgbClr val="6B5F59"/>
                </a:solidFill>
              </a:rPr>
              <a:t>Mapa dos conceitos principais do capítulo 31.</a:t>
            </a:r>
            <a:endParaRPr lang="en-US" sz="1400" dirty="0"/>
          </a:p>
        </p:txBody>
      </p:sp>
      <p:sp>
        <p:nvSpPr>
          <p:cNvPr id="6"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Diagnóstico antes da ferramenta</a:t>
            </a:r>
            <a:endParaRPr lang="en-US" sz="3400" dirty="0"/>
          </a:p>
        </p:txBody>
      </p:sp>
      <p:sp>
        <p:nvSpPr>
          <p:cNvPr id="4" name="Shape 1"/>
          <p:cNvSpPr/>
          <p:nvPr/>
        </p:nvSpPr>
        <p:spPr>
          <a:xfrm>
            <a:off x="548640" y="1463040"/>
            <a:ext cx="6675120" cy="2926080"/>
          </a:xfrm>
          <a:prstGeom prst="roundRect">
            <a:avLst>
              <a:gd name="adj" fmla="val 4688"/>
            </a:avLst>
          </a:prstGeom>
          <a:solidFill>
            <a:srgbClr val="F7EFE6"/>
          </a:solidFill>
          <a:ln w="12700">
            <a:solidFill>
              <a:srgbClr val="F7EFE6"/>
            </a:solidFill>
            <a:prstDash val="solid"/>
          </a:ln>
        </p:spPr>
      </p:sp>
      <p:sp>
        <p:nvSpPr>
          <p:cNvPr id="5" name="Text 2"/>
          <p:cNvSpPr txBox="1"/>
          <p:nvPr/>
        </p:nvSpPr>
        <p:spPr>
          <a:xfrm>
            <a:off x="822960" y="1600200"/>
            <a:ext cx="5943600" cy="365760"/>
          </a:xfrm>
          <a:prstGeom prst="rect">
            <a:avLst/>
          </a:prstGeom>
          <a:noFill/>
          <a:ln/>
        </p:spPr>
        <p:txBody>
          <a:bodyPr wrap="square" lIns="0" tIns="0" rIns="0" bIns="0" rtlCol="0" anchor="ctr"/>
          <a:lstStyle/>
          <a:p>
            <a:pPr indent="0" marL="0">
              <a:buNone/>
            </a:pPr>
            <a:r>
              <a:rPr lang="en-US" sz="1300" b="1" spc="300" kern="0" dirty="0">
                <a:solidFill>
                  <a:srgbClr val="6E9A4F"/>
                </a:solidFill>
              </a:rPr>
              <a:t>O QUE É</a:t>
            </a:r>
            <a:endParaRPr lang="en-US" sz="1300" dirty="0"/>
          </a:p>
        </p:txBody>
      </p:sp>
      <p:sp>
        <p:nvSpPr>
          <p:cNvPr id="6" name="Text 3"/>
          <p:cNvSpPr txBox="1"/>
          <p:nvPr/>
        </p:nvSpPr>
        <p:spPr>
          <a:xfrm>
            <a:off x="822960" y="2011680"/>
            <a:ext cx="6126480" cy="2286000"/>
          </a:xfrm>
          <a:prstGeom prst="rect">
            <a:avLst/>
          </a:prstGeom>
          <a:noFill/>
          <a:ln/>
        </p:spPr>
        <p:txBody>
          <a:bodyPr wrap="square" lIns="0" tIns="0" rIns="0" bIns="0" rtlCol="0" anchor="t"/>
          <a:lstStyle/>
          <a:p>
            <a:pPr indent="0" marL="0">
              <a:buNone/>
            </a:pPr>
            <a:r>
              <a:rPr lang="en-US" sz="2200" dirty="0">
                <a:solidFill>
                  <a:srgbClr val="3B2A2A"/>
                </a:solidFill>
              </a:rPr>
              <a:t>Conhecer necessidades, usos reais, condições e preocupações antes de decidir se a IA ajuda, onde e a que custo.</a:t>
            </a:r>
            <a:endParaRPr lang="en-US" sz="2200" dirty="0"/>
          </a:p>
        </p:txBody>
      </p:sp>
      <p:sp>
        <p:nvSpPr>
          <p:cNvPr id="7" name="Shape 4"/>
          <p:cNvSpPr/>
          <p:nvPr/>
        </p:nvSpPr>
        <p:spPr>
          <a:xfrm>
            <a:off x="7498080" y="1463040"/>
            <a:ext cx="4114800" cy="2926080"/>
          </a:xfrm>
          <a:prstGeom prst="roundRect">
            <a:avLst>
              <a:gd name="adj" fmla="val 4688"/>
            </a:avLst>
          </a:prstGeom>
          <a:solidFill>
            <a:srgbClr val="6E9A4F"/>
          </a:solidFill>
          <a:ln w="12700">
            <a:solidFill>
              <a:srgbClr val="6E9A4F"/>
            </a:solidFill>
            <a:prstDash val="solid"/>
          </a:ln>
        </p:spPr>
      </p:sp>
      <p:sp>
        <p:nvSpPr>
          <p:cNvPr id="8" name="Text 5"/>
          <p:cNvSpPr txBox="1"/>
          <p:nvPr/>
        </p:nvSpPr>
        <p:spPr>
          <a:xfrm>
            <a:off x="7772400" y="1600200"/>
            <a:ext cx="3657600" cy="365760"/>
          </a:xfrm>
          <a:prstGeom prst="rect">
            <a:avLst/>
          </a:prstGeom>
          <a:noFill/>
          <a:ln/>
        </p:spPr>
        <p:txBody>
          <a:bodyPr wrap="square" lIns="0" tIns="0" rIns="0" bIns="0" rtlCol="0" anchor="ctr"/>
          <a:lstStyle/>
          <a:p>
            <a:pPr indent="0" marL="0">
              <a:buNone/>
            </a:pPr>
            <a:r>
              <a:rPr lang="en-US" sz="1300" b="1" spc="300" kern="0" dirty="0">
                <a:solidFill>
                  <a:srgbClr val="FFFFFF"/>
                </a:solidFill>
              </a:rPr>
              <a:t>É COMO…</a:t>
            </a:r>
            <a:endParaRPr lang="en-US" sz="1300" dirty="0"/>
          </a:p>
        </p:txBody>
      </p:sp>
      <p:sp>
        <p:nvSpPr>
          <p:cNvPr id="9" name="Text 6"/>
          <p:cNvSpPr txBox="1"/>
          <p:nvPr/>
        </p:nvSpPr>
        <p:spPr>
          <a:xfrm>
            <a:off x="7772400" y="2011680"/>
            <a:ext cx="3611880" cy="2286000"/>
          </a:xfrm>
          <a:prstGeom prst="rect">
            <a:avLst/>
          </a:prstGeom>
          <a:noFill/>
          <a:ln/>
        </p:spPr>
        <p:txBody>
          <a:bodyPr wrap="square" lIns="0" tIns="0" rIns="0" bIns="0" rtlCol="0" anchor="t"/>
          <a:lstStyle/>
          <a:p>
            <a:pPr indent="0" marL="0">
              <a:buNone/>
            </a:pPr>
            <a:r>
              <a:rPr lang="en-US" sz="1800" dirty="0">
                <a:solidFill>
                  <a:srgbClr val="FFFFFF"/>
                </a:solidFill>
              </a:rPr>
              <a:t>a consulta antes da receita: ninguém sai do médico com o remédio sem que o problema tenha sido examinado.</a:t>
            </a:r>
            <a:endParaRPr lang="en-US" sz="1800" dirty="0"/>
          </a:p>
        </p:txBody>
      </p:sp>
      <p:sp>
        <p:nvSpPr>
          <p:cNvPr id="10" name="Text 7"/>
          <p:cNvSpPr txBox="1"/>
          <p:nvPr/>
        </p:nvSpPr>
        <p:spPr>
          <a:xfrm>
            <a:off x="548640" y="4754880"/>
            <a:ext cx="11064240" cy="1280160"/>
          </a:xfrm>
          <a:prstGeom prst="rect">
            <a:avLst/>
          </a:prstGeom>
          <a:noFill/>
          <a:ln/>
        </p:spPr>
        <p:txBody>
          <a:bodyPr wrap="square" lIns="0" tIns="0" rIns="0" bIns="0" rtlCol="0" anchor="ctr"/>
          <a:lstStyle/>
          <a:p>
            <a:pPr algn="ctr" indent="0" marL="0">
              <a:buNone/>
            </a:pPr>
            <a:r>
              <a:rPr lang="en-US" sz="2800" b="1" i="1" dirty="0">
                <a:solidFill>
                  <a:srgbClr val="5A2E2A"/>
                </a:solidFill>
                <a:latin typeface="Cambria" pitchFamily="34" charset="0"/>
                <a:ea typeface="Cambria" pitchFamily="34" charset="-122"/>
                <a:cs typeface="Cambria" pitchFamily="34" charset="-120"/>
              </a:rPr>
              <a:t>“Primeiro o problema, depois a ferramenta.”</a:t>
            </a:r>
            <a:endParaRPr lang="en-US" sz="2800" dirty="0"/>
          </a:p>
        </p:txBody>
      </p:sp>
      <p:sp>
        <p:nvSpPr>
          <p:cNvPr id="11"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Seis dimensões do diagnóstico</a:t>
            </a:r>
            <a:endParaRPr lang="en-US" sz="3400" dirty="0"/>
          </a:p>
        </p:txBody>
      </p:sp>
      <p:pic>
        <p:nvPicPr>
          <p:cNvPr id="4" name="Image 0" descr="Cada dimensão com duas perguntas orientadoras.">    </p:cNvPr>
          <p:cNvPicPr>
            <a:picLocks noChangeAspect="1"/>
          </p:cNvPicPr>
          <p:nvPr/>
        </p:nvPicPr>
        <p:blipFill>
          <a:blip r:embed="rId1"/>
          <a:stretch>
            <a:fillRect/>
          </a:stretch>
        </p:blipFill>
        <p:spPr>
          <a:xfrm>
            <a:off x="2189709" y="1325880"/>
            <a:ext cx="7782102" cy="4434840"/>
          </a:xfrm>
          <a:prstGeom prst="rect">
            <a:avLst/>
          </a:prstGeom>
        </p:spPr>
      </p:pic>
      <p:sp>
        <p:nvSpPr>
          <p:cNvPr id="5" name="Text 1"/>
          <p:cNvSpPr txBox="1"/>
          <p:nvPr/>
        </p:nvSpPr>
        <p:spPr>
          <a:xfrm>
            <a:off x="548640" y="5852160"/>
            <a:ext cx="11064240" cy="548640"/>
          </a:xfrm>
          <a:prstGeom prst="rect">
            <a:avLst/>
          </a:prstGeom>
          <a:noFill/>
          <a:ln/>
        </p:spPr>
        <p:txBody>
          <a:bodyPr wrap="square" lIns="0" tIns="0" rIns="0" bIns="0" rtlCol="0" anchor="ctr"/>
          <a:lstStyle/>
          <a:p>
            <a:pPr algn="ctr" indent="0" marL="0">
              <a:buNone/>
            </a:pPr>
            <a:r>
              <a:rPr lang="en-US" sz="1400" i="1" dirty="0">
                <a:solidFill>
                  <a:srgbClr val="6B5F59"/>
                </a:solidFill>
              </a:rPr>
              <a:t>Cada dimensão com duas perguntas orientadoras.</a:t>
            </a:r>
            <a:endParaRPr lang="en-US" sz="1400" dirty="0"/>
          </a:p>
        </p:txBody>
      </p:sp>
      <p:sp>
        <p:nvSpPr>
          <p:cNvPr id="6"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Instrumentos simples e éticos</a:t>
            </a:r>
            <a:endParaRPr lang="en-US" sz="3400" dirty="0"/>
          </a:p>
        </p:txBody>
      </p:sp>
      <p:sp>
        <p:nvSpPr>
          <p:cNvPr id="4" name="Shape 1"/>
          <p:cNvSpPr/>
          <p:nvPr/>
        </p:nvSpPr>
        <p:spPr>
          <a:xfrm>
            <a:off x="54864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777240" y="1691640"/>
            <a:ext cx="640080" cy="640080"/>
          </a:xfrm>
          <a:prstGeom prst="ellipse">
            <a:avLst/>
          </a:prstGeom>
          <a:solidFill>
            <a:srgbClr val="3D7EA6"/>
          </a:solidFill>
          <a:ln w="12700">
            <a:solidFill>
              <a:srgbClr val="3D7EA6"/>
            </a:solidFill>
            <a:prstDash val="solid"/>
          </a:ln>
        </p:spPr>
      </p:sp>
      <p:sp>
        <p:nvSpPr>
          <p:cNvPr id="6"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77724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Questionário curto</a:t>
            </a:r>
            <a:endParaRPr lang="en-US" sz="1800" dirty="0"/>
          </a:p>
        </p:txBody>
      </p:sp>
      <p:sp>
        <p:nvSpPr>
          <p:cNvPr id="8" name="Text 5"/>
          <p:cNvSpPr txBox="1"/>
          <p:nvPr/>
        </p:nvSpPr>
        <p:spPr>
          <a:xfrm>
            <a:off x="77724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10 a 15 perguntas, fechadas e uma aberta; anônimo.</a:t>
            </a:r>
            <a:endParaRPr lang="en-US" sz="1500" dirty="0"/>
          </a:p>
        </p:txBody>
      </p:sp>
      <p:sp>
        <p:nvSpPr>
          <p:cNvPr id="9" name="Shape 6"/>
          <p:cNvSpPr/>
          <p:nvPr/>
        </p:nvSpPr>
        <p:spPr>
          <a:xfrm>
            <a:off x="338328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611880" y="1691640"/>
            <a:ext cx="640080" cy="640080"/>
          </a:xfrm>
          <a:prstGeom prst="ellipse">
            <a:avLst/>
          </a:prstGeom>
          <a:solidFill>
            <a:srgbClr val="6E9A4F"/>
          </a:solidFill>
          <a:ln w="12700">
            <a:solidFill>
              <a:srgbClr val="6E9A4F"/>
            </a:solidFill>
            <a:prstDash val="solid"/>
          </a:ln>
        </p:spPr>
      </p:sp>
      <p:sp>
        <p:nvSpPr>
          <p:cNvPr id="11" name="Text 8"/>
          <p:cNvSpPr txBox="1"/>
          <p:nvPr/>
        </p:nvSpPr>
        <p:spPr>
          <a:xfrm>
            <a:off x="361188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361188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Rodas de conversa</a:t>
            </a:r>
            <a:endParaRPr lang="en-US" sz="1800" dirty="0"/>
          </a:p>
        </p:txBody>
      </p:sp>
      <p:sp>
        <p:nvSpPr>
          <p:cNvPr id="13" name="Text 10"/>
          <p:cNvSpPr txBox="1"/>
          <p:nvPr/>
        </p:nvSpPr>
        <p:spPr>
          <a:xfrm>
            <a:off x="361188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Docentes, estudantes e famílias; inclua quem não usa.</a:t>
            </a:r>
            <a:endParaRPr lang="en-US" sz="1500" dirty="0"/>
          </a:p>
        </p:txBody>
      </p:sp>
      <p:sp>
        <p:nvSpPr>
          <p:cNvPr id="14" name="Shape 11"/>
          <p:cNvSpPr/>
          <p:nvPr/>
        </p:nvSpPr>
        <p:spPr>
          <a:xfrm>
            <a:off x="621792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6446520" y="1691640"/>
            <a:ext cx="640080" cy="640080"/>
          </a:xfrm>
          <a:prstGeom prst="ellipse">
            <a:avLst/>
          </a:prstGeom>
          <a:solidFill>
            <a:srgbClr val="2A9D8F"/>
          </a:solidFill>
          <a:ln w="12700">
            <a:solidFill>
              <a:srgbClr val="2A9D8F"/>
            </a:solidFill>
            <a:prstDash val="solid"/>
          </a:ln>
        </p:spPr>
      </p:sp>
      <p:sp>
        <p:nvSpPr>
          <p:cNvPr id="16" name="Text 13"/>
          <p:cNvSpPr txBox="1"/>
          <p:nvPr/>
        </p:nvSpPr>
        <p:spPr>
          <a:xfrm>
            <a:off x="644652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644652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Inventário e documentos</a:t>
            </a:r>
            <a:endParaRPr lang="en-US" sz="1800" dirty="0"/>
          </a:p>
        </p:txBody>
      </p:sp>
      <p:sp>
        <p:nvSpPr>
          <p:cNvPr id="18" name="Text 15"/>
          <p:cNvSpPr txBox="1"/>
          <p:nvPr/>
        </p:nvSpPr>
        <p:spPr>
          <a:xfrm>
            <a:off x="644652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Ferramentas e finalidades; projeto pedagógico e contratos.</a:t>
            </a:r>
            <a:endParaRPr lang="en-US" sz="1500" dirty="0"/>
          </a:p>
        </p:txBody>
      </p:sp>
      <p:sp>
        <p:nvSpPr>
          <p:cNvPr id="19" name="Shape 16"/>
          <p:cNvSpPr/>
          <p:nvPr/>
        </p:nvSpPr>
        <p:spPr>
          <a:xfrm>
            <a:off x="905256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9281160" y="1691640"/>
            <a:ext cx="640080" cy="640080"/>
          </a:xfrm>
          <a:prstGeom prst="ellipse">
            <a:avLst/>
          </a:prstGeom>
          <a:solidFill>
            <a:srgbClr val="6D3B6E"/>
          </a:solidFill>
          <a:ln w="12700">
            <a:solidFill>
              <a:srgbClr val="6D3B6E"/>
            </a:solidFill>
            <a:prstDash val="solid"/>
          </a:ln>
        </p:spPr>
      </p:sp>
      <p:sp>
        <p:nvSpPr>
          <p:cNvPr id="21" name="Text 18"/>
          <p:cNvSpPr txBox="1"/>
          <p:nvPr/>
        </p:nvSpPr>
        <p:spPr>
          <a:xfrm>
            <a:off x="928116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19"/>
          <p:cNvSpPr txBox="1"/>
          <p:nvPr/>
        </p:nvSpPr>
        <p:spPr>
          <a:xfrm>
            <a:off x="928116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Cuidado ético</a:t>
            </a:r>
            <a:endParaRPr lang="en-US" sz="1800" dirty="0"/>
          </a:p>
        </p:txBody>
      </p:sp>
      <p:sp>
        <p:nvSpPr>
          <p:cNvPr id="23" name="Text 20"/>
          <p:cNvSpPr txBox="1"/>
          <p:nvPr/>
        </p:nvSpPr>
        <p:spPr>
          <a:xfrm>
            <a:off x="928116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Voluntário, coleta mínima, guarda segura e devolutiva.</a:t>
            </a:r>
            <a:endParaRPr lang="en-US" sz="1500" dirty="0"/>
          </a:p>
        </p:txBody>
      </p:sp>
      <p:sp>
        <p:nvSpPr>
          <p:cNvPr id="24"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Formação que funciona</a:t>
            </a:r>
            <a:endParaRPr lang="en-US" sz="3400" dirty="0"/>
          </a:p>
        </p:txBody>
      </p:sp>
      <p:sp>
        <p:nvSpPr>
          <p:cNvPr id="4" name="Shape 1"/>
          <p:cNvSpPr/>
          <p:nvPr/>
        </p:nvSpPr>
        <p:spPr>
          <a:xfrm>
            <a:off x="54864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777240" y="1691640"/>
            <a:ext cx="640080" cy="640080"/>
          </a:xfrm>
          <a:prstGeom prst="ellipse">
            <a:avLst/>
          </a:prstGeom>
          <a:solidFill>
            <a:srgbClr val="3D7EA6"/>
          </a:solidFill>
          <a:ln w="12700">
            <a:solidFill>
              <a:srgbClr val="3D7EA6"/>
            </a:solidFill>
            <a:prstDash val="solid"/>
          </a:ln>
        </p:spPr>
      </p:sp>
      <p:sp>
        <p:nvSpPr>
          <p:cNvPr id="6"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77724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Ativa e coletiva</a:t>
            </a:r>
            <a:endParaRPr lang="en-US" sz="1800" dirty="0"/>
          </a:p>
        </p:txBody>
      </p:sp>
      <p:sp>
        <p:nvSpPr>
          <p:cNvPr id="8" name="Text 5"/>
          <p:cNvSpPr txBox="1"/>
          <p:nvPr/>
        </p:nvSpPr>
        <p:spPr>
          <a:xfrm>
            <a:off x="77724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Prática com materiais da própria disciplina e troca entre pares.</a:t>
            </a:r>
            <a:endParaRPr lang="en-US" sz="1500" dirty="0"/>
          </a:p>
        </p:txBody>
      </p:sp>
      <p:sp>
        <p:nvSpPr>
          <p:cNvPr id="9" name="Shape 6"/>
          <p:cNvSpPr/>
          <p:nvPr/>
        </p:nvSpPr>
        <p:spPr>
          <a:xfrm>
            <a:off x="338328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611880" y="1691640"/>
            <a:ext cx="640080" cy="640080"/>
          </a:xfrm>
          <a:prstGeom prst="ellipse">
            <a:avLst/>
          </a:prstGeom>
          <a:solidFill>
            <a:srgbClr val="6E9A4F"/>
          </a:solidFill>
          <a:ln w="12700">
            <a:solidFill>
              <a:srgbClr val="6E9A4F"/>
            </a:solidFill>
            <a:prstDash val="solid"/>
          </a:ln>
        </p:spPr>
      </p:sp>
      <p:sp>
        <p:nvSpPr>
          <p:cNvPr id="11" name="Text 8"/>
          <p:cNvSpPr txBox="1"/>
          <p:nvPr/>
        </p:nvSpPr>
        <p:spPr>
          <a:xfrm>
            <a:off x="361188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361188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Sustentada</a:t>
            </a:r>
            <a:endParaRPr lang="en-US" sz="1800" dirty="0"/>
          </a:p>
        </p:txBody>
      </p:sp>
      <p:sp>
        <p:nvSpPr>
          <p:cNvPr id="13" name="Text 10"/>
          <p:cNvSpPr txBox="1"/>
          <p:nvPr/>
        </p:nvSpPr>
        <p:spPr>
          <a:xfrm>
            <a:off x="361188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Encontros curtos e repetidos, com tempo na carga horária.</a:t>
            </a:r>
            <a:endParaRPr lang="en-US" sz="1500" dirty="0"/>
          </a:p>
        </p:txBody>
      </p:sp>
      <p:sp>
        <p:nvSpPr>
          <p:cNvPr id="14" name="Shape 11"/>
          <p:cNvSpPr/>
          <p:nvPr/>
        </p:nvSpPr>
        <p:spPr>
          <a:xfrm>
            <a:off x="621792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6446520" y="1691640"/>
            <a:ext cx="640080" cy="640080"/>
          </a:xfrm>
          <a:prstGeom prst="ellipse">
            <a:avLst/>
          </a:prstGeom>
          <a:solidFill>
            <a:srgbClr val="2A9D8F"/>
          </a:solidFill>
          <a:ln w="12700">
            <a:solidFill>
              <a:srgbClr val="2A9D8F"/>
            </a:solidFill>
            <a:prstDash val="solid"/>
          </a:ln>
        </p:spPr>
      </p:sp>
      <p:sp>
        <p:nvSpPr>
          <p:cNvPr id="16" name="Text 13"/>
          <p:cNvSpPr txBox="1"/>
          <p:nvPr/>
        </p:nvSpPr>
        <p:spPr>
          <a:xfrm>
            <a:off x="644652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644652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Com acompanhamento</a:t>
            </a:r>
            <a:endParaRPr lang="en-US" sz="1800" dirty="0"/>
          </a:p>
        </p:txBody>
      </p:sp>
      <p:sp>
        <p:nvSpPr>
          <p:cNvPr id="18" name="Text 15"/>
          <p:cNvSpPr txBox="1"/>
          <p:nvPr/>
        </p:nvSpPr>
        <p:spPr>
          <a:xfrm>
            <a:off x="644652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Observação entre pares, coaching, feedback e reflexão.</a:t>
            </a:r>
            <a:endParaRPr lang="en-US" sz="1500" dirty="0"/>
          </a:p>
        </p:txBody>
      </p:sp>
      <p:sp>
        <p:nvSpPr>
          <p:cNvPr id="19" name="Shape 16"/>
          <p:cNvSpPr/>
          <p:nvPr/>
        </p:nvSpPr>
        <p:spPr>
          <a:xfrm>
            <a:off x="905256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9281160" y="1691640"/>
            <a:ext cx="640080" cy="640080"/>
          </a:xfrm>
          <a:prstGeom prst="ellipse">
            <a:avLst/>
          </a:prstGeom>
          <a:solidFill>
            <a:srgbClr val="6D3B6E"/>
          </a:solidFill>
          <a:ln w="12700">
            <a:solidFill>
              <a:srgbClr val="6D3B6E"/>
            </a:solidFill>
            <a:prstDash val="solid"/>
          </a:ln>
        </p:spPr>
      </p:sp>
      <p:sp>
        <p:nvSpPr>
          <p:cNvPr id="21" name="Text 18"/>
          <p:cNvSpPr txBox="1"/>
          <p:nvPr/>
        </p:nvSpPr>
        <p:spPr>
          <a:xfrm>
            <a:off x="928116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19"/>
          <p:cNvSpPr txBox="1"/>
          <p:nvPr/>
        </p:nvSpPr>
        <p:spPr>
          <a:xfrm>
            <a:off x="928116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Evite</a:t>
            </a:r>
            <a:endParaRPr lang="en-US" sz="1800" dirty="0"/>
          </a:p>
        </p:txBody>
      </p:sp>
      <p:sp>
        <p:nvSpPr>
          <p:cNvPr id="23" name="Text 20"/>
          <p:cNvSpPr txBox="1"/>
          <p:nvPr/>
        </p:nvSpPr>
        <p:spPr>
          <a:xfrm>
            <a:off x="928116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Palestra única, ensino de cliques e tom de convencimento.</a:t>
            </a:r>
            <a:endParaRPr lang="en-US" sz="1500" dirty="0"/>
          </a:p>
        </p:txBody>
      </p:sp>
      <p:sp>
        <p:nvSpPr>
          <p:cNvPr id="24"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Ver para crer</a:t>
            </a:r>
            <a:endParaRPr lang="en-US" sz="3400" dirty="0"/>
          </a:p>
        </p:txBody>
      </p:sp>
      <p:sp>
        <p:nvSpPr>
          <p:cNvPr id="4" name="Shape 1"/>
          <p:cNvSpPr/>
          <p:nvPr/>
        </p:nvSpPr>
        <p:spPr>
          <a:xfrm>
            <a:off x="548640" y="1463040"/>
            <a:ext cx="6675120" cy="2926080"/>
          </a:xfrm>
          <a:prstGeom prst="roundRect">
            <a:avLst>
              <a:gd name="adj" fmla="val 4688"/>
            </a:avLst>
          </a:prstGeom>
          <a:solidFill>
            <a:srgbClr val="F7EFE6"/>
          </a:solidFill>
          <a:ln w="12700">
            <a:solidFill>
              <a:srgbClr val="F7EFE6"/>
            </a:solidFill>
            <a:prstDash val="solid"/>
          </a:ln>
        </p:spPr>
      </p:sp>
      <p:sp>
        <p:nvSpPr>
          <p:cNvPr id="5" name="Text 2"/>
          <p:cNvSpPr txBox="1"/>
          <p:nvPr/>
        </p:nvSpPr>
        <p:spPr>
          <a:xfrm>
            <a:off x="822960" y="1600200"/>
            <a:ext cx="5943600" cy="365760"/>
          </a:xfrm>
          <a:prstGeom prst="rect">
            <a:avLst/>
          </a:prstGeom>
          <a:noFill/>
          <a:ln/>
        </p:spPr>
        <p:txBody>
          <a:bodyPr wrap="square" lIns="0" tIns="0" rIns="0" bIns="0" rtlCol="0" anchor="ctr"/>
          <a:lstStyle/>
          <a:p>
            <a:pPr indent="0" marL="0">
              <a:buNone/>
            </a:pPr>
            <a:r>
              <a:rPr lang="en-US" sz="1300" b="1" spc="300" kern="0" dirty="0">
                <a:solidFill>
                  <a:srgbClr val="6E9A4F"/>
                </a:solidFill>
              </a:rPr>
              <a:t>O QUE É</a:t>
            </a:r>
            <a:endParaRPr lang="en-US" sz="1300" dirty="0"/>
          </a:p>
        </p:txBody>
      </p:sp>
      <p:sp>
        <p:nvSpPr>
          <p:cNvPr id="6" name="Text 3"/>
          <p:cNvSpPr txBox="1"/>
          <p:nvPr/>
        </p:nvSpPr>
        <p:spPr>
          <a:xfrm>
            <a:off x="822960" y="2011680"/>
            <a:ext cx="6126480" cy="2286000"/>
          </a:xfrm>
          <a:prstGeom prst="rect">
            <a:avLst/>
          </a:prstGeom>
          <a:noFill/>
          <a:ln/>
        </p:spPr>
        <p:txBody>
          <a:bodyPr wrap="square" lIns="0" tIns="0" rIns="0" bIns="0" rtlCol="0" anchor="t"/>
          <a:lstStyle/>
          <a:p>
            <a:pPr indent="0" marL="0">
              <a:buNone/>
            </a:pPr>
            <a:r>
              <a:rPr lang="en-US" sz="2200" dirty="0">
                <a:solidFill>
                  <a:srgbClr val="3B2A2A"/>
                </a:solidFill>
              </a:rPr>
              <a:t>Crenças e atitudes docentes tendem a mudar depois de verem resultados na prática, não só após ouvir uma palestra.</a:t>
            </a:r>
            <a:endParaRPr lang="en-US" sz="2200" dirty="0"/>
          </a:p>
        </p:txBody>
      </p:sp>
      <p:sp>
        <p:nvSpPr>
          <p:cNvPr id="7" name="Shape 4"/>
          <p:cNvSpPr/>
          <p:nvPr/>
        </p:nvSpPr>
        <p:spPr>
          <a:xfrm>
            <a:off x="7498080" y="1463040"/>
            <a:ext cx="4114800" cy="2926080"/>
          </a:xfrm>
          <a:prstGeom prst="roundRect">
            <a:avLst>
              <a:gd name="adj" fmla="val 4688"/>
            </a:avLst>
          </a:prstGeom>
          <a:solidFill>
            <a:srgbClr val="6E9A4F"/>
          </a:solidFill>
          <a:ln w="12700">
            <a:solidFill>
              <a:srgbClr val="6E9A4F"/>
            </a:solidFill>
            <a:prstDash val="solid"/>
          </a:ln>
        </p:spPr>
      </p:sp>
      <p:sp>
        <p:nvSpPr>
          <p:cNvPr id="8" name="Text 5"/>
          <p:cNvSpPr txBox="1"/>
          <p:nvPr/>
        </p:nvSpPr>
        <p:spPr>
          <a:xfrm>
            <a:off x="7772400" y="1600200"/>
            <a:ext cx="3657600" cy="365760"/>
          </a:xfrm>
          <a:prstGeom prst="rect">
            <a:avLst/>
          </a:prstGeom>
          <a:noFill/>
          <a:ln/>
        </p:spPr>
        <p:txBody>
          <a:bodyPr wrap="square" lIns="0" tIns="0" rIns="0" bIns="0" rtlCol="0" anchor="ctr"/>
          <a:lstStyle/>
          <a:p>
            <a:pPr indent="0" marL="0">
              <a:buNone/>
            </a:pPr>
            <a:r>
              <a:rPr lang="en-US" sz="1300" b="1" spc="300" kern="0" dirty="0">
                <a:solidFill>
                  <a:srgbClr val="FFFFFF"/>
                </a:solidFill>
              </a:rPr>
              <a:t>É COMO…</a:t>
            </a:r>
            <a:endParaRPr lang="en-US" sz="1300" dirty="0"/>
          </a:p>
        </p:txBody>
      </p:sp>
      <p:sp>
        <p:nvSpPr>
          <p:cNvPr id="9" name="Text 6"/>
          <p:cNvSpPr txBox="1"/>
          <p:nvPr/>
        </p:nvSpPr>
        <p:spPr>
          <a:xfrm>
            <a:off x="7772400" y="2011680"/>
            <a:ext cx="3611880" cy="2286000"/>
          </a:xfrm>
          <a:prstGeom prst="rect">
            <a:avLst/>
          </a:prstGeom>
          <a:noFill/>
          <a:ln/>
        </p:spPr>
        <p:txBody>
          <a:bodyPr wrap="square" lIns="0" tIns="0" rIns="0" bIns="0" rtlCol="0" anchor="t"/>
          <a:lstStyle/>
          <a:p>
            <a:pPr indent="0" marL="0">
              <a:buNone/>
            </a:pPr>
            <a:r>
              <a:rPr lang="en-US" sz="2000" dirty="0">
                <a:solidFill>
                  <a:srgbClr val="FFFFFF"/>
                </a:solidFill>
              </a:rPr>
              <a:t>provar uma colher antes de servir a panela inteira: o pequeno teste convence mais que o discurso.</a:t>
            </a:r>
            <a:endParaRPr lang="en-US" sz="2000" dirty="0"/>
          </a:p>
        </p:txBody>
      </p:sp>
      <p:sp>
        <p:nvSpPr>
          <p:cNvPr id="10" name="Text 7"/>
          <p:cNvSpPr txBox="1"/>
          <p:nvPr/>
        </p:nvSpPr>
        <p:spPr>
          <a:xfrm>
            <a:off x="548640" y="4754880"/>
            <a:ext cx="11064240" cy="1280160"/>
          </a:xfrm>
          <a:prstGeom prst="rect">
            <a:avLst/>
          </a:prstGeom>
          <a:noFill/>
          <a:ln/>
        </p:spPr>
        <p:txBody>
          <a:bodyPr wrap="square" lIns="0" tIns="0" rIns="0" bIns="0" rtlCol="0" anchor="ctr"/>
          <a:lstStyle/>
          <a:p>
            <a:pPr algn="ctr" indent="0" marL="0">
              <a:buNone/>
            </a:pPr>
            <a:r>
              <a:rPr lang="en-US" sz="2800" b="1" i="1" dirty="0">
                <a:solidFill>
                  <a:srgbClr val="5A2E2A"/>
                </a:solidFill>
                <a:latin typeface="Cambria" pitchFamily="34" charset="0"/>
                <a:ea typeface="Cambria" pitchFamily="34" charset="-122"/>
                <a:cs typeface="Cambria" pitchFamily="34" charset="-120"/>
              </a:rPr>
              <a:t>“Quem ensina critérios, forma por mais tempo.”</a:t>
            </a:r>
            <a:endParaRPr lang="en-US" sz="2800" dirty="0"/>
          </a:p>
        </p:txBody>
      </p:sp>
      <p:sp>
        <p:nvSpPr>
          <p:cNvPr id="11"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Percurso formativo em três movimentos</a:t>
            </a:r>
            <a:endParaRPr lang="en-US" sz="3400" dirty="0"/>
          </a:p>
        </p:txBody>
      </p:sp>
      <p:pic>
        <p:nvPicPr>
          <p:cNvPr id="4" name="Image 0" descr="Escuta, prática guiada, comunidade de prática.">    </p:cNvPr>
          <p:cNvPicPr>
            <a:picLocks noChangeAspect="1"/>
          </p:cNvPicPr>
          <p:nvPr/>
        </p:nvPicPr>
        <p:blipFill>
          <a:blip r:embed="rId1"/>
          <a:stretch>
            <a:fillRect/>
          </a:stretch>
        </p:blipFill>
        <p:spPr>
          <a:xfrm>
            <a:off x="2302933" y="1325880"/>
            <a:ext cx="7555653" cy="4434840"/>
          </a:xfrm>
          <a:prstGeom prst="rect">
            <a:avLst/>
          </a:prstGeom>
        </p:spPr>
      </p:pic>
      <p:sp>
        <p:nvSpPr>
          <p:cNvPr id="5" name="Text 1"/>
          <p:cNvSpPr txBox="1"/>
          <p:nvPr/>
        </p:nvSpPr>
        <p:spPr>
          <a:xfrm>
            <a:off x="548640" y="5852160"/>
            <a:ext cx="11064240" cy="548640"/>
          </a:xfrm>
          <a:prstGeom prst="rect">
            <a:avLst/>
          </a:prstGeom>
          <a:noFill/>
          <a:ln/>
        </p:spPr>
        <p:txBody>
          <a:bodyPr wrap="square" lIns="0" tIns="0" rIns="0" bIns="0" rtlCol="0" anchor="ctr"/>
          <a:lstStyle/>
          <a:p>
            <a:pPr algn="ctr" indent="0" marL="0">
              <a:buNone/>
            </a:pPr>
            <a:r>
              <a:rPr lang="en-US" sz="1400" i="1" dirty="0">
                <a:solidFill>
                  <a:srgbClr val="6B5F59"/>
                </a:solidFill>
              </a:rPr>
              <a:t>Escuta, prática guiada, comunidade de prática.</a:t>
            </a:r>
            <a:endParaRPr lang="en-US" sz="1400" dirty="0"/>
          </a:p>
        </p:txBody>
      </p:sp>
      <p:sp>
        <p:nvSpPr>
          <p:cNvPr id="6"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O que é um piloto</a:t>
            </a:r>
            <a:endParaRPr lang="en-US" sz="3400" dirty="0"/>
          </a:p>
        </p:txBody>
      </p:sp>
      <p:sp>
        <p:nvSpPr>
          <p:cNvPr id="4" name="Shape 1"/>
          <p:cNvSpPr/>
          <p:nvPr/>
        </p:nvSpPr>
        <p:spPr>
          <a:xfrm>
            <a:off x="548640" y="1463040"/>
            <a:ext cx="6675120" cy="2926080"/>
          </a:xfrm>
          <a:prstGeom prst="roundRect">
            <a:avLst>
              <a:gd name="adj" fmla="val 4688"/>
            </a:avLst>
          </a:prstGeom>
          <a:solidFill>
            <a:srgbClr val="F7EFE6"/>
          </a:solidFill>
          <a:ln w="12700">
            <a:solidFill>
              <a:srgbClr val="F7EFE6"/>
            </a:solidFill>
            <a:prstDash val="solid"/>
          </a:ln>
        </p:spPr>
      </p:sp>
      <p:sp>
        <p:nvSpPr>
          <p:cNvPr id="5" name="Text 2"/>
          <p:cNvSpPr txBox="1"/>
          <p:nvPr/>
        </p:nvSpPr>
        <p:spPr>
          <a:xfrm>
            <a:off x="822960" y="1600200"/>
            <a:ext cx="5943600" cy="365760"/>
          </a:xfrm>
          <a:prstGeom prst="rect">
            <a:avLst/>
          </a:prstGeom>
          <a:noFill/>
          <a:ln/>
        </p:spPr>
        <p:txBody>
          <a:bodyPr wrap="square" lIns="0" tIns="0" rIns="0" bIns="0" rtlCol="0" anchor="ctr"/>
          <a:lstStyle/>
          <a:p>
            <a:pPr indent="0" marL="0">
              <a:buNone/>
            </a:pPr>
            <a:r>
              <a:rPr lang="en-US" sz="1300" b="1" spc="300" kern="0" dirty="0">
                <a:solidFill>
                  <a:srgbClr val="6E9A4F"/>
                </a:solidFill>
              </a:rPr>
              <a:t>O QUE É</a:t>
            </a:r>
            <a:endParaRPr lang="en-US" sz="1300" dirty="0"/>
          </a:p>
        </p:txBody>
      </p:sp>
      <p:sp>
        <p:nvSpPr>
          <p:cNvPr id="6" name="Text 3"/>
          <p:cNvSpPr txBox="1"/>
          <p:nvPr/>
        </p:nvSpPr>
        <p:spPr>
          <a:xfrm>
            <a:off x="822960" y="2011680"/>
            <a:ext cx="6126480" cy="2286000"/>
          </a:xfrm>
          <a:prstGeom prst="rect">
            <a:avLst/>
          </a:prstGeom>
          <a:noFill/>
          <a:ln/>
        </p:spPr>
        <p:txBody>
          <a:bodyPr wrap="square" lIns="0" tIns="0" rIns="0" bIns="0" rtlCol="0" anchor="t"/>
          <a:lstStyle/>
          <a:p>
            <a:pPr indent="0" marL="0">
              <a:buNone/>
            </a:pPr>
            <a:r>
              <a:rPr lang="en-US" sz="2200" dirty="0">
                <a:solidFill>
                  <a:srgbClr val="3B2A2A"/>
                </a:solidFill>
              </a:rPr>
              <a:t>Experiência delimitada no tempo, no espaço e no número de participantes, feita para aprender antes de ampliar.</a:t>
            </a:r>
            <a:endParaRPr lang="en-US" sz="2200" dirty="0"/>
          </a:p>
        </p:txBody>
      </p:sp>
      <p:sp>
        <p:nvSpPr>
          <p:cNvPr id="7" name="Shape 4"/>
          <p:cNvSpPr/>
          <p:nvPr/>
        </p:nvSpPr>
        <p:spPr>
          <a:xfrm>
            <a:off x="7498080" y="1463040"/>
            <a:ext cx="4114800" cy="2926080"/>
          </a:xfrm>
          <a:prstGeom prst="roundRect">
            <a:avLst>
              <a:gd name="adj" fmla="val 4688"/>
            </a:avLst>
          </a:prstGeom>
          <a:solidFill>
            <a:srgbClr val="6E9A4F"/>
          </a:solidFill>
          <a:ln w="12700">
            <a:solidFill>
              <a:srgbClr val="6E9A4F"/>
            </a:solidFill>
            <a:prstDash val="solid"/>
          </a:ln>
        </p:spPr>
      </p:sp>
      <p:sp>
        <p:nvSpPr>
          <p:cNvPr id="8" name="Text 5"/>
          <p:cNvSpPr txBox="1"/>
          <p:nvPr/>
        </p:nvSpPr>
        <p:spPr>
          <a:xfrm>
            <a:off x="7772400" y="1600200"/>
            <a:ext cx="3657600" cy="365760"/>
          </a:xfrm>
          <a:prstGeom prst="rect">
            <a:avLst/>
          </a:prstGeom>
          <a:noFill/>
          <a:ln/>
        </p:spPr>
        <p:txBody>
          <a:bodyPr wrap="square" lIns="0" tIns="0" rIns="0" bIns="0" rtlCol="0" anchor="ctr"/>
          <a:lstStyle/>
          <a:p>
            <a:pPr indent="0" marL="0">
              <a:buNone/>
            </a:pPr>
            <a:r>
              <a:rPr lang="en-US" sz="1300" b="1" spc="300" kern="0" dirty="0">
                <a:solidFill>
                  <a:srgbClr val="FFFFFF"/>
                </a:solidFill>
              </a:rPr>
              <a:t>É COMO…</a:t>
            </a:r>
            <a:endParaRPr lang="en-US" sz="1300" dirty="0"/>
          </a:p>
        </p:txBody>
      </p:sp>
      <p:sp>
        <p:nvSpPr>
          <p:cNvPr id="9" name="Text 6"/>
          <p:cNvSpPr txBox="1"/>
          <p:nvPr/>
        </p:nvSpPr>
        <p:spPr>
          <a:xfrm>
            <a:off x="7772400" y="2011680"/>
            <a:ext cx="3611880" cy="2286000"/>
          </a:xfrm>
          <a:prstGeom prst="rect">
            <a:avLst/>
          </a:prstGeom>
          <a:noFill/>
          <a:ln/>
        </p:spPr>
        <p:txBody>
          <a:bodyPr wrap="square" lIns="0" tIns="0" rIns="0" bIns="0" rtlCol="0" anchor="t"/>
          <a:lstStyle/>
          <a:p>
            <a:pPr indent="0" marL="0">
              <a:buNone/>
            </a:pPr>
            <a:r>
              <a:rPr lang="en-US" sz="2000" dirty="0">
                <a:solidFill>
                  <a:srgbClr val="FFFFFF"/>
                </a:solidFill>
              </a:rPr>
              <a:t>o voo de teste: o avião só entra em linha depois de provar o que promete.</a:t>
            </a:r>
            <a:endParaRPr lang="en-US" sz="2000" dirty="0"/>
          </a:p>
        </p:txBody>
      </p:sp>
      <p:sp>
        <p:nvSpPr>
          <p:cNvPr id="10" name="Text 7"/>
          <p:cNvSpPr txBox="1"/>
          <p:nvPr/>
        </p:nvSpPr>
        <p:spPr>
          <a:xfrm>
            <a:off x="548640" y="4754880"/>
            <a:ext cx="11064240" cy="1280160"/>
          </a:xfrm>
          <a:prstGeom prst="rect">
            <a:avLst/>
          </a:prstGeom>
          <a:noFill/>
          <a:ln/>
        </p:spPr>
        <p:txBody>
          <a:bodyPr wrap="square" lIns="0" tIns="0" rIns="0" bIns="0" rtlCol="0" anchor="ctr"/>
          <a:lstStyle/>
          <a:p>
            <a:pPr algn="ctr" indent="0" marL="0">
              <a:buNone/>
            </a:pPr>
            <a:r>
              <a:rPr lang="en-US" sz="2800" b="1" i="1" dirty="0">
                <a:solidFill>
                  <a:srgbClr val="5A2E2A"/>
                </a:solidFill>
                <a:latin typeface="Cambria" pitchFamily="34" charset="0"/>
                <a:ea typeface="Cambria" pitchFamily="34" charset="-122"/>
                <a:cs typeface="Cambria" pitchFamily="34" charset="-120"/>
              </a:rPr>
              <a:t>“Piloto não é implantação disfarçada.”</a:t>
            </a:r>
            <a:endParaRPr lang="en-US" sz="2800" dirty="0"/>
          </a:p>
        </p:txBody>
      </p:sp>
      <p:sp>
        <p:nvSpPr>
          <p:cNvPr id="11"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Elementos de um bom piloto</a:t>
            </a:r>
            <a:endParaRPr lang="en-US" sz="3400" dirty="0"/>
          </a:p>
        </p:txBody>
      </p:sp>
      <p:sp>
        <p:nvSpPr>
          <p:cNvPr id="4" name="Shape 1"/>
          <p:cNvSpPr/>
          <p:nvPr/>
        </p:nvSpPr>
        <p:spPr>
          <a:xfrm>
            <a:off x="548640" y="1920240"/>
            <a:ext cx="2029968" cy="3291840"/>
          </a:xfrm>
          <a:prstGeom prst="roundRect">
            <a:avLst>
              <a:gd name="adj" fmla="val 6757"/>
            </a:avLst>
          </a:prstGeom>
          <a:solidFill>
            <a:srgbClr val="F7EFE6"/>
          </a:solidFill>
          <a:ln w="12700">
            <a:solidFill>
              <a:srgbClr val="F7EFE6"/>
            </a:solidFill>
            <a:prstDash val="solid"/>
          </a:ln>
        </p:spPr>
      </p:sp>
      <p:sp>
        <p:nvSpPr>
          <p:cNvPr id="5" name="Shape 2"/>
          <p:cNvSpPr/>
          <p:nvPr/>
        </p:nvSpPr>
        <p:spPr>
          <a:xfrm>
            <a:off x="1243584" y="1600200"/>
            <a:ext cx="640080" cy="640080"/>
          </a:xfrm>
          <a:prstGeom prst="ellipse">
            <a:avLst/>
          </a:prstGeom>
          <a:solidFill>
            <a:srgbClr val="6E9A4F"/>
          </a:solidFill>
          <a:ln w="12700">
            <a:solidFill>
              <a:srgbClr val="6E9A4F"/>
            </a:solidFill>
            <a:prstDash val="solid"/>
          </a:ln>
        </p:spPr>
      </p:sp>
      <p:sp>
        <p:nvSpPr>
          <p:cNvPr id="6" name="Text 3"/>
          <p:cNvSpPr txBox="1"/>
          <p:nvPr/>
        </p:nvSpPr>
        <p:spPr>
          <a:xfrm>
            <a:off x="1243584" y="1600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685800" y="2377440"/>
            <a:ext cx="1755648" cy="2743200"/>
          </a:xfrm>
          <a:prstGeom prst="rect">
            <a:avLst/>
          </a:prstGeom>
          <a:noFill/>
          <a:ln/>
        </p:spPr>
        <p:txBody>
          <a:bodyPr wrap="square" lIns="0" tIns="0" rIns="0" bIns="0" rtlCol="0" anchor="ctr"/>
          <a:lstStyle/>
          <a:p>
            <a:pPr algn="ctr" indent="0" marL="0">
              <a:buNone/>
            </a:pPr>
            <a:r>
              <a:rPr lang="en-US" sz="1500" dirty="0">
                <a:solidFill>
                  <a:srgbClr val="3B2A2A"/>
                </a:solidFill>
              </a:rPr>
              <a:t>Questão: o que queremos descobrir?</a:t>
            </a:r>
            <a:endParaRPr lang="en-US" sz="1500" dirty="0"/>
          </a:p>
        </p:txBody>
      </p:sp>
      <p:sp>
        <p:nvSpPr>
          <p:cNvPr id="8" name="Text 5"/>
          <p:cNvSpPr txBox="1"/>
          <p:nvPr/>
        </p:nvSpPr>
        <p:spPr>
          <a:xfrm>
            <a:off x="2560320" y="3200400"/>
            <a:ext cx="265176" cy="548640"/>
          </a:xfrm>
          <a:prstGeom prst="rect">
            <a:avLst/>
          </a:prstGeom>
          <a:noFill/>
          <a:ln/>
        </p:spPr>
        <p:txBody>
          <a:bodyPr wrap="square" lIns="0" tIns="0" rIns="0" bIns="0" rtlCol="0" anchor="ctr"/>
          <a:lstStyle/>
          <a:p>
            <a:pPr algn="ctr" indent="0" marL="0">
              <a:buNone/>
            </a:pPr>
            <a:r>
              <a:rPr lang="en-US" sz="2800" b="1" dirty="0">
                <a:solidFill>
                  <a:srgbClr val="6E9A4F"/>
                </a:solidFill>
              </a:rPr>
              <a:t>›</a:t>
            </a:r>
            <a:endParaRPr lang="en-US" sz="2800" dirty="0"/>
          </a:p>
        </p:txBody>
      </p:sp>
      <p:sp>
        <p:nvSpPr>
          <p:cNvPr id="9" name="Shape 6"/>
          <p:cNvSpPr/>
          <p:nvPr/>
        </p:nvSpPr>
        <p:spPr>
          <a:xfrm>
            <a:off x="2807208" y="1920240"/>
            <a:ext cx="2029968" cy="3291840"/>
          </a:xfrm>
          <a:prstGeom prst="roundRect">
            <a:avLst>
              <a:gd name="adj" fmla="val 6757"/>
            </a:avLst>
          </a:prstGeom>
          <a:solidFill>
            <a:srgbClr val="F7EFE6"/>
          </a:solidFill>
          <a:ln w="12700">
            <a:solidFill>
              <a:srgbClr val="F7EFE6"/>
            </a:solidFill>
            <a:prstDash val="solid"/>
          </a:ln>
        </p:spPr>
      </p:sp>
      <p:sp>
        <p:nvSpPr>
          <p:cNvPr id="10" name="Shape 7"/>
          <p:cNvSpPr/>
          <p:nvPr/>
        </p:nvSpPr>
        <p:spPr>
          <a:xfrm>
            <a:off x="3502152" y="1600200"/>
            <a:ext cx="640080" cy="640080"/>
          </a:xfrm>
          <a:prstGeom prst="ellipse">
            <a:avLst/>
          </a:prstGeom>
          <a:solidFill>
            <a:srgbClr val="6E9A4F"/>
          </a:solidFill>
          <a:ln w="12700">
            <a:solidFill>
              <a:srgbClr val="6E9A4F"/>
            </a:solidFill>
            <a:prstDash val="solid"/>
          </a:ln>
        </p:spPr>
      </p:sp>
      <p:sp>
        <p:nvSpPr>
          <p:cNvPr id="11" name="Text 8"/>
          <p:cNvSpPr txBox="1"/>
          <p:nvPr/>
        </p:nvSpPr>
        <p:spPr>
          <a:xfrm>
            <a:off x="3502152" y="1600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2944368" y="2377440"/>
            <a:ext cx="1755648" cy="2743200"/>
          </a:xfrm>
          <a:prstGeom prst="rect">
            <a:avLst/>
          </a:prstGeom>
          <a:noFill/>
          <a:ln/>
        </p:spPr>
        <p:txBody>
          <a:bodyPr wrap="square" lIns="0" tIns="0" rIns="0" bIns="0" rtlCol="0" anchor="ctr"/>
          <a:lstStyle/>
          <a:p>
            <a:pPr algn="ctr" indent="0" marL="0">
              <a:buNone/>
            </a:pPr>
            <a:r>
              <a:rPr lang="en-US" sz="1500" dirty="0">
                <a:solidFill>
                  <a:srgbClr val="3B2A2A"/>
                </a:solidFill>
              </a:rPr>
              <a:t>Escopo e linha de base</a:t>
            </a:r>
            <a:endParaRPr lang="en-US" sz="1500" dirty="0"/>
          </a:p>
        </p:txBody>
      </p:sp>
      <p:sp>
        <p:nvSpPr>
          <p:cNvPr id="13" name="Text 10"/>
          <p:cNvSpPr txBox="1"/>
          <p:nvPr/>
        </p:nvSpPr>
        <p:spPr>
          <a:xfrm>
            <a:off x="4818888" y="3200400"/>
            <a:ext cx="265176" cy="548640"/>
          </a:xfrm>
          <a:prstGeom prst="rect">
            <a:avLst/>
          </a:prstGeom>
          <a:noFill/>
          <a:ln/>
        </p:spPr>
        <p:txBody>
          <a:bodyPr wrap="square" lIns="0" tIns="0" rIns="0" bIns="0" rtlCol="0" anchor="ctr"/>
          <a:lstStyle/>
          <a:p>
            <a:pPr algn="ctr" indent="0" marL="0">
              <a:buNone/>
            </a:pPr>
            <a:r>
              <a:rPr lang="en-US" sz="2800" b="1" dirty="0">
                <a:solidFill>
                  <a:srgbClr val="6E9A4F"/>
                </a:solidFill>
              </a:rPr>
              <a:t>›</a:t>
            </a:r>
            <a:endParaRPr lang="en-US" sz="2800" dirty="0"/>
          </a:p>
        </p:txBody>
      </p:sp>
      <p:sp>
        <p:nvSpPr>
          <p:cNvPr id="14" name="Shape 11"/>
          <p:cNvSpPr/>
          <p:nvPr/>
        </p:nvSpPr>
        <p:spPr>
          <a:xfrm>
            <a:off x="5065776" y="1920240"/>
            <a:ext cx="2029968" cy="3291840"/>
          </a:xfrm>
          <a:prstGeom prst="roundRect">
            <a:avLst>
              <a:gd name="adj" fmla="val 6757"/>
            </a:avLst>
          </a:prstGeom>
          <a:solidFill>
            <a:srgbClr val="F7EFE6"/>
          </a:solidFill>
          <a:ln w="12700">
            <a:solidFill>
              <a:srgbClr val="F7EFE6"/>
            </a:solidFill>
            <a:prstDash val="solid"/>
          </a:ln>
        </p:spPr>
      </p:sp>
      <p:sp>
        <p:nvSpPr>
          <p:cNvPr id="15" name="Shape 12"/>
          <p:cNvSpPr/>
          <p:nvPr/>
        </p:nvSpPr>
        <p:spPr>
          <a:xfrm>
            <a:off x="5760720" y="1600200"/>
            <a:ext cx="640080" cy="640080"/>
          </a:xfrm>
          <a:prstGeom prst="ellipse">
            <a:avLst/>
          </a:prstGeom>
          <a:solidFill>
            <a:srgbClr val="6E9A4F"/>
          </a:solidFill>
          <a:ln w="12700">
            <a:solidFill>
              <a:srgbClr val="6E9A4F"/>
            </a:solidFill>
            <a:prstDash val="solid"/>
          </a:ln>
        </p:spPr>
      </p:sp>
      <p:sp>
        <p:nvSpPr>
          <p:cNvPr id="16" name="Text 13"/>
          <p:cNvSpPr txBox="1"/>
          <p:nvPr/>
        </p:nvSpPr>
        <p:spPr>
          <a:xfrm>
            <a:off x="5760720" y="1600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5202936" y="2377440"/>
            <a:ext cx="1755648" cy="2743200"/>
          </a:xfrm>
          <a:prstGeom prst="rect">
            <a:avLst/>
          </a:prstGeom>
          <a:noFill/>
          <a:ln/>
        </p:spPr>
        <p:txBody>
          <a:bodyPr wrap="square" lIns="0" tIns="0" rIns="0" bIns="0" rtlCol="0" anchor="ctr"/>
          <a:lstStyle/>
          <a:p>
            <a:pPr algn="ctr" indent="0" marL="0">
              <a:buNone/>
            </a:pPr>
            <a:r>
              <a:rPr lang="en-US" sz="1500" dirty="0">
                <a:solidFill>
                  <a:srgbClr val="3B2A2A"/>
                </a:solidFill>
              </a:rPr>
              <a:t>Critérios de sucesso, ajuste e interrupção</a:t>
            </a:r>
            <a:endParaRPr lang="en-US" sz="1500" dirty="0"/>
          </a:p>
        </p:txBody>
      </p:sp>
      <p:sp>
        <p:nvSpPr>
          <p:cNvPr id="18" name="Text 15"/>
          <p:cNvSpPr txBox="1"/>
          <p:nvPr/>
        </p:nvSpPr>
        <p:spPr>
          <a:xfrm>
            <a:off x="7077456" y="3200400"/>
            <a:ext cx="265176" cy="548640"/>
          </a:xfrm>
          <a:prstGeom prst="rect">
            <a:avLst/>
          </a:prstGeom>
          <a:noFill/>
          <a:ln/>
        </p:spPr>
        <p:txBody>
          <a:bodyPr wrap="square" lIns="0" tIns="0" rIns="0" bIns="0" rtlCol="0" anchor="ctr"/>
          <a:lstStyle/>
          <a:p>
            <a:pPr algn="ctr" indent="0" marL="0">
              <a:buNone/>
            </a:pPr>
            <a:r>
              <a:rPr lang="en-US" sz="2800" b="1" dirty="0">
                <a:solidFill>
                  <a:srgbClr val="6E9A4F"/>
                </a:solidFill>
              </a:rPr>
              <a:t>›</a:t>
            </a:r>
            <a:endParaRPr lang="en-US" sz="2800" dirty="0"/>
          </a:p>
        </p:txBody>
      </p:sp>
      <p:sp>
        <p:nvSpPr>
          <p:cNvPr id="19" name="Shape 16"/>
          <p:cNvSpPr/>
          <p:nvPr/>
        </p:nvSpPr>
        <p:spPr>
          <a:xfrm>
            <a:off x="7324344" y="1920240"/>
            <a:ext cx="2029968" cy="3291840"/>
          </a:xfrm>
          <a:prstGeom prst="roundRect">
            <a:avLst>
              <a:gd name="adj" fmla="val 6757"/>
            </a:avLst>
          </a:prstGeom>
          <a:solidFill>
            <a:srgbClr val="F7EFE6"/>
          </a:solidFill>
          <a:ln w="12700">
            <a:solidFill>
              <a:srgbClr val="F7EFE6"/>
            </a:solidFill>
            <a:prstDash val="solid"/>
          </a:ln>
        </p:spPr>
      </p:sp>
      <p:sp>
        <p:nvSpPr>
          <p:cNvPr id="20" name="Shape 17"/>
          <p:cNvSpPr/>
          <p:nvPr/>
        </p:nvSpPr>
        <p:spPr>
          <a:xfrm>
            <a:off x="8019288" y="1600200"/>
            <a:ext cx="640080" cy="640080"/>
          </a:xfrm>
          <a:prstGeom prst="ellipse">
            <a:avLst/>
          </a:prstGeom>
          <a:solidFill>
            <a:srgbClr val="6E9A4F"/>
          </a:solidFill>
          <a:ln w="12700">
            <a:solidFill>
              <a:srgbClr val="6E9A4F"/>
            </a:solidFill>
            <a:prstDash val="solid"/>
          </a:ln>
        </p:spPr>
      </p:sp>
      <p:sp>
        <p:nvSpPr>
          <p:cNvPr id="21" name="Text 18"/>
          <p:cNvSpPr txBox="1"/>
          <p:nvPr/>
        </p:nvSpPr>
        <p:spPr>
          <a:xfrm>
            <a:off x="8019288" y="1600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19"/>
          <p:cNvSpPr txBox="1"/>
          <p:nvPr/>
        </p:nvSpPr>
        <p:spPr>
          <a:xfrm>
            <a:off x="7461504" y="2377440"/>
            <a:ext cx="1755648" cy="2743200"/>
          </a:xfrm>
          <a:prstGeom prst="rect">
            <a:avLst/>
          </a:prstGeom>
          <a:noFill/>
          <a:ln/>
        </p:spPr>
        <p:txBody>
          <a:bodyPr wrap="square" lIns="0" tIns="0" rIns="0" bIns="0" rtlCol="0" anchor="ctr"/>
          <a:lstStyle/>
          <a:p>
            <a:pPr algn="ctr" indent="0" marL="0">
              <a:buNone/>
            </a:pPr>
            <a:r>
              <a:rPr lang="en-US" sz="1500" dirty="0">
                <a:solidFill>
                  <a:srgbClr val="3B2A2A"/>
                </a:solidFill>
              </a:rPr>
              <a:t>Dados: poucos, éticos, números e relatos</a:t>
            </a:r>
            <a:endParaRPr lang="en-US" sz="1500" dirty="0"/>
          </a:p>
        </p:txBody>
      </p:sp>
      <p:sp>
        <p:nvSpPr>
          <p:cNvPr id="23" name="Text 20"/>
          <p:cNvSpPr txBox="1"/>
          <p:nvPr/>
        </p:nvSpPr>
        <p:spPr>
          <a:xfrm>
            <a:off x="9336024" y="3200400"/>
            <a:ext cx="265176" cy="548640"/>
          </a:xfrm>
          <a:prstGeom prst="rect">
            <a:avLst/>
          </a:prstGeom>
          <a:noFill/>
          <a:ln/>
        </p:spPr>
        <p:txBody>
          <a:bodyPr wrap="square" lIns="0" tIns="0" rIns="0" bIns="0" rtlCol="0" anchor="ctr"/>
          <a:lstStyle/>
          <a:p>
            <a:pPr algn="ctr" indent="0" marL="0">
              <a:buNone/>
            </a:pPr>
            <a:r>
              <a:rPr lang="en-US" sz="2800" b="1" dirty="0">
                <a:solidFill>
                  <a:srgbClr val="6E9A4F"/>
                </a:solidFill>
              </a:rPr>
              <a:t>›</a:t>
            </a:r>
            <a:endParaRPr lang="en-US" sz="2800" dirty="0"/>
          </a:p>
        </p:txBody>
      </p:sp>
      <p:sp>
        <p:nvSpPr>
          <p:cNvPr id="24" name="Shape 21"/>
          <p:cNvSpPr/>
          <p:nvPr/>
        </p:nvSpPr>
        <p:spPr>
          <a:xfrm>
            <a:off x="9582912" y="1920240"/>
            <a:ext cx="2029968" cy="3291840"/>
          </a:xfrm>
          <a:prstGeom prst="roundRect">
            <a:avLst>
              <a:gd name="adj" fmla="val 6757"/>
            </a:avLst>
          </a:prstGeom>
          <a:solidFill>
            <a:srgbClr val="F7EFE6"/>
          </a:solidFill>
          <a:ln w="12700">
            <a:solidFill>
              <a:srgbClr val="F7EFE6"/>
            </a:solidFill>
            <a:prstDash val="solid"/>
          </a:ln>
        </p:spPr>
      </p:sp>
      <p:sp>
        <p:nvSpPr>
          <p:cNvPr id="25" name="Shape 22"/>
          <p:cNvSpPr/>
          <p:nvPr/>
        </p:nvSpPr>
        <p:spPr>
          <a:xfrm>
            <a:off x="10277856" y="1600200"/>
            <a:ext cx="640080" cy="640080"/>
          </a:xfrm>
          <a:prstGeom prst="ellipse">
            <a:avLst/>
          </a:prstGeom>
          <a:solidFill>
            <a:srgbClr val="6E9A4F"/>
          </a:solidFill>
          <a:ln w="12700">
            <a:solidFill>
              <a:srgbClr val="6E9A4F"/>
            </a:solidFill>
            <a:prstDash val="solid"/>
          </a:ln>
        </p:spPr>
      </p:sp>
      <p:sp>
        <p:nvSpPr>
          <p:cNvPr id="26" name="Text 23"/>
          <p:cNvSpPr txBox="1"/>
          <p:nvPr/>
        </p:nvSpPr>
        <p:spPr>
          <a:xfrm>
            <a:off x="10277856" y="1600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7" name="Text 24"/>
          <p:cNvSpPr txBox="1"/>
          <p:nvPr/>
        </p:nvSpPr>
        <p:spPr>
          <a:xfrm>
            <a:off x="9720072" y="2377440"/>
            <a:ext cx="1755648" cy="2743200"/>
          </a:xfrm>
          <a:prstGeom prst="rect">
            <a:avLst/>
          </a:prstGeom>
          <a:noFill/>
          <a:ln/>
        </p:spPr>
        <p:txBody>
          <a:bodyPr wrap="square" lIns="0" tIns="0" rIns="0" bIns="0" rtlCol="0" anchor="ctr"/>
          <a:lstStyle/>
          <a:p>
            <a:pPr algn="ctr" indent="0" marL="0">
              <a:buNone/>
            </a:pPr>
            <a:r>
              <a:rPr lang="en-US" sz="1500" dirty="0">
                <a:solidFill>
                  <a:srgbClr val="3B2A2A"/>
                </a:solidFill>
              </a:rPr>
              <a:t>Responsáveis, riscos e plano de saída</a:t>
            </a:r>
            <a:endParaRPr lang="en-US" sz="1500" dirty="0"/>
          </a:p>
        </p:txBody>
      </p:sp>
      <p:sp>
        <p:nvSpPr>
          <p:cNvPr id="28" name="Text 25"/>
          <p:cNvSpPr txBox="1"/>
          <p:nvPr/>
        </p:nvSpPr>
        <p:spPr>
          <a:xfrm>
            <a:off x="548640" y="5486400"/>
            <a:ext cx="11064240" cy="731520"/>
          </a:xfrm>
          <a:prstGeom prst="rect">
            <a:avLst/>
          </a:prstGeom>
          <a:noFill/>
          <a:ln/>
        </p:spPr>
        <p:txBody>
          <a:bodyPr wrap="square" lIns="0" tIns="0" rIns="0" bIns="0" rtlCol="0" anchor="ctr"/>
          <a:lstStyle/>
          <a:p>
            <a:pPr algn="ctr" indent="0" marL="0">
              <a:buNone/>
            </a:pPr>
            <a:r>
              <a:rPr lang="en-US" sz="1800" i="1" dirty="0">
                <a:solidFill>
                  <a:srgbClr val="5A2E2A"/>
                </a:solidFill>
              </a:rPr>
              <a:t>Os critérios vêm antes, não depois.</a:t>
            </a:r>
            <a:endParaRPr lang="en-US" sz="1800" dirty="0"/>
          </a:p>
        </p:txBody>
      </p:sp>
      <p:sp>
        <p:nvSpPr>
          <p:cNvPr id="29" name="Text 2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Ciclo de um piloto</a:t>
            </a:r>
            <a:endParaRPr lang="en-US" sz="3400" dirty="0"/>
          </a:p>
        </p:txBody>
      </p:sp>
      <p:pic>
        <p:nvPicPr>
          <p:cNvPr id="4" name="Image 0" descr="A decisão retorna ao diagnóstico.">    </p:cNvPr>
          <p:cNvPicPr>
            <a:picLocks noChangeAspect="1"/>
          </p:cNvPicPr>
          <p:nvPr/>
        </p:nvPicPr>
        <p:blipFill>
          <a:blip r:embed="rId1"/>
          <a:stretch>
            <a:fillRect/>
          </a:stretch>
        </p:blipFill>
        <p:spPr>
          <a:xfrm>
            <a:off x="3168873" y="1325880"/>
            <a:ext cx="5823773" cy="4434840"/>
          </a:xfrm>
          <a:prstGeom prst="rect">
            <a:avLst/>
          </a:prstGeom>
        </p:spPr>
      </p:pic>
      <p:sp>
        <p:nvSpPr>
          <p:cNvPr id="5" name="Text 1"/>
          <p:cNvSpPr txBox="1"/>
          <p:nvPr/>
        </p:nvSpPr>
        <p:spPr>
          <a:xfrm>
            <a:off x="548640" y="5852160"/>
            <a:ext cx="11064240" cy="548640"/>
          </a:xfrm>
          <a:prstGeom prst="rect">
            <a:avLst/>
          </a:prstGeom>
          <a:noFill/>
          <a:ln/>
        </p:spPr>
        <p:txBody>
          <a:bodyPr wrap="square" lIns="0" tIns="0" rIns="0" bIns="0" rtlCol="0" anchor="ctr"/>
          <a:lstStyle/>
          <a:p>
            <a:pPr algn="ctr" indent="0" marL="0">
              <a:buNone/>
            </a:pPr>
            <a:r>
              <a:rPr lang="en-US" sz="1400" i="1" dirty="0">
                <a:solidFill>
                  <a:srgbClr val="6B5F59"/>
                </a:solidFill>
              </a:rPr>
              <a:t>A decisão retorna ao diagnóstico.</a:t>
            </a:r>
            <a:endParaRPr lang="en-US" sz="1400" dirty="0"/>
          </a:p>
        </p:txBody>
      </p:sp>
      <p:sp>
        <p:nvSpPr>
          <p:cNvPr id="6"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Armadilhas na leitura do piloto</a:t>
            </a:r>
            <a:endParaRPr lang="en-US" sz="3400" dirty="0"/>
          </a:p>
        </p:txBody>
      </p:sp>
      <p:sp>
        <p:nvSpPr>
          <p:cNvPr id="4" name="Shape 1"/>
          <p:cNvSpPr/>
          <p:nvPr/>
        </p:nvSpPr>
        <p:spPr>
          <a:xfrm>
            <a:off x="54864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777240" y="1691640"/>
            <a:ext cx="640080" cy="640080"/>
          </a:xfrm>
          <a:prstGeom prst="ellipse">
            <a:avLst/>
          </a:prstGeom>
          <a:solidFill>
            <a:srgbClr val="3D7EA6"/>
          </a:solidFill>
          <a:ln w="12700">
            <a:solidFill>
              <a:srgbClr val="3D7EA6"/>
            </a:solidFill>
            <a:prstDash val="solid"/>
          </a:ln>
        </p:spPr>
      </p:sp>
      <p:sp>
        <p:nvSpPr>
          <p:cNvPr id="6"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77724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Voluntários</a:t>
            </a:r>
            <a:endParaRPr lang="en-US" sz="1800" dirty="0"/>
          </a:p>
        </p:txBody>
      </p:sp>
      <p:sp>
        <p:nvSpPr>
          <p:cNvPr id="8" name="Text 5"/>
          <p:cNvSpPr txBox="1"/>
          <p:nvPr/>
        </p:nvSpPr>
        <p:spPr>
          <a:xfrm>
            <a:off x="77724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Quem aceita costuma ser mais entusiasta ou preparado.</a:t>
            </a:r>
            <a:endParaRPr lang="en-US" sz="1500" dirty="0"/>
          </a:p>
        </p:txBody>
      </p:sp>
      <p:sp>
        <p:nvSpPr>
          <p:cNvPr id="9" name="Shape 6"/>
          <p:cNvSpPr/>
          <p:nvPr/>
        </p:nvSpPr>
        <p:spPr>
          <a:xfrm>
            <a:off x="338328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611880" y="1691640"/>
            <a:ext cx="640080" cy="640080"/>
          </a:xfrm>
          <a:prstGeom prst="ellipse">
            <a:avLst/>
          </a:prstGeom>
          <a:solidFill>
            <a:srgbClr val="6E9A4F"/>
          </a:solidFill>
          <a:ln w="12700">
            <a:solidFill>
              <a:srgbClr val="6E9A4F"/>
            </a:solidFill>
            <a:prstDash val="solid"/>
          </a:ln>
        </p:spPr>
      </p:sp>
      <p:sp>
        <p:nvSpPr>
          <p:cNvPr id="11" name="Text 8"/>
          <p:cNvSpPr txBox="1"/>
          <p:nvPr/>
        </p:nvSpPr>
        <p:spPr>
          <a:xfrm>
            <a:off x="361188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361188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Novidade</a:t>
            </a:r>
            <a:endParaRPr lang="en-US" sz="1800" dirty="0"/>
          </a:p>
        </p:txBody>
      </p:sp>
      <p:sp>
        <p:nvSpPr>
          <p:cNvPr id="13" name="Text 10"/>
          <p:cNvSpPr txBox="1"/>
          <p:nvPr/>
        </p:nvSpPr>
        <p:spPr>
          <a:xfrm>
            <a:off x="361188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A atenção inicial eleva o engajamento por pouco tempo.</a:t>
            </a:r>
            <a:endParaRPr lang="en-US" sz="1500" dirty="0"/>
          </a:p>
        </p:txBody>
      </p:sp>
      <p:sp>
        <p:nvSpPr>
          <p:cNvPr id="14" name="Shape 11"/>
          <p:cNvSpPr/>
          <p:nvPr/>
        </p:nvSpPr>
        <p:spPr>
          <a:xfrm>
            <a:off x="621792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6446520" y="1691640"/>
            <a:ext cx="640080" cy="640080"/>
          </a:xfrm>
          <a:prstGeom prst="ellipse">
            <a:avLst/>
          </a:prstGeom>
          <a:solidFill>
            <a:srgbClr val="2A9D8F"/>
          </a:solidFill>
          <a:ln w="12700">
            <a:solidFill>
              <a:srgbClr val="2A9D8F"/>
            </a:solidFill>
            <a:prstDash val="solid"/>
          </a:ln>
        </p:spPr>
      </p:sp>
      <p:sp>
        <p:nvSpPr>
          <p:cNvPr id="16" name="Text 13"/>
          <p:cNvSpPr txBox="1"/>
          <p:nvPr/>
        </p:nvSpPr>
        <p:spPr>
          <a:xfrm>
            <a:off x="644652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644652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Contexto</a:t>
            </a:r>
            <a:endParaRPr lang="en-US" sz="1800" dirty="0"/>
          </a:p>
        </p:txBody>
      </p:sp>
      <p:sp>
        <p:nvSpPr>
          <p:cNvPr id="18" name="Text 15"/>
          <p:cNvSpPr txBox="1"/>
          <p:nvPr/>
        </p:nvSpPr>
        <p:spPr>
          <a:xfrm>
            <a:off x="644652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O que funciona numa escola ou disciplina pode não valer em outra.</a:t>
            </a:r>
            <a:endParaRPr lang="en-US" sz="1500" dirty="0"/>
          </a:p>
        </p:txBody>
      </p:sp>
      <p:sp>
        <p:nvSpPr>
          <p:cNvPr id="19" name="Shape 16"/>
          <p:cNvSpPr/>
          <p:nvPr/>
        </p:nvSpPr>
        <p:spPr>
          <a:xfrm>
            <a:off x="905256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9281160" y="1691640"/>
            <a:ext cx="640080" cy="640080"/>
          </a:xfrm>
          <a:prstGeom prst="ellipse">
            <a:avLst/>
          </a:prstGeom>
          <a:solidFill>
            <a:srgbClr val="6D3B6E"/>
          </a:solidFill>
          <a:ln w="12700">
            <a:solidFill>
              <a:srgbClr val="6D3B6E"/>
            </a:solidFill>
            <a:prstDash val="solid"/>
          </a:ln>
        </p:spPr>
      </p:sp>
      <p:sp>
        <p:nvSpPr>
          <p:cNvPr id="21" name="Text 18"/>
          <p:cNvSpPr txBox="1"/>
          <p:nvPr/>
        </p:nvSpPr>
        <p:spPr>
          <a:xfrm>
            <a:off x="928116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19"/>
          <p:cNvSpPr txBox="1"/>
          <p:nvPr/>
        </p:nvSpPr>
        <p:spPr>
          <a:xfrm>
            <a:off x="928116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Percepção</a:t>
            </a:r>
            <a:endParaRPr lang="en-US" sz="1800" dirty="0"/>
          </a:p>
        </p:txBody>
      </p:sp>
      <p:sp>
        <p:nvSpPr>
          <p:cNvPr id="23" name="Text 20"/>
          <p:cNvSpPr txBox="1"/>
          <p:nvPr/>
        </p:nvSpPr>
        <p:spPr>
          <a:xfrm>
            <a:off x="928116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Gostar e economizar tempo não provam aprendizagem.</a:t>
            </a:r>
            <a:endParaRPr lang="en-US" sz="1500" dirty="0"/>
          </a:p>
        </p:txBody>
      </p:sp>
      <p:sp>
        <p:nvSpPr>
          <p:cNvPr id="24"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Três decisões possíveis</a:t>
            </a:r>
            <a:endParaRPr lang="en-US" sz="3400" dirty="0"/>
          </a:p>
        </p:txBody>
      </p:sp>
      <p:sp>
        <p:nvSpPr>
          <p:cNvPr id="4" name="Shape 1"/>
          <p:cNvSpPr/>
          <p:nvPr/>
        </p:nvSpPr>
        <p:spPr>
          <a:xfrm>
            <a:off x="548640" y="1463040"/>
            <a:ext cx="3505200" cy="4480560"/>
          </a:xfrm>
          <a:prstGeom prst="roundRect">
            <a:avLst>
              <a:gd name="adj" fmla="val 3913"/>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777240" y="1691640"/>
            <a:ext cx="640080" cy="640080"/>
          </a:xfrm>
          <a:prstGeom prst="ellipse">
            <a:avLst/>
          </a:prstGeom>
          <a:solidFill>
            <a:srgbClr val="3D7EA6"/>
          </a:solidFill>
          <a:ln w="12700">
            <a:solidFill>
              <a:srgbClr val="3D7EA6"/>
            </a:solidFill>
            <a:prstDash val="solid"/>
          </a:ln>
        </p:spPr>
      </p:sp>
      <p:sp>
        <p:nvSpPr>
          <p:cNvPr id="6"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777240" y="2468880"/>
            <a:ext cx="3048000" cy="822960"/>
          </a:xfrm>
          <a:prstGeom prst="rect">
            <a:avLst/>
          </a:prstGeom>
          <a:noFill/>
          <a:ln/>
        </p:spPr>
        <p:txBody>
          <a:bodyPr wrap="square" lIns="0" tIns="0" rIns="0" bIns="0" rtlCol="0" anchor="t"/>
          <a:lstStyle/>
          <a:p>
            <a:pPr indent="0" marL="0">
              <a:buNone/>
            </a:pPr>
            <a:r>
              <a:rPr lang="en-US" sz="2000" b="1" dirty="0">
                <a:solidFill>
                  <a:srgbClr val="5A2E2A"/>
                </a:solidFill>
                <a:latin typeface="Cambria" pitchFamily="34" charset="0"/>
                <a:ea typeface="Cambria" pitchFamily="34" charset="-122"/>
                <a:cs typeface="Cambria" pitchFamily="34" charset="-120"/>
              </a:rPr>
              <a:t>Continuar</a:t>
            </a:r>
            <a:endParaRPr lang="en-US" sz="2000" dirty="0"/>
          </a:p>
        </p:txBody>
      </p:sp>
      <p:sp>
        <p:nvSpPr>
          <p:cNvPr id="8" name="Text 5"/>
          <p:cNvSpPr txBox="1"/>
          <p:nvPr/>
        </p:nvSpPr>
        <p:spPr>
          <a:xfrm>
            <a:off x="777240" y="3337560"/>
            <a:ext cx="3048000" cy="2468880"/>
          </a:xfrm>
          <a:prstGeom prst="rect">
            <a:avLst/>
          </a:prstGeom>
          <a:noFill/>
          <a:ln/>
        </p:spPr>
        <p:txBody>
          <a:bodyPr wrap="square" lIns="0" tIns="0" rIns="0" bIns="0" rtlCol="0" anchor="t"/>
          <a:lstStyle/>
          <a:p>
            <a:pPr indent="0" marL="0">
              <a:buNone/>
            </a:pPr>
            <a:r>
              <a:rPr lang="en-US" sz="1700" dirty="0">
                <a:solidFill>
                  <a:srgbClr val="3B2A2A"/>
                </a:solidFill>
              </a:rPr>
              <a:t>Ampliar com ajustes, quando os critérios foram atendidos.</a:t>
            </a:r>
            <a:endParaRPr lang="en-US" sz="1700" dirty="0"/>
          </a:p>
        </p:txBody>
      </p:sp>
      <p:sp>
        <p:nvSpPr>
          <p:cNvPr id="9" name="Shape 6"/>
          <p:cNvSpPr/>
          <p:nvPr/>
        </p:nvSpPr>
        <p:spPr>
          <a:xfrm>
            <a:off x="4328160" y="1463040"/>
            <a:ext cx="3505200" cy="4480560"/>
          </a:xfrm>
          <a:prstGeom prst="roundRect">
            <a:avLst>
              <a:gd name="adj" fmla="val 3913"/>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4556760" y="1691640"/>
            <a:ext cx="640080" cy="640080"/>
          </a:xfrm>
          <a:prstGeom prst="ellipse">
            <a:avLst/>
          </a:prstGeom>
          <a:solidFill>
            <a:srgbClr val="6E9A4F"/>
          </a:solidFill>
          <a:ln w="12700">
            <a:solidFill>
              <a:srgbClr val="6E9A4F"/>
            </a:solidFill>
            <a:prstDash val="solid"/>
          </a:ln>
        </p:spPr>
      </p:sp>
      <p:sp>
        <p:nvSpPr>
          <p:cNvPr id="11" name="Text 8"/>
          <p:cNvSpPr txBox="1"/>
          <p:nvPr/>
        </p:nvSpPr>
        <p:spPr>
          <a:xfrm>
            <a:off x="455676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4556760" y="2468880"/>
            <a:ext cx="3048000" cy="822960"/>
          </a:xfrm>
          <a:prstGeom prst="rect">
            <a:avLst/>
          </a:prstGeom>
          <a:noFill/>
          <a:ln/>
        </p:spPr>
        <p:txBody>
          <a:bodyPr wrap="square" lIns="0" tIns="0" rIns="0" bIns="0" rtlCol="0" anchor="t"/>
          <a:lstStyle/>
          <a:p>
            <a:pPr indent="0" marL="0">
              <a:buNone/>
            </a:pPr>
            <a:r>
              <a:rPr lang="en-US" sz="2000" b="1" dirty="0">
                <a:solidFill>
                  <a:srgbClr val="5A2E2A"/>
                </a:solidFill>
                <a:latin typeface="Cambria" pitchFamily="34" charset="0"/>
                <a:ea typeface="Cambria" pitchFamily="34" charset="-122"/>
                <a:cs typeface="Cambria" pitchFamily="34" charset="-120"/>
              </a:rPr>
              <a:t>Modificar</a:t>
            </a:r>
            <a:endParaRPr lang="en-US" sz="2000" dirty="0"/>
          </a:p>
        </p:txBody>
      </p:sp>
      <p:sp>
        <p:nvSpPr>
          <p:cNvPr id="13" name="Text 10"/>
          <p:cNvSpPr txBox="1"/>
          <p:nvPr/>
        </p:nvSpPr>
        <p:spPr>
          <a:xfrm>
            <a:off x="4556760" y="3337560"/>
            <a:ext cx="3048000" cy="2468880"/>
          </a:xfrm>
          <a:prstGeom prst="rect">
            <a:avLst/>
          </a:prstGeom>
          <a:noFill/>
          <a:ln/>
        </p:spPr>
        <p:txBody>
          <a:bodyPr wrap="square" lIns="0" tIns="0" rIns="0" bIns="0" rtlCol="0" anchor="t"/>
          <a:lstStyle/>
          <a:p>
            <a:pPr indent="0" marL="0">
              <a:buNone/>
            </a:pPr>
            <a:r>
              <a:rPr lang="en-US" sz="1700" dirty="0">
                <a:solidFill>
                  <a:srgbClr val="3B2A2A"/>
                </a:solidFill>
              </a:rPr>
              <a:t>Repetir em outro desenho, com o que se aprendeu.</a:t>
            </a:r>
            <a:endParaRPr lang="en-US" sz="1700" dirty="0"/>
          </a:p>
        </p:txBody>
      </p:sp>
      <p:sp>
        <p:nvSpPr>
          <p:cNvPr id="14" name="Shape 11"/>
          <p:cNvSpPr/>
          <p:nvPr/>
        </p:nvSpPr>
        <p:spPr>
          <a:xfrm>
            <a:off x="8107680" y="1463040"/>
            <a:ext cx="3505200" cy="4480560"/>
          </a:xfrm>
          <a:prstGeom prst="roundRect">
            <a:avLst>
              <a:gd name="adj" fmla="val 3913"/>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8336280" y="1691640"/>
            <a:ext cx="640080" cy="640080"/>
          </a:xfrm>
          <a:prstGeom prst="ellipse">
            <a:avLst/>
          </a:prstGeom>
          <a:solidFill>
            <a:srgbClr val="2A9D8F"/>
          </a:solidFill>
          <a:ln w="12700">
            <a:solidFill>
              <a:srgbClr val="2A9D8F"/>
            </a:solidFill>
            <a:prstDash val="solid"/>
          </a:ln>
        </p:spPr>
      </p:sp>
      <p:sp>
        <p:nvSpPr>
          <p:cNvPr id="16" name="Text 13"/>
          <p:cNvSpPr txBox="1"/>
          <p:nvPr/>
        </p:nvSpPr>
        <p:spPr>
          <a:xfrm>
            <a:off x="833628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8336280" y="2468880"/>
            <a:ext cx="3048000" cy="822960"/>
          </a:xfrm>
          <a:prstGeom prst="rect">
            <a:avLst/>
          </a:prstGeom>
          <a:noFill/>
          <a:ln/>
        </p:spPr>
        <p:txBody>
          <a:bodyPr wrap="square" lIns="0" tIns="0" rIns="0" bIns="0" rtlCol="0" anchor="t"/>
          <a:lstStyle/>
          <a:p>
            <a:pPr indent="0" marL="0">
              <a:buNone/>
            </a:pPr>
            <a:r>
              <a:rPr lang="en-US" sz="2000" b="1" dirty="0">
                <a:solidFill>
                  <a:srgbClr val="5A2E2A"/>
                </a:solidFill>
                <a:latin typeface="Cambria" pitchFamily="34" charset="0"/>
                <a:ea typeface="Cambria" pitchFamily="34" charset="-122"/>
                <a:cs typeface="Cambria" pitchFamily="34" charset="-120"/>
              </a:rPr>
              <a:t>Interromper</a:t>
            </a:r>
            <a:endParaRPr lang="en-US" sz="2000" dirty="0"/>
          </a:p>
        </p:txBody>
      </p:sp>
      <p:sp>
        <p:nvSpPr>
          <p:cNvPr id="18" name="Text 15"/>
          <p:cNvSpPr txBox="1"/>
          <p:nvPr/>
        </p:nvSpPr>
        <p:spPr>
          <a:xfrm>
            <a:off x="8336280" y="3337560"/>
            <a:ext cx="3048000" cy="2468880"/>
          </a:xfrm>
          <a:prstGeom prst="rect">
            <a:avLst/>
          </a:prstGeom>
          <a:noFill/>
          <a:ln/>
        </p:spPr>
        <p:txBody>
          <a:bodyPr wrap="square" lIns="0" tIns="0" rIns="0" bIns="0" rtlCol="0" anchor="t"/>
          <a:lstStyle/>
          <a:p>
            <a:pPr indent="0" marL="0">
              <a:buNone/>
            </a:pPr>
            <a:r>
              <a:rPr lang="en-US" sz="1700" dirty="0">
                <a:solidFill>
                  <a:srgbClr val="3B2A2A"/>
                </a:solidFill>
              </a:rPr>
              <a:t>Registrar o aprendizado. Não é fracasso: protege pessoas.</a:t>
            </a:r>
            <a:endParaRPr lang="en-US" sz="1700" dirty="0"/>
          </a:p>
        </p:txBody>
      </p:sp>
      <p:sp>
        <p:nvSpPr>
          <p:cNvPr id="19" name="Text 1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Síntese: do diagnóstico à decisão</a:t>
            </a:r>
            <a:endParaRPr lang="en-US" sz="3400" dirty="0"/>
          </a:p>
        </p:txBody>
      </p:sp>
      <p:pic>
        <p:nvPicPr>
          <p:cNvPr id="4" name="Image 0" descr="Diagnóstico, formação, piloto e decisão.">    </p:cNvPr>
          <p:cNvPicPr>
            <a:picLocks noChangeAspect="1"/>
          </p:cNvPicPr>
          <p:nvPr/>
        </p:nvPicPr>
        <p:blipFill>
          <a:blip r:embed="rId1"/>
          <a:stretch>
            <a:fillRect/>
          </a:stretch>
        </p:blipFill>
        <p:spPr>
          <a:xfrm>
            <a:off x="1668286" y="1325880"/>
            <a:ext cx="8824948" cy="4434840"/>
          </a:xfrm>
          <a:prstGeom prst="rect">
            <a:avLst/>
          </a:prstGeom>
        </p:spPr>
      </p:pic>
      <p:sp>
        <p:nvSpPr>
          <p:cNvPr id="5" name="Text 1"/>
          <p:cNvSpPr txBox="1"/>
          <p:nvPr/>
        </p:nvSpPr>
        <p:spPr>
          <a:xfrm>
            <a:off x="548640" y="5852160"/>
            <a:ext cx="11064240" cy="548640"/>
          </a:xfrm>
          <a:prstGeom prst="rect">
            <a:avLst/>
          </a:prstGeom>
          <a:noFill/>
          <a:ln/>
        </p:spPr>
        <p:txBody>
          <a:bodyPr wrap="square" lIns="0" tIns="0" rIns="0" bIns="0" rtlCol="0" anchor="ctr"/>
          <a:lstStyle/>
          <a:p>
            <a:pPr algn="ctr" indent="0" marL="0">
              <a:buNone/>
            </a:pPr>
            <a:r>
              <a:rPr lang="en-US" sz="1400" i="1" dirty="0">
                <a:solidFill>
                  <a:srgbClr val="6B5F59"/>
                </a:solidFill>
              </a:rPr>
              <a:t>Diagnóstico, formação, piloto e decisão.</a:t>
            </a:r>
            <a:endParaRPr lang="en-US" sz="1400" dirty="0"/>
          </a:p>
        </p:txBody>
      </p:sp>
      <p:sp>
        <p:nvSpPr>
          <p:cNvPr id="6"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5A2E2A"/>
        </a:solidFill>
      </p:bgPr>
    </p:bg>
    <p:spTree>
      <p:nvGrpSpPr>
        <p:cNvPr id="1" name=""/>
        <p:cNvGrpSpPr/>
        <p:nvPr/>
      </p:nvGrpSpPr>
      <p:grpSpPr>
        <a:xfrm>
          <a:off x="0" y="0"/>
          <a:ext cx="0" cy="0"/>
          <a:chOff x="0" y="0"/>
          <a:chExt cx="0" cy="0"/>
        </a:xfrm>
      </p:grpSpPr>
      <p:sp>
        <p:nvSpPr>
          <p:cNvPr id="3" name="Text 0"/>
          <p:cNvSpPr txBox="1"/>
          <p:nvPr/>
        </p:nvSpPr>
        <p:spPr>
          <a:xfrm>
            <a:off x="914400" y="1188720"/>
            <a:ext cx="10332720" cy="3840480"/>
          </a:xfrm>
          <a:prstGeom prst="rect">
            <a:avLst/>
          </a:prstGeom>
          <a:noFill/>
          <a:ln/>
        </p:spPr>
        <p:txBody>
          <a:bodyPr wrap="square" lIns="0" tIns="0" rIns="0" bIns="0" rtlCol="0" anchor="ctr"/>
          <a:lstStyle/>
          <a:p>
            <a:pPr algn="ctr" indent="0" marL="0">
              <a:buNone/>
            </a:pPr>
            <a:r>
              <a:rPr lang="en-US" sz="4000" b="1" i="1" dirty="0">
                <a:solidFill>
                  <a:srgbClr val="FFFFFF"/>
                </a:solidFill>
                <a:latin typeface="Cambria" pitchFamily="34" charset="0"/>
                <a:ea typeface="Cambria" pitchFamily="34" charset="-122"/>
                <a:cs typeface="Cambria" pitchFamily="34" charset="-120"/>
              </a:rPr>
              <a:t>“Interromper também é um resultado valioso.”</a:t>
            </a:r>
            <a:endParaRPr lang="en-US" sz="4000" dirty="0"/>
          </a:p>
        </p:txBody>
      </p:sp>
      <p:sp>
        <p:nvSpPr>
          <p:cNvPr id="4" name="Text 1"/>
          <p:cNvSpPr txBox="1"/>
          <p:nvPr/>
        </p:nvSpPr>
        <p:spPr>
          <a:xfrm>
            <a:off x="914400" y="5212080"/>
            <a:ext cx="10332720" cy="822960"/>
          </a:xfrm>
          <a:prstGeom prst="rect">
            <a:avLst/>
          </a:prstGeom>
          <a:noFill/>
          <a:ln/>
        </p:spPr>
        <p:txBody>
          <a:bodyPr wrap="square" lIns="0" tIns="0" rIns="0" bIns="0" rtlCol="0" anchor="ctr"/>
          <a:lstStyle/>
          <a:p>
            <a:pPr algn="ctr" indent="0" marL="0">
              <a:buNone/>
            </a:pPr>
            <a:r>
              <a:rPr lang="en-US" sz="1800" dirty="0">
                <a:solidFill>
                  <a:srgbClr val="F4B860"/>
                </a:solidFill>
              </a:rPr>
              <a:t>O piloto existe para aprender, não para dar certo.</a:t>
            </a:r>
            <a:endParaRPr lang="en-US" sz="1800" dirty="0"/>
          </a:p>
        </p:txBody>
      </p:sp>
      <p:sp>
        <p:nvSpPr>
          <p:cNvPr id="5"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E9D9C8"/>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Atividade: diagnóstico rápido da escola</a:t>
            </a:r>
            <a:endParaRPr lang="en-US" sz="3400" dirty="0"/>
          </a:p>
        </p:txBody>
      </p:sp>
      <p:sp>
        <p:nvSpPr>
          <p:cNvPr id="4" name="Shape 1"/>
          <p:cNvSpPr/>
          <p:nvPr/>
        </p:nvSpPr>
        <p:spPr>
          <a:xfrm>
            <a:off x="548640" y="1417320"/>
            <a:ext cx="6949440" cy="4663440"/>
          </a:xfrm>
          <a:prstGeom prst="roundRect">
            <a:avLst>
              <a:gd name="adj" fmla="val 2941"/>
            </a:avLst>
          </a:prstGeom>
          <a:solidFill>
            <a:srgbClr val="F7EFE6"/>
          </a:solidFill>
          <a:ln w="12700">
            <a:solidFill>
              <a:srgbClr val="F7EFE6"/>
            </a:solidFill>
            <a:prstDash val="solid"/>
          </a:ln>
        </p:spPr>
      </p:sp>
      <p:sp>
        <p:nvSpPr>
          <p:cNvPr id="5" name="Text 2"/>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300" b="1" spc="300" kern="0" dirty="0">
                <a:solidFill>
                  <a:srgbClr val="6E9A4F"/>
                </a:solidFill>
              </a:rPr>
              <a:t>PASSO A PASSO</a:t>
            </a:r>
            <a:endParaRPr lang="en-US" sz="1300" dirty="0"/>
          </a:p>
        </p:txBody>
      </p:sp>
      <p:sp>
        <p:nvSpPr>
          <p:cNvPr id="6" name="Text 3"/>
          <p:cNvSpPr txBox="1"/>
          <p:nvPr/>
        </p:nvSpPr>
        <p:spPr>
          <a:xfrm>
            <a:off x="822960" y="1965960"/>
            <a:ext cx="6400800" cy="40233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600" dirty="0">
                <a:solidFill>
                  <a:srgbClr val="3B2A2A"/>
                </a:solidFill>
              </a:rPr>
              <a:t>Planejar: perguntas-guia, público e regras de privacidade</a:t>
            </a:r>
            <a:endParaRPr lang="en-US" sz="1600" dirty="0"/>
          </a:p>
          <a:p>
            <a:pPr marL="342900" indent="-342900">
              <a:spcAft>
                <a:spcPts val="600"/>
              </a:spcAft>
              <a:buSzPct val="100000"/>
              <a:buFont typeface="+mj-lt"/>
              <a:buAutoNum type="arabicPeriod" startAt="1"/>
            </a:pPr>
            <a:r>
              <a:rPr lang="en-US" sz="1600" dirty="0">
                <a:solidFill>
                  <a:srgbClr val="3B2A2A"/>
                </a:solidFill>
              </a:rPr>
              <a:t>Coletar: questionário, roda de conversa e inventário</a:t>
            </a:r>
            <a:endParaRPr lang="en-US" sz="1600" dirty="0"/>
          </a:p>
          <a:p>
            <a:pPr marL="342900" indent="-342900">
              <a:spcAft>
                <a:spcPts val="600"/>
              </a:spcAft>
              <a:buSzPct val="100000"/>
              <a:buFont typeface="+mj-lt"/>
              <a:buAutoNum type="arabicPeriod" startAt="1"/>
            </a:pPr>
            <a:r>
              <a:rPr lang="en-US" sz="1600" dirty="0">
                <a:solidFill>
                  <a:srgbClr val="3B2A2A"/>
                </a:solidFill>
              </a:rPr>
              <a:t>Analisar por dimensão, sem conclusões sobre pessoas</a:t>
            </a:r>
            <a:endParaRPr lang="en-US" sz="1600" dirty="0"/>
          </a:p>
          <a:p>
            <a:pPr marL="342900" indent="-342900">
              <a:spcAft>
                <a:spcPts val="600"/>
              </a:spcAft>
              <a:buSzPct val="100000"/>
              <a:buFont typeface="+mj-lt"/>
              <a:buAutoNum type="arabicPeriod" startAt="1"/>
            </a:pPr>
            <a:r>
              <a:rPr lang="en-US" sz="1600" dirty="0">
                <a:solidFill>
                  <a:srgbClr val="3B2A2A"/>
                </a:solidFill>
              </a:rPr>
              <a:t>Devolver ao coletivo e escolher até três prioridades</a:t>
            </a:r>
            <a:endParaRPr lang="en-US" sz="1600" dirty="0"/>
          </a:p>
          <a:p>
            <a:pPr marL="342900" indent="-342900">
              <a:spcAft>
                <a:spcPts val="600"/>
              </a:spcAft>
              <a:buSzPct val="100000"/>
              <a:buFont typeface="+mj-lt"/>
              <a:buAutoNum type="arabicPeriod" startAt="1"/>
            </a:pPr>
            <a:r>
              <a:rPr lang="en-US" sz="1600" dirty="0">
                <a:solidFill>
                  <a:srgbClr val="3B2A2A"/>
                </a:solidFill>
              </a:rPr>
              <a:t>Guardar dados agregados como linha de base</a:t>
            </a:r>
            <a:endParaRPr lang="en-US" sz="1600" dirty="0"/>
          </a:p>
        </p:txBody>
      </p:sp>
      <p:sp>
        <p:nvSpPr>
          <p:cNvPr id="7" name="Shape 4"/>
          <p:cNvSpPr/>
          <p:nvPr/>
        </p:nvSpPr>
        <p:spPr>
          <a:xfrm>
            <a:off x="7772400" y="1417320"/>
            <a:ext cx="3840480" cy="1444752"/>
          </a:xfrm>
          <a:prstGeom prst="roundRect">
            <a:avLst>
              <a:gd name="adj" fmla="val 9494"/>
            </a:avLst>
          </a:prstGeom>
          <a:solidFill>
            <a:srgbClr val="6E9A4F"/>
          </a:solidFill>
          <a:ln w="12700">
            <a:solidFill>
              <a:srgbClr val="6E9A4F"/>
            </a:solidFill>
            <a:prstDash val="solid"/>
          </a:ln>
        </p:spPr>
      </p:sp>
      <p:sp>
        <p:nvSpPr>
          <p:cNvPr id="8" name="Text 5"/>
          <p:cNvSpPr txBox="1"/>
          <p:nvPr/>
        </p:nvSpPr>
        <p:spPr>
          <a:xfrm>
            <a:off x="8001000" y="1527048"/>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TEMPO</a:t>
            </a:r>
            <a:endParaRPr lang="en-US" sz="1200" dirty="0"/>
          </a:p>
        </p:txBody>
      </p:sp>
      <p:sp>
        <p:nvSpPr>
          <p:cNvPr id="9" name="Text 6"/>
          <p:cNvSpPr txBox="1"/>
          <p:nvPr/>
        </p:nvSpPr>
        <p:spPr>
          <a:xfrm>
            <a:off x="8001000" y="1874520"/>
            <a:ext cx="3383280" cy="896112"/>
          </a:xfrm>
          <a:prstGeom prst="rect">
            <a:avLst/>
          </a:prstGeom>
          <a:noFill/>
          <a:ln/>
        </p:spPr>
        <p:txBody>
          <a:bodyPr wrap="square" lIns="0" tIns="0" rIns="0" bIns="0" rtlCol="0" anchor="t"/>
          <a:lstStyle/>
          <a:p>
            <a:pPr indent="0" marL="0">
              <a:buNone/>
            </a:pPr>
            <a:r>
              <a:rPr lang="en-US" sz="1600" dirty="0">
                <a:solidFill>
                  <a:srgbClr val="FFFFFF"/>
                </a:solidFill>
              </a:rPr>
              <a:t>3 semanas</a:t>
            </a:r>
            <a:endParaRPr lang="en-US" sz="1600" dirty="0"/>
          </a:p>
        </p:txBody>
      </p:sp>
      <p:sp>
        <p:nvSpPr>
          <p:cNvPr id="10" name="Shape 7"/>
          <p:cNvSpPr/>
          <p:nvPr/>
        </p:nvSpPr>
        <p:spPr>
          <a:xfrm>
            <a:off x="7772400" y="3026664"/>
            <a:ext cx="3840480" cy="1444752"/>
          </a:xfrm>
          <a:prstGeom prst="roundRect">
            <a:avLst>
              <a:gd name="adj" fmla="val 9494"/>
            </a:avLst>
          </a:prstGeom>
          <a:solidFill>
            <a:srgbClr val="2A9D8F"/>
          </a:solidFill>
          <a:ln w="12700">
            <a:solidFill>
              <a:srgbClr val="2A9D8F"/>
            </a:solidFill>
            <a:prstDash val="solid"/>
          </a:ln>
        </p:spPr>
      </p:sp>
      <p:sp>
        <p:nvSpPr>
          <p:cNvPr id="11" name="Text 8"/>
          <p:cNvSpPr txBox="1"/>
          <p:nvPr/>
        </p:nvSpPr>
        <p:spPr>
          <a:xfrm>
            <a:off x="8001000" y="3136392"/>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PRODUTO</a:t>
            </a:r>
            <a:endParaRPr lang="en-US" sz="1200" dirty="0"/>
          </a:p>
        </p:txBody>
      </p:sp>
      <p:sp>
        <p:nvSpPr>
          <p:cNvPr id="12" name="Text 9"/>
          <p:cNvSpPr txBox="1"/>
          <p:nvPr/>
        </p:nvSpPr>
        <p:spPr>
          <a:xfrm>
            <a:off x="8001000" y="3483864"/>
            <a:ext cx="3383280" cy="896112"/>
          </a:xfrm>
          <a:prstGeom prst="rect">
            <a:avLst/>
          </a:prstGeom>
          <a:noFill/>
          <a:ln/>
        </p:spPr>
        <p:txBody>
          <a:bodyPr wrap="square" lIns="0" tIns="0" rIns="0" bIns="0" rtlCol="0" anchor="t"/>
          <a:lstStyle/>
          <a:p>
            <a:pPr indent="0" marL="0">
              <a:buNone/>
            </a:pPr>
            <a:r>
              <a:rPr lang="en-US" sz="1600" dirty="0">
                <a:solidFill>
                  <a:srgbClr val="FFFFFF"/>
                </a:solidFill>
              </a:rPr>
              <a:t>Relatório de 1 a 2 páginas com achados, três prioridades e linha de base.</a:t>
            </a:r>
            <a:endParaRPr lang="en-US" sz="1600" dirty="0"/>
          </a:p>
        </p:txBody>
      </p:sp>
      <p:sp>
        <p:nvSpPr>
          <p:cNvPr id="13" name="Shape 10"/>
          <p:cNvSpPr/>
          <p:nvPr/>
        </p:nvSpPr>
        <p:spPr>
          <a:xfrm>
            <a:off x="7772400" y="4636008"/>
            <a:ext cx="3840480" cy="1444752"/>
          </a:xfrm>
          <a:prstGeom prst="roundRect">
            <a:avLst>
              <a:gd name="adj" fmla="val 9494"/>
            </a:avLst>
          </a:prstGeom>
          <a:solidFill>
            <a:srgbClr val="6D3B6E"/>
          </a:solidFill>
          <a:ln w="12700">
            <a:solidFill>
              <a:srgbClr val="6D3B6E"/>
            </a:solidFill>
            <a:prstDash val="solid"/>
          </a:ln>
        </p:spPr>
      </p:sp>
      <p:sp>
        <p:nvSpPr>
          <p:cNvPr id="14" name="Text 11"/>
          <p:cNvSpPr txBox="1"/>
          <p:nvPr/>
        </p:nvSpPr>
        <p:spPr>
          <a:xfrm>
            <a:off x="8001000" y="4745736"/>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POUCOS RECURSOS</a:t>
            </a:r>
            <a:endParaRPr lang="en-US" sz="1200" dirty="0"/>
          </a:p>
        </p:txBody>
      </p:sp>
      <p:sp>
        <p:nvSpPr>
          <p:cNvPr id="15" name="Text 12"/>
          <p:cNvSpPr txBox="1"/>
          <p:nvPr/>
        </p:nvSpPr>
        <p:spPr>
          <a:xfrm>
            <a:off x="8001000" y="5093208"/>
            <a:ext cx="3383280" cy="896112"/>
          </a:xfrm>
          <a:prstGeom prst="rect">
            <a:avLst/>
          </a:prstGeom>
          <a:noFill/>
          <a:ln/>
        </p:spPr>
        <p:txBody>
          <a:bodyPr wrap="square" lIns="0" tIns="0" rIns="0" bIns="0" rtlCol="0" anchor="t"/>
          <a:lstStyle/>
          <a:p>
            <a:pPr indent="0" marL="0">
              <a:buNone/>
            </a:pPr>
            <a:r>
              <a:rPr lang="en-US" sz="1600" dirty="0">
                <a:solidFill>
                  <a:srgbClr val="FFFFFF"/>
                </a:solidFill>
              </a:rPr>
              <a:t>Questionário em papel, roda na reunião pedagógica e tabulação à mão.</a:t>
            </a:r>
            <a:endParaRPr lang="en-US" sz="1600" dirty="0"/>
          </a:p>
        </p:txBody>
      </p:sp>
      <p:sp>
        <p:nvSpPr>
          <p:cNvPr id="16" name="Text 13"/>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Atividade: o contrato do piloto</a:t>
            </a:r>
            <a:endParaRPr lang="en-US" sz="3400" dirty="0"/>
          </a:p>
        </p:txBody>
      </p:sp>
      <p:sp>
        <p:nvSpPr>
          <p:cNvPr id="4" name="Shape 1"/>
          <p:cNvSpPr/>
          <p:nvPr/>
        </p:nvSpPr>
        <p:spPr>
          <a:xfrm>
            <a:off x="548640" y="1417320"/>
            <a:ext cx="6949440" cy="4663440"/>
          </a:xfrm>
          <a:prstGeom prst="roundRect">
            <a:avLst>
              <a:gd name="adj" fmla="val 2941"/>
            </a:avLst>
          </a:prstGeom>
          <a:solidFill>
            <a:srgbClr val="F7EFE6"/>
          </a:solidFill>
          <a:ln w="12700">
            <a:solidFill>
              <a:srgbClr val="F7EFE6"/>
            </a:solidFill>
            <a:prstDash val="solid"/>
          </a:ln>
        </p:spPr>
      </p:sp>
      <p:sp>
        <p:nvSpPr>
          <p:cNvPr id="5" name="Text 2"/>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300" b="1" spc="300" kern="0" dirty="0">
                <a:solidFill>
                  <a:srgbClr val="6E9A4F"/>
                </a:solidFill>
              </a:rPr>
              <a:t>PASSO A PASSO</a:t>
            </a:r>
            <a:endParaRPr lang="en-US" sz="1300" dirty="0"/>
          </a:p>
        </p:txBody>
      </p:sp>
      <p:sp>
        <p:nvSpPr>
          <p:cNvPr id="6" name="Text 3"/>
          <p:cNvSpPr txBox="1"/>
          <p:nvPr/>
        </p:nvSpPr>
        <p:spPr>
          <a:xfrm>
            <a:off x="822960" y="1965960"/>
            <a:ext cx="6400800" cy="40233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600" dirty="0">
                <a:solidFill>
                  <a:srgbClr val="3B2A2A"/>
                </a:solidFill>
              </a:rPr>
              <a:t>Escolher a prioridade e checar se a IA é adequada</a:t>
            </a:r>
            <a:endParaRPr lang="en-US" sz="1600" dirty="0"/>
          </a:p>
          <a:p>
            <a:pPr marL="342900" indent="-342900">
              <a:spcAft>
                <a:spcPts val="600"/>
              </a:spcAft>
              <a:buSzPct val="100000"/>
              <a:buFont typeface="+mj-lt"/>
              <a:buAutoNum type="arabicPeriod" startAt="1"/>
            </a:pPr>
            <a:r>
              <a:rPr lang="en-US" sz="1600" dirty="0">
                <a:solidFill>
                  <a:srgbClr val="3B2A2A"/>
                </a:solidFill>
              </a:rPr>
              <a:t>Escrever questão, escopo e linha de base</a:t>
            </a:r>
            <a:endParaRPr lang="en-US" sz="1600" dirty="0"/>
          </a:p>
          <a:p>
            <a:pPr marL="342900" indent="-342900">
              <a:spcAft>
                <a:spcPts val="600"/>
              </a:spcAft>
              <a:buSzPct val="100000"/>
              <a:buFont typeface="+mj-lt"/>
              <a:buAutoNum type="arabicPeriod" startAt="1"/>
            </a:pPr>
            <a:r>
              <a:rPr lang="en-US" sz="1600" dirty="0">
                <a:solidFill>
                  <a:srgbClr val="3B2A2A"/>
                </a:solidFill>
              </a:rPr>
              <a:t>Definir critérios de sucesso, ajuste e interrupção</a:t>
            </a:r>
            <a:endParaRPr lang="en-US" sz="1600" dirty="0"/>
          </a:p>
          <a:p>
            <a:pPr marL="342900" indent="-342900">
              <a:spcAft>
                <a:spcPts val="600"/>
              </a:spcAft>
              <a:buSzPct val="100000"/>
              <a:buFont typeface="+mj-lt"/>
              <a:buAutoNum type="arabicPeriod" startAt="1"/>
            </a:pPr>
            <a:r>
              <a:rPr lang="en-US" sz="1600" dirty="0">
                <a:solidFill>
                  <a:srgbClr val="3B2A2A"/>
                </a:solidFill>
              </a:rPr>
              <a:t>Listar dados, proteção e retorno aos participantes</a:t>
            </a:r>
            <a:endParaRPr lang="en-US" sz="1600" dirty="0"/>
          </a:p>
          <a:p>
            <a:pPr marL="342900" indent="-342900">
              <a:spcAft>
                <a:spcPts val="600"/>
              </a:spcAft>
              <a:buSzPct val="100000"/>
              <a:buFont typeface="+mj-lt"/>
              <a:buAutoNum type="arabicPeriod" startAt="1"/>
            </a:pPr>
            <a:r>
              <a:rPr lang="en-US" sz="1600" dirty="0">
                <a:solidFill>
                  <a:srgbClr val="3B2A2A"/>
                </a:solidFill>
              </a:rPr>
              <a:t>Fazer o pré-mortem e acrescentar salvaguardas</a:t>
            </a:r>
            <a:endParaRPr lang="en-US" sz="1600" dirty="0"/>
          </a:p>
          <a:p>
            <a:pPr marL="342900" indent="-342900">
              <a:spcAft>
                <a:spcPts val="600"/>
              </a:spcAft>
              <a:buSzPct val="100000"/>
              <a:buFont typeface="+mj-lt"/>
              <a:buAutoNum type="arabicPeriod" startAt="1"/>
            </a:pPr>
            <a:r>
              <a:rPr lang="en-US" sz="1600" dirty="0">
                <a:solidFill>
                  <a:srgbClr val="3B2A2A"/>
                </a:solidFill>
              </a:rPr>
              <a:t>Confirmar voluntariamente e marcar a avaliação</a:t>
            </a:r>
            <a:endParaRPr lang="en-US" sz="1600" dirty="0"/>
          </a:p>
        </p:txBody>
      </p:sp>
      <p:sp>
        <p:nvSpPr>
          <p:cNvPr id="7" name="Shape 4"/>
          <p:cNvSpPr/>
          <p:nvPr/>
        </p:nvSpPr>
        <p:spPr>
          <a:xfrm>
            <a:off x="7772400" y="1417320"/>
            <a:ext cx="3840480" cy="1444752"/>
          </a:xfrm>
          <a:prstGeom prst="roundRect">
            <a:avLst>
              <a:gd name="adj" fmla="val 9494"/>
            </a:avLst>
          </a:prstGeom>
          <a:solidFill>
            <a:srgbClr val="6E9A4F"/>
          </a:solidFill>
          <a:ln w="12700">
            <a:solidFill>
              <a:srgbClr val="6E9A4F"/>
            </a:solidFill>
            <a:prstDash val="solid"/>
          </a:ln>
        </p:spPr>
      </p:sp>
      <p:sp>
        <p:nvSpPr>
          <p:cNvPr id="8" name="Text 5"/>
          <p:cNvSpPr txBox="1"/>
          <p:nvPr/>
        </p:nvSpPr>
        <p:spPr>
          <a:xfrm>
            <a:off x="8001000" y="1527048"/>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TEMPO</a:t>
            </a:r>
            <a:endParaRPr lang="en-US" sz="1200" dirty="0"/>
          </a:p>
        </p:txBody>
      </p:sp>
      <p:sp>
        <p:nvSpPr>
          <p:cNvPr id="9" name="Text 6"/>
          <p:cNvSpPr txBox="1"/>
          <p:nvPr/>
        </p:nvSpPr>
        <p:spPr>
          <a:xfrm>
            <a:off x="8001000" y="1874520"/>
            <a:ext cx="3383280" cy="896112"/>
          </a:xfrm>
          <a:prstGeom prst="rect">
            <a:avLst/>
          </a:prstGeom>
          <a:noFill/>
          <a:ln/>
        </p:spPr>
        <p:txBody>
          <a:bodyPr wrap="square" lIns="0" tIns="0" rIns="0" bIns="0" rtlCol="0" anchor="t"/>
          <a:lstStyle/>
          <a:p>
            <a:pPr indent="0" marL="0">
              <a:buNone/>
            </a:pPr>
            <a:r>
              <a:rPr lang="en-US" sz="1600" dirty="0">
                <a:solidFill>
                  <a:srgbClr val="FFFFFF"/>
                </a:solidFill>
              </a:rPr>
              <a:t>2 encontros de 90 minutos</a:t>
            </a:r>
            <a:endParaRPr lang="en-US" sz="1600" dirty="0"/>
          </a:p>
        </p:txBody>
      </p:sp>
      <p:sp>
        <p:nvSpPr>
          <p:cNvPr id="10" name="Shape 7"/>
          <p:cNvSpPr/>
          <p:nvPr/>
        </p:nvSpPr>
        <p:spPr>
          <a:xfrm>
            <a:off x="7772400" y="3026664"/>
            <a:ext cx="3840480" cy="1444752"/>
          </a:xfrm>
          <a:prstGeom prst="roundRect">
            <a:avLst>
              <a:gd name="adj" fmla="val 9494"/>
            </a:avLst>
          </a:prstGeom>
          <a:solidFill>
            <a:srgbClr val="2A9D8F"/>
          </a:solidFill>
          <a:ln w="12700">
            <a:solidFill>
              <a:srgbClr val="2A9D8F"/>
            </a:solidFill>
            <a:prstDash val="solid"/>
          </a:ln>
        </p:spPr>
      </p:sp>
      <p:sp>
        <p:nvSpPr>
          <p:cNvPr id="11" name="Text 8"/>
          <p:cNvSpPr txBox="1"/>
          <p:nvPr/>
        </p:nvSpPr>
        <p:spPr>
          <a:xfrm>
            <a:off x="8001000" y="3136392"/>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PRODUTO</a:t>
            </a:r>
            <a:endParaRPr lang="en-US" sz="1200" dirty="0"/>
          </a:p>
        </p:txBody>
      </p:sp>
      <p:sp>
        <p:nvSpPr>
          <p:cNvPr id="12" name="Text 9"/>
          <p:cNvSpPr txBox="1"/>
          <p:nvPr/>
        </p:nvSpPr>
        <p:spPr>
          <a:xfrm>
            <a:off x="8001000" y="3483864"/>
            <a:ext cx="3383280" cy="896112"/>
          </a:xfrm>
          <a:prstGeom prst="rect">
            <a:avLst/>
          </a:prstGeom>
          <a:noFill/>
          <a:ln/>
        </p:spPr>
        <p:txBody>
          <a:bodyPr wrap="square" lIns="0" tIns="0" rIns="0" bIns="0" rtlCol="0" anchor="t"/>
          <a:lstStyle/>
          <a:p>
            <a:pPr indent="0" marL="0">
              <a:buNone/>
            </a:pPr>
            <a:r>
              <a:rPr lang="en-US" sz="1400" dirty="0">
                <a:solidFill>
                  <a:srgbClr val="FFFFFF"/>
                </a:solidFill>
              </a:rPr>
              <a:t>Contrato de uma página: questão, escopo, critérios, riscos, plano de saída e datas.</a:t>
            </a:r>
            <a:endParaRPr lang="en-US" sz="1400" dirty="0"/>
          </a:p>
        </p:txBody>
      </p:sp>
      <p:sp>
        <p:nvSpPr>
          <p:cNvPr id="13" name="Shape 10"/>
          <p:cNvSpPr/>
          <p:nvPr/>
        </p:nvSpPr>
        <p:spPr>
          <a:xfrm>
            <a:off x="7772400" y="4636008"/>
            <a:ext cx="3840480" cy="1444752"/>
          </a:xfrm>
          <a:prstGeom prst="roundRect">
            <a:avLst>
              <a:gd name="adj" fmla="val 9494"/>
            </a:avLst>
          </a:prstGeom>
          <a:solidFill>
            <a:srgbClr val="6D3B6E"/>
          </a:solidFill>
          <a:ln w="12700">
            <a:solidFill>
              <a:srgbClr val="6D3B6E"/>
            </a:solidFill>
            <a:prstDash val="solid"/>
          </a:ln>
        </p:spPr>
      </p:sp>
      <p:sp>
        <p:nvSpPr>
          <p:cNvPr id="14" name="Text 11"/>
          <p:cNvSpPr txBox="1"/>
          <p:nvPr/>
        </p:nvSpPr>
        <p:spPr>
          <a:xfrm>
            <a:off x="8001000" y="4745736"/>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POUCOS RECURSOS</a:t>
            </a:r>
            <a:endParaRPr lang="en-US" sz="1200" dirty="0"/>
          </a:p>
        </p:txBody>
      </p:sp>
      <p:sp>
        <p:nvSpPr>
          <p:cNvPr id="15" name="Text 12"/>
          <p:cNvSpPr txBox="1"/>
          <p:nvPr/>
        </p:nvSpPr>
        <p:spPr>
          <a:xfrm>
            <a:off x="8001000" y="5093208"/>
            <a:ext cx="3383280" cy="896112"/>
          </a:xfrm>
          <a:prstGeom prst="rect">
            <a:avLst/>
          </a:prstGeom>
          <a:noFill/>
          <a:ln/>
        </p:spPr>
        <p:txBody>
          <a:bodyPr wrap="square" lIns="0" tIns="0" rIns="0" bIns="0" rtlCol="0" anchor="t"/>
          <a:lstStyle/>
          <a:p>
            <a:pPr indent="0" marL="0">
              <a:buNone/>
            </a:pPr>
            <a:r>
              <a:rPr lang="en-US" sz="1600" dirty="0">
                <a:solidFill>
                  <a:srgbClr val="FFFFFF"/>
                </a:solidFill>
              </a:rPr>
              <a:t>Contrato em papel; um piloto com uma ou duas turmas e registros em caderno.</a:t>
            </a:r>
            <a:endParaRPr lang="en-US" sz="1600" dirty="0"/>
          </a:p>
        </p:txBody>
      </p:sp>
      <p:sp>
        <p:nvSpPr>
          <p:cNvPr id="16" name="Text 13"/>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Pare e verifique</a:t>
            </a:r>
            <a:endParaRPr lang="en-US" sz="3400" dirty="0"/>
          </a:p>
        </p:txBody>
      </p:sp>
      <p:sp>
        <p:nvSpPr>
          <p:cNvPr id="4" name="Shape 1"/>
          <p:cNvSpPr/>
          <p:nvPr/>
        </p:nvSpPr>
        <p:spPr>
          <a:xfrm>
            <a:off x="548640" y="1463040"/>
            <a:ext cx="11064240" cy="1051560"/>
          </a:xfrm>
          <a:prstGeom prst="roundRect">
            <a:avLst>
              <a:gd name="adj" fmla="val 10435"/>
            </a:avLst>
          </a:prstGeom>
          <a:solidFill>
            <a:srgbClr val="FDECE4"/>
          </a:solidFill>
          <a:ln w="12700">
            <a:solidFill>
              <a:srgbClr val="F2B8A0"/>
            </a:solidFill>
            <a:prstDash val="solid"/>
          </a:ln>
        </p:spPr>
      </p:sp>
      <p:sp>
        <p:nvSpPr>
          <p:cNvPr id="5" name="Shape 2"/>
          <p:cNvSpPr/>
          <p:nvPr/>
        </p:nvSpPr>
        <p:spPr>
          <a:xfrm>
            <a:off x="777240" y="1714500"/>
            <a:ext cx="548640" cy="548640"/>
          </a:xfrm>
          <a:prstGeom prst="ellipse">
            <a:avLst/>
          </a:prstGeom>
          <a:solidFill>
            <a:srgbClr val="C0392B"/>
          </a:solidFill>
          <a:ln w="12700">
            <a:solidFill>
              <a:srgbClr val="C0392B"/>
            </a:solidFill>
            <a:prstDash val="solid"/>
          </a:ln>
        </p:spPr>
      </p:sp>
      <p:sp>
        <p:nvSpPr>
          <p:cNvPr id="6" name="Text 3"/>
          <p:cNvSpPr txBox="1"/>
          <p:nvPr/>
        </p:nvSpPr>
        <p:spPr>
          <a:xfrm>
            <a:off x="777240" y="17145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7" name="Text 4"/>
          <p:cNvSpPr txBox="1"/>
          <p:nvPr/>
        </p:nvSpPr>
        <p:spPr>
          <a:xfrm>
            <a:off x="1600200" y="146304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Diagnóstico feito só para legitimar decisão já tomada</a:t>
            </a:r>
            <a:endParaRPr lang="en-US" sz="1800" dirty="0"/>
          </a:p>
        </p:txBody>
      </p:sp>
      <p:sp>
        <p:nvSpPr>
          <p:cNvPr id="8" name="Shape 5"/>
          <p:cNvSpPr/>
          <p:nvPr/>
        </p:nvSpPr>
        <p:spPr>
          <a:xfrm>
            <a:off x="548640" y="2651760"/>
            <a:ext cx="11064240" cy="1051560"/>
          </a:xfrm>
          <a:prstGeom prst="roundRect">
            <a:avLst>
              <a:gd name="adj" fmla="val 10435"/>
            </a:avLst>
          </a:prstGeom>
          <a:solidFill>
            <a:srgbClr val="FDECE4"/>
          </a:solidFill>
          <a:ln w="12700">
            <a:solidFill>
              <a:srgbClr val="F2B8A0"/>
            </a:solidFill>
            <a:prstDash val="solid"/>
          </a:ln>
        </p:spPr>
      </p:sp>
      <p:sp>
        <p:nvSpPr>
          <p:cNvPr id="9" name="Shape 6"/>
          <p:cNvSpPr/>
          <p:nvPr/>
        </p:nvSpPr>
        <p:spPr>
          <a:xfrm>
            <a:off x="777240" y="2903220"/>
            <a:ext cx="548640" cy="548640"/>
          </a:xfrm>
          <a:prstGeom prst="ellipse">
            <a:avLst/>
          </a:prstGeom>
          <a:solidFill>
            <a:srgbClr val="C0392B"/>
          </a:solidFill>
          <a:ln w="12700">
            <a:solidFill>
              <a:srgbClr val="C0392B"/>
            </a:solidFill>
            <a:prstDash val="solid"/>
          </a:ln>
        </p:spPr>
      </p:sp>
      <p:sp>
        <p:nvSpPr>
          <p:cNvPr id="10" name="Text 7"/>
          <p:cNvSpPr txBox="1"/>
          <p:nvPr/>
        </p:nvSpPr>
        <p:spPr>
          <a:xfrm>
            <a:off x="777240" y="29032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1" name="Text 8"/>
          <p:cNvSpPr txBox="1"/>
          <p:nvPr/>
        </p:nvSpPr>
        <p:spPr>
          <a:xfrm>
            <a:off x="1600200" y="265176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Coleta de dados pessoais além do necessário</a:t>
            </a:r>
            <a:endParaRPr lang="en-US" sz="1800" dirty="0"/>
          </a:p>
        </p:txBody>
      </p:sp>
      <p:sp>
        <p:nvSpPr>
          <p:cNvPr id="12" name="Shape 9"/>
          <p:cNvSpPr/>
          <p:nvPr/>
        </p:nvSpPr>
        <p:spPr>
          <a:xfrm>
            <a:off x="548640" y="3840480"/>
            <a:ext cx="11064240" cy="1051560"/>
          </a:xfrm>
          <a:prstGeom prst="roundRect">
            <a:avLst>
              <a:gd name="adj" fmla="val 10435"/>
            </a:avLst>
          </a:prstGeom>
          <a:solidFill>
            <a:srgbClr val="FDECE4"/>
          </a:solidFill>
          <a:ln w="12700">
            <a:solidFill>
              <a:srgbClr val="F2B8A0"/>
            </a:solidFill>
            <a:prstDash val="solid"/>
          </a:ln>
        </p:spPr>
      </p:sp>
      <p:sp>
        <p:nvSpPr>
          <p:cNvPr id="13" name="Shape 10"/>
          <p:cNvSpPr/>
          <p:nvPr/>
        </p:nvSpPr>
        <p:spPr>
          <a:xfrm>
            <a:off x="777240" y="4091940"/>
            <a:ext cx="548640" cy="548640"/>
          </a:xfrm>
          <a:prstGeom prst="ellipse">
            <a:avLst/>
          </a:prstGeom>
          <a:solidFill>
            <a:srgbClr val="C0392B"/>
          </a:solidFill>
          <a:ln w="12700">
            <a:solidFill>
              <a:srgbClr val="C0392B"/>
            </a:solidFill>
            <a:prstDash val="solid"/>
          </a:ln>
        </p:spPr>
      </p:sp>
      <p:sp>
        <p:nvSpPr>
          <p:cNvPr id="14" name="Text 11"/>
          <p:cNvSpPr txBox="1"/>
          <p:nvPr/>
        </p:nvSpPr>
        <p:spPr>
          <a:xfrm>
            <a:off x="777240" y="40919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5" name="Text 12"/>
          <p:cNvSpPr txBox="1"/>
          <p:nvPr/>
        </p:nvSpPr>
        <p:spPr>
          <a:xfrm>
            <a:off x="1600200" y="384048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Piloto permanente: nunca termina, nunca decide</a:t>
            </a:r>
            <a:endParaRPr lang="en-US" sz="1800" dirty="0"/>
          </a:p>
        </p:txBody>
      </p:sp>
      <p:sp>
        <p:nvSpPr>
          <p:cNvPr id="16" name="Shape 13"/>
          <p:cNvSpPr/>
          <p:nvPr/>
        </p:nvSpPr>
        <p:spPr>
          <a:xfrm>
            <a:off x="548640" y="5029200"/>
            <a:ext cx="11064240" cy="1051560"/>
          </a:xfrm>
          <a:prstGeom prst="roundRect">
            <a:avLst>
              <a:gd name="adj" fmla="val 10435"/>
            </a:avLst>
          </a:prstGeom>
          <a:solidFill>
            <a:srgbClr val="FDECE4"/>
          </a:solidFill>
          <a:ln w="12700">
            <a:solidFill>
              <a:srgbClr val="F2B8A0"/>
            </a:solidFill>
            <a:prstDash val="solid"/>
          </a:ln>
        </p:spPr>
      </p:sp>
      <p:sp>
        <p:nvSpPr>
          <p:cNvPr id="17" name="Shape 14"/>
          <p:cNvSpPr/>
          <p:nvPr/>
        </p:nvSpPr>
        <p:spPr>
          <a:xfrm>
            <a:off x="777240" y="5280660"/>
            <a:ext cx="548640" cy="548640"/>
          </a:xfrm>
          <a:prstGeom prst="ellipse">
            <a:avLst/>
          </a:prstGeom>
          <a:solidFill>
            <a:srgbClr val="C0392B"/>
          </a:solidFill>
          <a:ln w="12700">
            <a:solidFill>
              <a:srgbClr val="C0392B"/>
            </a:solidFill>
            <a:prstDash val="solid"/>
          </a:ln>
        </p:spPr>
      </p:sp>
      <p:sp>
        <p:nvSpPr>
          <p:cNvPr id="18" name="Text 15"/>
          <p:cNvSpPr txBox="1"/>
          <p:nvPr/>
        </p:nvSpPr>
        <p:spPr>
          <a:xfrm>
            <a:off x="777240" y="52806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9" name="Text 16"/>
          <p:cNvSpPr txBox="1"/>
          <p:nvPr/>
        </p:nvSpPr>
        <p:spPr>
          <a:xfrm>
            <a:off x="1600200" y="502920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Ampliação por pressão externa, sem cumprir os critérios</a:t>
            </a:r>
            <a:endParaRPr lang="en-US" sz="1800" dirty="0"/>
          </a:p>
        </p:txBody>
      </p:sp>
      <p:sp>
        <p:nvSpPr>
          <p:cNvPr id="20" name="Text 1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Quando a IA é a resposta e quando não</a:t>
            </a:r>
            <a:endParaRPr lang="en-US" sz="3400" dirty="0"/>
          </a:p>
        </p:txBody>
      </p:sp>
      <p:sp>
        <p:nvSpPr>
          <p:cNvPr id="4" name="Shape 1"/>
          <p:cNvSpPr/>
          <p:nvPr/>
        </p:nvSpPr>
        <p:spPr>
          <a:xfrm>
            <a:off x="548640" y="1463040"/>
            <a:ext cx="5394960" cy="4572000"/>
          </a:xfrm>
          <a:prstGeom prst="roundRect">
            <a:avLst>
              <a:gd name="adj" fmla="val 3000"/>
            </a:avLst>
          </a:prstGeom>
          <a:solidFill>
            <a:srgbClr val="F7EFE6"/>
          </a:solidFill>
          <a:ln w="12700">
            <a:solidFill>
              <a:srgbClr val="F7EFE6"/>
            </a:solidFill>
            <a:prstDash val="solid"/>
          </a:ln>
        </p:spPr>
      </p:sp>
      <p:sp>
        <p:nvSpPr>
          <p:cNvPr id="5" name="Shape 2"/>
          <p:cNvSpPr/>
          <p:nvPr/>
        </p:nvSpPr>
        <p:spPr>
          <a:xfrm>
            <a:off x="548640" y="1463040"/>
            <a:ext cx="5394960" cy="731520"/>
          </a:xfrm>
          <a:prstGeom prst="roundRect">
            <a:avLst>
              <a:gd name="adj" fmla="val 18750"/>
            </a:avLst>
          </a:prstGeom>
          <a:solidFill>
            <a:srgbClr val="2A9D8F"/>
          </a:solidFill>
          <a:ln w="12700">
            <a:solidFill>
              <a:srgbClr val="2A9D8F"/>
            </a:solidFill>
            <a:prstDash val="solid"/>
          </a:ln>
        </p:spPr>
      </p:sp>
      <p:sp>
        <p:nvSpPr>
          <p:cNvPr id="6" name="Text 3"/>
          <p:cNvSpPr txBox="1"/>
          <p:nvPr/>
        </p:nvSpPr>
        <p:spPr>
          <a:xfrm>
            <a:off x="777240" y="1463040"/>
            <a:ext cx="493776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Vale testar em piloto</a:t>
            </a:r>
            <a:endParaRPr lang="en-US" sz="2200" dirty="0"/>
          </a:p>
        </p:txBody>
      </p:sp>
      <p:sp>
        <p:nvSpPr>
          <p:cNvPr id="7" name="Text 4"/>
          <p:cNvSpPr txBox="1"/>
          <p:nvPr/>
        </p:nvSpPr>
        <p:spPr>
          <a:xfrm>
            <a:off x="822960" y="2377440"/>
            <a:ext cx="4846320" cy="3566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B2A2A"/>
                </a:solidFill>
              </a:rPr>
              <a:t>Necessidade pedagógica clara</a:t>
            </a:r>
            <a:endParaRPr lang="en-US" sz="1700" dirty="0"/>
          </a:p>
          <a:p>
            <a:pPr marL="342900" indent="-342900">
              <a:spcAft>
                <a:spcPts val="800"/>
              </a:spcAft>
              <a:buSzPct val="100000"/>
              <a:buChar char="•"/>
            </a:pPr>
            <a:r>
              <a:rPr lang="en-US" sz="1700" dirty="0">
                <a:solidFill>
                  <a:srgbClr val="3B2A2A"/>
                </a:solidFill>
              </a:rPr>
              <a:t>Condições mínimas e apoio</a:t>
            </a:r>
            <a:endParaRPr lang="en-US" sz="1700" dirty="0"/>
          </a:p>
          <a:p>
            <a:pPr marL="342900" indent="-342900">
              <a:spcAft>
                <a:spcPts val="800"/>
              </a:spcAft>
              <a:buSzPct val="100000"/>
              <a:buChar char="•"/>
            </a:pPr>
            <a:r>
              <a:rPr lang="en-US" sz="1700" dirty="0">
                <a:solidFill>
                  <a:srgbClr val="3B2A2A"/>
                </a:solidFill>
              </a:rPr>
              <a:t>Critérios definidos antes</a:t>
            </a:r>
            <a:endParaRPr lang="en-US" sz="1700" dirty="0"/>
          </a:p>
          <a:p>
            <a:pPr marL="342900" indent="-342900">
              <a:spcAft>
                <a:spcPts val="800"/>
              </a:spcAft>
              <a:buSzPct val="100000"/>
              <a:buChar char="•"/>
            </a:pPr>
            <a:r>
              <a:rPr lang="en-US" sz="1700" dirty="0">
                <a:solidFill>
                  <a:srgbClr val="3B2A2A"/>
                </a:solidFill>
              </a:rPr>
              <a:t>Quem não usa também foi ouvido</a:t>
            </a:r>
            <a:endParaRPr lang="en-US" sz="1700" dirty="0"/>
          </a:p>
        </p:txBody>
      </p:sp>
      <p:sp>
        <p:nvSpPr>
          <p:cNvPr id="8" name="Shape 5"/>
          <p:cNvSpPr/>
          <p:nvPr/>
        </p:nvSpPr>
        <p:spPr>
          <a:xfrm>
            <a:off x="6263640" y="1463040"/>
            <a:ext cx="5394960" cy="4572000"/>
          </a:xfrm>
          <a:prstGeom prst="roundRect">
            <a:avLst>
              <a:gd name="adj" fmla="val 3000"/>
            </a:avLst>
          </a:prstGeom>
          <a:solidFill>
            <a:srgbClr val="F7EFE6"/>
          </a:solidFill>
          <a:ln w="12700">
            <a:solidFill>
              <a:srgbClr val="F7EFE6"/>
            </a:solidFill>
            <a:prstDash val="solid"/>
          </a:ln>
        </p:spPr>
      </p:sp>
      <p:sp>
        <p:nvSpPr>
          <p:cNvPr id="9" name="Shape 6"/>
          <p:cNvSpPr/>
          <p:nvPr/>
        </p:nvSpPr>
        <p:spPr>
          <a:xfrm>
            <a:off x="6263640" y="1463040"/>
            <a:ext cx="5394960" cy="731520"/>
          </a:xfrm>
          <a:prstGeom prst="roundRect">
            <a:avLst>
              <a:gd name="adj" fmla="val 18750"/>
            </a:avLst>
          </a:prstGeom>
          <a:solidFill>
            <a:srgbClr val="6E9A4F"/>
          </a:solidFill>
          <a:ln w="12700">
            <a:solidFill>
              <a:srgbClr val="6E9A4F"/>
            </a:solidFill>
            <a:prstDash val="solid"/>
          </a:ln>
        </p:spPr>
      </p:sp>
      <p:sp>
        <p:nvSpPr>
          <p:cNvPr id="10" name="Text 7"/>
          <p:cNvSpPr txBox="1"/>
          <p:nvPr/>
        </p:nvSpPr>
        <p:spPr>
          <a:xfrm>
            <a:off x="6492240" y="1463040"/>
            <a:ext cx="493776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Dispense como solução</a:t>
            </a:r>
            <a:endParaRPr lang="en-US" sz="2200" dirty="0"/>
          </a:p>
        </p:txBody>
      </p:sp>
      <p:sp>
        <p:nvSpPr>
          <p:cNvPr id="11" name="Text 8"/>
          <p:cNvSpPr txBox="1"/>
          <p:nvPr/>
        </p:nvSpPr>
        <p:spPr>
          <a:xfrm>
            <a:off x="6537960" y="2377440"/>
            <a:ext cx="4846320" cy="3566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B2A2A"/>
                </a:solidFill>
              </a:rPr>
              <a:t>Falta tempo, apoio ou infraestrutura básica</a:t>
            </a:r>
            <a:endParaRPr lang="en-US" sz="1700" dirty="0"/>
          </a:p>
          <a:p>
            <a:pPr marL="342900" indent="-342900">
              <a:spcAft>
                <a:spcPts val="800"/>
              </a:spcAft>
              <a:buSzPct val="100000"/>
              <a:buChar char="•"/>
            </a:pPr>
            <a:r>
              <a:rPr lang="en-US" sz="1700" dirty="0">
                <a:solidFill>
                  <a:srgbClr val="3B2A2A"/>
                </a:solidFill>
              </a:rPr>
              <a:t>Condições de trabalho precárias</a:t>
            </a:r>
            <a:endParaRPr lang="en-US" sz="1700" dirty="0"/>
          </a:p>
          <a:p>
            <a:pPr marL="342900" indent="-342900">
              <a:spcAft>
                <a:spcPts val="800"/>
              </a:spcAft>
              <a:buSzPct val="100000"/>
              <a:buChar char="•"/>
            </a:pPr>
            <a:r>
              <a:rPr lang="en-US" sz="1700" dirty="0">
                <a:solidFill>
                  <a:srgbClr val="3B2A2A"/>
                </a:solidFill>
              </a:rPr>
              <a:t>Piloto feriu critérios de interrupção</a:t>
            </a:r>
            <a:endParaRPr lang="en-US" sz="1700" dirty="0"/>
          </a:p>
          <a:p>
            <a:pPr marL="342900" indent="-342900">
              <a:spcAft>
                <a:spcPts val="800"/>
              </a:spcAft>
              <a:buSzPct val="100000"/>
              <a:buChar char="•"/>
            </a:pPr>
            <a:r>
              <a:rPr lang="en-US" sz="1700" dirty="0">
                <a:solidFill>
                  <a:srgbClr val="3B2A2A"/>
                </a:solidFill>
              </a:rPr>
              <a:t>Benefícios que não se pode verificar</a:t>
            </a:r>
            <a:endParaRPr lang="en-US" sz="1700" dirty="0"/>
          </a:p>
        </p:txBody>
      </p:sp>
      <p:sp>
        <p:nvSpPr>
          <p:cNvPr id="12" name="Text 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6E9A4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O que vale a pena lembrar</a:t>
            </a:r>
            <a:endParaRPr lang="en-US" sz="3400" dirty="0"/>
          </a:p>
        </p:txBody>
      </p:sp>
      <p:sp>
        <p:nvSpPr>
          <p:cNvPr id="4" name="Shape 1"/>
          <p:cNvSpPr/>
          <p:nvPr/>
        </p:nvSpPr>
        <p:spPr>
          <a:xfrm>
            <a:off x="548640" y="1417320"/>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5" name="Text 2"/>
          <p:cNvSpPr txBox="1"/>
          <p:nvPr/>
        </p:nvSpPr>
        <p:spPr>
          <a:xfrm>
            <a:off x="731520" y="1417320"/>
            <a:ext cx="548640" cy="762000"/>
          </a:xfrm>
          <a:prstGeom prst="rect">
            <a:avLst/>
          </a:prstGeom>
          <a:noFill/>
          <a:ln/>
        </p:spPr>
        <p:txBody>
          <a:bodyPr wrap="square" lIns="0" tIns="0" rIns="0" bIns="0" rtlCol="0" anchor="ctr"/>
          <a:lstStyle/>
          <a:p>
            <a:pPr algn="ctr" indent="0" marL="0">
              <a:buNone/>
            </a:pPr>
            <a:r>
              <a:rPr lang="en-US" sz="2400" b="1" dirty="0">
                <a:solidFill>
                  <a:srgbClr val="6E9A4F"/>
                </a:solidFill>
              </a:rPr>
              <a:t>✓</a:t>
            </a:r>
            <a:endParaRPr lang="en-US" sz="2400" dirty="0"/>
          </a:p>
        </p:txBody>
      </p:sp>
      <p:sp>
        <p:nvSpPr>
          <p:cNvPr id="6" name="Text 3"/>
          <p:cNvSpPr txBox="1"/>
          <p:nvPr/>
        </p:nvSpPr>
        <p:spPr>
          <a:xfrm>
            <a:off x="1463040" y="1417320"/>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Comece pelo problema e pelas pessoas, não pela ferramenta</a:t>
            </a:r>
            <a:endParaRPr lang="en-US" sz="1800" dirty="0"/>
          </a:p>
        </p:txBody>
      </p:sp>
      <p:sp>
        <p:nvSpPr>
          <p:cNvPr id="7" name="Shape 4"/>
          <p:cNvSpPr/>
          <p:nvPr/>
        </p:nvSpPr>
        <p:spPr>
          <a:xfrm>
            <a:off x="548640" y="2289048"/>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8" name="Text 5"/>
          <p:cNvSpPr txBox="1"/>
          <p:nvPr/>
        </p:nvSpPr>
        <p:spPr>
          <a:xfrm>
            <a:off x="731520" y="2289048"/>
            <a:ext cx="548640" cy="762000"/>
          </a:xfrm>
          <a:prstGeom prst="rect">
            <a:avLst/>
          </a:prstGeom>
          <a:noFill/>
          <a:ln/>
        </p:spPr>
        <p:txBody>
          <a:bodyPr wrap="square" lIns="0" tIns="0" rIns="0" bIns="0" rtlCol="0" anchor="ctr"/>
          <a:lstStyle/>
          <a:p>
            <a:pPr algn="ctr" indent="0" marL="0">
              <a:buNone/>
            </a:pPr>
            <a:r>
              <a:rPr lang="en-US" sz="2400" b="1" dirty="0">
                <a:solidFill>
                  <a:srgbClr val="6E9A4F"/>
                </a:solidFill>
              </a:rPr>
              <a:t>✓</a:t>
            </a:r>
            <a:endParaRPr lang="en-US" sz="2400" dirty="0"/>
          </a:p>
        </p:txBody>
      </p:sp>
      <p:sp>
        <p:nvSpPr>
          <p:cNvPr id="9" name="Text 6"/>
          <p:cNvSpPr txBox="1"/>
          <p:nvPr/>
        </p:nvSpPr>
        <p:spPr>
          <a:xfrm>
            <a:off x="1463040" y="2289048"/>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Diagnóstico exige finalidade, voluntariedade e coleta mínima</a:t>
            </a:r>
            <a:endParaRPr lang="en-US" sz="1800" dirty="0"/>
          </a:p>
        </p:txBody>
      </p:sp>
      <p:sp>
        <p:nvSpPr>
          <p:cNvPr id="10" name="Shape 7"/>
          <p:cNvSpPr/>
          <p:nvPr/>
        </p:nvSpPr>
        <p:spPr>
          <a:xfrm>
            <a:off x="548640" y="3160776"/>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11" name="Text 8"/>
          <p:cNvSpPr txBox="1"/>
          <p:nvPr/>
        </p:nvSpPr>
        <p:spPr>
          <a:xfrm>
            <a:off x="731520" y="3160776"/>
            <a:ext cx="548640" cy="762000"/>
          </a:xfrm>
          <a:prstGeom prst="rect">
            <a:avLst/>
          </a:prstGeom>
          <a:noFill/>
          <a:ln/>
        </p:spPr>
        <p:txBody>
          <a:bodyPr wrap="square" lIns="0" tIns="0" rIns="0" bIns="0" rtlCol="0" anchor="ctr"/>
          <a:lstStyle/>
          <a:p>
            <a:pPr algn="ctr" indent="0" marL="0">
              <a:buNone/>
            </a:pPr>
            <a:r>
              <a:rPr lang="en-US" sz="2400" b="1" dirty="0">
                <a:solidFill>
                  <a:srgbClr val="6E9A4F"/>
                </a:solidFill>
              </a:rPr>
              <a:t>✓</a:t>
            </a:r>
            <a:endParaRPr lang="en-US" sz="2400" dirty="0"/>
          </a:p>
        </p:txBody>
      </p:sp>
      <p:sp>
        <p:nvSpPr>
          <p:cNvPr id="12" name="Text 9"/>
          <p:cNvSpPr txBox="1"/>
          <p:nvPr/>
        </p:nvSpPr>
        <p:spPr>
          <a:xfrm>
            <a:off x="1463040" y="3160776"/>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Formação eficaz é sustentada, ativa e coletiva</a:t>
            </a:r>
            <a:endParaRPr lang="en-US" sz="1800" dirty="0"/>
          </a:p>
        </p:txBody>
      </p:sp>
      <p:sp>
        <p:nvSpPr>
          <p:cNvPr id="13" name="Shape 10"/>
          <p:cNvSpPr/>
          <p:nvPr/>
        </p:nvSpPr>
        <p:spPr>
          <a:xfrm>
            <a:off x="548640" y="4032504"/>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14" name="Text 11"/>
          <p:cNvSpPr txBox="1"/>
          <p:nvPr/>
        </p:nvSpPr>
        <p:spPr>
          <a:xfrm>
            <a:off x="731520" y="4032504"/>
            <a:ext cx="548640" cy="762000"/>
          </a:xfrm>
          <a:prstGeom prst="rect">
            <a:avLst/>
          </a:prstGeom>
          <a:noFill/>
          <a:ln/>
        </p:spPr>
        <p:txBody>
          <a:bodyPr wrap="square" lIns="0" tIns="0" rIns="0" bIns="0" rtlCol="0" anchor="ctr"/>
          <a:lstStyle/>
          <a:p>
            <a:pPr algn="ctr" indent="0" marL="0">
              <a:buNone/>
            </a:pPr>
            <a:r>
              <a:rPr lang="en-US" sz="2400" b="1" dirty="0">
                <a:solidFill>
                  <a:srgbClr val="6E9A4F"/>
                </a:solidFill>
              </a:rPr>
              <a:t>✓</a:t>
            </a:r>
            <a:endParaRPr lang="en-US" sz="2400" dirty="0"/>
          </a:p>
        </p:txBody>
      </p:sp>
      <p:sp>
        <p:nvSpPr>
          <p:cNvPr id="15" name="Text 12"/>
          <p:cNvSpPr txBox="1"/>
          <p:nvPr/>
        </p:nvSpPr>
        <p:spPr>
          <a:xfrm>
            <a:off x="1463040" y="4032504"/>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Ainda não há base sólida sobre o melhor modelo de formação em IA</a:t>
            </a:r>
            <a:endParaRPr lang="en-US" sz="1800" dirty="0"/>
          </a:p>
        </p:txBody>
      </p:sp>
      <p:sp>
        <p:nvSpPr>
          <p:cNvPr id="16" name="Shape 13"/>
          <p:cNvSpPr/>
          <p:nvPr/>
        </p:nvSpPr>
        <p:spPr>
          <a:xfrm>
            <a:off x="548640" y="4904232"/>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17" name="Text 14"/>
          <p:cNvSpPr txBox="1"/>
          <p:nvPr/>
        </p:nvSpPr>
        <p:spPr>
          <a:xfrm>
            <a:off x="731520" y="4904232"/>
            <a:ext cx="548640" cy="762000"/>
          </a:xfrm>
          <a:prstGeom prst="rect">
            <a:avLst/>
          </a:prstGeom>
          <a:noFill/>
          <a:ln/>
        </p:spPr>
        <p:txBody>
          <a:bodyPr wrap="square" lIns="0" tIns="0" rIns="0" bIns="0" rtlCol="0" anchor="ctr"/>
          <a:lstStyle/>
          <a:p>
            <a:pPr algn="ctr" indent="0" marL="0">
              <a:buNone/>
            </a:pPr>
            <a:r>
              <a:rPr lang="en-US" sz="2400" b="1" dirty="0">
                <a:solidFill>
                  <a:srgbClr val="6E9A4F"/>
                </a:solidFill>
              </a:rPr>
              <a:t>✓</a:t>
            </a:r>
            <a:endParaRPr lang="en-US" sz="2400" dirty="0"/>
          </a:p>
        </p:txBody>
      </p:sp>
      <p:sp>
        <p:nvSpPr>
          <p:cNvPr id="18" name="Text 15"/>
          <p:cNvSpPr txBox="1"/>
          <p:nvPr/>
        </p:nvSpPr>
        <p:spPr>
          <a:xfrm>
            <a:off x="1463040" y="4904232"/>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Piloto tem questão, linha de base e critérios definidos antes</a:t>
            </a:r>
            <a:endParaRPr lang="en-US" sz="1800" dirty="0"/>
          </a:p>
        </p:txBody>
      </p:sp>
      <p:sp>
        <p:nvSpPr>
          <p:cNvPr id="19" name="Shape 16"/>
          <p:cNvSpPr/>
          <p:nvPr/>
        </p:nvSpPr>
        <p:spPr>
          <a:xfrm>
            <a:off x="548640" y="5775960"/>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20" name="Text 17"/>
          <p:cNvSpPr txBox="1"/>
          <p:nvPr/>
        </p:nvSpPr>
        <p:spPr>
          <a:xfrm>
            <a:off x="731520" y="5775960"/>
            <a:ext cx="548640" cy="762000"/>
          </a:xfrm>
          <a:prstGeom prst="rect">
            <a:avLst/>
          </a:prstGeom>
          <a:noFill/>
          <a:ln/>
        </p:spPr>
        <p:txBody>
          <a:bodyPr wrap="square" lIns="0" tIns="0" rIns="0" bIns="0" rtlCol="0" anchor="ctr"/>
          <a:lstStyle/>
          <a:p>
            <a:pPr algn="ctr" indent="0" marL="0">
              <a:buNone/>
            </a:pPr>
            <a:r>
              <a:rPr lang="en-US" sz="2400" b="1" dirty="0">
                <a:solidFill>
                  <a:srgbClr val="6E9A4F"/>
                </a:solidFill>
              </a:rPr>
              <a:t>✓</a:t>
            </a:r>
            <a:endParaRPr lang="en-US" sz="2400" dirty="0"/>
          </a:p>
        </p:txBody>
      </p:sp>
      <p:sp>
        <p:nvSpPr>
          <p:cNvPr id="21" name="Text 18"/>
          <p:cNvSpPr txBox="1"/>
          <p:nvPr/>
        </p:nvSpPr>
        <p:spPr>
          <a:xfrm>
            <a:off x="1463040" y="5775960"/>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Decida: continuar, modificar ou interromper</a:t>
            </a:r>
            <a:endParaRPr lang="en-US" sz="1800" dirty="0"/>
          </a:p>
        </p:txBody>
      </p:sp>
      <p:sp>
        <p:nvSpPr>
          <p:cNvPr id="22" name="Text 1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E9D9C8"/>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Para pensar na sua prática</a:t>
            </a:r>
            <a:endParaRPr lang="en-US" sz="3400" dirty="0"/>
          </a:p>
        </p:txBody>
      </p:sp>
      <p:sp>
        <p:nvSpPr>
          <p:cNvPr id="4" name="Shape 1"/>
          <p:cNvSpPr/>
          <p:nvPr/>
        </p:nvSpPr>
        <p:spPr>
          <a:xfrm>
            <a:off x="548640" y="1463040"/>
            <a:ext cx="11064240" cy="1097280"/>
          </a:xfrm>
          <a:prstGeom prst="roundRect">
            <a:avLst>
              <a:gd name="adj" fmla="val 10000"/>
            </a:avLst>
          </a:prstGeom>
          <a:solidFill>
            <a:srgbClr val="F7EFE6"/>
          </a:solidFill>
          <a:ln w="12700">
            <a:solidFill>
              <a:srgbClr val="F7EFE6"/>
            </a:solidFill>
            <a:prstDash val="solid"/>
          </a:ln>
        </p:spPr>
      </p:sp>
      <p:sp>
        <p:nvSpPr>
          <p:cNvPr id="5" name="Shape 2"/>
          <p:cNvSpPr/>
          <p:nvPr/>
        </p:nvSpPr>
        <p:spPr>
          <a:xfrm>
            <a:off x="777240" y="1737360"/>
            <a:ext cx="548640" cy="548640"/>
          </a:xfrm>
          <a:prstGeom prst="ellipse">
            <a:avLst/>
          </a:prstGeom>
          <a:solidFill>
            <a:srgbClr val="6D3B6E"/>
          </a:solidFill>
          <a:ln w="12700">
            <a:solidFill>
              <a:srgbClr val="6D3B6E"/>
            </a:solidFill>
            <a:prstDash val="solid"/>
          </a:ln>
        </p:spPr>
      </p:sp>
      <p:sp>
        <p:nvSpPr>
          <p:cNvPr id="6" name="Text 3"/>
          <p:cNvSpPr txBox="1"/>
          <p:nvPr/>
        </p:nvSpPr>
        <p:spPr>
          <a:xfrm>
            <a:off x="77724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4"/>
          <p:cNvSpPr txBox="1"/>
          <p:nvPr/>
        </p:nvSpPr>
        <p:spPr>
          <a:xfrm>
            <a:off x="1600200" y="1463040"/>
            <a:ext cx="9784080" cy="1097280"/>
          </a:xfrm>
          <a:prstGeom prst="rect">
            <a:avLst/>
          </a:prstGeom>
          <a:noFill/>
          <a:ln/>
        </p:spPr>
        <p:txBody>
          <a:bodyPr wrap="square" lIns="0" tIns="0" rIns="0" bIns="0" rtlCol="0" anchor="ctr"/>
          <a:lstStyle/>
          <a:p>
            <a:pPr indent="0" marL="0">
              <a:buNone/>
            </a:pPr>
            <a:r>
              <a:rPr lang="en-US" sz="2000" dirty="0">
                <a:solidFill>
                  <a:srgbClr val="3B2A2A"/>
                </a:solidFill>
              </a:rPr>
              <a:t>Que problema pedagógico da sua escola a IA realmente ajudaria a resolver?</a:t>
            </a:r>
            <a:endParaRPr lang="en-US" sz="2000" dirty="0"/>
          </a:p>
        </p:txBody>
      </p:sp>
      <p:sp>
        <p:nvSpPr>
          <p:cNvPr id="8" name="Shape 5"/>
          <p:cNvSpPr/>
          <p:nvPr/>
        </p:nvSpPr>
        <p:spPr>
          <a:xfrm>
            <a:off x="548640" y="2697480"/>
            <a:ext cx="11064240" cy="1097280"/>
          </a:xfrm>
          <a:prstGeom prst="roundRect">
            <a:avLst>
              <a:gd name="adj" fmla="val 10000"/>
            </a:avLst>
          </a:prstGeom>
          <a:solidFill>
            <a:srgbClr val="F7EFE6"/>
          </a:solidFill>
          <a:ln w="12700">
            <a:solidFill>
              <a:srgbClr val="F7EFE6"/>
            </a:solidFill>
            <a:prstDash val="solid"/>
          </a:ln>
        </p:spPr>
      </p:sp>
      <p:sp>
        <p:nvSpPr>
          <p:cNvPr id="9" name="Shape 6"/>
          <p:cNvSpPr/>
          <p:nvPr/>
        </p:nvSpPr>
        <p:spPr>
          <a:xfrm>
            <a:off x="777240" y="2971800"/>
            <a:ext cx="548640" cy="548640"/>
          </a:xfrm>
          <a:prstGeom prst="ellipse">
            <a:avLst/>
          </a:prstGeom>
          <a:solidFill>
            <a:srgbClr val="6D3B6E"/>
          </a:solidFill>
          <a:ln w="12700">
            <a:solidFill>
              <a:srgbClr val="6D3B6E"/>
            </a:solidFill>
            <a:prstDash val="solid"/>
          </a:ln>
        </p:spPr>
      </p:sp>
      <p:sp>
        <p:nvSpPr>
          <p:cNvPr id="10" name="Text 7"/>
          <p:cNvSpPr txBox="1"/>
          <p:nvPr/>
        </p:nvSpPr>
        <p:spPr>
          <a:xfrm>
            <a:off x="777240" y="2971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1" name="Text 8"/>
          <p:cNvSpPr txBox="1"/>
          <p:nvPr/>
        </p:nvSpPr>
        <p:spPr>
          <a:xfrm>
            <a:off x="1600200" y="2697480"/>
            <a:ext cx="9784080" cy="1097280"/>
          </a:xfrm>
          <a:prstGeom prst="rect">
            <a:avLst/>
          </a:prstGeom>
          <a:noFill/>
          <a:ln/>
        </p:spPr>
        <p:txBody>
          <a:bodyPr wrap="square" lIns="0" tIns="0" rIns="0" bIns="0" rtlCol="0" anchor="ctr"/>
          <a:lstStyle/>
          <a:p>
            <a:pPr indent="0" marL="0">
              <a:buNone/>
            </a:pPr>
            <a:r>
              <a:rPr lang="en-US" sz="2000" dirty="0">
                <a:solidFill>
                  <a:srgbClr val="3B2A2A"/>
                </a:solidFill>
              </a:rPr>
              <a:t>Quem não seria ouvido num diagnóstico só digital?</a:t>
            </a:r>
            <a:endParaRPr lang="en-US" sz="2000" dirty="0"/>
          </a:p>
        </p:txBody>
      </p:sp>
      <p:sp>
        <p:nvSpPr>
          <p:cNvPr id="12" name="Shape 9"/>
          <p:cNvSpPr/>
          <p:nvPr/>
        </p:nvSpPr>
        <p:spPr>
          <a:xfrm>
            <a:off x="548640" y="3931920"/>
            <a:ext cx="11064240" cy="1097280"/>
          </a:xfrm>
          <a:prstGeom prst="roundRect">
            <a:avLst>
              <a:gd name="adj" fmla="val 10000"/>
            </a:avLst>
          </a:prstGeom>
          <a:solidFill>
            <a:srgbClr val="F7EFE6"/>
          </a:solidFill>
          <a:ln w="12700">
            <a:solidFill>
              <a:srgbClr val="F7EFE6"/>
            </a:solidFill>
            <a:prstDash val="solid"/>
          </a:ln>
        </p:spPr>
      </p:sp>
      <p:sp>
        <p:nvSpPr>
          <p:cNvPr id="13" name="Shape 10"/>
          <p:cNvSpPr/>
          <p:nvPr/>
        </p:nvSpPr>
        <p:spPr>
          <a:xfrm>
            <a:off x="777240" y="4206240"/>
            <a:ext cx="548640" cy="548640"/>
          </a:xfrm>
          <a:prstGeom prst="ellipse">
            <a:avLst/>
          </a:prstGeom>
          <a:solidFill>
            <a:srgbClr val="6D3B6E"/>
          </a:solidFill>
          <a:ln w="12700">
            <a:solidFill>
              <a:srgbClr val="6D3B6E"/>
            </a:solidFill>
            <a:prstDash val="solid"/>
          </a:ln>
        </p:spPr>
      </p:sp>
      <p:sp>
        <p:nvSpPr>
          <p:cNvPr id="14" name="Text 11"/>
          <p:cNvSpPr txBox="1"/>
          <p:nvPr/>
        </p:nvSpPr>
        <p:spPr>
          <a:xfrm>
            <a:off x="777240" y="42062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5" name="Text 12"/>
          <p:cNvSpPr txBox="1"/>
          <p:nvPr/>
        </p:nvSpPr>
        <p:spPr>
          <a:xfrm>
            <a:off x="1600200" y="3931920"/>
            <a:ext cx="9784080" cy="1097280"/>
          </a:xfrm>
          <a:prstGeom prst="rect">
            <a:avLst/>
          </a:prstGeom>
          <a:noFill/>
          <a:ln/>
        </p:spPr>
        <p:txBody>
          <a:bodyPr wrap="square" lIns="0" tIns="0" rIns="0" bIns="0" rtlCol="0" anchor="ctr"/>
          <a:lstStyle/>
          <a:p>
            <a:pPr indent="0" marL="0">
              <a:buNone/>
            </a:pPr>
            <a:r>
              <a:rPr lang="en-US" sz="2000" dirty="0">
                <a:solidFill>
                  <a:srgbClr val="3B2A2A"/>
                </a:solidFill>
              </a:rPr>
              <a:t>Que critério de interrupção você definiria para um piloto?</a:t>
            </a:r>
            <a:endParaRPr lang="en-US" sz="2000" dirty="0"/>
          </a:p>
        </p:txBody>
      </p:sp>
      <p:sp>
        <p:nvSpPr>
          <p:cNvPr id="16" name="Shape 13"/>
          <p:cNvSpPr/>
          <p:nvPr/>
        </p:nvSpPr>
        <p:spPr>
          <a:xfrm>
            <a:off x="548640" y="5166360"/>
            <a:ext cx="11064240" cy="1097280"/>
          </a:xfrm>
          <a:prstGeom prst="roundRect">
            <a:avLst>
              <a:gd name="adj" fmla="val 10000"/>
            </a:avLst>
          </a:prstGeom>
          <a:solidFill>
            <a:srgbClr val="F7EFE6"/>
          </a:solidFill>
          <a:ln w="12700">
            <a:solidFill>
              <a:srgbClr val="F7EFE6"/>
            </a:solidFill>
            <a:prstDash val="solid"/>
          </a:ln>
        </p:spPr>
      </p:sp>
      <p:sp>
        <p:nvSpPr>
          <p:cNvPr id="17" name="Shape 14"/>
          <p:cNvSpPr/>
          <p:nvPr/>
        </p:nvSpPr>
        <p:spPr>
          <a:xfrm>
            <a:off x="777240" y="5440680"/>
            <a:ext cx="548640" cy="548640"/>
          </a:xfrm>
          <a:prstGeom prst="ellipse">
            <a:avLst/>
          </a:prstGeom>
          <a:solidFill>
            <a:srgbClr val="6D3B6E"/>
          </a:solidFill>
          <a:ln w="12700">
            <a:solidFill>
              <a:srgbClr val="6D3B6E"/>
            </a:solidFill>
            <a:prstDash val="solid"/>
          </a:ln>
        </p:spPr>
      </p:sp>
      <p:sp>
        <p:nvSpPr>
          <p:cNvPr id="18" name="Text 15"/>
          <p:cNvSpPr txBox="1"/>
          <p:nvPr/>
        </p:nvSpPr>
        <p:spPr>
          <a:xfrm>
            <a:off x="777240" y="5440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9" name="Text 16"/>
          <p:cNvSpPr txBox="1"/>
          <p:nvPr/>
        </p:nvSpPr>
        <p:spPr>
          <a:xfrm>
            <a:off x="1600200" y="5166360"/>
            <a:ext cx="9784080" cy="1097280"/>
          </a:xfrm>
          <a:prstGeom prst="rect">
            <a:avLst/>
          </a:prstGeom>
          <a:noFill/>
          <a:ln/>
        </p:spPr>
        <p:txBody>
          <a:bodyPr wrap="square" lIns="0" tIns="0" rIns="0" bIns="0" rtlCol="0" anchor="ctr"/>
          <a:lstStyle/>
          <a:p>
            <a:pPr indent="0" marL="0">
              <a:buNone/>
            </a:pPr>
            <a:r>
              <a:rPr lang="en-US" sz="2000" dirty="0">
                <a:solidFill>
                  <a:srgbClr val="3B2A2A"/>
                </a:solidFill>
              </a:rPr>
              <a:t>Como evitar que o piloto beneficie só quem tem mais recursos?</a:t>
            </a:r>
            <a:endParaRPr lang="en-US" sz="2000" dirty="0"/>
          </a:p>
        </p:txBody>
      </p:sp>
      <p:sp>
        <p:nvSpPr>
          <p:cNvPr id="20" name="Text 1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31</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5A2E2A"/>
        </a:solidFill>
      </p:bgPr>
    </p:bg>
    <p:spTree>
      <p:nvGrpSpPr>
        <p:cNvPr id="1" name=""/>
        <p:cNvGrpSpPr/>
        <p:nvPr/>
      </p:nvGrpSpPr>
      <p:grpSpPr>
        <a:xfrm>
          <a:off x="0" y="0"/>
          <a:ext cx="0" cy="0"/>
          <a:chOff x="0" y="0"/>
          <a:chExt cx="0" cy="0"/>
        </a:xfrm>
      </p:grpSpPr>
      <p:sp>
        <p:nvSpPr>
          <p:cNvPr id="3" name="Shape 0"/>
          <p:cNvSpPr/>
          <p:nvPr/>
        </p:nvSpPr>
        <p:spPr>
          <a:xfrm>
            <a:off x="-1371600" y="3840480"/>
            <a:ext cx="4572000" cy="4572000"/>
          </a:xfrm>
          <a:prstGeom prst="ellipse">
            <a:avLst/>
          </a:prstGeom>
          <a:solidFill>
            <a:srgbClr val="6E9A4F">
              <a:alpha val="70000"/>
            </a:srgbClr>
          </a:solidFill>
          <a:ln w="12700">
            <a:solidFill>
              <a:srgbClr val="6E9A4F">
                <a:alpha val="70000"/>
              </a:srgbClr>
            </a:solidFill>
            <a:prstDash val="solid"/>
          </a:ln>
        </p:spPr>
      </p:sp>
      <p:sp>
        <p:nvSpPr>
          <p:cNvPr id="4" name="Text 1"/>
          <p:cNvSpPr txBox="1"/>
          <p:nvPr/>
        </p:nvSpPr>
        <p:spPr>
          <a:xfrm>
            <a:off x="1097280" y="1828800"/>
            <a:ext cx="10058400" cy="20116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Comece pelo problema, teste pequeno e decida com coragem.</a:t>
            </a:r>
            <a:endParaRPr lang="en-US" sz="4400" dirty="0"/>
          </a:p>
        </p:txBody>
      </p:sp>
      <p:sp>
        <p:nvSpPr>
          <p:cNvPr id="5" name="Text 2"/>
          <p:cNvSpPr txBox="1"/>
          <p:nvPr/>
        </p:nvSpPr>
        <p:spPr>
          <a:xfrm>
            <a:off x="1097280" y="4114800"/>
            <a:ext cx="10058400" cy="640080"/>
          </a:xfrm>
          <a:prstGeom prst="rect">
            <a:avLst/>
          </a:prstGeom>
          <a:noFill/>
          <a:ln/>
        </p:spPr>
        <p:txBody>
          <a:bodyPr wrap="square" lIns="0" tIns="0" rIns="0" bIns="0" rtlCol="0" anchor="ctr"/>
          <a:lstStyle/>
          <a:p>
            <a:pPr algn="ctr" indent="0" marL="0">
              <a:buNone/>
            </a:pPr>
            <a:r>
              <a:rPr lang="en-US" sz="2200" i="1" dirty="0">
                <a:solidFill>
                  <a:srgbClr val="F4B860"/>
                </a:solidFill>
              </a:rPr>
              <a:t>A docência é insubstituível.</a:t>
            </a:r>
            <a:endParaRPr lang="en-US" sz="2200" dirty="0"/>
          </a:p>
        </p:txBody>
      </p:sp>
      <p:sp>
        <p:nvSpPr>
          <p:cNvPr id="6" name="Text 3"/>
          <p:cNvSpPr txBox="1"/>
          <p:nvPr/>
        </p:nvSpPr>
        <p:spPr>
          <a:xfrm>
            <a:off x="1097280" y="5029200"/>
            <a:ext cx="10058400" cy="548640"/>
          </a:xfrm>
          <a:prstGeom prst="rect">
            <a:avLst/>
          </a:prstGeom>
          <a:noFill/>
          <a:ln/>
        </p:spPr>
        <p:txBody>
          <a:bodyPr wrap="square" lIns="0" tIns="0" rIns="0" bIns="0" rtlCol="0" anchor="ctr"/>
          <a:lstStyle/>
          <a:p>
            <a:pPr algn="ctr" indent="0" marL="0">
              <a:buNone/>
            </a:pPr>
            <a:r>
              <a:rPr lang="en-US" sz="1800" dirty="0">
                <a:solidFill>
                  <a:srgbClr val="E9D9C8"/>
                </a:solidFill>
              </a:rPr>
              <a:t>Obrigado(a)!</a:t>
            </a:r>
            <a:endParaRPr lang="en-US" sz="1800" dirty="0"/>
          </a:p>
        </p:txBody>
      </p:sp>
    </p:spTree>
  </p:cSld>
  <p:clrMapOvr>
    <a:masterClrMapping/>
  </p:clrMapOvr>
</p:sld>
</file>

<file path=ppt/theme/theme1.xml><?xml version="1.0" encoding="utf-8"?>
<a:theme xmlns:a="http://schemas.openxmlformats.org/drawingml/2006/main" name="IA na Educação">
  <a:themeElements>
    <a:clrScheme name="IA na Educação">
      <a:dk1>
        <a:srgbClr val="3B2A2A"/>
      </a:dk1>
      <a:lt1>
        <a:srgbClr val="FFFFFF"/>
      </a:lt1>
      <a:dk2>
        <a:srgbClr val="5A2E2A"/>
      </a:dk2>
      <a:lt2>
        <a:srgbClr val="F7EFE6"/>
      </a:lt2>
      <a:accent1>
        <a:srgbClr val="D9653B"/>
      </a:accent1>
      <a:accent2>
        <a:srgbClr val="2A9D8F"/>
      </a:accent2>
      <a:accent3>
        <a:srgbClr val="E9A23B"/>
      </a:accent3>
      <a:accent4>
        <a:srgbClr val="6D3B6E"/>
      </a:accent4>
      <a:accent5>
        <a:srgbClr val="3D7EA6"/>
      </a:accent5>
      <a:accent6>
        <a:srgbClr val="6E9A4F"/>
      </a:accent6>
      <a:hlink>
        <a:srgbClr val="3D7EA6"/>
      </a:hlink>
      <a:folHlink>
        <a:srgbClr val="6D3B6E"/>
      </a:folHlink>
    </a:clrScheme>
    <a:fontScheme name="IA na Educaçã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Capítulo 31 — Diagnóstico, formação docente e pilotos</dc:title>
  <dc:subject>PptxGenJS Presentation</dc:subject>
  <dc:creator>Araken de Medeiros Santos</dc:creator>
  <cp:lastModifiedBy>Araken de Medeiros Santos</cp:lastModifiedBy>
  <cp:revision>1</cp:revision>
  <dcterms:created xsi:type="dcterms:W3CDTF">2026-10-26T23:33:38Z</dcterms:created>
  <dcterms:modified xsi:type="dcterms:W3CDTF">2026-10-26T23:33:38Z</dcterms:modified>
</cp:coreProperties>
</file>