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12. Apresente o tema e peça que a turma pense em uma situação do dia a dia relacionada.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os objetivos e antecipe a ideia central: a criança precisa continuar sendo autora do que aprende. Tempo: 2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Cena fictícia: a professora Rita nota frases elaboradas na lição de casa e a criança não sabe o significado de uma palavra. Um familiar pediu o texto a uma IA, para ajudar. Peça que a turma diga como reagiria sem punir ninguém. Tempo: 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desenvolvimento e necessidades, apoios ao professor, participação dos estudantes, atividades, avaliação e riscos. Dê a visão geral em um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Estudantes de cerca de 6 a 10 anos. Quatro cuidados decorrem dessa fase. Peça um exemplo de cada. A BNCC indica alfabetização como foco nos dois primeiros 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analogia da bicicleta com rodinhas: ajuda no começo, mas se o adulto pedala por você, você não aprende. Ligue à lição de casa feita pela IA. Pergunte: que apoio da família ajuda e qual atrapalha?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Proposta do autor, em quatro pontos. A UNESCO sugere idade mínima e cita 13 anos como referência; muitos termos de serviços restringem menores. Confira também as normas de proteção de dados e ambientes digitais nos textos oficiais.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Seja fiel às ressalvas. Poucos estudos de IA generativa na educação básica. A revisão de 28 estudos com cerca de 4.600 estudantes trata de tutores inteligentes, diferentes de assistentes de conversa. As propostas do capítulo são baseadas em princípios pedagógicos, não em eficácia comprovada.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Apoios ao professor, sempre com verificação. Em alfabetização, a atenção dobra: grafias e construções podem não combinar com a consciência fonológica da turma. Em Matemática, refaça todos os cálculos.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Alfabetização exige atenção dobrada. Leia os quatro alertas e peça à turma que acrescente um quinto vindo da própria experiência. Mostre que revisão é parte do trabalho, não etapa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para fixar. Pergunte à turma o que significaria, na prática da sala, a criança como autora. Tempo: 1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a atividade 1 com a ideia do corretor do celular: ele sugere a palavra mais provável, mas provável não é o mesmo que verdadeiro. Peça à turma que dê exemplos em que o corretor errou.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1, totalmente desplugada. Conte as respostas, faça gráfico de barras e compare frases previsíveis, factuais e desconhecidas. Evite humanizar a máquina. Permita respostas orais ou desenhos.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Triângulo de papéis: a criança produz, o professor media e a IA, quando usada, fica ligada ao professor e não à criança. Peça que a turma explique cada rótulo: produzir, mediar e revisar.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exemplos de uso por componente curricular. Em História e Geografia, sempre com fontes locais verificadas. Em Ensino Religioso e temas sensíveis, cuidado redobrado e fontes oficiais.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2: IA só para o professor. Peça duas versões do texto e seis perguntas, revise e entregue as duas versões a todos, nunca só a versão fácil para alguns. Feche perguntando qual versão ajudou 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estratégias do capítulo; destaque quatro. Use feedback descritivo: o que foi bem, o que melhorar e como. Rubricas simples têm poucos critérios e linguagem acessível. Autoavaliação com carinhas ou frases como 'hoje eu aprendi'.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Dois alertas fortes: nada de IA para notas ou para prever 'problemas'; nada de detectores de texto gerado por IA com crianças, pois são imprecisos e podem produzir injustiças. Prefira produção em sala e conversa sobre o processo, sem culpar famílias.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Experimente o detetive de fontes: após uma pesquisa simples, as crianças perguntam a três fontes e comparam. Pergunte: todas dizem a mesma coisa? Como saber qual está certa? É um primeiro passo de olhar crítico sem tecnologia.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dispensar: se o objetivo é desenvolver leitura, escrita ou cálculo da própria criança; se você não consegue revisar; se há dados pessoais; ou se uma atividade concreta atinge o mesmo objetivo. Sem internet, a alfabetização continua com papel, conversa e jogos.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Rodada rápida. Retome a professora Rita: o que ela poderia dizer às famílias? Peça que cada pessoa escolha uma ideia para levar.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Dê 3 minutos de escrita e 3 de troca. Se houver tempo, ensaie em duplas o que diria às famílias sobre IA nas lições de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Convide a turma a escolher uma ideia para experimentar nesta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8412480" y="-1463040"/>
            <a:ext cx="5943600" cy="5943600"/>
          </a:xfrm>
          <a:prstGeom prst="ellipse">
            <a:avLst/>
          </a:prstGeom>
          <a:solidFill>
            <a:srgbClr val="E9A23B">
              <a:alpha val="75000"/>
            </a:srgbClr>
          </a:solidFill>
          <a:ln w="12700">
            <a:solidFill>
              <a:srgbClr val="E9A23B">
                <a:alpha val="75000"/>
              </a:srgbClr>
            </a:solidFill>
            <a:prstDash val="solid"/>
          </a:ln>
        </p:spPr>
      </p:sp>
      <p:sp>
        <p:nvSpPr>
          <p:cNvPr id="4" name="Shape 1"/>
          <p:cNvSpPr/>
          <p:nvPr/>
        </p:nvSpPr>
        <p:spPr>
          <a:xfrm>
            <a:off x="9692640" y="3840480"/>
            <a:ext cx="3840480" cy="3840480"/>
          </a:xfrm>
          <a:prstGeom prst="ellipse">
            <a:avLst/>
          </a:prstGeom>
          <a:solidFill>
            <a:srgbClr val="E9A23B">
              <a:alpha val="65000"/>
            </a:srgbClr>
          </a:solidFill>
          <a:ln w="12700">
            <a:solidFill>
              <a:srgbClr val="E9A23B">
                <a:alpha val="65000"/>
              </a:srgbClr>
            </a:solidFill>
            <a:prstDash val="solid"/>
          </a:ln>
        </p:spPr>
      </p:sp>
      <p:sp>
        <p:nvSpPr>
          <p:cNvPr id="5" name="Text 2"/>
          <p:cNvSpPr txBox="1"/>
          <p:nvPr/>
        </p:nvSpPr>
        <p:spPr>
          <a:xfrm>
            <a:off x="731520" y="1188720"/>
            <a:ext cx="7315200" cy="457200"/>
          </a:xfrm>
          <a:prstGeom prst="rect">
            <a:avLst/>
          </a:prstGeom>
          <a:noFill/>
          <a:ln/>
        </p:spPr>
        <p:txBody>
          <a:bodyPr wrap="square" lIns="0" tIns="0" rIns="0" bIns="0" rtlCol="0" anchor="ctr"/>
          <a:lstStyle/>
          <a:p>
            <a:pPr indent="0" marL="0">
              <a:buNone/>
            </a:pPr>
            <a:r>
              <a:rPr lang="en-US" sz="1800" b="1" spc="400" kern="0" dirty="0">
                <a:solidFill>
                  <a:srgbClr val="F4B860"/>
                </a:solidFill>
              </a:rPr>
              <a:t>CAPÍTULO 12</a:t>
            </a:r>
            <a:endParaRPr lang="en-US" sz="1800" dirty="0"/>
          </a:p>
        </p:txBody>
      </p:sp>
      <p:sp>
        <p:nvSpPr>
          <p:cNvPr id="6" name="Text 3"/>
          <p:cNvSpPr txBox="1"/>
          <p:nvPr/>
        </p:nvSpPr>
        <p:spPr>
          <a:xfrm>
            <a:off x="731520" y="1737360"/>
            <a:ext cx="8412480" cy="2377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Anos iniciais do ensino fundamental: alfabetizar, investigar e aprender a perguntar</a:t>
            </a:r>
            <a:endParaRPr lang="en-US" sz="3400" dirty="0"/>
          </a:p>
        </p:txBody>
      </p:sp>
      <p:sp>
        <p:nvSpPr>
          <p:cNvPr id="7" name="Text 4"/>
          <p:cNvSpPr txBox="1"/>
          <p:nvPr/>
        </p:nvSpPr>
        <p:spPr>
          <a:xfrm>
            <a:off x="731520" y="4297680"/>
            <a:ext cx="8229600" cy="457200"/>
          </a:xfrm>
          <a:prstGeom prst="rect">
            <a:avLst/>
          </a:prstGeom>
          <a:noFill/>
          <a:ln/>
        </p:spPr>
        <p:txBody>
          <a:bodyPr wrap="square" lIns="0" tIns="0" rIns="0" bIns="0" rtlCol="0" anchor="ctr"/>
          <a:lstStyle/>
          <a:p>
            <a:pPr indent="0" marL="0">
              <a:buNone/>
            </a:pPr>
            <a:r>
              <a:rPr lang="en-US" sz="1800" i="1" dirty="0">
                <a:solidFill>
                  <a:srgbClr val="F7EFE6"/>
                </a:solidFill>
              </a:rPr>
              <a:t>Parte III — Práticas por nível educacional</a:t>
            </a:r>
            <a:endParaRPr lang="en-US" sz="1800" dirty="0"/>
          </a:p>
        </p:txBody>
      </p:sp>
      <p:sp>
        <p:nvSpPr>
          <p:cNvPr id="8" name="Text 5"/>
          <p:cNvSpPr txBox="1"/>
          <p:nvPr/>
        </p:nvSpPr>
        <p:spPr>
          <a:xfrm>
            <a:off x="731520" y="6035040"/>
            <a:ext cx="9144000" cy="365760"/>
          </a:xfrm>
          <a:prstGeom prst="rect">
            <a:avLst/>
          </a:prstGeom>
          <a:noFill/>
          <a:ln/>
        </p:spPr>
        <p:txBody>
          <a:bodyPr wrap="square" lIns="0" tIns="0" rIns="0" bIns="0" rtlCol="0" anchor="ctr"/>
          <a:lstStyle/>
          <a:p>
            <a:pPr indent="0" marL="0">
              <a:buNone/>
            </a:pPr>
            <a:r>
              <a:rPr lang="en-US" sz="1300" dirty="0">
                <a:solidFill>
                  <a:srgbClr val="E9D9C8"/>
                </a:solidFill>
              </a:rPr>
              <a:t>Inteligência Artificial Aplicada à Educação · Araken de Medeiros Santos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vamos aprender</a:t>
            </a:r>
            <a:endParaRPr lang="en-US" sz="3400" dirty="0"/>
          </a:p>
        </p:txBody>
      </p:sp>
      <p:sp>
        <p:nvSpPr>
          <p:cNvPr id="4" name="Shape 1"/>
          <p:cNvSpPr/>
          <p:nvPr/>
        </p:nvSpPr>
        <p:spPr>
          <a:xfrm>
            <a:off x="548640" y="1463040"/>
            <a:ext cx="11064240" cy="914400"/>
          </a:xfrm>
          <a:prstGeom prst="roundRect">
            <a:avLst>
              <a:gd name="adj" fmla="val 12000"/>
            </a:avLst>
          </a:prstGeom>
          <a:solidFill>
            <a:srgbClr val="F7EFE6"/>
          </a:solidFill>
          <a:ln w="12700">
            <a:solidFill>
              <a:srgbClr val="F7EFE6"/>
            </a:solidFill>
            <a:prstDash val="solid"/>
          </a:ln>
        </p:spPr>
      </p:sp>
      <p:sp>
        <p:nvSpPr>
          <p:cNvPr id="5" name="Shape 2"/>
          <p:cNvSpPr/>
          <p:nvPr/>
        </p:nvSpPr>
        <p:spPr>
          <a:xfrm>
            <a:off x="731520" y="1645920"/>
            <a:ext cx="548640" cy="548640"/>
          </a:xfrm>
          <a:prstGeom prst="ellipse">
            <a:avLst/>
          </a:prstGeom>
          <a:solidFill>
            <a:srgbClr val="E9A23B"/>
          </a:solidFill>
          <a:ln w="12700">
            <a:solidFill>
              <a:srgbClr val="E9A23B"/>
            </a:solidFill>
            <a:prstDash val="solid"/>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554480" y="1463040"/>
            <a:ext cx="9875520" cy="914400"/>
          </a:xfrm>
          <a:prstGeom prst="rect">
            <a:avLst/>
          </a:prstGeom>
          <a:noFill/>
          <a:ln/>
        </p:spPr>
        <p:txBody>
          <a:bodyPr wrap="square" lIns="0" tIns="0" rIns="0" bIns="0" rtlCol="0" anchor="ctr"/>
          <a:lstStyle/>
          <a:p>
            <a:pPr indent="0" marL="0">
              <a:buNone/>
            </a:pPr>
            <a:r>
              <a:rPr lang="en-US" sz="2000" dirty="0">
                <a:solidFill>
                  <a:srgbClr val="3B2A2A"/>
                </a:solidFill>
              </a:rPr>
              <a:t>Relacionar o desenvolvimento dos anos iniciais a decisões sobre IA</a:t>
            </a:r>
            <a:endParaRPr lang="en-US" sz="2000" dirty="0"/>
          </a:p>
        </p:txBody>
      </p:sp>
      <p:sp>
        <p:nvSpPr>
          <p:cNvPr id="8" name="Shape 5"/>
          <p:cNvSpPr/>
          <p:nvPr/>
        </p:nvSpPr>
        <p:spPr>
          <a:xfrm>
            <a:off x="548640" y="2468880"/>
            <a:ext cx="11064240" cy="914400"/>
          </a:xfrm>
          <a:prstGeom prst="roundRect">
            <a:avLst>
              <a:gd name="adj" fmla="val 12000"/>
            </a:avLst>
          </a:prstGeom>
          <a:solidFill>
            <a:srgbClr val="F7EFE6"/>
          </a:solidFill>
          <a:ln w="12700">
            <a:solidFill>
              <a:srgbClr val="F7EFE6"/>
            </a:solidFill>
            <a:prstDash val="solid"/>
          </a:ln>
        </p:spPr>
      </p:sp>
      <p:sp>
        <p:nvSpPr>
          <p:cNvPr id="9" name="Shape 6"/>
          <p:cNvSpPr/>
          <p:nvPr/>
        </p:nvSpPr>
        <p:spPr>
          <a:xfrm>
            <a:off x="731520" y="2651760"/>
            <a:ext cx="548640" cy="548640"/>
          </a:xfrm>
          <a:prstGeom prst="ellipse">
            <a:avLst/>
          </a:prstGeom>
          <a:solidFill>
            <a:srgbClr val="E9A23B"/>
          </a:solidFill>
          <a:ln w="12700">
            <a:solidFill>
              <a:srgbClr val="E9A23B"/>
            </a:solidFill>
            <a:prstDash val="solid"/>
          </a:ln>
        </p:spPr>
      </p:sp>
      <p:sp>
        <p:nvSpPr>
          <p:cNvPr id="10" name="Text 7"/>
          <p:cNvSpPr txBox="1"/>
          <p:nvPr/>
        </p:nvSpPr>
        <p:spPr>
          <a:xfrm>
            <a:off x="73152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554480" y="2468880"/>
            <a:ext cx="9875520" cy="914400"/>
          </a:xfrm>
          <a:prstGeom prst="rect">
            <a:avLst/>
          </a:prstGeom>
          <a:noFill/>
          <a:ln/>
        </p:spPr>
        <p:txBody>
          <a:bodyPr wrap="square" lIns="0" tIns="0" rIns="0" bIns="0" rtlCol="0" anchor="ctr"/>
          <a:lstStyle/>
          <a:p>
            <a:pPr indent="0" marL="0">
              <a:buNone/>
            </a:pPr>
            <a:r>
              <a:rPr lang="en-US" sz="2000" dirty="0">
                <a:solidFill>
                  <a:srgbClr val="3B2A2A"/>
                </a:solidFill>
              </a:rPr>
              <a:t>Planejar apoios de IA ao professor, com verificação</a:t>
            </a:r>
            <a:endParaRPr lang="en-US" sz="2000" dirty="0"/>
          </a:p>
        </p:txBody>
      </p:sp>
      <p:sp>
        <p:nvSpPr>
          <p:cNvPr id="12" name="Shape 9"/>
          <p:cNvSpPr/>
          <p:nvPr/>
        </p:nvSpPr>
        <p:spPr>
          <a:xfrm>
            <a:off x="548640" y="3474720"/>
            <a:ext cx="11064240" cy="914400"/>
          </a:xfrm>
          <a:prstGeom prst="roundRect">
            <a:avLst>
              <a:gd name="adj" fmla="val 12000"/>
            </a:avLst>
          </a:prstGeom>
          <a:solidFill>
            <a:srgbClr val="F7EFE6"/>
          </a:solidFill>
          <a:ln w="12700">
            <a:solidFill>
              <a:srgbClr val="F7EFE6"/>
            </a:solidFill>
            <a:prstDash val="solid"/>
          </a:ln>
        </p:spPr>
      </p:sp>
      <p:sp>
        <p:nvSpPr>
          <p:cNvPr id="13" name="Shape 10"/>
          <p:cNvSpPr/>
          <p:nvPr/>
        </p:nvSpPr>
        <p:spPr>
          <a:xfrm>
            <a:off x="731520" y="3657600"/>
            <a:ext cx="548640" cy="548640"/>
          </a:xfrm>
          <a:prstGeom prst="ellipse">
            <a:avLst/>
          </a:prstGeom>
          <a:solidFill>
            <a:srgbClr val="E9A23B"/>
          </a:solidFill>
          <a:ln w="12700">
            <a:solidFill>
              <a:srgbClr val="E9A23B"/>
            </a:solidFill>
            <a:prstDash val="solid"/>
          </a:ln>
        </p:spPr>
      </p:sp>
      <p:sp>
        <p:nvSpPr>
          <p:cNvPr id="14" name="Text 11"/>
          <p:cNvSpPr txBox="1"/>
          <p:nvPr/>
        </p:nvSpPr>
        <p:spPr>
          <a:xfrm>
            <a:off x="731520" y="3657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554480" y="347472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Definir condições e limites para a participação dos estudantes</a:t>
            </a:r>
            <a:endParaRPr lang="en-US" sz="2000" dirty="0"/>
          </a:p>
        </p:txBody>
      </p:sp>
      <p:sp>
        <p:nvSpPr>
          <p:cNvPr id="16" name="Shape 13"/>
          <p:cNvSpPr/>
          <p:nvPr/>
        </p:nvSpPr>
        <p:spPr>
          <a:xfrm>
            <a:off x="548640" y="4480560"/>
            <a:ext cx="11064240" cy="914400"/>
          </a:xfrm>
          <a:prstGeom prst="roundRect">
            <a:avLst>
              <a:gd name="adj" fmla="val 12000"/>
            </a:avLst>
          </a:prstGeom>
          <a:solidFill>
            <a:srgbClr val="F7EFE6"/>
          </a:solidFill>
          <a:ln w="12700">
            <a:solidFill>
              <a:srgbClr val="F7EFE6"/>
            </a:solidFill>
            <a:prstDash val="solid"/>
          </a:ln>
        </p:spPr>
      </p:sp>
      <p:sp>
        <p:nvSpPr>
          <p:cNvPr id="17" name="Shape 14"/>
          <p:cNvSpPr/>
          <p:nvPr/>
        </p:nvSpPr>
        <p:spPr>
          <a:xfrm>
            <a:off x="731520" y="4663440"/>
            <a:ext cx="548640" cy="548640"/>
          </a:xfrm>
          <a:prstGeom prst="ellipse">
            <a:avLst/>
          </a:prstGeom>
          <a:solidFill>
            <a:srgbClr val="E9A23B"/>
          </a:solidFill>
          <a:ln w="12700">
            <a:solidFill>
              <a:srgbClr val="E9A23B"/>
            </a:solidFill>
            <a:prstDash val="solid"/>
          </a:ln>
        </p:spPr>
      </p:sp>
      <p:sp>
        <p:nvSpPr>
          <p:cNvPr id="18" name="Text 15"/>
          <p:cNvSpPr txBox="1"/>
          <p:nvPr/>
        </p:nvSpPr>
        <p:spPr>
          <a:xfrm>
            <a:off x="731520" y="4663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6"/>
          <p:cNvSpPr txBox="1"/>
          <p:nvPr/>
        </p:nvSpPr>
        <p:spPr>
          <a:xfrm>
            <a:off x="1554480" y="4480560"/>
            <a:ext cx="9875520" cy="914400"/>
          </a:xfrm>
          <a:prstGeom prst="rect">
            <a:avLst/>
          </a:prstGeom>
          <a:noFill/>
          <a:ln/>
        </p:spPr>
        <p:txBody>
          <a:bodyPr wrap="square" lIns="0" tIns="0" rIns="0" bIns="0" rtlCol="0" anchor="ctr"/>
          <a:lstStyle/>
          <a:p>
            <a:pPr indent="0" marL="0">
              <a:buNone/>
            </a:pPr>
            <a:r>
              <a:rPr lang="en-US" sz="2000" dirty="0">
                <a:solidFill>
                  <a:srgbClr val="3B2A2A"/>
                </a:solidFill>
              </a:rPr>
              <a:t>Planejar atividades desplugadas sobre máquinas e informação</a:t>
            </a:r>
            <a:endParaRPr lang="en-US" sz="2000" dirty="0"/>
          </a:p>
        </p:txBody>
      </p:sp>
      <p:sp>
        <p:nvSpPr>
          <p:cNvPr id="20" name="Shape 17"/>
          <p:cNvSpPr/>
          <p:nvPr/>
        </p:nvSpPr>
        <p:spPr>
          <a:xfrm>
            <a:off x="548640" y="5486400"/>
            <a:ext cx="11064240" cy="914400"/>
          </a:xfrm>
          <a:prstGeom prst="roundRect">
            <a:avLst>
              <a:gd name="adj" fmla="val 12000"/>
            </a:avLst>
          </a:prstGeom>
          <a:solidFill>
            <a:srgbClr val="F7EFE6"/>
          </a:solidFill>
          <a:ln w="12700">
            <a:solidFill>
              <a:srgbClr val="F7EFE6"/>
            </a:solidFill>
            <a:prstDash val="solid"/>
          </a:ln>
        </p:spPr>
      </p:sp>
      <p:sp>
        <p:nvSpPr>
          <p:cNvPr id="21" name="Shape 18"/>
          <p:cNvSpPr/>
          <p:nvPr/>
        </p:nvSpPr>
        <p:spPr>
          <a:xfrm>
            <a:off x="731520" y="5669280"/>
            <a:ext cx="548640" cy="548640"/>
          </a:xfrm>
          <a:prstGeom prst="ellipse">
            <a:avLst/>
          </a:prstGeom>
          <a:solidFill>
            <a:srgbClr val="E9A23B"/>
          </a:solidFill>
          <a:ln w="12700">
            <a:solidFill>
              <a:srgbClr val="E9A23B"/>
            </a:solidFill>
            <a:prstDash val="solid"/>
          </a:ln>
        </p:spPr>
      </p:sp>
      <p:sp>
        <p:nvSpPr>
          <p:cNvPr id="22" name="Text 19"/>
          <p:cNvSpPr txBox="1"/>
          <p:nvPr/>
        </p:nvSpPr>
        <p:spPr>
          <a:xfrm>
            <a:off x="731520" y="5669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0"/>
          <p:cNvSpPr txBox="1"/>
          <p:nvPr/>
        </p:nvSpPr>
        <p:spPr>
          <a:xfrm>
            <a:off x="1554480" y="5486400"/>
            <a:ext cx="9875520" cy="914400"/>
          </a:xfrm>
          <a:prstGeom prst="rect">
            <a:avLst/>
          </a:prstGeom>
          <a:noFill/>
          <a:ln/>
        </p:spPr>
        <p:txBody>
          <a:bodyPr wrap="square" lIns="0" tIns="0" rIns="0" bIns="0" rtlCol="0" anchor="ctr"/>
          <a:lstStyle/>
          <a:p>
            <a:pPr indent="0" marL="0">
              <a:buNone/>
            </a:pPr>
            <a:r>
              <a:rPr lang="en-US" sz="2000" dirty="0">
                <a:solidFill>
                  <a:srgbClr val="3B2A2A"/>
                </a:solidFill>
              </a:rPr>
              <a:t>Avaliar sem usar IA para classificar crianças</a:t>
            </a:r>
            <a:endParaRPr lang="en-US" sz="20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A23B"/>
        </a:solidFill>
      </p:bgPr>
    </p:bg>
    <p:spTree>
      <p:nvGrpSpPr>
        <p:cNvPr id="1" name=""/>
        <p:cNvGrpSpPr/>
        <p:nvPr/>
      </p:nvGrpSpPr>
      <p:grpSpPr>
        <a:xfrm>
          <a:off x="0" y="0"/>
          <a:ext cx="0" cy="0"/>
          <a:chOff x="0" y="0"/>
          <a:chExt cx="0" cy="0"/>
        </a:xfrm>
      </p:grpSpPr>
      <p:sp>
        <p:nvSpPr>
          <p:cNvPr id="3" name="Text 0"/>
          <p:cNvSpPr txBox="1"/>
          <p:nvPr/>
        </p:nvSpPr>
        <p:spPr>
          <a:xfrm>
            <a:off x="822960" y="914400"/>
            <a:ext cx="10058400" cy="457200"/>
          </a:xfrm>
          <a:prstGeom prst="rect">
            <a:avLst/>
          </a:prstGeom>
          <a:noFill/>
          <a:ln/>
        </p:spPr>
        <p:txBody>
          <a:bodyPr wrap="square" lIns="0" tIns="0" rIns="0" bIns="0" rtlCol="0" anchor="ctr"/>
          <a:lstStyle/>
          <a:p>
            <a:pPr indent="0" marL="0">
              <a:buNone/>
            </a:pPr>
            <a:r>
              <a:rPr lang="en-US" sz="1800" b="1" spc="400" kern="0" dirty="0">
                <a:solidFill>
                  <a:srgbClr val="FFFFFF"/>
                </a:solidFill>
              </a:rPr>
              <a:t>PENSE UM POUCO</a:t>
            </a:r>
            <a:endParaRPr lang="en-US" sz="1800" dirty="0"/>
          </a:p>
        </p:txBody>
      </p:sp>
      <p:sp>
        <p:nvSpPr>
          <p:cNvPr id="4" name="Text 1"/>
          <p:cNvSpPr txBox="1"/>
          <p:nvPr/>
        </p:nvSpPr>
        <p:spPr>
          <a:xfrm>
            <a:off x="822960" y="1645920"/>
            <a:ext cx="10515600" cy="3291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Como a criança continua sendo a autora do que aprende?</a:t>
            </a:r>
            <a:endParaRPr lang="en-US" sz="3800" dirty="0"/>
          </a:p>
        </p:txBody>
      </p:sp>
      <p:sp>
        <p:nvSpPr>
          <p:cNvPr id="5" name="Text 2"/>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800" i="1" dirty="0">
                <a:solidFill>
                  <a:srgbClr val="FFF3E6"/>
                </a:solidFill>
              </a:rPr>
              <a:t>Cena fictícia: a lição de casa "perfeita" que não mostra o que ele sabe.</a:t>
            </a:r>
            <a:endParaRPr lang="en-US" sz="1800" dirty="0"/>
          </a:p>
        </p:txBody>
      </p:sp>
      <p:sp>
        <p:nvSpPr>
          <p:cNvPr id="6"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Mapa do capítulo</a:t>
            </a:r>
            <a:endParaRPr lang="en-US" sz="3400" dirty="0"/>
          </a:p>
        </p:txBody>
      </p:sp>
      <p:pic>
        <p:nvPicPr>
          <p:cNvPr id="4" name="Image 0" descr="Figura 12.1 — Mapa dos conceitos principais do capítulo.">    </p:cNvPr>
          <p:cNvPicPr>
            <a:picLocks noChangeAspect="1"/>
          </p:cNvPicPr>
          <p:nvPr/>
        </p:nvPicPr>
        <p:blipFill>
          <a:blip r:embed="rId1"/>
          <a:stretch>
            <a:fillRect/>
          </a:stretch>
        </p:blipFill>
        <p:spPr>
          <a:xfrm>
            <a:off x="2930290" y="1325880"/>
            <a:ext cx="6300940"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Figura 12.1 — Mapa dos conceitos principais do capítulo.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Quem são os estudantes dos anos iniciais</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Informação confiável</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 criança ainda constrói a diferença entre confiável e não confiável; respostas fluentes enganam.</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Produção própria</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Escrever, errar e reescrever fazem parte do aprendizado.</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Relação com o adulto</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Professor e família são decisivos.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Proteção de dados</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Crianças não avaliam riscos de privacidade.</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Produção da criança é aprendizado</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E9A2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000" dirty="0">
                <a:solidFill>
                  <a:srgbClr val="3B2A2A"/>
                </a:solidFill>
              </a:rPr>
              <a:t>Escrever, errar e reescrever constroem a alfabetização. Se a máquina faz o texto, o professor perde a informação sobre o que a criança sabe.</a:t>
            </a:r>
            <a:endParaRPr lang="en-US" sz="2000" dirty="0"/>
          </a:p>
        </p:txBody>
      </p:sp>
      <p:sp>
        <p:nvSpPr>
          <p:cNvPr id="7" name="Shape 4"/>
          <p:cNvSpPr/>
          <p:nvPr/>
        </p:nvSpPr>
        <p:spPr>
          <a:xfrm>
            <a:off x="7498080" y="1463040"/>
            <a:ext cx="4114800" cy="2926080"/>
          </a:xfrm>
          <a:prstGeom prst="roundRect">
            <a:avLst>
              <a:gd name="adj" fmla="val 4688"/>
            </a:avLst>
          </a:prstGeom>
          <a:solidFill>
            <a:srgbClr val="E9A23B"/>
          </a:solidFill>
          <a:ln w="12700">
            <a:solidFill>
              <a:srgbClr val="E9A2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1800" dirty="0">
                <a:solidFill>
                  <a:srgbClr val="FFFFFF"/>
                </a:solidFill>
              </a:rPr>
              <a:t>aprender a andar de bicicleta: se alguém pedala por você, a bicicleta chega ao destino, mas você não aprendeu.</a:t>
            </a:r>
            <a:endParaRPr lang="en-US" sz="18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“Texto perfeito não mostra quem aprendeu.”</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Condições e limites: proposta do autor</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Sem assistentes diretos</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Salvo demonstração coletiva do professor: breve, sem dados pessoais, com objetivo claro.</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IA na preparação</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Se o professor quiser, para materiais e propostas.</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Letramento desplugado</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Atividades sem tela e conversas guiadas sobre máquinas.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Diálogo com as famílias</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 produção da criança importa; apoio demais pode prejudicar.</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a pesquisa permite afirmar</a:t>
            </a:r>
            <a:endParaRPr lang="en-US" sz="3400" dirty="0"/>
          </a:p>
        </p:txBody>
      </p:sp>
      <p:sp>
        <p:nvSpPr>
          <p:cNvPr id="4" name="Shape 1"/>
          <p:cNvSpPr/>
          <p:nvPr/>
        </p:nvSpPr>
        <p:spPr>
          <a:xfrm>
            <a:off x="54864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IA generativa</a:t>
            </a:r>
            <a:endParaRPr lang="en-US" sz="2000" dirty="0"/>
          </a:p>
        </p:txBody>
      </p:sp>
      <p:sp>
        <p:nvSpPr>
          <p:cNvPr id="8" name="Text 5"/>
          <p:cNvSpPr txBox="1"/>
          <p:nvPr/>
        </p:nvSpPr>
        <p:spPr>
          <a:xfrm>
            <a:off x="77724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Poucos estudos na educação básica, menos ainda nos anos iniciais.</a:t>
            </a:r>
            <a:endParaRPr lang="en-US" sz="1700" dirty="0"/>
          </a:p>
        </p:txBody>
      </p:sp>
      <p:sp>
        <p:nvSpPr>
          <p:cNvPr id="9" name="Shape 6"/>
          <p:cNvSpPr/>
          <p:nvPr/>
        </p:nvSpPr>
        <p:spPr>
          <a:xfrm>
            <a:off x="432816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55676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45567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455676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Tutores inteligentes</a:t>
            </a:r>
            <a:endParaRPr lang="en-US" sz="2000" dirty="0"/>
          </a:p>
        </p:txBody>
      </p:sp>
      <p:sp>
        <p:nvSpPr>
          <p:cNvPr id="13" name="Text 10"/>
          <p:cNvSpPr txBox="1"/>
          <p:nvPr/>
        </p:nvSpPr>
        <p:spPr>
          <a:xfrm>
            <a:off x="4556760" y="3337560"/>
            <a:ext cx="3048000" cy="2468880"/>
          </a:xfrm>
          <a:prstGeom prst="rect">
            <a:avLst/>
          </a:prstGeom>
          <a:noFill/>
          <a:ln/>
        </p:spPr>
        <p:txBody>
          <a:bodyPr wrap="square" lIns="0" tIns="0" rIns="0" bIns="0" rtlCol="0" anchor="t"/>
          <a:lstStyle/>
          <a:p>
            <a:pPr indent="0" marL="0">
              <a:buNone/>
            </a:pPr>
            <a:r>
              <a:rPr lang="en-US" sz="1500" dirty="0">
                <a:solidFill>
                  <a:srgbClr val="3B2A2A"/>
                </a:solidFill>
              </a:rPr>
              <a:t>28 estudos, cerca de 4.600 estudantes: efeitos em geral positivos, mas mitigados. Não são assistentes de conversa.</a:t>
            </a:r>
            <a:endParaRPr lang="en-US" sz="1500" dirty="0"/>
          </a:p>
        </p:txBody>
      </p:sp>
      <p:sp>
        <p:nvSpPr>
          <p:cNvPr id="14" name="Shape 11"/>
          <p:cNvSpPr/>
          <p:nvPr/>
        </p:nvSpPr>
        <p:spPr>
          <a:xfrm>
            <a:off x="810768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833628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83362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833628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Letramento em IA</a:t>
            </a:r>
            <a:endParaRPr lang="en-US" sz="2000" dirty="0"/>
          </a:p>
        </p:txBody>
      </p:sp>
      <p:sp>
        <p:nvSpPr>
          <p:cNvPr id="18" name="Text 15"/>
          <p:cNvSpPr txBox="1"/>
          <p:nvPr/>
        </p:nvSpPr>
        <p:spPr>
          <a:xfrm>
            <a:off x="833628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Predomínio de abordagens técnicas; pouca atenção a dimensões críticas.</a:t>
            </a:r>
            <a:endParaRPr lang="en-US" sz="17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Apoios ao professor, com verificação</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Textos em níveis</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Versões do mesmo texto. Conferir fidelidade, vocabulário, grafia e estereótipos.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Perguntas</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Localização, inferência e opinião. Conferir alinhamento ao texto.</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Problemas de Matemática</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Mesmos números, contextos novos. Refazer todos os cálculos.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Investigações</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Roteiros de observação. Conferir segurança e correção conceitual.</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Pare e verifique: alfabetização</a:t>
            </a:r>
            <a:endParaRPr lang="en-US" sz="3400" dirty="0"/>
          </a:p>
        </p:txBody>
      </p:sp>
      <p:sp>
        <p:nvSpPr>
          <p:cNvPr id="4" name="Shape 1"/>
          <p:cNvSpPr/>
          <p:nvPr/>
        </p:nvSpPr>
        <p:spPr>
          <a:xfrm>
            <a:off x="548640" y="1463040"/>
            <a:ext cx="11064240" cy="1051560"/>
          </a:xfrm>
          <a:prstGeom prst="roundRect">
            <a:avLst>
              <a:gd name="adj" fmla="val 10435"/>
            </a:avLst>
          </a:prstGeom>
          <a:solidFill>
            <a:srgbClr val="FDECE4"/>
          </a:solidFill>
          <a:ln w="12700">
            <a:solidFill>
              <a:srgbClr val="F2B8A0"/>
            </a:solidFill>
            <a:prstDash val="solid"/>
          </a:ln>
        </p:spPr>
      </p:sp>
      <p:sp>
        <p:nvSpPr>
          <p:cNvPr id="5" name="Shape 2"/>
          <p:cNvSpPr/>
          <p:nvPr/>
        </p:nvSpPr>
        <p:spPr>
          <a:xfrm>
            <a:off x="777240" y="171450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 y="17145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7" name="Text 4"/>
          <p:cNvSpPr txBox="1"/>
          <p:nvPr/>
        </p:nvSpPr>
        <p:spPr>
          <a:xfrm>
            <a:off x="1600200" y="146304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Palavras e grafias podem não combinar com a consciência fonológica da turma</a:t>
            </a:r>
            <a:endParaRPr lang="en-US" sz="1800" dirty="0"/>
          </a:p>
        </p:txBody>
      </p:sp>
      <p:sp>
        <p:nvSpPr>
          <p:cNvPr id="8" name="Shape 5"/>
          <p:cNvSpPr/>
          <p:nvPr/>
        </p:nvSpPr>
        <p:spPr>
          <a:xfrm>
            <a:off x="548640" y="2651760"/>
            <a:ext cx="11064240" cy="1051560"/>
          </a:xfrm>
          <a:prstGeom prst="roundRect">
            <a:avLst>
              <a:gd name="adj" fmla="val 10435"/>
            </a:avLst>
          </a:prstGeom>
          <a:solidFill>
            <a:srgbClr val="FDECE4"/>
          </a:solidFill>
          <a:ln w="12700">
            <a:solidFill>
              <a:srgbClr val="F2B8A0"/>
            </a:solidFill>
            <a:prstDash val="solid"/>
          </a:ln>
        </p:spPr>
      </p:sp>
      <p:sp>
        <p:nvSpPr>
          <p:cNvPr id="9" name="Shape 6"/>
          <p:cNvSpPr/>
          <p:nvPr/>
        </p:nvSpPr>
        <p:spPr>
          <a:xfrm>
            <a:off x="777240" y="2903220"/>
            <a:ext cx="548640" cy="548640"/>
          </a:xfrm>
          <a:prstGeom prst="ellipse">
            <a:avLst/>
          </a:prstGeom>
          <a:solidFill>
            <a:srgbClr val="C0392B"/>
          </a:solidFill>
          <a:ln w="12700">
            <a:solidFill>
              <a:srgbClr val="C0392B"/>
            </a:solidFill>
            <a:prstDash val="solid"/>
          </a:ln>
        </p:spPr>
      </p:sp>
      <p:sp>
        <p:nvSpPr>
          <p:cNvPr id="10" name="Text 7"/>
          <p:cNvSpPr txBox="1"/>
          <p:nvPr/>
        </p:nvSpPr>
        <p:spPr>
          <a:xfrm>
            <a:off x="777240" y="2903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1" name="Text 8"/>
          <p:cNvSpPr txBox="1"/>
          <p:nvPr/>
        </p:nvSpPr>
        <p:spPr>
          <a:xfrm>
            <a:off x="1600200" y="265176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Vocabulário precisa respeitar a cultura local</a:t>
            </a:r>
            <a:endParaRPr lang="en-US" sz="1800" dirty="0"/>
          </a:p>
        </p:txBody>
      </p:sp>
      <p:sp>
        <p:nvSpPr>
          <p:cNvPr id="12" name="Shape 9"/>
          <p:cNvSpPr/>
          <p:nvPr/>
        </p:nvSpPr>
        <p:spPr>
          <a:xfrm>
            <a:off x="548640" y="3840480"/>
            <a:ext cx="11064240" cy="1051560"/>
          </a:xfrm>
          <a:prstGeom prst="roundRect">
            <a:avLst>
              <a:gd name="adj" fmla="val 10435"/>
            </a:avLst>
          </a:prstGeom>
          <a:solidFill>
            <a:srgbClr val="FDECE4"/>
          </a:solidFill>
          <a:ln w="12700">
            <a:solidFill>
              <a:srgbClr val="F2B8A0"/>
            </a:solidFill>
            <a:prstDash val="solid"/>
          </a:ln>
        </p:spPr>
      </p:sp>
      <p:sp>
        <p:nvSpPr>
          <p:cNvPr id="13" name="Shape 10"/>
          <p:cNvSpPr/>
          <p:nvPr/>
        </p:nvSpPr>
        <p:spPr>
          <a:xfrm>
            <a:off x="777240" y="4091940"/>
            <a:ext cx="548640" cy="548640"/>
          </a:xfrm>
          <a:prstGeom prst="ellipse">
            <a:avLst/>
          </a:prstGeom>
          <a:solidFill>
            <a:srgbClr val="C0392B"/>
          </a:solidFill>
          <a:ln w="12700">
            <a:solidFill>
              <a:srgbClr val="C0392B"/>
            </a:solidFill>
            <a:prstDash val="solid"/>
          </a:ln>
        </p:spPr>
      </p:sp>
      <p:sp>
        <p:nvSpPr>
          <p:cNvPr id="14" name="Text 11"/>
          <p:cNvSpPr txBox="1"/>
          <p:nvPr/>
        </p:nvSpPr>
        <p:spPr>
          <a:xfrm>
            <a:off x="777240" y="40919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5" name="Text 12"/>
          <p:cNvSpPr txBox="1"/>
          <p:nvPr/>
        </p:nvSpPr>
        <p:spPr>
          <a:xfrm>
            <a:off x="1600200" y="384048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Procure erros de grafia e frases que reforcem estereótipos</a:t>
            </a:r>
            <a:endParaRPr lang="en-US" sz="1800" dirty="0"/>
          </a:p>
        </p:txBody>
      </p:sp>
      <p:sp>
        <p:nvSpPr>
          <p:cNvPr id="16" name="Shape 13"/>
          <p:cNvSpPr/>
          <p:nvPr/>
        </p:nvSpPr>
        <p:spPr>
          <a:xfrm>
            <a:off x="548640" y="5029200"/>
            <a:ext cx="11064240" cy="1051560"/>
          </a:xfrm>
          <a:prstGeom prst="roundRect">
            <a:avLst>
              <a:gd name="adj" fmla="val 10435"/>
            </a:avLst>
          </a:prstGeom>
          <a:solidFill>
            <a:srgbClr val="FDECE4"/>
          </a:solidFill>
          <a:ln w="12700">
            <a:solidFill>
              <a:srgbClr val="F2B8A0"/>
            </a:solidFill>
            <a:prstDash val="solid"/>
          </a:ln>
        </p:spPr>
      </p:sp>
      <p:sp>
        <p:nvSpPr>
          <p:cNvPr id="17" name="Shape 14"/>
          <p:cNvSpPr/>
          <p:nvPr/>
        </p:nvSpPr>
        <p:spPr>
          <a:xfrm>
            <a:off x="777240" y="5280660"/>
            <a:ext cx="548640" cy="548640"/>
          </a:xfrm>
          <a:prstGeom prst="ellipse">
            <a:avLst/>
          </a:prstGeom>
          <a:solidFill>
            <a:srgbClr val="C0392B"/>
          </a:solidFill>
          <a:ln w="12700">
            <a:solidFill>
              <a:srgbClr val="C0392B"/>
            </a:solidFill>
            <a:prstDash val="solid"/>
          </a:ln>
        </p:spPr>
      </p:sp>
      <p:sp>
        <p:nvSpPr>
          <p:cNvPr id="18" name="Text 15"/>
          <p:cNvSpPr txBox="1"/>
          <p:nvPr/>
        </p:nvSpPr>
        <p:spPr>
          <a:xfrm>
            <a:off x="777240" y="52806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9" name="Text 16"/>
          <p:cNvSpPr txBox="1"/>
          <p:nvPr/>
        </p:nvSpPr>
        <p:spPr>
          <a:xfrm>
            <a:off x="1600200" y="502920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Em Matemática, refaça todos os cálculos</a:t>
            </a:r>
            <a:endParaRPr lang="en-US" sz="18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A2E2A"/>
        </a:solidFill>
      </p:bgPr>
    </p:bg>
    <p:spTree>
      <p:nvGrpSpPr>
        <p:cNvPr id="1" name=""/>
        <p:cNvGrpSpPr/>
        <p:nvPr/>
      </p:nvGrpSpPr>
      <p:grpSpPr>
        <a:xfrm>
          <a:off x="0" y="0"/>
          <a:ext cx="0" cy="0"/>
          <a:chOff x="0" y="0"/>
          <a:chExt cx="0" cy="0"/>
        </a:xfrm>
      </p:grpSpPr>
      <p:sp>
        <p:nvSpPr>
          <p:cNvPr id="3" name="Text 0"/>
          <p:cNvSpPr txBox="1"/>
          <p:nvPr/>
        </p:nvSpPr>
        <p:spPr>
          <a:xfrm>
            <a:off x="914400" y="1188720"/>
            <a:ext cx="10332720" cy="3840480"/>
          </a:xfrm>
          <a:prstGeom prst="rect">
            <a:avLst/>
          </a:prstGeom>
          <a:noFill/>
          <a:ln/>
        </p:spPr>
        <p:txBody>
          <a:bodyPr wrap="square" lIns="0" tIns="0" rIns="0" bIns="0" rtlCol="0" anchor="ctr"/>
          <a:lstStyle/>
          <a:p>
            <a:pPr algn="ctr" indent="0" marL="0">
              <a:buNone/>
            </a:pPr>
            <a:r>
              <a:rPr lang="en-US" sz="4000" b="1" i="1" dirty="0">
                <a:solidFill>
                  <a:srgbClr val="FFFFFF"/>
                </a:solidFill>
                <a:latin typeface="Cambria" pitchFamily="34" charset="0"/>
                <a:ea typeface="Cambria" pitchFamily="34" charset="-122"/>
                <a:cs typeface="Cambria" pitchFamily="34" charset="-120"/>
              </a:rPr>
              <a:t>“A criança é a autora. A IA, no máximo, ajuda o professor a preparar.”</a:t>
            </a:r>
            <a:endParaRPr lang="en-US" sz="4000" dirty="0"/>
          </a:p>
        </p:txBody>
      </p:sp>
      <p:sp>
        <p:nvSpPr>
          <p:cNvPr id="4" name="Text 1"/>
          <p:cNvSpPr txBox="1"/>
          <p:nvPr/>
        </p:nvSpPr>
        <p:spPr>
          <a:xfrm>
            <a:off x="914400" y="5212080"/>
            <a:ext cx="10332720" cy="822960"/>
          </a:xfrm>
          <a:prstGeom prst="rect">
            <a:avLst/>
          </a:prstGeom>
          <a:noFill/>
          <a:ln/>
        </p:spPr>
        <p:txBody>
          <a:bodyPr wrap="square" lIns="0" tIns="0" rIns="0" bIns="0" rtlCol="0" anchor="ctr"/>
          <a:lstStyle/>
          <a:p>
            <a:pPr algn="ctr" indent="0" marL="0">
              <a:buNone/>
            </a:pPr>
            <a:r>
              <a:rPr lang="en-US" sz="1800" dirty="0">
                <a:solidFill>
                  <a:srgbClr val="F4B860"/>
                </a:solidFill>
              </a:rPr>
              <a:t>Produção própria é parte do aprendizado.</a:t>
            </a:r>
            <a:endParaRPr lang="en-US" sz="1800" dirty="0"/>
          </a:p>
        </p:txBody>
      </p:sp>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Adivinhar não é saber</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E9A23B"/>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Alguns sistemas completam textos pela palavra mais provável. Adivinhar bem não é o mesmo que saber; é preciso conferir.</a:t>
            </a:r>
            <a:endParaRPr lang="en-US" sz="2200" dirty="0"/>
          </a:p>
        </p:txBody>
      </p:sp>
      <p:sp>
        <p:nvSpPr>
          <p:cNvPr id="7" name="Shape 4"/>
          <p:cNvSpPr/>
          <p:nvPr/>
        </p:nvSpPr>
        <p:spPr>
          <a:xfrm>
            <a:off x="7498080" y="1463040"/>
            <a:ext cx="4114800" cy="2926080"/>
          </a:xfrm>
          <a:prstGeom prst="roundRect">
            <a:avLst>
              <a:gd name="adj" fmla="val 4688"/>
            </a:avLst>
          </a:prstGeom>
          <a:solidFill>
            <a:srgbClr val="E9A23B"/>
          </a:solidFill>
          <a:ln w="12700">
            <a:solidFill>
              <a:srgbClr val="E9A23B"/>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1800" dirty="0">
                <a:solidFill>
                  <a:srgbClr val="FFFFFF"/>
                </a:solidFill>
              </a:rPr>
              <a:t>completar "escovei os ___": todo mundo diz "dentes", mas isso é costume, não conhecimento do que aconteceu.</a:t>
            </a:r>
            <a:endParaRPr lang="en-US" sz="18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“Conferir é parte de aprender.”</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1: quem adivinha a próxima palavra?</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E9A23B"/>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Frase no quadro: "Hoje eu escovei os ___"; cada um responde</a:t>
            </a:r>
            <a:endParaRPr lang="en-US" sz="1600" dirty="0"/>
          </a:p>
          <a:p>
            <a:pPr marL="342900" indent="-342900">
              <a:spcAft>
                <a:spcPts val="600"/>
              </a:spcAft>
              <a:buSzPct val="100000"/>
              <a:buFont typeface="+mj-lt"/>
              <a:buAutoNum type="arabicPeriod" startAt="1"/>
            </a:pPr>
            <a:r>
              <a:rPr lang="en-US" sz="1600" dirty="0">
                <a:solidFill>
                  <a:srgbClr val="3B2A2A"/>
                </a:solidFill>
              </a:rPr>
              <a:t>Conte as respostas e faça um gráfico de barras</a:t>
            </a:r>
            <a:endParaRPr lang="en-US" sz="1600" dirty="0"/>
          </a:p>
          <a:p>
            <a:pPr marL="342900" indent="-342900">
              <a:spcAft>
                <a:spcPts val="600"/>
              </a:spcAft>
              <a:buSzPct val="100000"/>
              <a:buFont typeface="+mj-lt"/>
              <a:buAutoNum type="arabicPeriod" startAt="1"/>
            </a:pPr>
            <a:r>
              <a:rPr lang="en-US" sz="1600" dirty="0">
                <a:solidFill>
                  <a:srgbClr val="3B2A2A"/>
                </a:solidFill>
              </a:rPr>
              <a:t>Pergunte: qual apareceu mais? Por quê?</a:t>
            </a:r>
            <a:endParaRPr lang="en-US" sz="1600" dirty="0"/>
          </a:p>
          <a:p>
            <a:pPr marL="342900" indent="-342900">
              <a:spcAft>
                <a:spcPts val="600"/>
              </a:spcAft>
              <a:buSzPct val="100000"/>
              <a:buFont typeface="+mj-lt"/>
              <a:buAutoNum type="arabicPeriod" startAt="1"/>
            </a:pPr>
            <a:r>
              <a:rPr lang="en-US" sz="1600" dirty="0">
                <a:solidFill>
                  <a:srgbClr val="3B2A2A"/>
                </a:solidFill>
              </a:rPr>
              <a:t>Frase factual e frase que ninguém sabe: compare</a:t>
            </a:r>
            <a:endParaRPr lang="en-US" sz="1600" dirty="0"/>
          </a:p>
          <a:p>
            <a:pPr marL="342900" indent="-342900">
              <a:spcAft>
                <a:spcPts val="600"/>
              </a:spcAft>
              <a:buSzPct val="100000"/>
              <a:buFont typeface="+mj-lt"/>
              <a:buAutoNum type="arabicPeriod" startAt="1"/>
            </a:pPr>
            <a:r>
              <a:rPr lang="en-US" sz="1600" dirty="0">
                <a:solidFill>
                  <a:srgbClr val="3B2A2A"/>
                </a:solidFill>
              </a:rPr>
              <a:t>Conversa: as máquinas que adivinham sempre acertam?</a:t>
            </a:r>
            <a:endParaRPr lang="en-US" sz="1600" dirty="0"/>
          </a:p>
          <a:p>
            <a:pPr marL="342900" indent="-342900">
              <a:spcAft>
                <a:spcPts val="600"/>
              </a:spcAft>
              <a:buSzPct val="100000"/>
              <a:buFont typeface="+mj-lt"/>
              <a:buAutoNum type="arabicPeriod" startAt="1"/>
            </a:pPr>
            <a:r>
              <a:rPr lang="en-US" sz="1600" dirty="0">
                <a:solidFill>
                  <a:srgbClr val="3B2A2A"/>
                </a:solidFill>
              </a:rPr>
              <a:t>Cartaz: "Adivinhar é diferente de saber"</a:t>
            </a:r>
            <a:endParaRPr lang="en-US" sz="1600" dirty="0"/>
          </a:p>
        </p:txBody>
      </p:sp>
      <p:sp>
        <p:nvSpPr>
          <p:cNvPr id="7" name="Shape 4"/>
          <p:cNvSpPr/>
          <p:nvPr/>
        </p:nvSpPr>
        <p:spPr>
          <a:xfrm>
            <a:off x="7772400" y="1417320"/>
            <a:ext cx="3840480" cy="1444752"/>
          </a:xfrm>
          <a:prstGeom prst="roundRect">
            <a:avLst>
              <a:gd name="adj" fmla="val 9494"/>
            </a:avLst>
          </a:prstGeom>
          <a:solidFill>
            <a:srgbClr val="E9A23B"/>
          </a:solidFill>
          <a:ln w="12700">
            <a:solidFill>
              <a:srgbClr val="E9A23B"/>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45 minutos</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Gráfico coletivo e cartaz "Adivinhar é diferente de saber"</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Totalmente desplugada, com quadro e papel.</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Síntese: criança, professor e IA</a:t>
            </a:r>
            <a:endParaRPr lang="en-US" sz="3400" dirty="0"/>
          </a:p>
        </p:txBody>
      </p:sp>
      <p:pic>
        <p:nvPicPr>
          <p:cNvPr id="4" name="Image 0" descr="Figura 12.2 — A IA se conecta ao professor, e não à criança.">    </p:cNvPr>
          <p:cNvPicPr>
            <a:picLocks noChangeAspect="1"/>
          </p:cNvPicPr>
          <p:nvPr/>
        </p:nvPicPr>
        <p:blipFill>
          <a:blip r:embed="rId1"/>
          <a:stretch>
            <a:fillRect/>
          </a:stretch>
        </p:blipFill>
        <p:spPr>
          <a:xfrm>
            <a:off x="1866384" y="1325880"/>
            <a:ext cx="8428752"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Figura 12.2 — A IA se conecta ao professor, e não à criança.</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Uso docente por área do conhecimento</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Língua e Matemática</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Textos curtos em vários níveis</a:t>
            </a:r>
            <a:endParaRPr lang="en-US" sz="1700" dirty="0"/>
          </a:p>
          <a:p>
            <a:pPr marL="342900" indent="-342900">
              <a:spcAft>
                <a:spcPts val="800"/>
              </a:spcAft>
              <a:buSzPct val="100000"/>
              <a:buChar char="•"/>
            </a:pPr>
            <a:r>
              <a:rPr lang="en-US" sz="1700" dirty="0">
                <a:solidFill>
                  <a:srgbClr val="3B2A2A"/>
                </a:solidFill>
              </a:rPr>
              <a:t>Perguntas de compreensão</a:t>
            </a:r>
            <a:endParaRPr lang="en-US" sz="1700" dirty="0"/>
          </a:p>
          <a:p>
            <a:pPr marL="342900" indent="-342900">
              <a:spcAft>
                <a:spcPts val="800"/>
              </a:spcAft>
              <a:buSzPct val="100000"/>
              <a:buChar char="•"/>
            </a:pPr>
            <a:r>
              <a:rPr lang="en-US" sz="1700" dirty="0">
                <a:solidFill>
                  <a:srgbClr val="3B2A2A"/>
                </a:solidFill>
              </a:rPr>
              <a:t>Problemas com contextos da vida</a:t>
            </a:r>
            <a:endParaRPr lang="en-US" sz="1700" dirty="0"/>
          </a:p>
          <a:p>
            <a:pPr marL="342900" indent="-342900">
              <a:spcAft>
                <a:spcPts val="800"/>
              </a:spcAft>
              <a:buSzPct val="100000"/>
              <a:buChar char="•"/>
            </a:pPr>
            <a:r>
              <a:rPr lang="en-US" sz="1700" dirty="0">
                <a:solidFill>
                  <a:srgbClr val="3B2A2A"/>
                </a:solidFill>
              </a:rPr>
              <a:t>Jogos de rimas e parlendas</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E9A23B"/>
          </a:solidFill>
          <a:ln w="12700">
            <a:solidFill>
              <a:srgbClr val="E9A23B"/>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Ciências e outras</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Roteiros de observação do ambiente</a:t>
            </a:r>
            <a:endParaRPr lang="en-US" sz="1700" dirty="0"/>
          </a:p>
          <a:p>
            <a:pPr marL="342900" indent="-342900">
              <a:spcAft>
                <a:spcPts val="800"/>
              </a:spcAft>
              <a:buSzPct val="100000"/>
              <a:buChar char="•"/>
            </a:pPr>
            <a:r>
              <a:rPr lang="en-US" sz="1700" dirty="0">
                <a:solidFill>
                  <a:srgbClr val="3B2A2A"/>
                </a:solidFill>
              </a:rPr>
              <a:t>Perguntas investigativas</a:t>
            </a:r>
            <a:endParaRPr lang="en-US" sz="1700" dirty="0"/>
          </a:p>
          <a:p>
            <a:pPr marL="342900" indent="-342900">
              <a:spcAft>
                <a:spcPts val="800"/>
              </a:spcAft>
              <a:buSzPct val="100000"/>
              <a:buChar char="•"/>
            </a:pPr>
            <a:r>
              <a:rPr lang="en-US" sz="1700" dirty="0">
                <a:solidFill>
                  <a:srgbClr val="3B2A2A"/>
                </a:solidFill>
              </a:rPr>
              <a:t>Lugar onde vivem, com fontes locais</a:t>
            </a:r>
            <a:endParaRPr lang="en-US" sz="1700" dirty="0"/>
          </a:p>
          <a:p>
            <a:pPr marL="342900" indent="-342900">
              <a:spcAft>
                <a:spcPts val="800"/>
              </a:spcAft>
              <a:buSzPct val="100000"/>
              <a:buChar char="•"/>
            </a:pPr>
            <a:r>
              <a:rPr lang="en-US" sz="1700" dirty="0">
                <a:solidFill>
                  <a:srgbClr val="3B2A2A"/>
                </a:solidFill>
              </a:rPr>
              <a:t>Temas sensíveis: fontes oficiais</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2: texto de leitura em dois níveis</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E9A23B"/>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Defina o objetivo: recontar as etapas da vida de uma árvore</a:t>
            </a:r>
            <a:endParaRPr lang="en-US" sz="1600" dirty="0"/>
          </a:p>
          <a:p>
            <a:pPr marL="342900" indent="-342900">
              <a:spcAft>
                <a:spcPts val="600"/>
              </a:spcAft>
              <a:buSzPct val="100000"/>
              <a:buFont typeface="+mj-lt"/>
              <a:buAutoNum type="arabicPeriod" startAt="1"/>
            </a:pPr>
            <a:r>
              <a:rPr lang="en-US" sz="1600" dirty="0">
                <a:solidFill>
                  <a:srgbClr val="3B2A2A"/>
                </a:solidFill>
              </a:rPr>
              <a:t>Peça duas versões do texto e seis perguntas variadas</a:t>
            </a:r>
            <a:endParaRPr lang="en-US" sz="1600" dirty="0"/>
          </a:p>
          <a:p>
            <a:pPr marL="342900" indent="-342900">
              <a:spcAft>
                <a:spcPts val="600"/>
              </a:spcAft>
              <a:buSzPct val="100000"/>
              <a:buFont typeface="+mj-lt"/>
              <a:buAutoNum type="arabicPeriod" startAt="1"/>
            </a:pPr>
            <a:r>
              <a:rPr lang="en-US" sz="1600" dirty="0">
                <a:solidFill>
                  <a:srgbClr val="3B2A2A"/>
                </a:solidFill>
              </a:rPr>
              <a:t>Revise conteúdo, grafia, vocabulário e estereótipos</a:t>
            </a:r>
            <a:endParaRPr lang="en-US" sz="1600" dirty="0"/>
          </a:p>
          <a:p>
            <a:pPr marL="342900" indent="-342900">
              <a:spcAft>
                <a:spcPts val="600"/>
              </a:spcAft>
              <a:buSzPct val="100000"/>
              <a:buFont typeface="+mj-lt"/>
              <a:buAutoNum type="arabicPeriod" startAt="1"/>
            </a:pPr>
            <a:r>
              <a:rPr lang="en-US" sz="1600" dirty="0">
                <a:solidFill>
                  <a:srgbClr val="3B2A2A"/>
                </a:solidFill>
              </a:rPr>
              <a:t>Entregue as duas versões a todos os estudantes</a:t>
            </a:r>
            <a:endParaRPr lang="en-US" sz="1600" dirty="0"/>
          </a:p>
          <a:p>
            <a:pPr marL="342900" indent="-342900">
              <a:spcAft>
                <a:spcPts val="600"/>
              </a:spcAft>
              <a:buSzPct val="100000"/>
              <a:buFont typeface="+mj-lt"/>
              <a:buAutoNum type="arabicPeriod" startAt="1"/>
            </a:pPr>
            <a:r>
              <a:rPr lang="en-US" sz="1600" dirty="0">
                <a:solidFill>
                  <a:srgbClr val="3B2A2A"/>
                </a:solidFill>
              </a:rPr>
              <a:t>Leitura em duplas: comparem as versões</a:t>
            </a:r>
            <a:endParaRPr lang="en-US" sz="1600" dirty="0"/>
          </a:p>
          <a:p>
            <a:pPr marL="342900" indent="-342900">
              <a:spcAft>
                <a:spcPts val="600"/>
              </a:spcAft>
              <a:buSzPct val="100000"/>
              <a:buFont typeface="+mj-lt"/>
              <a:buAutoNum type="arabicPeriod" startAt="1"/>
            </a:pPr>
            <a:r>
              <a:rPr lang="en-US" sz="1600" dirty="0">
                <a:solidFill>
                  <a:srgbClr val="3B2A2A"/>
                </a:solidFill>
              </a:rPr>
              <a:t>Fechamento: qual versão ajudou mais? O que ficou difícil?</a:t>
            </a:r>
            <a:endParaRPr lang="en-US" sz="1600" dirty="0"/>
          </a:p>
        </p:txBody>
      </p:sp>
      <p:sp>
        <p:nvSpPr>
          <p:cNvPr id="7" name="Shape 4"/>
          <p:cNvSpPr/>
          <p:nvPr/>
        </p:nvSpPr>
        <p:spPr>
          <a:xfrm>
            <a:off x="7772400" y="1417320"/>
            <a:ext cx="3840480" cy="1444752"/>
          </a:xfrm>
          <a:prstGeom prst="roundRect">
            <a:avLst>
              <a:gd name="adj" fmla="val 9494"/>
            </a:avLst>
          </a:prstGeom>
          <a:solidFill>
            <a:srgbClr val="E9A23B"/>
          </a:solidFill>
          <a:ln w="12700">
            <a:solidFill>
              <a:srgbClr val="E9A23B"/>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Preparo: 40 min. Aula: 50 min</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Dois textos revisados, perguntas e registro das observações</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Escreva você as duas versões com o livro didático; uma folha por dupla.</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Como avaliar nos anos iniciais</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Diagnóstico e observação</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Leitura, escrita espontânea e recontos feitos pelo professor, com registros.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Portfólio</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Rascunhos, versões finais e desenhos ao longo do tempo.</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Rubrica e autoavaliação</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Poucos critérios e carinhas ou "hoje eu aprendi...".</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6D3B6E"/>
          </a:solidFill>
          <a:ln w="12700">
            <a:solidFill>
              <a:srgbClr val="6D3B6E"/>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Feedback descritivo</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O que foi bem, o que melhorar e como.</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Pare e verifique: o que não fazer</a:t>
            </a:r>
            <a:endParaRPr lang="en-US" sz="3400" dirty="0"/>
          </a:p>
        </p:txBody>
      </p:sp>
      <p:sp>
        <p:nvSpPr>
          <p:cNvPr id="4" name="Shape 1"/>
          <p:cNvSpPr/>
          <p:nvPr/>
        </p:nvSpPr>
        <p:spPr>
          <a:xfrm>
            <a:off x="548640" y="1463040"/>
            <a:ext cx="11064240" cy="1051560"/>
          </a:xfrm>
          <a:prstGeom prst="roundRect">
            <a:avLst>
              <a:gd name="adj" fmla="val 10435"/>
            </a:avLst>
          </a:prstGeom>
          <a:solidFill>
            <a:srgbClr val="FDECE4"/>
          </a:solidFill>
          <a:ln w="12700">
            <a:solidFill>
              <a:srgbClr val="F2B8A0"/>
            </a:solidFill>
            <a:prstDash val="solid"/>
          </a:ln>
        </p:spPr>
      </p:sp>
      <p:sp>
        <p:nvSpPr>
          <p:cNvPr id="5" name="Shape 2"/>
          <p:cNvSpPr/>
          <p:nvPr/>
        </p:nvSpPr>
        <p:spPr>
          <a:xfrm>
            <a:off x="777240" y="171450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 y="17145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7" name="Text 4"/>
          <p:cNvSpPr txBox="1"/>
          <p:nvPr/>
        </p:nvSpPr>
        <p:spPr>
          <a:xfrm>
            <a:off x="1600200" y="146304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Não use IA para dar notas, classificar crianças ou prever problemas</a:t>
            </a:r>
            <a:endParaRPr lang="en-US" sz="1800" dirty="0"/>
          </a:p>
        </p:txBody>
      </p:sp>
      <p:sp>
        <p:nvSpPr>
          <p:cNvPr id="8" name="Shape 5"/>
          <p:cNvSpPr/>
          <p:nvPr/>
        </p:nvSpPr>
        <p:spPr>
          <a:xfrm>
            <a:off x="548640" y="2651760"/>
            <a:ext cx="11064240" cy="1051560"/>
          </a:xfrm>
          <a:prstGeom prst="roundRect">
            <a:avLst>
              <a:gd name="adj" fmla="val 10435"/>
            </a:avLst>
          </a:prstGeom>
          <a:solidFill>
            <a:srgbClr val="FDECE4"/>
          </a:solidFill>
          <a:ln w="12700">
            <a:solidFill>
              <a:srgbClr val="F2B8A0"/>
            </a:solidFill>
            <a:prstDash val="solid"/>
          </a:ln>
        </p:spPr>
      </p:sp>
      <p:sp>
        <p:nvSpPr>
          <p:cNvPr id="9" name="Shape 6"/>
          <p:cNvSpPr/>
          <p:nvPr/>
        </p:nvSpPr>
        <p:spPr>
          <a:xfrm>
            <a:off x="777240" y="2903220"/>
            <a:ext cx="548640" cy="548640"/>
          </a:xfrm>
          <a:prstGeom prst="ellipse">
            <a:avLst/>
          </a:prstGeom>
          <a:solidFill>
            <a:srgbClr val="C0392B"/>
          </a:solidFill>
          <a:ln w="12700">
            <a:solidFill>
              <a:srgbClr val="C0392B"/>
            </a:solidFill>
            <a:prstDash val="solid"/>
          </a:ln>
        </p:spPr>
      </p:sp>
      <p:sp>
        <p:nvSpPr>
          <p:cNvPr id="10" name="Text 7"/>
          <p:cNvSpPr txBox="1"/>
          <p:nvPr/>
        </p:nvSpPr>
        <p:spPr>
          <a:xfrm>
            <a:off x="777240" y="2903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1" name="Text 8"/>
          <p:cNvSpPr txBox="1"/>
          <p:nvPr/>
        </p:nvSpPr>
        <p:spPr>
          <a:xfrm>
            <a:off x="1600200" y="265176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Não use detectores de texto gerado por IA com crianças</a:t>
            </a:r>
            <a:endParaRPr lang="en-US" sz="1800" dirty="0"/>
          </a:p>
        </p:txBody>
      </p:sp>
      <p:sp>
        <p:nvSpPr>
          <p:cNvPr id="12" name="Shape 9"/>
          <p:cNvSpPr/>
          <p:nvPr/>
        </p:nvSpPr>
        <p:spPr>
          <a:xfrm>
            <a:off x="548640" y="3840480"/>
            <a:ext cx="11064240" cy="1051560"/>
          </a:xfrm>
          <a:prstGeom prst="roundRect">
            <a:avLst>
              <a:gd name="adj" fmla="val 10435"/>
            </a:avLst>
          </a:prstGeom>
          <a:solidFill>
            <a:srgbClr val="FDECE4"/>
          </a:solidFill>
          <a:ln w="12700">
            <a:solidFill>
              <a:srgbClr val="F2B8A0"/>
            </a:solidFill>
            <a:prstDash val="solid"/>
          </a:ln>
        </p:spPr>
      </p:sp>
      <p:sp>
        <p:nvSpPr>
          <p:cNvPr id="13" name="Shape 10"/>
          <p:cNvSpPr/>
          <p:nvPr/>
        </p:nvSpPr>
        <p:spPr>
          <a:xfrm>
            <a:off x="777240" y="4091940"/>
            <a:ext cx="548640" cy="548640"/>
          </a:xfrm>
          <a:prstGeom prst="ellipse">
            <a:avLst/>
          </a:prstGeom>
          <a:solidFill>
            <a:srgbClr val="C0392B"/>
          </a:solidFill>
          <a:ln w="12700">
            <a:solidFill>
              <a:srgbClr val="C0392B"/>
            </a:solidFill>
            <a:prstDash val="solid"/>
          </a:ln>
        </p:spPr>
      </p:sp>
      <p:sp>
        <p:nvSpPr>
          <p:cNvPr id="14" name="Text 11"/>
          <p:cNvSpPr txBox="1"/>
          <p:nvPr/>
        </p:nvSpPr>
        <p:spPr>
          <a:xfrm>
            <a:off x="777240" y="40919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5" name="Text 12"/>
          <p:cNvSpPr txBox="1"/>
          <p:nvPr/>
        </p:nvSpPr>
        <p:spPr>
          <a:xfrm>
            <a:off x="1600200" y="384048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Detectores são imprecisos e podem produzir injustiças</a:t>
            </a:r>
            <a:endParaRPr lang="en-US" sz="1800" dirty="0"/>
          </a:p>
        </p:txBody>
      </p:sp>
      <p:sp>
        <p:nvSpPr>
          <p:cNvPr id="16" name="Shape 13"/>
          <p:cNvSpPr/>
          <p:nvPr/>
        </p:nvSpPr>
        <p:spPr>
          <a:xfrm>
            <a:off x="548640" y="5029200"/>
            <a:ext cx="11064240" cy="1051560"/>
          </a:xfrm>
          <a:prstGeom prst="roundRect">
            <a:avLst>
              <a:gd name="adj" fmla="val 10435"/>
            </a:avLst>
          </a:prstGeom>
          <a:solidFill>
            <a:srgbClr val="FDECE4"/>
          </a:solidFill>
          <a:ln w="12700">
            <a:solidFill>
              <a:srgbClr val="F2B8A0"/>
            </a:solidFill>
            <a:prstDash val="solid"/>
          </a:ln>
        </p:spPr>
      </p:sp>
      <p:sp>
        <p:nvSpPr>
          <p:cNvPr id="17" name="Shape 14"/>
          <p:cNvSpPr/>
          <p:nvPr/>
        </p:nvSpPr>
        <p:spPr>
          <a:xfrm>
            <a:off x="777240" y="5280660"/>
            <a:ext cx="548640" cy="548640"/>
          </a:xfrm>
          <a:prstGeom prst="ellipse">
            <a:avLst/>
          </a:prstGeom>
          <a:solidFill>
            <a:srgbClr val="C0392B"/>
          </a:solidFill>
          <a:ln w="12700">
            <a:solidFill>
              <a:srgbClr val="C0392B"/>
            </a:solidFill>
            <a:prstDash val="solid"/>
          </a:ln>
        </p:spPr>
      </p:sp>
      <p:sp>
        <p:nvSpPr>
          <p:cNvPr id="18" name="Text 15"/>
          <p:cNvSpPr txBox="1"/>
          <p:nvPr/>
        </p:nvSpPr>
        <p:spPr>
          <a:xfrm>
            <a:off x="777240" y="52806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9" name="Text 16"/>
          <p:cNvSpPr txBox="1"/>
          <p:nvPr/>
        </p:nvSpPr>
        <p:spPr>
          <a:xfrm>
            <a:off x="1600200" y="502920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Priorize o diálogo com as famílias, não a punição</a:t>
            </a:r>
            <a:endParaRPr lang="en-US" sz="18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Experimente: o detetive de fontes</a:t>
            </a:r>
            <a:endParaRPr lang="en-US" sz="3400" dirty="0"/>
          </a:p>
        </p:txBody>
      </p:sp>
      <p:sp>
        <p:nvSpPr>
          <p:cNvPr id="4" name="Shape 1"/>
          <p:cNvSpPr/>
          <p:nvPr/>
        </p:nvSpPr>
        <p:spPr>
          <a:xfrm>
            <a:off x="54864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3D7EA6"/>
          </a:solidFill>
          <a:ln w="12700">
            <a:solidFill>
              <a:srgbClr val="3D7EA6"/>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Pergunta</a:t>
            </a:r>
            <a:endParaRPr lang="en-US" sz="2000" dirty="0"/>
          </a:p>
        </p:txBody>
      </p:sp>
      <p:sp>
        <p:nvSpPr>
          <p:cNvPr id="8" name="Text 5"/>
          <p:cNvSpPr txBox="1"/>
          <p:nvPr/>
        </p:nvSpPr>
        <p:spPr>
          <a:xfrm>
            <a:off x="77724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Escolham uma pergunta simples, como "onde vivem os tatus?".</a:t>
            </a:r>
            <a:endParaRPr lang="en-US" sz="1700" dirty="0"/>
          </a:p>
        </p:txBody>
      </p:sp>
      <p:sp>
        <p:nvSpPr>
          <p:cNvPr id="9" name="Shape 6"/>
          <p:cNvSpPr/>
          <p:nvPr/>
        </p:nvSpPr>
        <p:spPr>
          <a:xfrm>
            <a:off x="432816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556760" y="1691640"/>
            <a:ext cx="640080" cy="640080"/>
          </a:xfrm>
          <a:prstGeom prst="ellipse">
            <a:avLst/>
          </a:prstGeom>
          <a:solidFill>
            <a:srgbClr val="E9A23B"/>
          </a:solidFill>
          <a:ln w="12700">
            <a:solidFill>
              <a:srgbClr val="E9A23B"/>
            </a:solidFill>
            <a:prstDash val="solid"/>
          </a:ln>
        </p:spPr>
      </p:sp>
      <p:sp>
        <p:nvSpPr>
          <p:cNvPr id="11" name="Text 8"/>
          <p:cNvSpPr txBox="1"/>
          <p:nvPr/>
        </p:nvSpPr>
        <p:spPr>
          <a:xfrm>
            <a:off x="45567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455676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Três fontes</a:t>
            </a:r>
            <a:endParaRPr lang="en-US" sz="2000" dirty="0"/>
          </a:p>
        </p:txBody>
      </p:sp>
      <p:sp>
        <p:nvSpPr>
          <p:cNvPr id="13" name="Text 10"/>
          <p:cNvSpPr txBox="1"/>
          <p:nvPr/>
        </p:nvSpPr>
        <p:spPr>
          <a:xfrm>
            <a:off x="455676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Livro, familiar e professor: cada um responde.</a:t>
            </a:r>
            <a:endParaRPr lang="en-US" sz="1700" dirty="0"/>
          </a:p>
        </p:txBody>
      </p:sp>
      <p:sp>
        <p:nvSpPr>
          <p:cNvPr id="14" name="Shape 11"/>
          <p:cNvSpPr/>
          <p:nvPr/>
        </p:nvSpPr>
        <p:spPr>
          <a:xfrm>
            <a:off x="8107680" y="1463040"/>
            <a:ext cx="3505200" cy="4480560"/>
          </a:xfrm>
          <a:prstGeom prst="roundRect">
            <a:avLst>
              <a:gd name="adj" fmla="val 3913"/>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8336280" y="1691640"/>
            <a:ext cx="640080" cy="640080"/>
          </a:xfrm>
          <a:prstGeom prst="ellipse">
            <a:avLst/>
          </a:prstGeom>
          <a:solidFill>
            <a:srgbClr val="2A9D8F"/>
          </a:solidFill>
          <a:ln w="12700">
            <a:solidFill>
              <a:srgbClr val="2A9D8F"/>
            </a:solidFill>
            <a:prstDash val="solid"/>
          </a:ln>
        </p:spPr>
      </p:sp>
      <p:sp>
        <p:nvSpPr>
          <p:cNvPr id="16" name="Text 13"/>
          <p:cNvSpPr txBox="1"/>
          <p:nvPr/>
        </p:nvSpPr>
        <p:spPr>
          <a:xfrm>
            <a:off x="83362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8336280" y="2468880"/>
            <a:ext cx="3048000" cy="822960"/>
          </a:xfrm>
          <a:prstGeom prst="rect">
            <a:avLst/>
          </a:prstGeom>
          <a:noFill/>
          <a:ln/>
        </p:spPr>
        <p:txBody>
          <a:bodyPr wrap="square" lIns="0" tIns="0" rIns="0" bIns="0" rtlCol="0" anchor="t"/>
          <a:lstStyle/>
          <a:p>
            <a:pPr indent="0" marL="0">
              <a:buNone/>
            </a:pPr>
            <a:r>
              <a:rPr lang="en-US" sz="2000" b="1" dirty="0">
                <a:solidFill>
                  <a:srgbClr val="5A2E2A"/>
                </a:solidFill>
                <a:latin typeface="Cambria" pitchFamily="34" charset="0"/>
                <a:ea typeface="Cambria" pitchFamily="34" charset="-122"/>
                <a:cs typeface="Cambria" pitchFamily="34" charset="-120"/>
              </a:rPr>
              <a:t>Comparem</a:t>
            </a:r>
            <a:endParaRPr lang="en-US" sz="2000" dirty="0"/>
          </a:p>
        </p:txBody>
      </p:sp>
      <p:sp>
        <p:nvSpPr>
          <p:cNvPr id="18" name="Text 15"/>
          <p:cNvSpPr txBox="1"/>
          <p:nvPr/>
        </p:nvSpPr>
        <p:spPr>
          <a:xfrm>
            <a:off x="8336280" y="3337560"/>
            <a:ext cx="3048000" cy="2468880"/>
          </a:xfrm>
          <a:prstGeom prst="rect">
            <a:avLst/>
          </a:prstGeom>
          <a:noFill/>
          <a:ln/>
        </p:spPr>
        <p:txBody>
          <a:bodyPr wrap="square" lIns="0" tIns="0" rIns="0" bIns="0" rtlCol="0" anchor="t"/>
          <a:lstStyle/>
          <a:p>
            <a:pPr indent="0" marL="0">
              <a:buNone/>
            </a:pPr>
            <a:r>
              <a:rPr lang="en-US" sz="1700" dirty="0">
                <a:solidFill>
                  <a:srgbClr val="3B2A2A"/>
                </a:solidFill>
              </a:rPr>
              <a:t>Todas dizem o mesmo? Como saber qual está certa?</a:t>
            </a:r>
            <a:endParaRPr lang="en-US" sz="1700" dirty="0"/>
          </a:p>
        </p:txBody>
      </p:sp>
      <p:sp>
        <p:nvSpPr>
          <p:cNvPr id="19" name="Text 1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Quando dispensar a IA</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Dispense se</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O objetivo é a leitura, escrita ou cálculo da criança</a:t>
            </a:r>
            <a:endParaRPr lang="en-US" sz="1700" dirty="0"/>
          </a:p>
          <a:p>
            <a:pPr marL="342900" indent="-342900">
              <a:spcAft>
                <a:spcPts val="800"/>
              </a:spcAft>
              <a:buSzPct val="100000"/>
              <a:buChar char="•"/>
            </a:pPr>
            <a:r>
              <a:rPr lang="en-US" sz="1700" dirty="0">
                <a:solidFill>
                  <a:srgbClr val="3B2A2A"/>
                </a:solidFill>
              </a:rPr>
              <a:t>Você não pode revisar o material</a:t>
            </a:r>
            <a:endParaRPr lang="en-US" sz="1700" dirty="0"/>
          </a:p>
          <a:p>
            <a:pPr marL="342900" indent="-342900">
              <a:spcAft>
                <a:spcPts val="800"/>
              </a:spcAft>
              <a:buSzPct val="100000"/>
              <a:buChar char="•"/>
            </a:pPr>
            <a:r>
              <a:rPr lang="en-US" sz="1700" dirty="0">
                <a:solidFill>
                  <a:srgbClr val="3B2A2A"/>
                </a:solidFill>
              </a:rPr>
              <a:t>Há dados pessoais</a:t>
            </a:r>
            <a:endParaRPr lang="en-US" sz="1700" dirty="0"/>
          </a:p>
          <a:p>
            <a:pPr marL="342900" indent="-342900">
              <a:spcAft>
                <a:spcPts val="800"/>
              </a:spcAft>
              <a:buSzPct val="100000"/>
              <a:buChar char="•"/>
            </a:pPr>
            <a:r>
              <a:rPr lang="en-US" sz="1700" dirty="0">
                <a:solidFill>
                  <a:srgbClr val="3B2A2A"/>
                </a:solidFill>
              </a:rPr>
              <a:t>Uma atividade concreta faz o mesmo</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E9A23B"/>
          </a:solidFill>
          <a:ln w="12700">
            <a:solidFill>
              <a:srgbClr val="E9A23B"/>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Sem IA, funciona</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Biblioteca de sala e histórias da comunidade</a:t>
            </a:r>
            <a:endParaRPr lang="en-US" sz="1700" dirty="0"/>
          </a:p>
          <a:p>
            <a:pPr marL="342900" indent="-342900">
              <a:spcAft>
                <a:spcPts val="800"/>
              </a:spcAft>
              <a:buSzPct val="100000"/>
              <a:buChar char="•"/>
            </a:pPr>
            <a:r>
              <a:rPr lang="en-US" sz="1700" dirty="0">
                <a:solidFill>
                  <a:srgbClr val="3B2A2A"/>
                </a:solidFill>
              </a:rPr>
              <a:t>Jogos com cartões de sílabas</a:t>
            </a:r>
            <a:endParaRPr lang="en-US" sz="1700" dirty="0"/>
          </a:p>
          <a:p>
            <a:pPr marL="342900" indent="-342900">
              <a:spcAft>
                <a:spcPts val="800"/>
              </a:spcAft>
              <a:buSzPct val="100000"/>
              <a:buChar char="•"/>
            </a:pPr>
            <a:r>
              <a:rPr lang="en-US" sz="1700" dirty="0">
                <a:solidFill>
                  <a:srgbClr val="3B2A2A"/>
                </a:solidFill>
              </a:rPr>
              <a:t>Textos escritos pelo professor</a:t>
            </a:r>
            <a:endParaRPr lang="en-US" sz="1700" dirty="0"/>
          </a:p>
          <a:p>
            <a:pPr marL="342900" indent="-342900">
              <a:spcAft>
                <a:spcPts val="800"/>
              </a:spcAft>
              <a:buSzPct val="100000"/>
              <a:buChar char="•"/>
            </a:pPr>
            <a:r>
              <a:rPr lang="en-US" sz="1700" dirty="0">
                <a:solidFill>
                  <a:srgbClr val="3B2A2A"/>
                </a:solidFill>
              </a:rPr>
              <a:t>Conversas e atividades em grupo</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A23B"/>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 que vale a pena lembrar</a:t>
            </a:r>
            <a:endParaRPr lang="en-US" sz="3400" dirty="0"/>
          </a:p>
        </p:txBody>
      </p:sp>
      <p:sp>
        <p:nvSpPr>
          <p:cNvPr id="4" name="Shape 1"/>
          <p:cNvSpPr/>
          <p:nvPr/>
        </p:nvSpPr>
        <p:spPr>
          <a:xfrm>
            <a:off x="548640" y="141732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5" name="Text 2"/>
          <p:cNvSpPr txBox="1"/>
          <p:nvPr/>
        </p:nvSpPr>
        <p:spPr>
          <a:xfrm>
            <a:off x="731520" y="1417320"/>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6" name="Text 3"/>
          <p:cNvSpPr txBox="1"/>
          <p:nvPr/>
        </p:nvSpPr>
        <p:spPr>
          <a:xfrm>
            <a:off x="1463040" y="141732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Produção própria é parte do aprendizado</a:t>
            </a:r>
            <a:endParaRPr lang="en-US" sz="1800" dirty="0"/>
          </a:p>
        </p:txBody>
      </p:sp>
      <p:sp>
        <p:nvSpPr>
          <p:cNvPr id="7" name="Shape 4"/>
          <p:cNvSpPr/>
          <p:nvPr/>
        </p:nvSpPr>
        <p:spPr>
          <a:xfrm>
            <a:off x="548640" y="2289048"/>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8" name="Text 5"/>
          <p:cNvSpPr txBox="1"/>
          <p:nvPr/>
        </p:nvSpPr>
        <p:spPr>
          <a:xfrm>
            <a:off x="731520" y="2289048"/>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9" name="Text 6"/>
          <p:cNvSpPr txBox="1"/>
          <p:nvPr/>
        </p:nvSpPr>
        <p:spPr>
          <a:xfrm>
            <a:off x="1463040" y="2289048"/>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Sem evidência sólida para uso rotineiro direto por crianças</a:t>
            </a:r>
            <a:endParaRPr lang="en-US" sz="1800" dirty="0"/>
          </a:p>
        </p:txBody>
      </p:sp>
      <p:sp>
        <p:nvSpPr>
          <p:cNvPr id="10" name="Shape 7"/>
          <p:cNvSpPr/>
          <p:nvPr/>
        </p:nvSpPr>
        <p:spPr>
          <a:xfrm>
            <a:off x="548640" y="3160776"/>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1" name="Text 8"/>
          <p:cNvSpPr txBox="1"/>
          <p:nvPr/>
        </p:nvSpPr>
        <p:spPr>
          <a:xfrm>
            <a:off x="731520" y="3160776"/>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12" name="Text 9"/>
          <p:cNvSpPr txBox="1"/>
          <p:nvPr/>
        </p:nvSpPr>
        <p:spPr>
          <a:xfrm>
            <a:off x="1463040" y="3160776"/>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A IA apoia o professor, com revisão</a:t>
            </a:r>
            <a:endParaRPr lang="en-US" sz="1800" dirty="0"/>
          </a:p>
        </p:txBody>
      </p:sp>
      <p:sp>
        <p:nvSpPr>
          <p:cNvPr id="13" name="Shape 10"/>
          <p:cNvSpPr/>
          <p:nvPr/>
        </p:nvSpPr>
        <p:spPr>
          <a:xfrm>
            <a:off x="548640" y="4032504"/>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4" name="Text 11"/>
          <p:cNvSpPr txBox="1"/>
          <p:nvPr/>
        </p:nvSpPr>
        <p:spPr>
          <a:xfrm>
            <a:off x="731520" y="4032504"/>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15" name="Text 12"/>
          <p:cNvSpPr txBox="1"/>
          <p:nvPr/>
        </p:nvSpPr>
        <p:spPr>
          <a:xfrm>
            <a:off x="1463040" y="4032504"/>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Atividades desplugadas: adivinhar não é saber</a:t>
            </a:r>
            <a:endParaRPr lang="en-US" sz="1800" dirty="0"/>
          </a:p>
        </p:txBody>
      </p:sp>
      <p:sp>
        <p:nvSpPr>
          <p:cNvPr id="16" name="Shape 13"/>
          <p:cNvSpPr/>
          <p:nvPr/>
        </p:nvSpPr>
        <p:spPr>
          <a:xfrm>
            <a:off x="548640" y="4904232"/>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7" name="Text 14"/>
          <p:cNvSpPr txBox="1"/>
          <p:nvPr/>
        </p:nvSpPr>
        <p:spPr>
          <a:xfrm>
            <a:off x="731520" y="4904232"/>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18" name="Text 15"/>
          <p:cNvSpPr txBox="1"/>
          <p:nvPr/>
        </p:nvSpPr>
        <p:spPr>
          <a:xfrm>
            <a:off x="1463040" y="4904232"/>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Avalie por observação, portfólio, rubricas e feedback descritivo</a:t>
            </a:r>
            <a:endParaRPr lang="en-US" sz="1800" dirty="0"/>
          </a:p>
        </p:txBody>
      </p:sp>
      <p:sp>
        <p:nvSpPr>
          <p:cNvPr id="19" name="Shape 16"/>
          <p:cNvSpPr/>
          <p:nvPr/>
        </p:nvSpPr>
        <p:spPr>
          <a:xfrm>
            <a:off x="548640" y="577596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20" name="Text 17"/>
          <p:cNvSpPr txBox="1"/>
          <p:nvPr/>
        </p:nvSpPr>
        <p:spPr>
          <a:xfrm>
            <a:off x="731520" y="5775960"/>
            <a:ext cx="548640" cy="762000"/>
          </a:xfrm>
          <a:prstGeom prst="rect">
            <a:avLst/>
          </a:prstGeom>
          <a:noFill/>
          <a:ln/>
        </p:spPr>
        <p:txBody>
          <a:bodyPr wrap="square" lIns="0" tIns="0" rIns="0" bIns="0" rtlCol="0" anchor="ctr"/>
          <a:lstStyle/>
          <a:p>
            <a:pPr algn="ctr" indent="0" marL="0">
              <a:buNone/>
            </a:pPr>
            <a:r>
              <a:rPr lang="en-US" sz="2400" b="1" dirty="0">
                <a:solidFill>
                  <a:srgbClr val="E9A23B"/>
                </a:solidFill>
              </a:rPr>
              <a:t>✓</a:t>
            </a:r>
            <a:endParaRPr lang="en-US" sz="2400" dirty="0"/>
          </a:p>
        </p:txBody>
      </p:sp>
      <p:sp>
        <p:nvSpPr>
          <p:cNvPr id="21" name="Text 18"/>
          <p:cNvSpPr txBox="1"/>
          <p:nvPr/>
        </p:nvSpPr>
        <p:spPr>
          <a:xfrm>
            <a:off x="1463040" y="577596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Dialogue com as famílias, sem culpabilizar</a:t>
            </a:r>
            <a:endParaRPr lang="en-US" sz="18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Para pensar na sua prática</a:t>
            </a:r>
            <a:endParaRPr lang="en-US" sz="3400" dirty="0"/>
          </a:p>
        </p:txBody>
      </p:sp>
      <p:sp>
        <p:nvSpPr>
          <p:cNvPr id="4" name="Shape 1"/>
          <p:cNvSpPr/>
          <p:nvPr/>
        </p:nvSpPr>
        <p:spPr>
          <a:xfrm>
            <a:off x="548640" y="1463040"/>
            <a:ext cx="11064240" cy="1097280"/>
          </a:xfrm>
          <a:prstGeom prst="roundRect">
            <a:avLst>
              <a:gd name="adj" fmla="val 10000"/>
            </a:avLst>
          </a:prstGeom>
          <a:solidFill>
            <a:srgbClr val="F7EFE6"/>
          </a:solidFill>
          <a:ln w="12700">
            <a:solidFill>
              <a:srgbClr val="F7EFE6"/>
            </a:solidFill>
            <a:prstDash val="solid"/>
          </a:ln>
        </p:spPr>
      </p:sp>
      <p:sp>
        <p:nvSpPr>
          <p:cNvPr id="5" name="Shape 2"/>
          <p:cNvSpPr/>
          <p:nvPr/>
        </p:nvSpPr>
        <p:spPr>
          <a:xfrm>
            <a:off x="777240" y="1737360"/>
            <a:ext cx="548640" cy="548640"/>
          </a:xfrm>
          <a:prstGeom prst="ellipse">
            <a:avLst/>
          </a:prstGeom>
          <a:solidFill>
            <a:srgbClr val="6D3B6E"/>
          </a:solidFill>
          <a:ln w="12700">
            <a:solidFill>
              <a:srgbClr val="6D3B6E"/>
            </a:solidFill>
            <a:prstDash val="solid"/>
          </a:ln>
        </p:spPr>
      </p:sp>
      <p:sp>
        <p:nvSpPr>
          <p:cNvPr id="6" name="Text 3"/>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1600200" y="146304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Como percebe quando um texto não é da criança?</a:t>
            </a:r>
            <a:endParaRPr lang="en-US" sz="2000" dirty="0"/>
          </a:p>
        </p:txBody>
      </p:sp>
      <p:sp>
        <p:nvSpPr>
          <p:cNvPr id="8" name="Shape 5"/>
          <p:cNvSpPr/>
          <p:nvPr/>
        </p:nvSpPr>
        <p:spPr>
          <a:xfrm>
            <a:off x="548640" y="2697480"/>
            <a:ext cx="11064240" cy="1097280"/>
          </a:xfrm>
          <a:prstGeom prst="roundRect">
            <a:avLst>
              <a:gd name="adj" fmla="val 10000"/>
            </a:avLst>
          </a:prstGeom>
          <a:solidFill>
            <a:srgbClr val="F7EFE6"/>
          </a:solidFill>
          <a:ln w="12700">
            <a:solidFill>
              <a:srgbClr val="F7EFE6"/>
            </a:solidFill>
            <a:prstDash val="solid"/>
          </a:ln>
        </p:spPr>
      </p:sp>
      <p:sp>
        <p:nvSpPr>
          <p:cNvPr id="9" name="Shape 6"/>
          <p:cNvSpPr/>
          <p:nvPr/>
        </p:nvSpPr>
        <p:spPr>
          <a:xfrm>
            <a:off x="777240" y="2971800"/>
            <a:ext cx="548640" cy="548640"/>
          </a:xfrm>
          <a:prstGeom prst="ellipse">
            <a:avLst/>
          </a:prstGeom>
          <a:solidFill>
            <a:srgbClr val="6D3B6E"/>
          </a:solidFill>
          <a:ln w="12700">
            <a:solidFill>
              <a:srgbClr val="6D3B6E"/>
            </a:solidFill>
            <a:prstDash val="solid"/>
          </a:ln>
        </p:spPr>
      </p:sp>
      <p:sp>
        <p:nvSpPr>
          <p:cNvPr id="10" name="Text 7"/>
          <p:cNvSpPr txBox="1"/>
          <p:nvPr/>
        </p:nvSpPr>
        <p:spPr>
          <a:xfrm>
            <a:off x="777240" y="2971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8"/>
          <p:cNvSpPr txBox="1"/>
          <p:nvPr/>
        </p:nvSpPr>
        <p:spPr>
          <a:xfrm>
            <a:off x="1600200" y="269748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O que diria às famílias sobre IA nas lições de casa?</a:t>
            </a:r>
            <a:endParaRPr lang="en-US" sz="2000" dirty="0"/>
          </a:p>
        </p:txBody>
      </p:sp>
      <p:sp>
        <p:nvSpPr>
          <p:cNvPr id="12" name="Shape 9"/>
          <p:cNvSpPr/>
          <p:nvPr/>
        </p:nvSpPr>
        <p:spPr>
          <a:xfrm>
            <a:off x="548640" y="3931920"/>
            <a:ext cx="11064240" cy="1097280"/>
          </a:xfrm>
          <a:prstGeom prst="roundRect">
            <a:avLst>
              <a:gd name="adj" fmla="val 10000"/>
            </a:avLst>
          </a:prstGeom>
          <a:solidFill>
            <a:srgbClr val="F7EFE6"/>
          </a:solidFill>
          <a:ln w="12700">
            <a:solidFill>
              <a:srgbClr val="F7EFE6"/>
            </a:solidFill>
            <a:prstDash val="solid"/>
          </a:ln>
        </p:spPr>
      </p:sp>
      <p:sp>
        <p:nvSpPr>
          <p:cNvPr id="13" name="Shape 10"/>
          <p:cNvSpPr/>
          <p:nvPr/>
        </p:nvSpPr>
        <p:spPr>
          <a:xfrm>
            <a:off x="777240" y="4206240"/>
            <a:ext cx="548640" cy="548640"/>
          </a:xfrm>
          <a:prstGeom prst="ellipse">
            <a:avLst/>
          </a:prstGeom>
          <a:solidFill>
            <a:srgbClr val="6D3B6E"/>
          </a:solidFill>
          <a:ln w="12700">
            <a:solidFill>
              <a:srgbClr val="6D3B6E"/>
            </a:solidFill>
            <a:prstDash val="solid"/>
          </a:ln>
        </p:spPr>
      </p:sp>
      <p:sp>
        <p:nvSpPr>
          <p:cNvPr id="14" name="Text 11"/>
          <p:cNvSpPr txBox="1"/>
          <p:nvPr/>
        </p:nvSpPr>
        <p:spPr>
          <a:xfrm>
            <a:off x="777240" y="4206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2"/>
          <p:cNvSpPr txBox="1"/>
          <p:nvPr/>
        </p:nvSpPr>
        <p:spPr>
          <a:xfrm>
            <a:off x="1600200" y="393192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Como ensina as crianças a conferir se uma informação está certa?</a:t>
            </a:r>
            <a:endParaRPr lang="en-US" sz="2000" dirty="0"/>
          </a:p>
        </p:txBody>
      </p:sp>
      <p:sp>
        <p:nvSpPr>
          <p:cNvPr id="16" name="Shape 13"/>
          <p:cNvSpPr/>
          <p:nvPr/>
        </p:nvSpPr>
        <p:spPr>
          <a:xfrm>
            <a:off x="548640" y="5166360"/>
            <a:ext cx="11064240" cy="1097280"/>
          </a:xfrm>
          <a:prstGeom prst="roundRect">
            <a:avLst>
              <a:gd name="adj" fmla="val 10000"/>
            </a:avLst>
          </a:prstGeom>
          <a:solidFill>
            <a:srgbClr val="F7EFE6"/>
          </a:solidFill>
          <a:ln w="12700">
            <a:solidFill>
              <a:srgbClr val="F7EFE6"/>
            </a:solidFill>
            <a:prstDash val="solid"/>
          </a:ln>
        </p:spPr>
      </p:sp>
      <p:sp>
        <p:nvSpPr>
          <p:cNvPr id="17" name="Shape 14"/>
          <p:cNvSpPr/>
          <p:nvPr/>
        </p:nvSpPr>
        <p:spPr>
          <a:xfrm>
            <a:off x="777240" y="5440680"/>
            <a:ext cx="548640" cy="548640"/>
          </a:xfrm>
          <a:prstGeom prst="ellipse">
            <a:avLst/>
          </a:prstGeom>
          <a:solidFill>
            <a:srgbClr val="6D3B6E"/>
          </a:solidFill>
          <a:ln w="12700">
            <a:solidFill>
              <a:srgbClr val="6D3B6E"/>
            </a:solidFill>
            <a:prstDash val="solid"/>
          </a:ln>
        </p:spPr>
      </p:sp>
      <p:sp>
        <p:nvSpPr>
          <p:cNvPr id="18" name="Text 15"/>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6"/>
          <p:cNvSpPr txBox="1"/>
          <p:nvPr/>
        </p:nvSpPr>
        <p:spPr>
          <a:xfrm>
            <a:off x="1600200" y="516636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condições de trabalho precisaria para testar este capítulo?</a:t>
            </a:r>
            <a:endParaRPr lang="en-US" sz="20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12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1371600" y="3840480"/>
            <a:ext cx="4572000" cy="4572000"/>
          </a:xfrm>
          <a:prstGeom prst="ellipse">
            <a:avLst/>
          </a:prstGeom>
          <a:solidFill>
            <a:srgbClr val="E9A23B">
              <a:alpha val="70000"/>
            </a:srgbClr>
          </a:solidFill>
          <a:ln w="12700">
            <a:solidFill>
              <a:srgbClr val="E9A23B">
                <a:alpha val="70000"/>
              </a:srgbClr>
            </a:solidFill>
            <a:prstDash val="solid"/>
          </a:ln>
        </p:spPr>
      </p:sp>
      <p:sp>
        <p:nvSpPr>
          <p:cNvPr id="4" name="Text 1"/>
          <p:cNvSpPr txBox="1"/>
          <p:nvPr/>
        </p:nvSpPr>
        <p:spPr>
          <a:xfrm>
            <a:off x="1097280" y="1828800"/>
            <a:ext cx="10058400" cy="2011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A criança escreve, o professor media, a IA fica nos bastidores.</a:t>
            </a:r>
            <a:endParaRPr lang="en-US" sz="4400" dirty="0"/>
          </a:p>
        </p:txBody>
      </p:sp>
      <p:sp>
        <p:nvSpPr>
          <p:cNvPr id="5" name="Text 2"/>
          <p:cNvSpPr txBox="1"/>
          <p:nvPr/>
        </p:nvSpPr>
        <p:spPr>
          <a:xfrm>
            <a:off x="1097280" y="4114800"/>
            <a:ext cx="10058400" cy="640080"/>
          </a:xfrm>
          <a:prstGeom prst="rect">
            <a:avLst/>
          </a:prstGeom>
          <a:noFill/>
          <a:ln/>
        </p:spPr>
        <p:txBody>
          <a:bodyPr wrap="square" lIns="0" tIns="0" rIns="0" bIns="0" rtlCol="0" anchor="ctr"/>
          <a:lstStyle/>
          <a:p>
            <a:pPr algn="ctr" indent="0" marL="0">
              <a:buNone/>
            </a:pPr>
            <a:r>
              <a:rPr lang="en-US" sz="2200" i="1" dirty="0">
                <a:solidFill>
                  <a:srgbClr val="F4B860"/>
                </a:solidFill>
              </a:rPr>
              <a:t>A docência é insubstituível.</a:t>
            </a:r>
            <a:endParaRPr lang="en-US" sz="2200" dirty="0"/>
          </a:p>
        </p:txBody>
      </p:sp>
      <p:sp>
        <p:nvSpPr>
          <p:cNvPr id="6" name="Text 3"/>
          <p:cNvSpPr txBox="1"/>
          <p:nvPr/>
        </p:nvSpPr>
        <p:spPr>
          <a:xfrm>
            <a:off x="1097280" y="5029200"/>
            <a:ext cx="10058400" cy="548640"/>
          </a:xfrm>
          <a:prstGeom prst="rect">
            <a:avLst/>
          </a:prstGeom>
          <a:noFill/>
          <a:ln/>
        </p:spPr>
        <p:txBody>
          <a:bodyPr wrap="square" lIns="0" tIns="0" rIns="0" bIns="0" rtlCol="0" anchor="ctr"/>
          <a:lstStyle/>
          <a:p>
            <a:pPr algn="ctr" indent="0" marL="0">
              <a:buNone/>
            </a:pPr>
            <a:r>
              <a:rPr lang="en-US" sz="1800" dirty="0">
                <a:solidFill>
                  <a:srgbClr val="E9D9C8"/>
                </a:solidFill>
              </a:rPr>
              <a:t>Obrigado(a)!</a:t>
            </a:r>
            <a:endParaRPr lang="en-US" sz="1800" dirty="0"/>
          </a:p>
        </p:txBody>
      </p:sp>
    </p:spTree>
  </p:cSld>
  <p:clrMapOvr>
    <a:masterClrMapping/>
  </p:clrMapOvr>
</p:sld>
</file>

<file path=ppt/theme/theme1.xml><?xml version="1.0" encoding="utf-8"?>
<a:theme xmlns:a="http://schemas.openxmlformats.org/drawingml/2006/main" name="IA na Educação">
  <a:themeElements>
    <a:clrScheme name="IA na Educação">
      <a:dk1>
        <a:srgbClr val="3B2A2A"/>
      </a:dk1>
      <a:lt1>
        <a:srgbClr val="FFFFFF"/>
      </a:lt1>
      <a:dk2>
        <a:srgbClr val="5A2E2A"/>
      </a:dk2>
      <a:lt2>
        <a:srgbClr val="F7EFE6"/>
      </a:lt2>
      <a:accent1>
        <a:srgbClr val="D9653B"/>
      </a:accent1>
      <a:accent2>
        <a:srgbClr val="2A9D8F"/>
      </a:accent2>
      <a:accent3>
        <a:srgbClr val="E9A23B"/>
      </a:accent3>
      <a:accent4>
        <a:srgbClr val="6D3B6E"/>
      </a:accent4>
      <a:accent5>
        <a:srgbClr val="3D7EA6"/>
      </a:accent5>
      <a:accent6>
        <a:srgbClr val="6E9A4F"/>
      </a:accent6>
      <a:hlink>
        <a:srgbClr val="3D7EA6"/>
      </a:hlink>
      <a:folHlink>
        <a:srgbClr val="6D3B6E"/>
      </a:folHlink>
    </a:clrScheme>
    <a:fontScheme name="IA na Educ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12 — Anos iniciais do ensino fundamental: alfabetizar, investigar e aprender a perguntar</dc:title>
  <dc:subject>PptxGenJS Presentation</dc:subject>
  <dc:creator>Araken de Medeiros Santos</dc:creator>
  <cp:lastModifiedBy>Araken de Medeiros Santos</cp:lastModifiedBy>
  <cp:revision>1</cp:revision>
  <dcterms:created xsi:type="dcterms:W3CDTF">2026-10-26T23:32:18Z</dcterms:created>
  <dcterms:modified xsi:type="dcterms:W3CDTF">2026-10-26T23:32:18Z</dcterms:modified>
</cp:coreProperties>
</file>