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28.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três lentes do capítulo: equidade, vieses e segurança, mais a adequação etária e a acessibilidade. Diga que o objetivo é sair com dois instrumentos práticos: um teste simples de vieses e um protocolo escolar de segurança.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fictícia: Rita percebe que a correção automática dá notas menores a marcas da fala regional; Caio vê um estudante surdo sem acesso ao recurso de voz; uma mãe pergunta se o filho de 11 anos pode conversar com um assistente como amigo. Peça que a turma liste quem ficou de fora em cada caso. Três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capítulo: equidade, vieses, segurança, adequação etária, inclusão e acessibilidade, protocolos escolares. Use como roteiro em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Equidade não é dar o mesmo a todos, e sim dar a cada um o que precisa para aprender. Acesso: dispositivos, conectividade, língua. Uso: letramento e apoio de adultos, hipótese plausível com pesquisa ainda limitada. Resultados: quem melhora, quem fica igual, quem piora, com cuidado para não expor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da porta fechada: antes de propor uma atividade com IA, quem não conseguiria realizá-la por falta de equipamento, internet, tempo em casa, língua ou deficiência? Se a resposta for 'nada', reformule: laboratório, versão em papel ou demonstração coletiva. Pergunte à turma que atividade recente tinha uma porta fechada.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Viés é um desvio sistemático que favorece ou prejudica certos grupos. Pode entrar nos dados, na rotulagem, na escolha do que se mede, no projeto e no uso. Modelos aprendem padrões de grandes volumes de texto, inclusive estereótipos. A analogia ajuda: o erro não é aleatório, sempre pende para o mesmo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pontos de entrada do viés em forma de ciclo: dados de treinamento, rotulagem e medidas, projeto, uso e interpretação, decisões que geram novos dados. Peça que a turma localize onde entraria o problema da correção de redações da 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exemplos documentados. Proxy enganoso: sistema de saúde que usava gasto como necessidade subestimava pacientes negros. Classificação facial com erros maiores para mulheres de pele mais escura. Modelos associam estereótipos a variedades linguísticas minoritárias; não há razão para supor que o português esteja imune. Detectores de IA erraram com quem escreve em segunda língua. Estes estudos fundamentam o dever de verificar, mas não dizem que a sua ferramenta é enviesada de certo modo: é preciso 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 de pares: mude só um aspecto irrelevante, como o nome, a região ou a variedade linguística, e compare. Ausência de diferença não prova imparcialidade e uma única diferença não esgota o diagnóstico. O teste serve para despertar atenção e orientar a decisão. Use sempre nomes e lugares fictícios.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na escola vai além de bloquear sites: é proteger a integridade física, emocional e informacional. Informação incorreta dita com segurança pesa mais em quem ainda constrói critérios de verificação. Bajulação reforça concepções equivocadas. Conteúdo impróprio passa por filtros. Manipulação e vínculos com acompanhantes virtuais: efeitos de longo prazo pouco estudados, por isso precaução. Cite também conteúdo sintético usado para humilhação.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Filtros não são perfeitos: deixam passar conteúdo inadequado e podem bloquear temas legítimos, como saúde mental. A proteção vem de camadas combinadas: escolha do sistema, configurações da instituição, uso mediado, letramento e canais de acolhimento. Proponha também o acordo de segurança com a turma: não compartilhar dados nem imagens de colegas, avisar um adulto se algo incomodar, conferir fatos.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níveis para não confundir: obrigação (o que a lei exige, como proteção de dados e melhor interesse da criança), recomendação (o que organismos e especialistas sugerem, como a idade mínima de referência sugerida pela UNESCO) e prática (o que cada escola decide). Sobre o ECA Digital: o livro registra, com base em fontes secundárias, que entrou em vigor em março de 2026, mas o texto oficial não foi consultado; confirme a redação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orientações para deliberação, não regras legais. Educação infantil: sem uso direto pelas crianças. Anos iniciais: uso mediado e coletivo pelo professor. Anos finais e ensino médio: uso supervisionado, com letramento e autonomia progressiva. Superior e adultos: uso declarado, com responsabilidade. Sempre com alternativa sem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pode ajudar com legendas, descrição de imagens, leitura em voz alta, simplificação e apoio à comunicação, mas pode errar, reconhecer pior algumas vozes e sotaques, e a tradução de línguas de sinais é muito limitada. Nada substitui intérpretes, atendimento educacional especializado e a participação das pessoas com deficiência. O desenho universal para a aprendizagem parte de múltiplos meios desde o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um escudo de uso responsável sustentado por quatro pilares: equidade de acesso, teste de vieses, proteção por idade e acessibilidade com apoio humano. Peça que a turma diga qual pilar está mais frágil na sua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Pausa. Leia a frase e relembre as três perguntas da Rita: para quem, a que custo, com que proteção.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duas aulas de 50 minutos. Pares de pedidos idênticos, exceto por um aspecto fictício. Use nomes e lugares fictícios e evite estereótipos ofensivos. Com menores, o professor conduz a ferramenta e projeta. Termine com o que o teste não permite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2, dois encontros de 90 minutos, com gestão, professores e, se possível, famílias. Cartões com situações fictícias: criança de 8 anos, imagem falsa de colega, descrição errada de figura, família sem internet, ferramenta que exige 18 anos, personagem virtual. Para cada, direito em jogo, prevenção, resposta e acompanhamento. Confira as normas em fonte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verifique. Percorra os riscos principais: ampliar desigualdades, penalizar variedades linguísticas inclusive via detectores, vínculo emocional simulado e uso abaixo da idade permitida pelos termos do serviço. Lembre que rótulos e perfis podem virar profecia autorrealizável.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IA: sem como garantir acesso equitativo, quando idade ou consentimento não estão atendidos, avaliação com consequência baseada só em saída automática, vínculo emocional simulado com crianças, e quando recursos humanos de acessibilidade são mais adequados. Alternativa de poucos recursos: atividade em sala, IA só na demonstração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as ideias centrais. Peça que cada pessoa anote o primeiro passo que dará na própria escola: uma pergunta da porta fechada, um teste de pares ou uma conversa sobre o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de reflexão individual e depois conversa em grupos. Valorize respostas concretas, com nomes de situações reais da escola, sem expor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D95D7F">
              <a:alpha val="75000"/>
            </a:srgbClr>
          </a:solidFill>
          <a:ln w="12700">
            <a:solidFill>
              <a:srgbClr val="D95D7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28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Equidade, vieses, segurança e adequação etária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VI — Oportunidades, benefícios, riscos e governança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Analisar equidade em acesso, uso e resultados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Explicar de onde vêm os vieses e reconhecer exemplos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Identificar riscos de segurança e planejar proteção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Relacionar adequação etária a direitos e normas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acessibilidade sem substituir apoios humanos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5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IA sem ampliar desigualdades e sem expor crianças a riscos?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Rita: 'É para quem funciona, a que custo e com que proteção?'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Mapa dos conceitos principais do capítulo 2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Mapa dos conceitos principais do capítulo 28.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Equidade em três dimensões</a:t>
            </a:r>
            <a:endParaRPr lang="en-US" sz="3400" dirty="0"/>
          </a:p>
        </p:txBody>
      </p:sp>
      <p:pic>
        <p:nvPicPr>
          <p:cNvPr id="4" name="Image 0" descr="Acesso, uso e resultad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37" y="1325880"/>
            <a:ext cx="10763645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Acesso, uso e resultados.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da porta fechada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Antes de propor, perguntar quem não conseguiria realizar a atividade e o que será feito para que tenha a mesma oportunidade.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escada sem rampa: para quem sobe a pé, funciona; para quem usa cadeira de rodas, é uma parede.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fica do lado de fora?”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viés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Desvio sistemático que favorece ou prejudica certos grupos; pode vir dos dados, das medidas, do projeto ou do uso.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balança desregulada: não erra ao acaso, erra sempre para o mesmo lado.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erro que pende sempre para o mesmo lado.”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viés pode entrar</a:t>
            </a:r>
            <a:endParaRPr lang="en-US" sz="3400" dirty="0"/>
          </a:p>
        </p:txBody>
      </p:sp>
      <p:pic>
        <p:nvPicPr>
          <p:cNvPr id="4" name="Image 0" descr="Um ciclo que se realimen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3335" y="1325880"/>
            <a:ext cx="597485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Um ciclo que se realimenta.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que ajudam a enxergar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enganoso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Gasto usado como necessidade subestimou pacientes negros.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desigual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Classificação facial errou mais com mulheres de pele escura.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Língua e dialeto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Estereótipos a variedades minoritárias; alerta para a escola.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Detectores de IA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Erraram com quem escreve em segunda língua.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pares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Escolher uma tarefa neutra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Criar dois pedidos que diferem em um só aspecto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Aplicar cada par duas ou três vezes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Comparar tom, qualidade e expectativas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Registrar data, sistema e ressalvas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Um teste pequeno desperta a atenção; não prova imparcialidade.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de segurança para estudantes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com aparência de certeza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Texto fluente com erros; crianças verificam menos.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Bajulação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Concorda mesmo quando o estudante está errado.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Manipulação e vínculo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Sistemas que parecem amigos podem estimular uso prolongado.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sintético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Imagens e vozes falsas usadas em bullying e golpes.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em camadas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Escolha do sistema, configurações, uso mediado, letramento e canais de acolhimento, combinados; nenhuma camada resolve sozinha.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guarda-chuva com furos: com um só, você se molha; com casaco, boné e calçada coberta, não.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“Nenhuma camada, sozinha, resolve.”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etária: três níveis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Obrigação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a lei exige de provedores, escolas e redes.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organismos e especialistas sugerem, como idade mínima.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a escola decide, conforme seu projeto e comunidade.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Orientações por etapa</a:t>
            </a:r>
            <a:endParaRPr lang="en-US" sz="3400" dirty="0"/>
          </a:p>
        </p:txBody>
      </p:sp>
      <p:pic>
        <p:nvPicPr>
          <p:cNvPr id="4" name="Image 0" descr="Ponto de partida para decisões da escola, não regra leg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6502" y="1325880"/>
            <a:ext cx="650851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Ponto de partida para decisões da escola, não regra legal.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Acessibilidade: ajuda e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ajudar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Legendas e leitura em voz alta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Descrição de imagens e simplificação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Apoio à comunicação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Sempre com revisão humana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substitui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Intérpretes e mediadores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Atendimento educacional especializado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Escolha feita com a pessoa com deficiência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Descrição que pode errar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quatro pilares do uso responsável</a:t>
            </a:r>
            <a:endParaRPr lang="en-US" sz="3400" dirty="0"/>
          </a:p>
        </p:txBody>
      </p:sp>
      <p:pic>
        <p:nvPicPr>
          <p:cNvPr id="4" name="Image 0" descr="Equidade, verificação e proteção como condições para o u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957" y="1325880"/>
            <a:ext cx="844760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Equidade, verificação e proteção como condições para o uso.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“Funcionar não basta: é preciso funcionar para todos.”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Equidade, verificação e proteção.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teste de pares e auditoria de vieses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uma tarefa neutra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Criar pares de pedidos que diferem em um só aspecto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Aplicar cada par duas ou três vezes e registrar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Comparar qualidade, adjetivos, expectativas e nota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Discutir o que o teste não permite afirmar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Propor medidas e registrar em uma página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Folha de registro, comparação, conclusões cautelosas e medidas.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Pares gerados antes pelo professor e projetados; ou teste de pares com avaliadores humanos.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protocolo de segurança da escola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Analisar cartões com situações fictícias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Perguntar: que direito, que risco, que resposta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Montar matriz por etapa: permitido, mediado, não permitido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Definir o fluxo de incidentes e quem acolhe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Redigir carta às famílias em linguagem simples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Agendar a revisão do protocolo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encontros de 90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Matriz por etapa, fluxo de incidentes, carta às famílias e calendário.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Cartões em papel, reunião presencial e protocolo de uma página.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Atividade que depende de acesso doméstico deixa gente de fora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Detector ou nota automática não é prova isolada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Vínculo emocional simulado com sistemas que parecem amigos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Uso abaixo da idade permitida, sem base legal ou consentimento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e quando dispensar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possível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Demonstração coletiva pelo professor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Preparação de materiais, com revisão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Uso supervisionado, com alternativa sem 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Acesso equitativo garantido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Acesso não é equitativo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Nota ou decisão disciplinar só por saída automática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Vínculo emocional simulado com crianças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Intérprete ou mediador é mais adequado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5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Equidade olha acesso, uso e resultados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Viés pode entrar nos dados, medidas, projeto e uso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Detectores e saídas automáticas não são prova isolada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Filtros não bastam: proteção vem em camadas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Crianças têm proteção prioritária; confirme as normas vigentes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Acessibilidade por IA complementa apoios humanos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Quem teria mais dificuldade de fazer uma atividade com IA na sua escola?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critérios de correção seus podem favorecer um modo de escrever?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que faria se um estudante relatasse uma imagem falsa criada por colega?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Quem deve revisar as regras de uso de IA, e como as famílias participam?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D95D7F">
              <a:alpha val="70000"/>
            </a:srgbClr>
          </a:solidFill>
          <a:ln w="12700">
            <a:solidFill>
              <a:srgbClr val="D95D7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perguntar se funciona, pergunte: para quem?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28 — Equidade, vieses, segurança e adequação etária</dc:title>
  <dc:subject>PptxGenJS Presentation</dc:subject>
  <dc:creator>Araken de Medeiros Santos</dc:creator>
  <cp:lastModifiedBy>Araken de Medeiros Santos</cp:lastModifiedBy>
  <cp:revision>1</cp:revision>
  <dcterms:created xsi:type="dcterms:W3CDTF">2026-10-26T18:54:16Z</dcterms:created>
  <dcterms:modified xsi:type="dcterms:W3CDTF">2026-10-26T18:54:16Z</dcterms:modified>
</cp:coreProperties>
</file>