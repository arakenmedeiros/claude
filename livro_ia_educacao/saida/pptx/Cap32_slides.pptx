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32. Apresente o tema e peça que a turma pense em uma situação do dia a dia relacionada.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último capítulo: reúne em chave prática critérios para escolher, medidas para acompanhar, um plano para agir e um coletivo para sustentar o processo. No final, faremos o encerramento do livro. Dois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cena fictícia: a escola concluiu um piloto de um semestre com resultado misto, três docentes decidiram não continuar, e chegam três propostas de fornecedores com 'personalização total' e 'painéis de produtividade'. A coordenadora Dalva pergunta como escolher, o que medir e como manter o aprendizado coletivo. Peça que a turma responda a uma das três perguntas. Três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do capítulo: escolha de ferramentas, indicadores, monitoramento, plano de ação, comunidades de prática e encerramento. Um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mercado muda mais depressa que as escolas; por isso, escolher por nome ou popularidade é frágil. Critérios valem para ferramentas de hoje e de amanhã, pagas ou gratuitas. Este livro não recomenda marcas justamente por isso: o que perdura é a capacidade de julgar. Peça que a turma diga um critério que usaria.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Dez critérios em quatro grupos. Finalidade pedagógica e alternativa sem a ferramenta. Dados, privacidade, idade e transparência: o que coleta, onde guarda, treina modelos, idade permitida, como funciona. Qualidade, equidade e controle docente: testada com casos do seu contexto, em português, acessível, e o professor pode ajustar e recusar. Custo total, saída e evidências: formação, suporte, tempo de verificação, exportação em formatos abertos e estudos independentes.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Decisão em semáforo: adotar, adotar com condições (piloto, limites de uso, contrato revisto) ou não adotar (exige dados sem base legal ou não permite saída). Lembre da ficha de avaliação com nota de 0 a 2, critérios eliminatórios e o teste de bancada com cinco ou seis casos reais sem dados pessoais. Promessas como 'aprendizagem garantida' pedem evidência independente.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Indicadores são sinais, recortes da realidade: poucos e bons, ligados a decisões e acompanhados de explicações qualitativas. A máxima associada a Goodhart: quando uma medida vira meta, deixa de ser boa medida. Painéis que medem uso não medem aprendizagem. Nunca use indicadores de trabalho docente para avaliação funcional.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famílias de indicadores; aqui as quatro mais críticas. Processo: frequência de formação, com o cuidado de que quantidade de uso não é qualidade. Aprendizagem: desempenho sem apoio, e não só assistido. Equidade: dados agregados, sem expor indivíduos. Risco: incidentes, em cultura que não pune quem relata. Complementam: trabalho e bem-estar docente e custos totais, incluindo os invisíveis.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Ciclo planejar, executar, estudar e ajustar. Em um bimestre: planeja uma mudança pequena, executa, estuda com registros e indicadores, ajusta. Reunião de balanço com quatro perguntas: o que aprendemos, o que nos surpreendeu, o que mudamos e o que pararemos de fazer. Sugira o registro de bordo de uma página por atividade.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Comunidade de prática: grupo que aprende junto, com engajamento mútuo, empreendimento conjunto e repertório compartilhado. Propósito pequeno, encontros curtos de 40 a 60 minutos a cada duas ou quatro semanas, caso sem dados pessoais, discussão, uma tentativa para o próximo período e relato do que deu errado. Combinados: confidencialidade, direito de não usar e nenhum ranking de quem usa mais. Segurança psicológica é condição para aprender. As revisões sobre comunidades profissionais têm ressalvas de qualidade.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Síntese: escolher, acompanhar, agir e aprender junto, com a decisão docente no centro. Plano de 90 dias com no máximo três objetivos, responsáveis, prazos, recursos, indicadores, riscos e critérios de interrupção. Três objetivos bem acompanhados superam dez abandonados.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1, dois encontros de 90 minutos e uma semana de teste. Defina a necessidade e critérios eliminatórios, leia os termos, rode cinco casos de teste sem dados pessoais, pontue de 0 a 2 com evidências e decida. Comunique a decisão à comunidade. Em poucos recursos, priorize três critérios: finalidade, dados e saída.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2: dois encontros de 90 minutos para o plano e um de 60 para a primeira reunião da comunidade. Até três prioridades do diagnóstico; um indicador por objetivo, de famílias diferentes; três riscos com salvaguardas e critério de interrupção. Primeiro encontro: acolhida, caso, discussão, tentativa, registro. Balanço em 45 e 90 dias.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Pare e verifique. Percorra os riscos: escolha por popularidade ou pressão comercial, indicadores que viram metas e vigilância, painéis que medem uso e não aprendizagem, planos decorativos e comunidades que viram vitrines ou espaços de pressão. Pergunte quais dessas já aconteceram na escola da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dispensar a ferramenta: se exige dados pessoais de estudantes sem base legal, não permite sair com seus materiais, substitui decisões pedagógicas sem revisão, tem custo total maior que o benefício ou não pode ser testada antes com casos reais. Alternativa de poucos recursos: critérios mínimos, anotações simples e conversas.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o capítulo com as ideias centrais. Depois, passaremos ao encerramento do livro. Peça que cada pessoa escolha o critério que mais pesa na sua escola.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minutos de reflexão individual e depois conversa em duplas. Valorize respostas concretas sobre critérios eliminatórios e sobre com quem formar uma comunidade.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 do livro. Percorremos sete partes: o que a IA é e por que erra; a pedagogia; cada etapa de ensino; o trabalho docente; o pedir bem e verificar; evidências, equidade, dados e políticas; e como começar, formar, testar, escolher, medir e aprender junto. Se fosse preciso resumir em poucos compromissos, seriam oito. Estes são os quatro primeiros.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quatro compromissos restantes. Equidade: quem ganha, quem fica de fora, quem paga o custo. Humildade com as evidências: muita coisa ainda não se sabe, evite promessas e proibições definitivas. Mantenha alternativas: saiba ensinar com e sem IA. Aprenda junto: ninguém precisa carregar sozinho uma tecnologia que muda a cada mês.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percurso do livro em sete partes e quatro compromissos permanentes: aprendizagem primeiro, decisão docente, verificação e proteção das pessoas. Convide a turma a localizar a parte que mais mudou sua prática. Dois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ferramentas mudarão e boa parte dos exemplos envelhecerá. O que se espera que permaneça são as perguntas. Leia cada uma e peça que a turma as escreva em um papel para levar. Quem faz essas perguntas com frequência está preparado para as ferramentas que vierem.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lendo a frase final do livro com calma. Freire lembrava que a educação é uma forma de intervenção no mundo. Agradeça à turma e convide cada pessoa a dizer em uma palavra o que leva.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Convide a turma a escolher uma ideia para experimentar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6E9A4F">
              <a:alpha val="75000"/>
            </a:srgbClr>
          </a:solidFill>
          <a:ln w="12700">
            <a:solidFill>
              <a:srgbClr val="6E9A4F">
                <a:alpha val="7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840480"/>
            <a:ext cx="3840480" cy="3840480"/>
          </a:xfrm>
          <a:prstGeom prst="ellipse">
            <a:avLst/>
          </a:prstGeom>
          <a:solidFill>
            <a:srgbClr val="E9A23B">
              <a:alpha val="65000"/>
            </a:srgbClr>
          </a:solidFill>
          <a:ln w="12700">
            <a:solidFill>
              <a:srgbClr val="E9A23B">
                <a:alpha val="6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4B860"/>
                </a:solidFill>
              </a:rPr>
              <a:t>CAPÍTULO 32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3736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Ferramentas, indicadores, monitoramento e plano de ação: comunidades de prática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EFE6"/>
                </a:solidFill>
              </a:rPr>
              <a:t>Parte VII — Implementação e desenvolvimento profissional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9C8"/>
                </a:solidFill>
              </a:rPr>
              <a:t>Inteligência Artificial Aplicada à Educação ·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6E9A4F"/>
          </a:solidFill>
          <a:ln w="12700">
            <a:solidFill>
              <a:srgbClr val="6E9A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463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Avaliar ferramentas por critérios, sem depender de marcas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6E9A4F"/>
          </a:solidFill>
          <a:ln w="12700">
            <a:solidFill>
              <a:srgbClr val="6E9A4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4688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Definir indicadores sem virar vigilância ou pressão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4747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6E9A4F"/>
          </a:solidFill>
          <a:ln w="12700">
            <a:solidFill>
              <a:srgbClr val="6E9A4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4747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Organizar um ciclo de monitoramento e melhoria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44805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6E9A4F"/>
          </a:solidFill>
          <a:ln w="12700">
            <a:solidFill>
              <a:srgbClr val="6E9A4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4805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Elaborar um plano de ação realista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669280"/>
            <a:ext cx="548640" cy="548640"/>
          </a:xfrm>
          <a:prstGeom prst="ellipse">
            <a:avLst/>
          </a:prstGeom>
          <a:solidFill>
            <a:srgbClr val="6E9A4F"/>
          </a:solidFill>
          <a:ln w="12700">
            <a:solidFill>
              <a:srgbClr val="6E9A4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54864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Descrever e sustentar comunidades de prática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E9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</a:rPr>
              <a:t>PENSE UM POUCO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escolher, acompanhar e aprender junto, mantendo a decisão com quem ensina?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3E6"/>
                </a:solidFill>
              </a:rPr>
              <a:t>Dalva: 'Como escolher sem nos deixar levar pela propaganda?'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do capítulo</a:t>
            </a:r>
            <a:endParaRPr lang="en-US" sz="3400" dirty="0"/>
          </a:p>
        </p:txBody>
      </p:sp>
      <p:pic>
        <p:nvPicPr>
          <p:cNvPr id="4" name="Image 0" descr="Mapa dos conceitos principais do capítulo 32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0290" y="1325880"/>
            <a:ext cx="6300940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Mapa dos conceitos principais do capítulo 32.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Critérios antes de marcas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9A4F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Avaliar por critérios que valem para qualquer ferramenta, e não por nome, popularidade ou promessa do fornecedor.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6E9A4F"/>
          </a:solidFill>
          <a:ln w="12700">
            <a:solidFill>
              <a:srgbClr val="6E9A4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o test-drive: ninguém compra o carro pelo anúncio, dirige antes e confere o que importa.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que perdura é a capacidade de julgar.”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Dez critérios em quatro grupos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Finalidade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Serve a um objetivo ou necessidade? E sem ela, como se faz?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6E9A4F"/>
          </a:solidFill>
          <a:ln w="12700">
            <a:solidFill>
              <a:srgbClr val="6E9A4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Dados, idade e transparência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O que coleta, onde guarda, idade permitida, como funciona.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Qualidade, equidade, controle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Testada no seu contexto; acessível; o professor pode recusar.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Custo, saída, evidências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Custo total, exportar materiais, estudos independentes.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Adotar, adotar com condições ou não</a:t>
            </a:r>
            <a:endParaRPr lang="en-US" sz="3400" dirty="0"/>
          </a:p>
        </p:txBody>
      </p:sp>
      <p:pic>
        <p:nvPicPr>
          <p:cNvPr id="4" name="Image 0" descr="Decisão sobre uma ferramenta, em semáfor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9750" y="1325880"/>
            <a:ext cx="7862021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Decisão sobre uma ferramenta, em semáforo.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Indicadores: sinais, não a realidade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9A4F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Poucos sinais, ligados a decisões. Quando uma medida vira meta, deixa de ser uma boa medida.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6E9A4F"/>
          </a:solidFill>
          <a:ln w="12700">
            <a:solidFill>
              <a:srgbClr val="6E9A4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o termômetro na chaleira: se a meta é a temperatura mostrada, alguém dá um jeito de esquentá-la.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“Medir uso não é medir aprendizagem.”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Famílias de indicadores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Encontros, atividades testadas. Uso não é qualidade.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6E9A4F"/>
          </a:solidFill>
          <a:ln w="12700">
            <a:solidFill>
              <a:srgbClr val="6E9A4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Aprendizagem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Desempenho sem apoio, explicações orais, transferência.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Equidade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Quem usa e quem não usa; dados agregados.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 e trabalho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Incidentes, tempo real de verificação e carga docente.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monitoramento e melhoria</a:t>
            </a:r>
            <a:endParaRPr lang="en-US" sz="3400" dirty="0"/>
          </a:p>
        </p:txBody>
      </p:sp>
      <p:pic>
        <p:nvPicPr>
          <p:cNvPr id="4" name="Image 0" descr="Planejar, executar, estudar e ajustar, a cada mês ou bimestr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6179" y="1325880"/>
            <a:ext cx="6029162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Planejar, executar, estudar e ajustar, a cada mês ou bimestre.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Comunidade de prática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9A4F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Grupo que se reúne com regularidade em torno de um propósito, com repertório próprio e segurança para dizer 'errei'.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6E9A4F"/>
          </a:solidFill>
          <a:ln w="12700">
            <a:solidFill>
              <a:srgbClr val="6E9A4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o mutirão: cada um traz sua ferramenta e todos saem sabendo mais do que chegaram.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“Tentativas individuais viram saber da escola.”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Síntese: escolher, medir, agir e aprender junto</a:t>
            </a:r>
            <a:endParaRPr lang="en-US" sz="3400" dirty="0"/>
          </a:p>
        </p:txBody>
      </p:sp>
      <p:pic>
        <p:nvPicPr>
          <p:cNvPr id="4" name="Image 0" descr="Todos os caminhos voltam à decisão docent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0155" y="1325880"/>
            <a:ext cx="8101209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Todos os caminhos voltam à decisão docente.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Atividade: ficha de avaliação e teste de bancada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9A4F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Definir a necessidade e os critérios eliminatórios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Ler termos de uso e política de privacidade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Rodar cinco casos de teste, sem dados pessoais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Pontuar cada critério de 0 a 2, com evidências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Decidir: adotar, com condições ou não adotar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Comunicar a decisão e o porquê à comunidade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E9A4F"/>
          </a:solidFill>
          <a:ln w="12700">
            <a:solidFill>
              <a:srgbClr val="6E9A4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 encontros de 90 min e 1 semana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Ficha preenchida, registro dos casos de teste e decisão fundamentada.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Ficha em papel, um computador e foco nos critérios de finalidade, dados e saída.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Atividade: plano de 90 dias e comunidade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9A4F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Partir de até três prioridades do diagnóstico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Definir ações, responsáveis, prazos e recursos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Escolher um indicador por objetivo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Listar riscos, salvaguardas e critério de interrupção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Combinar propósito e rotina da comunidade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Fazer o primeiro encontro e o balanço em 45 e 90 dias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E9A4F"/>
          </a:solidFill>
          <a:ln w="12700">
            <a:solidFill>
              <a:srgbClr val="6E9A4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 encontros de 90 min e 1 de 60 min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Plano de uma página, quadro de indicadores, combinados e ata do primeiro encontro.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Plano em papel; comunidade no horário de planejamento já existente.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 e verifique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Promessa de 'aprendizagem garantida' sem evidência independente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Indicador que vira meta e instrumento de vigilância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Painel que mede uso, e não aprendizagem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Comunidade que vira vitrine ou espaço de pressão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Adotar ou dispensar a ferramenta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Pode adotar, com condições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Atende finalidade, dados e controle docente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Testada com casos reais da escola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Permite exportar materiais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Custo total compensa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6E9A4F"/>
          </a:solidFill>
          <a:ln w="12700">
            <a:solidFill>
              <a:srgbClr val="6E9A4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Dispense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Exige dados de estudantes sem base legal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Não permite sair do serviço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Decide no lugar do professor, sem revisão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Não pode ser testada antes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6E9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vale a pena lembrar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9A4F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417320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Escolha por critérios, não por marcas ou promessas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89048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89048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9A4F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289048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Teste com casos reais, sem dados pessoais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160776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60776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9A4F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160776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Poucos indicadores, ligados a decisões, nunca como vigilância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4032504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4032504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9A4F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4032504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Meça aprendizagem sem apoio, equidade, risco e carga docente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4904232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904232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9A4F"/>
                </a:solidFill>
              </a:rPr>
              <a:t>✓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904232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Monitore em ciclos curtos e decida de forma explícita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5775960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5775960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9A4F"/>
                </a:solidFill>
              </a:rPr>
              <a:t>✓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5775960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Comunidade de prática exige propósito, regularidade e segurança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pensar na sua prática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critério eliminatório você definiria para uma ferramenta?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974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indicador da sua escola é fácil de medir, mas pouco informa?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93192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Quais três objetivos colocaria num plano de 90 dias?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44068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1663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Com quem formaria uma comunidade de prática, e com quais combinados?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32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Compromissos permanentes (1 a 4)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Aprendizagem primeiro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Tecnologia é meio: o que o estudante vai pensar e compreender?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6E9A4F"/>
          </a:solidFill>
          <a:ln w="12700">
            <a:solidFill>
              <a:srgbClr val="6E9A4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professor decide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A IA apoia, nunca assume a responsabilidade pedagógica.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Verifique sempre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Fluência não é correção: confira fonte, dado e raciocínio.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Proteja as pessoas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Dados exigem finalidade, cuidado e base legal.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32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Compromissos permanentes (5 a 8)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Pense na equidade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Quem ganha, quem fica de fora, quem paga o custo?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6E9A4F"/>
          </a:solidFill>
          <a:ln w="12700">
            <a:solidFill>
              <a:srgbClr val="6E9A4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Humildade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Evite promessas e proibições definitivas; ajuste ao aprender.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Mantenha alternativas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Ensine com e sem IA; ofereça caminhos a quem não quer.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Aprenda junto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Ninguém carrega sozinho uma tecnologia que muda todo mês.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32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percurso do livro</a:t>
            </a:r>
            <a:endParaRPr lang="en-US" sz="3400" dirty="0"/>
          </a:p>
        </p:txBody>
      </p:sp>
      <p:pic>
        <p:nvPicPr>
          <p:cNvPr id="4" name="Image 0" descr="Sete partes e quatro compromissos permanent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0155" y="1325880"/>
            <a:ext cx="8101209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Sete partes e quatro compromissos permanentes.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6E9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vale a pena lembrar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9A4F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41732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Para que isto? Para quem?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350008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350008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9A4F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3500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Com que evidência? Com que riscos?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282696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282696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9A4F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2826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Com que alternativa?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4215384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4215384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9A4F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421538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Quem decide? Quem fica de fora?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148072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5148072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9A4F"/>
                </a:solidFill>
              </a:rPr>
              <a:t>✓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514807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Quem cuida de quem cuida?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188720"/>
            <a:ext cx="10332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“Que a IA seja convidada com critério e que a sua voz continue a mais importante.”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B860"/>
                </a:solidFill>
              </a:rPr>
              <a:t>A educação é uma forma de intervenção no mundo.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32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6E9A4F">
              <a:alpha val="70000"/>
            </a:srgbClr>
          </a:solidFill>
          <a:ln w="12700">
            <a:solidFill>
              <a:srgbClr val="6E9A4F">
                <a:alpha val="70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voz de quem ensina continua a mais importante.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4B860"/>
                </a:solidFill>
              </a:rPr>
              <a:t>A docência é insubstituível.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5029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D9C8"/>
                </a:solidFill>
              </a:rPr>
              <a:t>Obrigado(a)!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 na Educação">
  <a:themeElements>
    <a:clrScheme name="IA na Educação">
      <a:dk1>
        <a:srgbClr val="3B2A2A"/>
      </a:dk1>
      <a:lt1>
        <a:srgbClr val="FFFFFF"/>
      </a:lt1>
      <a:dk2>
        <a:srgbClr val="5A2E2A"/>
      </a:dk2>
      <a:lt2>
        <a:srgbClr val="F7EFE6"/>
      </a:lt2>
      <a:accent1>
        <a:srgbClr val="D9653B"/>
      </a:accent1>
      <a:accent2>
        <a:srgbClr val="2A9D8F"/>
      </a:accent2>
      <a:accent3>
        <a:srgbClr val="E9A23B"/>
      </a:accent3>
      <a:accent4>
        <a:srgbClr val="6D3B6E"/>
      </a:accent4>
      <a:accent5>
        <a:srgbClr val="3D7EA6"/>
      </a:accent5>
      <a:accent6>
        <a:srgbClr val="6E9A4F"/>
      </a:accent6>
      <a:hlink>
        <a:srgbClr val="3D7EA6"/>
      </a:hlink>
      <a:folHlink>
        <a:srgbClr val="6D3B6E"/>
      </a:folHlink>
    </a:clrScheme>
    <a:fontScheme name="IA na Educaçã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32 — Ferramentas, indicadores, monitoramento e plano de ação: comunidades de prática</dc:title>
  <dc:subject>PptxGenJS Presentation</dc:subject>
  <dc:creator>Araken de Medeiros Santos</dc:creator>
  <cp:lastModifiedBy>Araken de Medeiros Santos</cp:lastModifiedBy>
  <cp:revision>1</cp:revision>
  <dcterms:created xsi:type="dcterms:W3CDTF">2026-10-26T23:33:47Z</dcterms:created>
  <dcterms:modified xsi:type="dcterms:W3CDTF">2026-10-26T23:33:47Z</dcterms:modified>
</cp:coreProperties>
</file>