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29. Apresente o tema e peça que a turma pense em uma situação do dia a dia relacionada.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os quatro eixos: privacidade, direitos autorais, autoria e integridade. Avise que o livro não substitui orientação jurídica e que normas mudam, então confirmar versões vigentes faz parte do hábito. Dois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 as três cenas da semana do professor Otávio: planilha da turma colada na IA, trabalho 'perfeito demais' e livro didático inteiro enviado à IA. Pergunte qual ideia cada uma toca: privacidade, integridade e direitos autorais. Dois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do capítulo: dados pessoais, termos de serviço, direitos autorais, autoria e declaração, integridade acadêmica, políticas e procedimentos. Um minuto.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Dado pessoal é toda informação sobre pessoa identificada ou identificável: nome, imagem, voz, notas, registros de conversa. Observações de comportamento, saúde ou deficiência são dados sensíveis, e os de crianças pedem cuidado adicional. A LGPD orienta com finalidade, necessidade, transparência e segurança. Sobre o ECA Digital, o livro usa fontes secundárias e não consultou o texto oficial: confirme.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Ao digitar em um serviço externo, o conteúdo sai do ambiente da escola e passa a seguir os termos do fornecedor: armazenamento, revisão por pessoas, reuso para melhorar o sistema, compartilhamento, processamento em outros países. Há demonstração de que modelos podem memorizar trechos do treinamento, o que reforça a cautela. Os termos mudam: registre a versão consultada.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usar uma ferramenta com dados da escola, procure estes pontos nos termos. Se não encontrar respostas claras, trate a ferramenta como não adequada para dados pessoais. Registre a data da consulta e prefira a versão institucional com contrato quando houver.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Semáforo de dados: verde para conteúdos sem dados pessoais; amarelo para dados anonimizados com cuidado e aprovação da instituição; vermelho para dados identificáveis, sensíveis ou de menores em ferramentas sem contrato. Peça exemplos reais para cada cor.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Retirar o nome nem sempre basta: série, turma, deficiência, bairro e um episódio específico podem identificar uma pessoa, principalmente em turmas pequenas. Teste do mural: se não colocaria o texto no mural da escola, não o cole em serviço externo. Use casos fictícios ou marcadores como Estudante 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Direitos autorais: a lei protege textos, imagens, músicas e materiais didáticos. Usar obra alheia exige, em regra, autorização, salvo limitações previstas, como citação de pequenos trechos com a fonte, interpretadas de forma restrita. Colar um livro inteiro na IA é reprodução e pode ser compartilhamento. Licenças abertas indicam o que se pode fazer e sob que condições. Não substitui orientação jurídica.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Pela lei brasileira, autor é a pessoa física criadora, o que sugere que sistemas não são autores. Em outros países, órgãos de registro exigem autoria humana. O debate sobre treinamento com obras protegidas segue sem consenso. Conclusão prática: não presuma que o que a IA entrega é livre de direitos. Peça exemplo cotidiano: a música no estilo de um artista conhecido.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 autor é responder pelo que foi escrito: exatidão, originalidade, fontes e consequências. Periódicos afirmam que a IA não pode ser listada como autora e que o uso deve ser declarado. Na escola, o estudante deve dizer o que fez sozinho, o que fez com apoio e como conferiu. A declaração é transparência, não confissão nem punição.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Modelo de declaração em poucas linhas: usei IA? Para quê? Qual sistema e quando? O que mantive, alterei ou rejeitei? Como conferi? Não inseri dados pessoais de terceiros nem materiais protegidos sem autorização, e sou responsável pelo conteúdo. Aceite declarações honestas sem punição quando o uso está dentro das regras.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Integridade acadêmica: a IA não inventou a desonestidade, mas facilitou textos plausíveis e dificultou distinguir autoria pelo produto. Quatro ideias: clareza antes da suspeita, avaliação do processo, tarefas significativas e cuidar das condições, pois pressão por notas e excesso de tarefas estimulam atalhos.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Testes independentes indicam que detectores não são confiáveis o bastante para sustentar acusações e erram de modo desigual contra quem escreve em segunda língua. Em caso de dúvida, converse: descreva o que observou sem acusar, peça que o estudante explique o trabalho e rascunhos, ofereça tarefa curta em sala e decida com várias evidências e o regimento, garantindo direito de explicação.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Síntese: quatro perguntas antes de usar: há dados pessoais? Há obras de terceiros? Quem responde pela autoria? O uso foi declarado? A resposta leva a usar, adaptar ou dispensar. Peça que a turma aplique à planilha do Otávio.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Pausa para a frase. Pergunte como a escola pode transformar a declaração de uso em oportunidade de ensinar, e não de punir.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1, dois encontros de 60 a 90 minutos. Doze cartões fictícios para classificar em pode, com cuidado ou não inserir; reescrita de dois cartões com marcadores; ficha de avaliação de ferramenta lida nos termos reais, com data de consulta. Consolide a regra de três categorias e envie ao encarregado de dados. Sem dados reais.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2: uma aula para construir a política por tarefa com a turma e 20 minutos por conversa quando necessária. Três colunas: permitido sem declaração, com declaração e não permitido. Treine a conversa formativa com casos fictícios. Registros de conversas ficam em local restrito.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Pare e verifique. Percorra os riscos: vazamento ou reutilização, reidentificação, violação de direitos, autoria difusa e acusações injustas. Lembre que o punitivismo faz os estudantes esconderem o uso, e que termos de serviço mudam sem aviso.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dispensar a IA: tarefa com dados pessoais ou sensíveis, materiais protegidos que não podem ser compartilhados, pareceres com consequência sem revisão humana, termos que não podem ser verificados e atividades em que o objetivo é a autoria própria. Nesses casos, use produção em sala, defesas orais e portfólio de rascunhos.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com as ideias principais. Reforce que normas mudam e que a escola deve consultar o encarregado de dados ou a assessoria jurídica.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minutos de reflexão individual e depois compartilhamento voluntário. Incentive a identificar uma ação concreta: uma regra, uma ficha ou uma conversa.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Convide a turma a escolher uma ideia para experimentar nesta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D95D7F">
              <a:alpha val="75000"/>
            </a:srgbClr>
          </a:solidFill>
          <a:ln w="12700">
            <a:solidFill>
              <a:srgbClr val="D95D7F">
                <a:alpha val="7500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692640" y="3840480"/>
            <a:ext cx="3840480" cy="3840480"/>
          </a:xfrm>
          <a:prstGeom prst="ellipse">
            <a:avLst/>
          </a:prstGeom>
          <a:solidFill>
            <a:srgbClr val="E9A23B">
              <a:alpha val="65000"/>
            </a:srgbClr>
          </a:solidFill>
          <a:ln w="12700">
            <a:solidFill>
              <a:srgbClr val="E9A23B">
                <a:alpha val="65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188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4B860"/>
                </a:solidFill>
              </a:rPr>
              <a:t>CAPÍTULO 29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737360"/>
            <a:ext cx="8412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Privacidade, direitos autorais, autoria e integridade acadêmica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297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7EFE6"/>
                </a:solidFill>
              </a:rPr>
              <a:t>Parte VI — Oportunidades, benefícios, riscos e governança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D9C8"/>
                </a:solidFill>
              </a:rPr>
              <a:t>Inteligência Artificial Aplicada à Educação · Araken de Medeiros Santos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vamos aprender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1520" y="1645920"/>
            <a:ext cx="548640" cy="548640"/>
          </a:xfrm>
          <a:prstGeom prst="ellipse">
            <a:avLst/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463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Identificar dados pessoais e aplicar princípios da LGPD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4688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651760"/>
            <a:ext cx="548640" cy="548640"/>
          </a:xfrm>
          <a:prstGeom prst="ellipse">
            <a:avLst/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651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554480" y="24688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Ler com senso crítico os termos de serviço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4747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34747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Distinguir usos de obras de terceiros aceitáveis e não aceitáveis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44805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4663440"/>
            <a:ext cx="548640" cy="548640"/>
          </a:xfrm>
          <a:prstGeom prst="ellipse">
            <a:avLst/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44805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Explicar por que a IA não é autora e como declarar o uso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548640" y="548640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1520" y="5669280"/>
            <a:ext cx="548640" cy="548640"/>
          </a:xfrm>
          <a:prstGeom prst="ellipse">
            <a:avLst/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5669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554480" y="548640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Planejar política de integridade justa e clara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29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95D7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22960" y="914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FFFFF"/>
                </a:solidFill>
              </a:rPr>
              <a:t>PENSE UM POUCO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645920"/>
            <a:ext cx="10515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pode, o que se evita e o que se declara quando dados e trabalhos passam pela IA?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3E6"/>
                </a:solidFill>
              </a:rPr>
              <a:t>Três situações fictícias na mesma semana.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29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do capítulo</a:t>
            </a:r>
            <a:endParaRPr lang="en-US" sz="3400" dirty="0"/>
          </a:p>
        </p:txBody>
      </p:sp>
      <p:pic>
        <p:nvPicPr>
          <p:cNvPr id="4" name="Image 0" descr="Mapa dos conceitos principais do capítulo 29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30290" y="1325880"/>
            <a:ext cx="6300940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Mapa dos conceitos principais do capítulo 29.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29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Princípios que orientam a decisão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Finalidade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Para que, exatamente, o dado será usado?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Necessidade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Usar o mínimo indispensável de dados.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Transparência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Estudantes e famílias sabem o que é tratado e por quê.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Segurança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Proteção contra acesso indevido e vazamento.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29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acontece com o que você digita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5D7F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O texto sai da escola e passa a ser tratado conforme os termos e a política de privacidade do fornecedor.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entregar a chave de casa a um desconhecido: você não controla quem entra depois.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“Sem resposta clara, a ferramenta não serve para dados pessoais.”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29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Ler os termos antes de usar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243584" y="1600200"/>
            <a:ext cx="640080" cy="640080"/>
          </a:xfrm>
          <a:prstGeom prst="ellipse">
            <a:avLst/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243584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Entradas são guardadas? Por quanto tempo?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5D7F"/>
                </a:solidFill>
              </a:rPr>
              <a:t>›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2807208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02152" y="1600200"/>
            <a:ext cx="640080" cy="640080"/>
          </a:xfrm>
          <a:prstGeom prst="ellipse">
            <a:avLst/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02152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944368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Treinam modelos? Dá para desativar?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818888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5D7F"/>
                </a:solidFill>
              </a:rPr>
              <a:t>›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5065776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760720" y="1600200"/>
            <a:ext cx="640080" cy="640080"/>
          </a:xfrm>
          <a:prstGeom prst="ellipse">
            <a:avLst/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76072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202936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Há versão institucional com contrato?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077456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5D7F"/>
                </a:solidFill>
              </a:rPr>
              <a:t>›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7324344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019288" y="1600200"/>
            <a:ext cx="640080" cy="640080"/>
          </a:xfrm>
          <a:prstGeom prst="ellipse">
            <a:avLst/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19288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461504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Idade mínima e consentimento?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336024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5D7F"/>
                </a:solidFill>
              </a:rPr>
              <a:t>›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9582912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277856" y="1600200"/>
            <a:ext cx="640080" cy="640080"/>
          </a:xfrm>
          <a:prstGeom prst="ellipse">
            <a:avLst/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277856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9720072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Como excluir dados e contas?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2E2A"/>
                </a:solidFill>
              </a:rPr>
              <a:t>Sem resposta clara, não use com dados pessoais.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29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de dados</a:t>
            </a:r>
            <a:endParaRPr lang="en-US" sz="3400" dirty="0"/>
          </a:p>
        </p:txBody>
      </p:sp>
      <p:pic>
        <p:nvPicPr>
          <p:cNvPr id="4" name="Image 0" descr="Verde, amarelo e vermelho para uso com I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9750" y="1325880"/>
            <a:ext cx="7862021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Verde, amarelo e vermelho para uso com IA.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29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Anonimizar é mais difícil do que parece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5D7F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Combinações de série, turma, bairro ou episódio podem identificar alguém mesmo sem o nome.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o mural da escola: se não colocaria ali, não cole em um serviço externo.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“Na dúvida, use caso fictício.”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Obras de terceiros: o que fazer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geral, mais seguro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Textos próprios ou criados por você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Domínio público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Licença aberta, com crédito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Citação de pequenos trechos com a fonte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Exige autorização ou licença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Livro ou artigo inteiro em ferramenta de IA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Material de colega, sem permissão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Imagem ou voz de pessoas reais, sem base adequada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Imitar artista identificável para uso público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Criações feitas com IA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5D7F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O resultado da IA não é, por presunção, livre de direitos: confira a originalidade e cite as fontes que conhece.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uma receita copiada de um livro: mudar o nome do prato não a torna sua.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“Não presuma que é livre de direitos.”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29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Autoria é responder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5D7F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Quem assina responde por exatidão, originalidade, fontes e consequências; por isso o uso da IA deve ser declarado.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assinar um contrato: quem assina responde, mesmo que outra pessoa tenha redigido o rascunho.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“IA não é autora. Quem assina responde.”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29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Declaração de uso em cinco passos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243584" y="1600200"/>
            <a:ext cx="640080" cy="640080"/>
          </a:xfrm>
          <a:prstGeom prst="ellipse">
            <a:avLst/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243584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Usei IA? Para quê?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5D7F"/>
                </a:solidFill>
              </a:rPr>
              <a:t>›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2807208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02152" y="1600200"/>
            <a:ext cx="640080" cy="640080"/>
          </a:xfrm>
          <a:prstGeom prst="ellipse">
            <a:avLst/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02152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944368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Qual sistema e quando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818888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5D7F"/>
                </a:solidFill>
              </a:rPr>
              <a:t>›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5065776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760720" y="1600200"/>
            <a:ext cx="640080" cy="640080"/>
          </a:xfrm>
          <a:prstGeom prst="ellipse">
            <a:avLst/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76072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202936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O que mantive, alterei ou rejeitei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077456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5D7F"/>
                </a:solidFill>
              </a:rPr>
              <a:t>›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7324344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019288" y="1600200"/>
            <a:ext cx="640080" cy="640080"/>
          </a:xfrm>
          <a:prstGeom prst="ellipse">
            <a:avLst/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19288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461504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Como conferi as informações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336024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5D7F"/>
                </a:solidFill>
              </a:rPr>
              <a:t>›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9582912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277856" y="1600200"/>
            <a:ext cx="640080" cy="640080"/>
          </a:xfrm>
          <a:prstGeom prst="ellipse">
            <a:avLst/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277856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9720072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Sem dados de terceiros; eu respondo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2E2A"/>
                </a:solidFill>
              </a:rPr>
              <a:t>Declarar é transparência, não confissão.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29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Integridade sem caça às bruxas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Clareza antes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Por tarefa: o que é permitido, o que se declara e o que é proibido.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Avaliar o processo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Rascunhos, versões, produção em sala e defesas orais.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Tarefas com sentido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Ligadas ao contexto e a fontes específicas, menos terceirizáveis.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Reduzir a pressão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Excesso de tarefas e de cobrança estimula atalhos.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29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Dúvida sobre autoria: o que fazer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Evite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Acusar com base num detector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Presumir culpa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Punir antes de ouvir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Ignorar quem tem menos orientação em casa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Prefira a conversa formativa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Descrever o que observou, sem acusar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Pedir que o estudante explique o trabalho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Ver rascunhos e anotações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Decidir com várias evidências e o regimento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29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Síntese: quatro perguntas antes de usar</a:t>
            </a:r>
            <a:endParaRPr lang="en-US" sz="3400" dirty="0"/>
          </a:p>
        </p:txBody>
      </p:sp>
      <p:pic>
        <p:nvPicPr>
          <p:cNvPr id="4" name="Image 0" descr="Dados, direitos, autoria e declaraçã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8286" y="1325880"/>
            <a:ext cx="8824948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Dados, direitos, autoria e declaração.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29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914400" y="1188720"/>
            <a:ext cx="103327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“Declarar o uso é aprender a explicar o próprio caminho.”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521208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4B860"/>
                </a:solidFill>
              </a:rPr>
              <a:t>Transparência é prática de ensino.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29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Atividade: auditoria de dados e ficha de ferramenta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5D7F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Classificar 12 cartões: pode, com cuidado, não inserir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Indicar o princípio envolvido em cada um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Reescrever dois pedidos sem dados pessoais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Preencher a ficha com os termos de uma ferramenta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Decidir: adequada, com aprovação ou não adequada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Consolidar a regra de três categorias da escola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 encontros de 60 a 90 minutos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Classificação, pedidos reescritos, ficha de ferramenta e regra de três categorias.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Cartões de papel, termos impressos e reescrita à mão, sem IA.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29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Atividade: política de transparência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5D7F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Montar três colunas para uma tarefa real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Justificar cada coluna pelo objetivo de aprendizagem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Combinar a política com a turma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Incluir a declaração de uso em cada entrega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Fazer a conversa formativa diante de dúvida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Revisar a política no fim do bimestre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1 aula e 20 min por conversa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Política por tarefa, declarações preenchidas e registros de conversas formativas.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Política no quadro, declaração à mão e conversa sem tecnologia.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 e verifique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Dados inseridos podem ser guardados ou reutilizados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Dado anonimizado de modo insuficiente reidentifica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Acusação baseada em detector pode ser injusta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Punir demais faz o uso ser escondido em vez de ensinado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29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usar e quando dispensar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Pode usar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Conteúdo sem dados pessoais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Material próprio ou de licença aberta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Ferramenta com termos verificados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Uso declarado com clareza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Dispense a IA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Dados pessoais ou sensíveis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Materiais protegidos sem licença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Pareceres sem revisão humana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Objetivo é a autoria própria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29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95D7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vale a pena lembrar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17320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5D7F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417320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Dados pessoais não vão a ferramentas externas sem base e garantias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289048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289048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5D7F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2289048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Anonimizar é difícil: use casos fictícios e leia os termos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160776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160776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5D7F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3160776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Direitos autorais continuam valendo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4032504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4032504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5D7F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4032504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IA não é autora: quem assina declara e responde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4904232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904232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5D7F"/>
                </a:solidFill>
              </a:rPr>
              <a:t>✓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4904232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Integridade combina clareza, processo e procedimento justo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5775960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5775960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5D7F"/>
                </a:solidFill>
              </a:rPr>
              <a:t>✓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5775960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Normas mudam: confirme as versões vigentes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29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pensar na sua prática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373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informações de estudantes você já inseriu e o que mudaria hoje?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6974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718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9748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Como verifica a licença dos materiais que usa nas aulas?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9319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20624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93192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A declaração de uso da sua escola é clara e justa?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44068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16636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evidências, além de um detector, usaria diante de dúvida sobre autoria?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29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D95D7F">
              <a:alpha val="70000"/>
            </a:srgbClr>
          </a:solidFill>
          <a:ln w="12700">
            <a:solidFill>
              <a:srgbClr val="D95D7F">
                <a:alpha val="70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Transparência é prática de ensino, não só de controle.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41148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4B860"/>
                </a:solidFill>
              </a:rPr>
              <a:t>A docência é insubstituível.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5029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D9C8"/>
                </a:solidFill>
              </a:rPr>
              <a:t>Obrigado(a)!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 na Educação">
  <a:themeElements>
    <a:clrScheme name="IA na Educação">
      <a:dk1>
        <a:srgbClr val="3B2A2A"/>
      </a:dk1>
      <a:lt1>
        <a:srgbClr val="FFFFFF"/>
      </a:lt1>
      <a:dk2>
        <a:srgbClr val="5A2E2A"/>
      </a:dk2>
      <a:lt2>
        <a:srgbClr val="F7EFE6"/>
      </a:lt2>
      <a:accent1>
        <a:srgbClr val="D9653B"/>
      </a:accent1>
      <a:accent2>
        <a:srgbClr val="2A9D8F"/>
      </a:accent2>
      <a:accent3>
        <a:srgbClr val="E9A23B"/>
      </a:accent3>
      <a:accent4>
        <a:srgbClr val="6D3B6E"/>
      </a:accent4>
      <a:accent5>
        <a:srgbClr val="3D7EA6"/>
      </a:accent5>
      <a:accent6>
        <a:srgbClr val="6E9A4F"/>
      </a:accent6>
      <a:hlink>
        <a:srgbClr val="3D7EA6"/>
      </a:hlink>
      <a:folHlink>
        <a:srgbClr val="6D3B6E"/>
      </a:folHlink>
    </a:clrScheme>
    <a:fontScheme name="IA na Educaçã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Capítulo 29 — Privacidade, direitos autorais, autoria e integridade acadêmica</dc:title>
  <dc:subject>PptxGenJS Presentation</dc:subject>
  <dc:creator>Araken de Medeiros Santos</dc:creator>
  <cp:lastModifiedBy>Araken de Medeiros Santos</cp:lastModifiedBy>
  <cp:revision>1</cp:revision>
  <dcterms:created xsi:type="dcterms:W3CDTF">2026-10-26T18:55:02Z</dcterms:created>
  <dcterms:modified xsi:type="dcterms:W3CDTF">2026-10-26T18:55:02Z</dcterms:modified>
</cp:coreProperties>
</file>