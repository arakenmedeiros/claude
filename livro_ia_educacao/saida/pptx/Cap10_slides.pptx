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10.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 diga que o capítulo entrega ferramentas práticas: critérios, fluxograma, perfis de risco e planos A, B e C.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fictícia: três colegas discutem resumos de Biologia. Ivo diz que a IA resolve; Tânia quer proibição total; Nina pergunta qual é o objetivo. Os três têm razão em parte. Peça que a turma diga com quem concorda.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de Nina muda o debate: o objetivo é treinar a síntese? Então o resumo pronto tira o treino. Mas para preparar um modelo de comparação, a IA ajuda o professor. Analogia da calculadora na aula de tabuada.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capítulo: critérios, quando acrescenta valor, quando prejudica, fluxograma, perfis de risco e planos alternativos. Use para dar a visão geral.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seis critérios são proposta do autor, para adaptar ao seu contexto. Apresente três primeiros: objetivo (apoia ou substitui o esforço?), evidências (para essa etapa e tarefa?) e condições (idade, acesso, tempo, formação).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outros três critérios: riscos, alternativas e custos. Pergunte: quem arca com o tempo de verificar? Se verificar custa mais do que fazer do zero, a IA não compensa.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Sugira escrever os seis critérios em um cartão de bolso para as reuniões. A conversa fica objetiva e menos polarizada. Analogia da lista de compras. Peça que a turma proponha um sétimo critério do seu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lados da balança. Os usos que acrescentam valor aparecem em capítulos anteriores. Peça um exemplo real para cada lado. Lembre que os efeitos dependem de desenho e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Estudos citados no capítulo, ilustrativos e não exaustivos. O de 319 profissionais é autorrelato com trabalhadores do conhecimento: não permite causalidade nem generalizar para estudantes. A lição: depende do desenho, da população e da tarefa.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Descarregamento cognitivo: usamos recursos externos para reduzir a demanda sobre a mente. Pode ser útil, mas pode afetar o que aprendemos e lembramos. Analogia da agenda de telefones. Pergunte quantos números de telefone a turma sabe de cor.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Fluxograma de cinco perguntas. É apoio ao julgamento, não algoritmo. Percorra com a turma usando o exemplo do resumo de Biologia. Se uma norma proíbe ou condiciona o uso, ela prevalece.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as cinco perguntas do fluxograma. Cada uma pode fazer a tarefa sair do caminho: definir antes, dispensar, anonimizar, adiar ou usar só na preparação. Treine com uma tarefa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fluxograma não substitui normas. Se há norma que proíbe ou condiciona, ela prevalece. Se não há norma, procure orientação institucional antes de decidir sobre usos com estudantes. Falsa precisão é um risco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Semáforo de risco, proposta do autor. Verde: professor prepara exemplos sem dados pessoais e revisa. Amarelo: estudantes em atividades mediadas, com registro e alternativa. Vermelho: notas por IA, perfis, dados sensíveis e vigilância.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Detalhe as condições mínimas de cada perfil. No risco alto, em geral evitar; se indispensável, base legal, avaliação de impacto, supervisão humana efetiva, transparência e possibilidade de contestação. Peça exemplos da escola.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para fixar a ideia central. Pergunte: em que situação recente dispensar teria sido melhor? Tempo: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Plano A, B e C. A com IA em condições adequadas; B com poucos recursos, com IA só na preparação ou recursos offline; C sem IA, atingindo o mesmo objetivo. Explique os ganhos: equidade, resiliência, autonomia e clareza.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analogia do ônibus está no capítulo: saber o que fazer se a estrada estiver fechada. O destino é o objetivo e não pode depender de um único caminho. Pergunte: o que você faz quando a internet cai?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para equipe pedagógica ou individual: 60 a 90 minutos. Use tarefas reais do seu planejamento, sem nomes de estudantes. Ao final, cada pessoa lê uma decisão difícil e a justificativa em duas linhas.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Retome a balança: valor pedagógico, acesso e tempo do professor de um lado; riscos, custos e dependência do outro. Na base, a mão do professor com objetivo, evidência e alternativas.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do próprio processo de decidir. A matriz pode virar formulário obrigatório e aumentar a carga docente; use como apoio, não controle. Há também pressões externas por adoção: a decisão coletiva ajuda a resistir a modismos.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situações em que dispensar é a melhor decisão. Peça que a turma dê um exemplo para cada uma. A alternativa sem IA já faz parte do plano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Rodada rápida: cada pessoa escolhe a ideia que levará para a próxima reunião de planejamento. Retome a cena de Ivo, Tânia e Nina.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3 minutos para anotar e 3 para trocar em duplas. Peça que alguém compartilhe um caso em que o plano C seria o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2A9D8F">
              <a:alpha val="75000"/>
            </a:srgbClr>
          </a:solidFill>
          <a:ln w="12700">
            <a:solidFill>
              <a:srgbClr val="2A9D8F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10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IA acrescenta valor e quando prejudica: decidir e planejar com alternativas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II — Fundamentos pedagógicos e planejamento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Aplicar critérios para saber se a IA acrescenta valor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Reconhecer quando ela pode prejudicar aprendizagem e equidade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Usar um fluxograma: usar, adaptar ou dispensar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Classificar usos por perfil de risco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versões alternativas e justificar por escrito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PENSE UM POUCO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vez de "pode ou não pode usar IA?", qual é a pergunta certa?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três colegas, três decisões para o mesmo resumo.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incompleta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"Pode usar IA?" não basta. Pergunte: qual o objetivo, o que o estudante fará, qual o risco e qual a alternativa.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usar a calculadora na aula de tabuada: ajuda em muitas tarefas, mas tira justamente o treino que se queria.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objetivo decide; a moda não.”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10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10.1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critérios, parte 1: objetivo, evidência, condições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Objetivo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 IA apoia o que o estudante precisa aprender ou substitui o esforço que ele exige?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Evidências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Há indícios para essa etapa, conteúdo e tarefa? Ou estamos extrapolando?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Condições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Idade, equipamentos, conectividade, tempo, formação e apoio disponíveis.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critérios, parte 2: riscos, alternativas, custos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Riscos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Privacidade, vieses, erros, dependência, integridade, equidade e segurança.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Alternativas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Há forma mais simples, barata ou segura? E se a ferramenta falhar?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Custos e carga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tempo de preparar, verificar e corrigir é menor que o ganho? Quem arca com ele?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cartão dos seis critérios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Leve os critérios escritos a reuniões de planejamento. Eles tiram a conversa do "sim ou não" e a levam a objetivo, risco e alternativa.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uma lista de compras: sem ela, a gente volta com o que estava na promoção, não com o que precisava.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“Critério primeiro, ferramenta depois.”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acrescenta valor, quando prejudica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Tende a acrescentar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Amplia o acesso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Reduz trabalho repetitivo do professor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Atua como andaime, com dicas graduais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Dá retorno oportuno com critérios claros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Tende a prejudicar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Elimina o esforço produtivo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Entrega informação não verificada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Expõe dados pessoais ou sensíveis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Aumenta a carga de trabalho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pesquisa: o efeito depende do contexto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salvaguardas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Ensino médio com assistente sem salvaguardas: pior desempenho posterior em Matemática.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desenho pedagógico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Universitários aprenderam mais em menos tempo com tutor de IA bem desenhado, em conteúdo específico.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Preguiça metacognitiva?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Em escrita, o texto melhorou sem ganho significativo de conhecimento e transferência.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Autorrelato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Estudo com 319 profissionais: não prova causa nem vale para estudantes.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Descarregamento cognitivo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Usar recursos externos para reduzir a demanda sobre a mente. Pode ser útil, mas pode afetar o que aprendemos e lembramos.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guardar telefones só na agenda do celular: facilita o dia, mas você deixa de lembrar os números.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“Aliviar a mente também tem preço.”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Fluxograma: usar, adaptar ou dispensar</a:t>
            </a:r>
            <a:endParaRPr lang="en-US" sz="3400" dirty="0"/>
          </a:p>
        </p:txBody>
      </p:sp>
      <p:pic>
        <p:nvPicPr>
          <p:cNvPr id="4" name="Image 0" descr="Figura 10.2 — Proposta do autor; não substitui normas da escola, da rede e da lei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3438" y="1325880"/>
            <a:ext cx="5014644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10.2 — Proposta do autor; não substitui normas da escola, da rede e da lei.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cinco perguntas do fluxograma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objetivo está claro?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estudante precisa fazer o esforço sozinho?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Há dados pessoais ou decisões sobre pessoas?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Consigo verificar? Há alternativa?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Idade, normas e condições permitem?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Cada resposta "não" é um motivo para dispensar ou adaptar.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verifique: o fluxograma tem limites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Não substitui as normas da escola, da rede e da lei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Sem norma, procure orientação institucional antes de usar com estudantes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É simplificação: contextos reais têm nuances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Decisões devem poder ser revistas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Perfis de risco como semáforo</a:t>
            </a:r>
            <a:endParaRPr lang="en-US" sz="3400" dirty="0"/>
          </a:p>
        </p:txBody>
      </p:sp>
      <p:pic>
        <p:nvPicPr>
          <p:cNvPr id="4" name="Image 0" descr="Figura 10.3 — Proposta do autor para orientar convers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9750" y="1325880"/>
            <a:ext cx="786202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10.3 — Proposta do autor para orientar conversas.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Condições mínimas por perfil de risco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risco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Professor pede exemplos sem dados pessoais. Revisa tudo, registra e tem alternativa.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moderado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Estudantes em atividade mediada, com objetivo claro, registro, alternativa sem IA e famílias informadas.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alto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Notas por IA, perfis, dados de saúde, vigilância. Em geral, evitar.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“Dispensar a IA é uma decisão profissional legítima.”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Justifique, não apenas assuma.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A, B e C</a:t>
            </a:r>
            <a:endParaRPr lang="en-US" sz="3400" dirty="0"/>
          </a:p>
        </p:txBody>
      </p:sp>
      <p:pic>
        <p:nvPicPr>
          <p:cNvPr id="4" name="Image 0" descr="Figura 10.4 — Três versões de uma mesma atividad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408599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10.4 — Três versões de uma mesma atividade.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ter três planos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versões com IA, com poucos recursos e sem IA garante equidade, resiliência, autonomia e clareza sobre o objetivo.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viagem de ônibus com estrada fechada: o destino é o mesmo, e é prudente ter outro caminho.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destino não depende de um único caminho.”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matriz usar, adaptar ou dispensar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Liste cinco tarefas que planejou para as próximas semanas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Para cada uma: objetivo, o que a IA acrescenta, o que pode prejudicar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Percorra o fluxograma e registre onde cada tarefa "sai"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Classifique o perfil de risco: menor, moderado ou alto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Escreva planos A, B e C para ao menos duas tarefas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Justifique cada decisão em duas linhas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60 min (individual) ou 90 min (equipe)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Matriz com cinco tarefas, decisões justificadas, risco e planos A, B e C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Folha dobrada em três colunas (usar, adaptar, dispensar) e post-its.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valor, risco e alternativas</a:t>
            </a:r>
            <a:endParaRPr lang="en-US" sz="3400" dirty="0"/>
          </a:p>
        </p:txBody>
      </p:sp>
      <p:pic>
        <p:nvPicPr>
          <p:cNvPr id="4" name="Image 0" descr="Figura 10.5 — Balança em equilíbrio, com a mão do professor na bas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6585" y="1325880"/>
            <a:ext cx="806835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10.5 — Balança em equilíbrio, com a mão do professor na base.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verifique: riscos ao decidir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Burocratização: a matriz é apoio, não controle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Evidências incompletas: registre e avalie após a prática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Pressões externas: decisões coletivas resistem a modismos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Rigidez: decisões precisam poder ser revistas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situações para dispensar a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Esforço do estudante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Ele precisa fazer sozinho o que a ferramenta faria.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e pessoas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Há dados pessoais ou decisões com consequências sobre pessoas.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verificação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Você não consegue verificar o resultado.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 opção simples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Existe alternativa mais simples e igualmente eficaz.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"Pode usar IA?" é pergunta incompleta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0980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0980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0980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Seis critérios: objetivo, evidências, condições, riscos, alternativas, custos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0228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00228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00228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Os efeitos dependem de desenho, população e tarefa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9476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Fluxograma e semáforo apoiam o julgamento, não o substituem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58724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8724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58724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Planeje A (com IA), B (poucos recursos) e C (sem IA)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3797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3797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3797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Dispensar exige justificativa, não vergonha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tarefas suas são de menor, moderado e alto risco, e por quê?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Em quais atividades o plano C (sem IA) seria o melhor plano?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a sua escola decide sobre novas tecnologias?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pressões já sentiu para adotar ou rejeitar tecnologias?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2A9D8F">
              <a:alpha val="70000"/>
            </a:srgbClr>
          </a:solidFill>
          <a:ln w="12700">
            <a:solidFill>
              <a:srgbClr val="2A9D8F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Dispensar também é uma decisão profissional.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10 — Quando a IA acrescenta valor e quando prejudica: decidir e planejar com alternativas</dc:title>
  <dc:subject>PptxGenJS Presentation</dc:subject>
  <dc:creator>Araken de Medeiros Santos</dc:creator>
  <cp:lastModifiedBy>Araken de Medeiros Santos</cp:lastModifiedBy>
  <cp:revision>1</cp:revision>
  <dcterms:created xsi:type="dcterms:W3CDTF">2026-10-26T23:34:34Z</dcterms:created>
  <dcterms:modified xsi:type="dcterms:W3CDTF">2026-10-26T23:34:34Z</dcterms:modified>
</cp:coreProperties>
</file>