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5.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objetivos. Este capítulo fecha a Parte I e responde à angústia de substituição. Avise que o direito de não usar IA faz parte do conteúdo.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fictícia: Jonas viu a IA explicar equação do segundo grau melhor do que ele. Alice responde: ela sabe quem é o Pedro, que desistiu? Sabe que a Camila tem vergonha de perguntar? Pergunte à turma de que lado se sente.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mapa como roteiro: o que é letramento em IA, quatro movimentos, letramento docente, de estudantes, o que a IA apoia e o que permanece humano.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Letramento é compreender e usar um sistema simbólico ou cultural de modo crítico e autônomo. Aprendemos a ler para participar da vida social, não só para decodificar letras. Letramento em IA segue a mesma ideia. Peça que a turma pense em quem é letrado em outra tecnologia.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verbos: compreender, utilizar, avaliar e participar criticamente. É uma formulação do livro, inspirada na literatura. Mostre que eles funcionam como roteiro de perguntas diante de qualquer ferramenta nova.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verbos viram perguntas práticas. Faça um exercício rápido: escolha uma ferramenta que a turma conhece e responda às quatro perguntas em voz alta.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Revisões sugerem que o conteúdo do letramento varia por etapa: básica com conhecimentos básicos, uso e ética; superior com dados, algoritmos e resolução de problemas. Muitos estudos focam o operacional e dão pouca atenção a consequências indesejadas. Ressalve: definições ainda em disputa e faltam estudos de longo prazo.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 professor, letramento não é só dominar ferramenta: é integrar a IA, ou decidir não integrar, ao conhecimento profissional que já tem. O TPACK soma tecnologia ao conhecimento de conteúdo e de pedagogia. A UNESCO publicou um quadro de competências em 2024: é recomendação, não obrigação legal.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escada é uma proposta do autor, não validada nem norma. Cinco degraus: consciente, compreende, experimenta com segurança, planeja e avalia, lidera e forma. A nota lembra que escolher não usar IA pode ocorrer em qualquer degrau. Peça que cada um se localize.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esquerda, o que pode receber apoio com verificação: rascunhos, exemplos, variações de exercícios. À direita, o que permanece com o professor: conhecer os estudantes, vínculo, decisões pedagógicas e éticas, avaliar com justiça. Separe tarefas de funções profissionais.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meta-análise associou relações afetivas professor-estudante a engajamento e desempenho. Isso não prova que só humanos ensinam, mas mostra que o vínculo é dimensão central. Freire: ensinar não é transferir conhecimento. Peça um exemplo de vínculo que mudou a aprendizagem de alguém.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Autonomia: a capacidade de decidir com responsabilidade sobre o próprio trabalho. A IA pode ampliá-la, se você decide como e quando usar, ou reduzi-la, se a tecnologia dita ritmos, conteúdos e avaliações. Pergunte à turma que sinais mostram qual dos dois lados está acontecendo na escola.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para a frase de impacto. Duas afirmações a olhar com cuidado: a IA vai acabar com a docência e a IA não vai mudar nada. Nenhuma tem base empírica sólida. Peça que a turma reflita sobre uma terceira posição.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Letramento não é adesão obrigatória. Todas essas opções são legítimas quando fundamentadas. O que se deve evitar é decidir por desconhecimento, pressão, medo ou moda. Pergunte qual opção cabe hoje na realidade da turma.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Autoavaliação individual ou em grupo de estudo. Nesta atividade o próprio professor é aprendiz. As notas precisam de evidências. Incentive o plano de três ações realistas e uma frase sobre o que você não fará agora. Combine o acompanhamento em 30 dias. De 45 a 90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do letramento: reduzi-lo a saber usar, transformar quadros de competência em lista burocrática, desigualdade de oportunidades de formação, culpabilizar o professor por falta de política e infraestrutura. Use quadros como orientação, não como controle.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desenvolver o hábito de pensar sem apoio imediato, organize a atividade sem IA e discuta depois o papel dela. Letramento em IA não exige computador: atividades desplugadas e conversas guiadas com casos funcionam. Peça um caso que a turma levaria para a sala.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letramento em IA, juízo profissional e vínculo humano sustentam a decisão pedagógica fundamentada. Peça que cada pessoa diga qual coluna está mais forte em sua prática.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itens e peça que a turma diga qual pretende contar a um colega. Volte a Jonas e Alice: o que a turma diria a cada um?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perguntas para duplas, 5 minutos. A última costuma gerar boas respostas sobre sobrecarga: anote as condições mencionadas.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D9653B">
              <a:alpha val="75000"/>
            </a:srgbClr>
          </a:solidFill>
          <a:ln w="12700">
            <a:solidFill>
              <a:srgbClr val="D9653B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5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Letramento em IA e o papel insubstituível do professor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 — Fundamentos para compreender e decidir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Definir letramento em IA e seus quatro movimentos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Distinguir o letramento de professores e de estudantes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Separar o que a IA pode apoiar do que fica com o professor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Reconhecer vínculo, julgamento e autonomia docente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Autoavaliar-se e planejar um primeiro passo de aprendizagem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6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NA SALA DOS PROFESSORES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 IA explica tão bem, o que continua sendo insubstituível no seu trabalho?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o que a IA sabe sobre Pedro, que desistiu da matéria, e Camila, que tem vergonha de perguntar?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5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5.1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letramento em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Conhecimentos, habilidades e atitudes para compreender, avaliar e usar IA de modo crítico, e participar das decisões sobre seus usos.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aprender a ler: não é só decodificar letras, é poder participar da vida social.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“Saber usar não é o mesmo que ser letrado.”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movimentos do letramento em IA</a:t>
            </a:r>
            <a:endParaRPr lang="en-US" sz="3400" dirty="0"/>
          </a:p>
        </p:txBody>
      </p:sp>
      <p:pic>
        <p:nvPicPr>
          <p:cNvPr id="4" name="Image 0" descr="Formulação do livro, inspirada em Long e Magerko (2020) e Ng et al. (2021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82160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Formulação do livro, inspirada em Long e Magerko (2020) e Ng et al. (2021).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perguntas para qualquer ferramenta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Compreender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que isso faz e quais são os seus limites?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Utilizar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Para quê, como e com que cuidados?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Está certo, é justo, é adequado?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Participar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Quem decidiu isso e eu posso opinar?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Muitas definições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Frameworks ainda em disputa e pouca avaliação de resultados.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Convergência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Vai além do uso técnico: compreensão, crítica, ética, participação.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Foco operacional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Pouca atenção a dimensões socioculturais e críticas.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Ainda não se afirma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Que um currículo dê resultados duradouros e transferíveis.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Letramento docente: integrar ao que já se sabe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Ligar a IA, ou decidir não ligar, ao conhecimento de conteúdo, pedagogia e tecnologia que o professor já tem (ideia do TPACK).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 tempero novo na cozinha: você decide se combina com o prato.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“Não é saber usar a ferramenta: é saber quando e por quê.”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Escada de desenvolvimento do letramento docente</a:t>
            </a:r>
            <a:endParaRPr lang="en-US" sz="3400" dirty="0"/>
          </a:p>
        </p:txBody>
      </p:sp>
      <p:pic>
        <p:nvPicPr>
          <p:cNvPr id="4" name="Image 0" descr="Proposta do autor, não validada empiricamente. Não usar IA é opção em qualquer degrau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155" y="1325880"/>
            <a:ext cx="8101209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Proposta do autor, não validada empiricamente. Não usar IA é opção em qualquer degrau.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IA apoia e o que fica com o professor</a:t>
            </a:r>
            <a:endParaRPr lang="en-US" sz="3400" dirty="0"/>
          </a:p>
        </p:txBody>
      </p:sp>
      <p:pic>
        <p:nvPicPr>
          <p:cNvPr id="4" name="Image 0" descr="Tarefas podem receber apoio; funções envolvem julgamento, relação e responsabilidad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4414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Tarefas podem receber apoio; funções envolvem julgamento, relação e responsabilidade.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Ensinar não é só transmitir informação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Pesquisas associam o vínculo professor-estudante a engajamento e desempenho. Para Freire, ensinar é criar possibilidades de construir o conhecimento.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jardinar: não se puxa a planta para crescer, cria-se o ambiente em que ela cresce.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“Aprender também é relação.”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e autonomia docente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 ampliar quando...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 professor decide como e quando usar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Há tempo e formação adequados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Os professores participam das regras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 reduzir quando...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 tecnologia dita ritmos e conteúdos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Ela dita também a avaliação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 professor vira operador de ferramenta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“Nem fim da docência, nem nada muda: participe da decisão.”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Nenhuma das duas previsões extremas tem base empírica sólida.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direito de não usar: quatro caminhos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usar em certas tarefas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Por exemplo, na avaliação dos estudantes.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na preparação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Uso do professor, sem os estudantes.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estudantes, com limites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Com alternativas sem IA.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Projeto-piloto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Participar da experiência da escola.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meu ponto de partida e meu plano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Dê nota de 1 a 5 a cada um dos quatro movimentos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Escreva uma evidência para cada nota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Identifique o movimento mais baixo e o mais alto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Defina três ações de aprendizagem para 30 dias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Escreva o que não pretende fazer agora, e por quê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Combine com um colega um encontro de acompanhamento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45 min (individual) a 90 min (grupo)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Quadro de autoavaliação e plano com três ações, prazos e acompanhamento.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Folha de papel dividida em quatro colunas; acompanhamento no intervalo ou por mensagem.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Letramento restrito a saber usar reforça a falta de crítica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Quadros de competência não devem virar controle burocrático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Nem todos têm tempo, apoio e acesso a cursos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Não culpe o professor pela falta de política, formação e infraestrutura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e como fazer com poucos recursos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a IA para...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Formular perguntas próprias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Debater e resolver problemas desafiadores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Depois, discutir o papel da IA nessa tarefa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Letramento sem computador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Atividades desplugadas dos capítulos 2 e 3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Conversas guiadas a partir de casos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Notícias, dilemas e cenas hipotéticas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três colunas sustentam a decisão</a:t>
            </a:r>
            <a:endParaRPr lang="en-US" sz="3400" dirty="0"/>
          </a:p>
        </p:txBody>
      </p:sp>
      <p:pic>
        <p:nvPicPr>
          <p:cNvPr id="4" name="Image 0" descr="Letramento, juízo profissional e vínculo human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6585" y="1325880"/>
            <a:ext cx="806835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Letramento, juízo profissional e vínculo humano.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96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Letramento: compreender, utilizar, avaliar e participar criticamente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9048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9048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89048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Definições diversas e poucas avaliações de resultados na pesquisa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60776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60776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60776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O professor integra a IA ao conhecimento que tem, ou decide não integrar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32504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032504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Tarefas recebem apoio; vínculo, decisão e justiça permanecem humanos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904232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4232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904232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 autonomia docente pode ser ampliada ou reduzida pela tecnologia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77596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7596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77596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Escolher não usar, com fundamentação, faz parte do letramento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Em qual dos quatro movimentos você precisa de mais apoio?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O que, no seu trabalho, você considera insubstituível, e por quê?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sua escola envolve os professores nas decisões sobre IA?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condições você precisaria para aprender sem sobrecarga?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D9653B">
              <a:alpha val="70000"/>
            </a:srgbClr>
          </a:solidFill>
          <a:ln w="12700">
            <a:solidFill>
              <a:srgbClr val="D9653B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pode apoiar tarefas. O vínculo continua sendo seu.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5 — Letramento em IA e o papel insubstituível do professor</dc:title>
  <dc:subject>PptxGenJS Presentation</dc:subject>
  <dc:creator>Araken de Medeiros Santos</dc:creator>
  <cp:lastModifiedBy>Araken de Medeiros Santos</cp:lastModifiedBy>
  <cp:revision>1</cp:revision>
  <dcterms:created xsi:type="dcterms:W3CDTF">2026-10-26T23:32:32Z</dcterms:created>
  <dcterms:modified xsi:type="dcterms:W3CDTF">2026-10-26T23:32:32Z</dcterms:modified>
</cp:coreProperties>
</file>