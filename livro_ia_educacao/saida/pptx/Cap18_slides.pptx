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18. Apresente o tema e peça que a turma pense em uma situação do dia a dia relacionada.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os objetivos e avise que o capítulo é muito prático: vamos sair com um roteiro de revisão de planos. Peça que cada pessoa pense em uma aula que precisa planejar na próxima semana.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cena da professora Lúcia no domingo à noite. Pergunte: o que vocês fariam com esse plano? Aproveitar, descartar ou usar de outro jeito? Deixe 2 minutos de conversa em duplas.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planejamento para trás: primeiro resultados desejados, depois evidências, só então atividades. Mencione o alinhamento construtivo. Pergunte: quantos já começam o plano pela atividade?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IA devolve o plano mais provável, não o plano da sua turma. Ela não sabe o que a turma já sabe, o tempo real nem as dificuldades da semana passada. Peça exemplos de algo que só quem está na sala sabe.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fluxo em cinco etapas. As etapas 1 e 2 (objetivos e evidências) ficam com o docente. A IA pode apoiar nas etapas 3 e 4. Peça que a turma diga onde costuma gastar mais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semáforo organiza as decisões. Verde: delegar com revisão rápida. Amarelo: parceria com revisão atenta. Vermelho: decisão do professor. Pergunte em qual cor cada participante colocaria elaborar uma prova.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exemplos de cada categoria. Delegar: reformatar um texto seu. Parceria: sequência a partir dos seus objetivos, exercícios com conferência total. Reservar: objetivos, adaptações individuais, replanejar. Fecho: quanto mais a decisão depende de conhecer seus estudantes, menos se delega.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exercício de três linhas no papel antes de abrir o assistente. Esses três itens viram o início do pedido e protegem de aceitar um plano bonito que não leva aonde se queria. Faça junto com a turma por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elementos de um bom pedido. Se o resultado vier distante, a causa mais comum é um pedido que omitiu algo importante. Peça que a turma reescreva mentalmente o pedido da Lúcia com esses elementos.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perguntas para revisar o plano recebido, aqui resumidas em cinco passos. Vale para planos de colegas e de livros também. Diferença da IA: o texto parece sempre seguro e fluente, e isso não indica correção.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ciclo planejar, aplicar, observar e ajustar. A sequência só fica boa depois de testada com a turma. Incentive o registro ao final de cada aula: o que funcionou, o que não e o que mudaria.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 exemplo do molho pronto. Peça que a turma pense em outro exemplo da vida em que algo pronto precisa ser provado antes de servido.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Materiais mais frequentes e cuidado principal de cada um. Exercícios: resolva cada item como se fosse o estudante. Adaptação de leitura: confira se o sentido foi preservado. Rubricas: ajuste e discuta com a turma.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Desenho universal para a aprendizagem: múltiplas formas de engajamento, representação e ação e expressão. A IA pode gerar versões alternativas, desde que você revise e que as adaptações respondam a necessidades reais, não a rótulos. Veja o capítulo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a pesquisa permite afirmar. Um estudo de caso nos Estados Unidos chegou a um plano em cerca de 30 minutos, mas com componentes questionáveis, lacunas e um recurso inexistente. É um caso, não uma média. Evidências robustas sobre melhora de aprendizagem ainda são poucas.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1: do rascunho gerado ao plano do professor. Em duplas, auditam um rascunho com as seis perguntas, reescrevem e trocam. Sem acesso à IA, o formador traz um rascunho com erros propositais. No fim, a turma lista cinco critérios de revisão.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2: banco de materiais adaptados. Cada pessoa adapta um material seu, sempre partindo do original, compara linha a linha, resolve exercícios em duplas e organiza o banco com nome padronizado, o que mudou e como foi conferido.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Pare e verifique antes de levar qualquer plano ou material à sala. Resolva exercícios, confira fatos, confirme recursos, retire dados pessoais e tenha alternativa sem tecnologia. Cuidado também com imagens que repetem estereótipos e com obras protegidas.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dispensar a IA. Se planejar com colegas for mais rápido e mais proveitoso do que revisar um texto gerado, dispense. A reunião pedagógica é um recurso de alto valor. Um caderno de planos e a troca de materiais cumprem a mesma função de um banco digital.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 visual: quatro elos. Decisão docente, rascunho de IA, verificação e adaptação docentes, uso em aula e ajuste. Peça que a turma narre o caminho com suas palavras.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Releia os pontos e peça que cada um escolha um para praticar na próxima aula. Sugira o experimento: planejar uma aula sozinho em dez minutos e depois comparar com um rascunho.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5 minutos de escrita e depois conversa em duplas. Convide cada dupla a compartilhar uma decisão que considera inegociavelmente sua.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Convide a turma a escolher uma ideia para experimentar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6D3B6E">
              <a:alpha val="75000"/>
            </a:srgbClr>
          </a:solidFill>
          <a:ln w="12700">
            <a:solidFill>
              <a:srgbClr val="6D3B6E">
                <a:alpha val="7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840480"/>
            <a:ext cx="3840480" cy="3840480"/>
          </a:xfrm>
          <a:prstGeom prst="ellipse">
            <a:avLst/>
          </a:prstGeom>
          <a:solidFill>
            <a:srgbClr val="E9A23B">
              <a:alpha val="65000"/>
            </a:srgbClr>
          </a:solidFill>
          <a:ln w="12700">
            <a:solidFill>
              <a:srgbClr val="E9A23B">
                <a:alpha val="6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4B860"/>
                </a:solidFill>
              </a:rPr>
              <a:t>CAPÍTULO 18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Planejar aulas e criar materiais com apoio de IA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EFE6"/>
                </a:solidFill>
              </a:rPr>
              <a:t>Parte IV — Aplicações práticas no trabalho docente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9C8"/>
                </a:solidFill>
              </a:rPr>
              <a:t>Inteligência Artificial Aplicada à Educação ·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Partir de objetivos e evidências antes de recorrer à IA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468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Separar o que delegar, o que fazer em parceria e o que reservar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474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Pedir com contexto, objetivo, restrições e formato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4805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Criar e adaptar materiais com acessibilidade e cuidado com dados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6692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5486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Verificar exatidão antes de levar à sala e montar um banco próprio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D3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</a:rPr>
              <a:t>DOMINGO À NOITE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plano de IA veio bonito, mas com uma conta errada. O que fazer?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3E6"/>
                </a:solidFill>
              </a:rPr>
              <a:t>Cena fictícia: objetivos genéricos, material que a escola não tem e um exercício incorreto.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Planejar para trás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D3B6E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Primeiro, o que os estudantes devem aprender. Depois, como saberemos que aprenderam. Só então, as atividades.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traçar o destino no mapa antes de ligar o GPS: sem destino, qualquer rota parece boa.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“Objetivo, atividade e avaliação apontam para o mesmo lado.”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IA devolve o plano mais provável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D3B6E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Ela combina padrões frequentes sobre aulas. Não conhece sua turma, seu tempo, sua sala nem a dificuldade da semana passada.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uma receita de caderno antigo: serve de ponto de partida, mas quem prova o sal é o cozinheiro.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“Rascunho de partida, não plano pronto.”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objetivo à aula: onde a IA pode apoiar</a:t>
            </a:r>
            <a:endParaRPr lang="en-US" sz="3400" dirty="0"/>
          </a:p>
        </p:txBody>
      </p:sp>
      <p:pic>
        <p:nvPicPr>
          <p:cNvPr id="4" name="Image 0" descr="Figura 18.2 — Do objetivo à aula: o caminho do planejament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11064240" cy="358926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18.2 — Do objetivo à aula: o caminho do planejamento.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Semáforo do planejamento</a:t>
            </a:r>
            <a:endParaRPr lang="en-US" sz="3400" dirty="0"/>
          </a:p>
        </p:txBody>
      </p:sp>
      <p:pic>
        <p:nvPicPr>
          <p:cNvPr id="4" name="Image 0" descr="Figura 18.3 — Três categorias de decisão no planejament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9750" y="1325880"/>
            <a:ext cx="7862021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18.3 — Três categorias de decisão no planejamento.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delegar, dividir e reservar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Delegar com revisão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Reformatar texto seu em tópicos; sugerir títulos e variações de exemplo.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Fazer em parceria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Levantar equívocos comuns; propor sequência; criar exercícios, resolvendo todos.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Reservar ao professor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Objetivos, critérios, adaptações para estudantes e replanejamento.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abrir o assistente: três linhas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3535680" cy="3291840"/>
          </a:xfrm>
          <a:prstGeom prst="roundRect">
            <a:avLst>
              <a:gd name="adj" fmla="val 416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996440" y="160020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9964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326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O que devem ser capazes de fazer ao final?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4066032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3B6E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312920" y="1920240"/>
            <a:ext cx="3535680" cy="3291840"/>
          </a:xfrm>
          <a:prstGeom prst="roundRect">
            <a:avLst>
              <a:gd name="adj" fmla="val 416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607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450080" y="2377440"/>
            <a:ext cx="326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O que aceito como evidência disso?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830312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3B6E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8077200" y="1920240"/>
            <a:ext cx="3535680" cy="3291840"/>
          </a:xfrm>
          <a:prstGeom prst="roundRect">
            <a:avLst>
              <a:gd name="adj" fmla="val 416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525000" y="160020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5250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214360" y="2377440"/>
            <a:ext cx="326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O que eles já sabem?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2E2A"/>
                </a:solidFill>
              </a:rPr>
              <a:t>Esses três itens viram o começo do seu pedido.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pedir: o que o sistema não sabe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Etapa, turma, tempo, espaço e recursos reais, inclusive 'só quadro e caderno'.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e evidência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 que fazer ao final, com o código da habilidade, se houver.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Restrições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 que você não quer: sem tela, sem competição entre estudantes.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Formato e transparência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Tabela por tempo. E: 'indique o que é suposição'.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Revisar o plano recebido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43584" y="160020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243584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Os objetivos são meus?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3B6E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2807208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02152" y="160020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02152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944368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A evidência combina com o objetivo?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818888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3B6E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065776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607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202936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Cabe no tempo, no espaço e nos recursos?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077456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3B6E"/>
                </a:solidFill>
              </a:rPr>
              <a:t>›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7324344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19288" y="160020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1928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461504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Há erro, referência inventada ou exemplo inadequado?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336024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3B6E"/>
                </a:solidFill>
              </a:rPr>
              <a:t>›</a:t>
            </a:r>
            <a:endParaRPr lang="en-US" sz="2800" dirty="0"/>
          </a:p>
        </p:txBody>
      </p:sp>
      <p:sp>
        <p:nvSpPr>
          <p:cNvPr id="24" name="Shape 21"/>
          <p:cNvSpPr/>
          <p:nvPr/>
        </p:nvSpPr>
        <p:spPr>
          <a:xfrm>
            <a:off x="9582912" y="1920240"/>
            <a:ext cx="2029968" cy="3291840"/>
          </a:xfrm>
          <a:prstGeom prst="roundRect">
            <a:avLst>
              <a:gd name="adj" fmla="val 67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277856" y="160020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27785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9720072" y="2377440"/>
            <a:ext cx="175564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Todos participam, inclusive quem precisa de adaptação?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2E2A"/>
                </a:solidFill>
              </a:rPr>
              <a:t>Fluência não é correção.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Planejar, aplicar, observar, ajustar</a:t>
            </a:r>
            <a:endParaRPr lang="en-US" sz="3400" dirty="0"/>
          </a:p>
        </p:txBody>
      </p:sp>
      <p:pic>
        <p:nvPicPr>
          <p:cNvPr id="4" name="Image 0" descr="Figura 18.4 — Ciclo de planejamento e ajuste, com a decisão docente no centr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5409" y="1325880"/>
            <a:ext cx="6310701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18.4 — Ciclo de planejamento e ajuste, com a decisão docente no centro.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de IA é molho pronto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D3B6E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Planos e materiais gerados economizam tempo, mas só servem àquela turma depois que alguém prova e corrige.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molho pronto: ajuda, mas se ninguém provar o sal antes de servir, o jantar pode estragar.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“Prove antes de servir.”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Criar e adaptar materiais: cuidado principal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Adaptar a leitura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Frases mais curtas. Confira se o sentido e a precisão foram preservados.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Exercícios e gabaritos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Resolva todos os itens antes de entregar, como se fosse o estudante.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Exemplos e analogias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Verifique exatidão e adequação cultural.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Rubricas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Rascunhe e ajuste à sua tarefa; discuta com a turma.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Acessibilidade: desenho universal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Engajamento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Várias formas de despertar o interesse e manter o esforço.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Representação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Texto, roteiro em tópicos, imagem com descrição.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Ação e expressão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Mais de um modo de mostrar o que aprendeu.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Verifique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Títulos claros, contraste, instruções curtas e alternativa em papel.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pesquisa permite afirmar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 de partida útil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Em um estudo de caso, o plano saiu em cerca de 30 minutos, mas com falhas.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Potencial e riscos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Revisões apontam apoio a materiais e preocupação com precisão e vieses.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Ainda não sabemos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Faltam evidências robustas de melhora na aprendizagem e efeito de longo prazo.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1: do rascunho ao plano do professor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D3B6E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Escrever objetivo, evidência e conhecimentos prévios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Obter um rascunho de plano sobre o tema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Auditar com as seis perguntas e marcar o duvidoso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Conferir cada dúvida em material confiável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Reescrever com objetivos próprios e duas adaptações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Trocar versões e listar cinco critérios de revisão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 horas, em um ou dois encontros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Rascunho anotado, plano reescrito e cinco critérios de revisão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Rascunho impresso com erros propositais; tudo em papel.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2: banco de materiais adaptados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D3B6E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Escolher um material seu e definir objetivo e público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Definir duas adaptações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Produzir as versões a partir do texto original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Comparar linha a linha e resolver os exercícios em duplas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Aplicar a lista de acessibilidade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Organizar o banco com nome, versão e 'o que mudou'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 sessões de 90 minutos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Original, duas versões adaptadas, registro das verificações e ficha do banco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Adaptação à mão; banco em fichário. A revisão por pares é o recurso mais valioso.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 antes de usar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Resolva todos os exercícios e confira fatos, datas e fórmulas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Confirme que os recursos citados existem e estão ao seu alcance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Retire dados pessoais; não envie obras protegidas a sistemas externos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Tenha uma alternativa sem tecnologia e atenção a estereótipos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dispensar a IA no planejamento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objetivo claro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Se você ainda não sabe o que quer ensinar, comece pelos objetivos.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Conteúdo que não confere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Conteúdo especializado que você não terá como conferir.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Estudante específico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Adaptações individuais, relatórios, dados pessoais e obras protegidas.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Colegas resolvem melhor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Planejar em duplas ou trios costuma ser mais rápido e proveitoso.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18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Síntese: o professor no centro</a:t>
            </a:r>
            <a:endParaRPr lang="en-US" sz="3400" dirty="0"/>
          </a:p>
        </p:txBody>
      </p:sp>
      <p:pic>
        <p:nvPicPr>
          <p:cNvPr id="4" name="Image 0" descr="Figura 18.5 — O professor no centro do planejamento apoiado por I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8927" y="1325880"/>
            <a:ext cx="9223666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18.5 — O professor no centro do planejamento apoiado por IA.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18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6D3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vale a pena lembrar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17320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Planeje primeiro: objetivos e evidências são seus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89048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89048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89048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Quanto mais depender de conhecer a turma, menos se delega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160776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60776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160776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Pedidos com contexto e restrições ajudam, mas não garantem correção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4032504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4032504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4032504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Resolva, confira e teste tempo e recursos antes de usar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4904232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904232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904232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Parta de textos que você domina e peça adaptações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775960"/>
            <a:ext cx="11064240" cy="762000"/>
          </a:xfrm>
          <a:prstGeom prst="roundRect">
            <a:avLst>
              <a:gd name="adj" fmla="val 144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775960"/>
            <a:ext cx="54864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775960"/>
            <a:ext cx="996696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Registre o que funcionou e monte seu banco próprio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18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pensar na sua prática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Em que parte do planejamento você sente mais pressão de tempo?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97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decisões de planejamento são inegociavelmente suas? Por quê?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9319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Como você confere hoje materiais que não foram produzidos por você?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1663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Como você organizaria um banco de materiais com colegas?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18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6D3B6E">
              <a:alpha val="70000"/>
            </a:srgbClr>
          </a:solidFill>
          <a:ln w="12700">
            <a:solidFill>
              <a:srgbClr val="6D3B6E">
                <a:alpha val="70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Planeje primeiro. A IA entra depois.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B860"/>
                </a:solidFill>
              </a:rPr>
              <a:t>A docência é insubstituível.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D9C8"/>
                </a:solidFill>
              </a:rPr>
              <a:t>Obrigado(a)!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 na Educação">
  <a:themeElements>
    <a:clrScheme name="IA na Educação">
      <a:dk1>
        <a:srgbClr val="3B2A2A"/>
      </a:dk1>
      <a:lt1>
        <a:srgbClr val="FFFFFF"/>
      </a:lt1>
      <a:dk2>
        <a:srgbClr val="5A2E2A"/>
      </a:dk2>
      <a:lt2>
        <a:srgbClr val="F7EFE6"/>
      </a:lt2>
      <a:accent1>
        <a:srgbClr val="D9653B"/>
      </a:accent1>
      <a:accent2>
        <a:srgbClr val="2A9D8F"/>
      </a:accent2>
      <a:accent3>
        <a:srgbClr val="E9A23B"/>
      </a:accent3>
      <a:accent4>
        <a:srgbClr val="6D3B6E"/>
      </a:accent4>
      <a:accent5>
        <a:srgbClr val="3D7EA6"/>
      </a:accent5>
      <a:accent6>
        <a:srgbClr val="6E9A4F"/>
      </a:accent6>
      <a:hlink>
        <a:srgbClr val="3D7EA6"/>
      </a:hlink>
      <a:folHlink>
        <a:srgbClr val="6D3B6E"/>
      </a:folHlink>
    </a:clrScheme>
    <a:fontScheme name="IA na Educ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18 — Planejar aulas e criar materiais com apoio de IA</dc:title>
  <dc:subject>PptxGenJS Presentation</dc:subject>
  <dc:creator>Araken de Medeiros Santos</dc:creator>
  <cp:lastModifiedBy>Araken de Medeiros Santos</cp:lastModifiedBy>
  <cp:revision>1</cp:revision>
  <dcterms:created xsi:type="dcterms:W3CDTF">2026-10-26T18:53:35Z</dcterms:created>
  <dcterms:modified xsi:type="dcterms:W3CDTF">2026-10-26T18:53:35Z</dcterms:modified>
</cp:coreProperties>
</file>