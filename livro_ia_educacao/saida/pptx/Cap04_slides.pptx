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capítulo 4. Apresente o tema e peça que a turma pense em uma situação do dia a dia relacionada.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os objetivos. Hoje o foco é desconfiar com método, sem paranoia. Avise que a atividade será uma caça aos erros. Tempo: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 a cena: trabalho sobre a Revolta da Vacina, cinco referências, duas não existem, uma trata de outro assunto, duas com autores e anos errados. A estudante diz que pediu à IA e achou que estava certo. Cena fictícia, mas relatada por professores e bibliotecários. Pergunte o que a turma faria.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 mapa como roteiro: tipos de erro, fontes inventadas, por que acontece, vieses, três filtros e verificação. Tempo: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Alucinação é o termo popular; alguns pesquisadores preferem confabulação ou fabricação. Lembre que a palavra não implica que o sistema perceba ou queira algo. Pergunte à turma se já viu algo assim.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tipos de problema: erro factual, fonte inventada, erro de raciocínio ou cálculo, desatualização, concordância excessiva e viés. Peça que a turma escolha o tipo que mais teme em sua disciplina. Tempo: 4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Bajulação: pesquisas indicam que modelos treinados com feedback humano podem ajustar respostas ao que o usuário parece querer ouvir. Cuidado com perguntas enviesadas, que recebem respostas enviesadas. Peça que a turma imagine um pedido que induz o modelo.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Estudo de campo com consultores sugeriu que a IA pode ser ótima em uma tarefa e prejudicial em outra parecida. É documento de trabalho, em outro contexto, mas a ideia é útil. Por isso, teste com casos que você conhece.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Estudos independentes convergem: referências inexistentes aparecem de forma convincente. Em um estudo, 55% das referências da versão mais antiga eram fabricadas e 18% da mais recente; em outro, de oito assistentes, 26,5% estavam totalmente corretas. Ressalte: as taxas valem para versões e datas específicas, não para qualquer ferramenta atual. Tempo: 4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 endereço de memória: você confere antes de sair de carro à noite. Referência tem forma previsível; o modelo domina a forma, mas nem sempre o conteúdo. Pedir dê referências pode pressionar o sistema a fornecer algo, mesmo sem base.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Viés é uma tendência sistemática que favorece ou prejudica grupos. Entra pelos dados, pelo projeto e pelo uso, e os efeitos retornam aos dados. Peça um exemplo de cada porta de entrada.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Exemplos documentados: reconhecimento facial com acurácia desigual por tom de pele e gênero; modelos educacionais de previsão que funcionam de modo desigual entre grupos; detectores de texto de IA que erram mais com falantes não nativos de inglês. O achado alerta contra usar detectores como prova de fraude.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erro aleatório não tem direção; um viés tem. Por isso uma média boa pode esconder desempenho ruim em subgrupos. Pergunte ao fornecedor: foi testado com estudantes parecidos com os meus? Como varia por grupo?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filtros antes de usar com estudantes: fluência, correção e valor pedagógico. A fluência é o filtro mais fácil de passar e o menos confiável como indicador dos outros. Peça um exemplo de material correto e inadequado.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Procedimento de verificação em cinco passos, inspirado na leitura lateral: em vez de ficar só na página, abra outras abas e veja quem produziu e o que dizem outras fontes. Em Matemática e Ciências, resolva você antes de aceitar. Ensine esse roteiro aos estudantes.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Pausa para a frase de impacto. Peça que a turma diga como explicaria isso a um estudante de 14 anos. Tempo: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Caça aos erros: apresente como investigação, não pegadinha. O texto de exemplo sobre fotossíntese traz quatro erros plantados (cloroplastos, gás carbônico, oxigênio liberado, dia e noite). A última frase está correta e pode surpreender. Confira o gabarito em fonte confiável. Cerca de 50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Riscos do capítulo: exigir uso de IA sem ensinar a checar amplia desigualdades; revisão superficial deixa erros circularem; detectores de IA não são prova de fraude e punem injustamente falantes não nativos. Mencione o cansaço de verificar tudo.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dispensar: se você não consegue verificar e há risco para a aprendizagem ou para pessoas. Saúde, segurança, normas legais, dados estatísticos oficiais e citações vêm de fontes primárias. Mostre também que o erro pode virar material didático.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Síntese: a resposta da IA passa por três filtros, pela verificação com lupa, e só então o professor decide usar, adaptar ou descartar. Peça que a turma narre o caminho com um exemplo. Tempo: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Releia os itens e peça que cada pessoa diga qual levará à prática. Volte à estudante da bibliografia: o que ela poderia ter feito?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Escolha duas perguntas para duplas, 5 minutos. Peça que a turma ensaie a explicação para os estudantes de que bem escrito não significa certo.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Convide a turma a escolher uma ideia para experimentar nesta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D9653B">
              <a:alpha val="75000"/>
            </a:srgbClr>
          </a:solidFill>
          <a:ln w="12700">
            <a:solidFill>
              <a:srgbClr val="D9653B">
                <a:alpha val="7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840480"/>
            <a:ext cx="3840480" cy="3840480"/>
          </a:xfrm>
          <a:prstGeom prst="ellipse">
            <a:avLst/>
          </a:prstGeom>
          <a:solidFill>
            <a:srgbClr val="E9A23B">
              <a:alpha val="65000"/>
            </a:srgbClr>
          </a:solidFill>
          <a:ln w="12700">
            <a:solidFill>
              <a:srgbClr val="E9A23B">
                <a:alpha val="65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4B860"/>
                </a:solidFill>
              </a:rPr>
              <a:t>CAPÍTULO 4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737360"/>
            <a:ext cx="8412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Erros, vieses e limites: fluência não é verdade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7EFE6"/>
                </a:solidFill>
              </a:rPr>
              <a:t>Parte I — Fundamentos para compreender e decidir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D9C8"/>
                </a:solidFill>
              </a:rPr>
              <a:t>Inteligência Artificial Aplicada à Educação · Araken de Medeiros Santos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aprender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4630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Reconhecer os tipos de erro da IA generativa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651760"/>
            <a:ext cx="548640" cy="548640"/>
          </a:xfrm>
          <a:prstGeom prst="ellipse">
            <a:avLst/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554480" y="24688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Distinguir fluência, correção e valor pedagógico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47472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3657600"/>
            <a:ext cx="548640" cy="548640"/>
          </a:xfrm>
          <a:prstGeom prst="ellipse">
            <a:avLst/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34747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Entender por que referências inventadas exigem verificação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448056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4663440"/>
            <a:ext cx="548640" cy="548640"/>
          </a:xfrm>
          <a:prstGeom prst="ellipse">
            <a:avLst/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44805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Identificar de onde vêm os vieses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548640" y="548640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" y="5669280"/>
            <a:ext cx="548640" cy="548640"/>
          </a:xfrm>
          <a:prstGeom prst="ellipse">
            <a:avLst/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5669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554480" y="54864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Aplicar um procedimento de verificação e usar o erro para ensinar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965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</a:rPr>
              <a:t>A BIBLIOGRAFIA QUE NÃO EXISTIA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645920"/>
            <a:ext cx="10515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a resposta é tão bem escrita, como saber se está certa e se ajuda a aprender?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3E6"/>
                </a:solidFill>
              </a:rPr>
              <a:t>Cena fictícia: cinco referências impecáveis, dois livros inexistentes.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do capítulo</a:t>
            </a:r>
            <a:endParaRPr lang="en-US" sz="3400" dirty="0"/>
          </a:p>
        </p:txBody>
      </p:sp>
      <p:pic>
        <p:nvPicPr>
          <p:cNvPr id="4" name="Image 0" descr="Figura 4.1 — Mapa dos conceitos principais do capítul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0290" y="1325880"/>
            <a:ext cx="6300940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Figura 4.1 — Mapa dos conceitos principais do capítulo.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Alucinação: texto plausível sem fundamento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653B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Conteúdo plausível, mas sem fundamento nos dados ou no mundo. A palavra é popular, porém imprecisa: o sistema não percebe nem quer nada.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um narrador convincente que completa a história com o que soa bem.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“Soa certo não é estar certo.”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tipos de erro e distorção</a:t>
            </a:r>
            <a:endParaRPr lang="en-US" sz="3400" dirty="0"/>
          </a:p>
        </p:txBody>
      </p:sp>
      <p:pic>
        <p:nvPicPr>
          <p:cNvPr id="4" name="Image 0" descr="Cada tipo exige um olhar de verificação diferent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9173" y="1325880"/>
            <a:ext cx="7163174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Cada tipo exige um olhar de verificação diferente.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Concordância excessiva: a IA bajuladora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653B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B2A2A"/>
                </a:solidFill>
              </a:rPr>
              <a:t>Tendência de concordar com o usuário, mesmo quando ele está errado ou faz uma pergunta enviesada.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um colega que sempre diz que sim para não criar atrito.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“Concordar não é o mesmo que acertar.”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fronteira irregular da capacidade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653B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B2A2A"/>
                </a:solidFill>
              </a:rPr>
              <a:t>O bom desempenho de uma ferramenta em uma tarefa não permite prever o desempenho em outra aparentemente parecida.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uma estrada boa que de repente vira terra, sem aviso na placa.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“Teste com casos que você conhece.”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 inventadas: o que sabemos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Consolidado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Vários estudos independentes mostram referências inexistentes ou erradas.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Números variam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Dependem de modelo, versão, tema, pedido e uso de busca.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Ressalva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Não valem para qualquer ferramenta atual: sistemas mudam rápido.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Implicação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Verifique cada referência em base confiável.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a IA inventa referências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653B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Referência tem forma previsível. O modelo domina a forma, mas nem sempre tem o conteúdo, e o pedido "dê referências" pressiona por uma resposta.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um endereço dado de memória: confira antes de sair de carro à noite.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“Domina a forma, não garante o conteúdo.”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onde o viés entra</a:t>
            </a:r>
            <a:endParaRPr lang="en-US" sz="3400" dirty="0"/>
          </a:p>
        </p:txBody>
      </p:sp>
      <p:pic>
        <p:nvPicPr>
          <p:cNvPr id="4" name="Image 0" descr="Dados, projeto e uso formam um cicl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64240" cy="4085997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Dados, projeto e uso formam um ciclo.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Vieses documentados na literatura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Reconhecimento facial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Acurácia desigual conforme tom de pele e gênero.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2816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676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567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5676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Previsões em educação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55676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Modelos de desempenho e abandono podem funcionar de modo desigual.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810768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628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362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33628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Detectores de IA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33628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Erram mais com falantes não nativos de inglês.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Viés não é erro aleatório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653B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B2A2A"/>
                </a:solidFill>
              </a:rPr>
              <a:t>O viés tem direção: erra mais para certos grupos ou perspectivas, e a média de acertos pode esconder isso.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uma balança que sempre marca um pouco a mais, e não uma que erra ao acaso.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“Funcionar bem em média pode esconder quem fica de fora.”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filtros: fluência, correção, valor pedagógico</a:t>
            </a:r>
            <a:endParaRPr lang="en-US" sz="3400" dirty="0"/>
          </a:p>
        </p:txBody>
      </p:sp>
      <p:pic>
        <p:nvPicPr>
          <p:cNvPr id="4" name="Image 0" descr="Só o que passa pelos três segue para a sala de aul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026" y="1325880"/>
            <a:ext cx="7499467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Só o que passa pelos três segue para a sala de aula.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Verificar em cinco passos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43584" y="1600200"/>
            <a:ext cx="640080" cy="640080"/>
          </a:xfrm>
          <a:prstGeom prst="ellipse">
            <a:avLst/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243584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Marcar o que é checável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560320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653B"/>
                </a:solidFill>
              </a:rPr>
              <a:t>›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2807208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02152" y="1600200"/>
            <a:ext cx="640080" cy="640080"/>
          </a:xfrm>
          <a:prstGeom prst="ellipse">
            <a:avLst/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02152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944368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Procurar fontes independentes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818888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653B"/>
                </a:solidFill>
              </a:rPr>
              <a:t>›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5065776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60720" y="1600200"/>
            <a:ext cx="640080" cy="640080"/>
          </a:xfrm>
          <a:prstGeom prst="ellipse">
            <a:avLst/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76072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202936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Refazer cálculos e testar exemplos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077456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653B"/>
                </a:solidFill>
              </a:rPr>
              <a:t>›</a:t>
            </a:r>
            <a:endParaRPr lang="en-US" sz="2800" dirty="0"/>
          </a:p>
        </p:txBody>
      </p:sp>
      <p:sp>
        <p:nvSpPr>
          <p:cNvPr id="19" name="Shape 16"/>
          <p:cNvSpPr/>
          <p:nvPr/>
        </p:nvSpPr>
        <p:spPr>
          <a:xfrm>
            <a:off x="7324344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019288" y="1600200"/>
            <a:ext cx="640080" cy="640080"/>
          </a:xfrm>
          <a:prstGeom prst="ellipse">
            <a:avLst/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019288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461504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Avaliar a adequação ao público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9336024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653B"/>
                </a:solidFill>
              </a:rPr>
              <a:t>›</a:t>
            </a:r>
            <a:endParaRPr lang="en-US" sz="2800" dirty="0"/>
          </a:p>
        </p:txBody>
      </p:sp>
      <p:sp>
        <p:nvSpPr>
          <p:cNvPr id="24" name="Shape 21"/>
          <p:cNvSpPr/>
          <p:nvPr/>
        </p:nvSpPr>
        <p:spPr>
          <a:xfrm>
            <a:off x="9582912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277856" y="1600200"/>
            <a:ext cx="640080" cy="640080"/>
          </a:xfrm>
          <a:prstGeom prst="ellipse">
            <a:avLst/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277856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9720072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Registrar o que mudou e por quê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A2E2A"/>
                </a:solidFill>
              </a:rPr>
              <a:t>Dica: peça ao sistema que aponte incertezas, mas confira você.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14400" y="1188720"/>
            <a:ext cx="10332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fluência é o filtro mais fácil de passar e o menos confiável.”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52120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4B860"/>
                </a:solidFill>
              </a:rPr>
              <a:t>Bem escrito não significa certo.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4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Atividade: Caça aos erros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949440" cy="4663440"/>
          </a:xfrm>
          <a:prstGeom prst="roundRect">
            <a:avLst>
              <a:gd name="adj" fmla="val 2941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653B"/>
                </a:solidFill>
              </a:rPr>
              <a:t>PASSO A PASSO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6596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Apresente o texto como rascunho de um assistente de IA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Duplas sublinham em azul o certo e em vermelho o suspeito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Escrevem uma justificativa para cada trecho vermelho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Consultam livro ou fonte para confirmar ou refutar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Cada dupla apresenta duas correções; revele o gabarito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Fechem a lista: o que fazer diante de qualquer texto de IA?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0" y="1417320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1527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TEMPO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87452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50 minutos, em duplas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0" y="3026664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3136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PRODUTO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483864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Texto corrigido e lista das evidências usadas.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772400" y="4636008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47457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POUCOS RECURSOS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5093208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Copie o texto no quadro ou dite; consulte o livro didático ou pesquise no dia seguinte.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4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 e verifique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1450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145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Exigir IA sem ensinar a checar amplia desigualdades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0322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032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5176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Revisão superficial deixa erros circularem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09194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0919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84048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Detector de IA não é prova de fraude e pode punir injustamente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28066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2806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02920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Se verificar custa mais que escrever do zero, considere dispensar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4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Dispensar a IA ou usar o erro para ensinar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Dispense quando...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Não há tempo para verificar e há risco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O tema é saúde ou segurança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Há normas legais ou dados oficiais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Há citações: use fontes primárias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D9653B"/>
          </a:solidFill>
          <a:ln w="12700">
            <a:solidFill>
              <a:srgbClr val="D9653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Aproveite o erro quando...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Analisar textos imperfeitos treina leitura crítica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Checagem forma letramento em informação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Observar estereótipos forma olhar crítico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4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Síntese: do rascunho de IA à sala de aula</a:t>
            </a:r>
            <a:endParaRPr lang="en-US" sz="3400" dirty="0"/>
          </a:p>
        </p:txBody>
      </p:sp>
      <p:pic>
        <p:nvPicPr>
          <p:cNvPr id="4" name="Image 0" descr="Decisão final do professor: usar, adaptar ou descartar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788" y="1325880"/>
            <a:ext cx="10725944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Decisão final do professor: usar, adaptar ou descartar.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4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965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vale a pena lembrar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1732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653B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41732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Erros: fatos, fontes inventadas, raciocínio, desatualização, bajulação e viés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20980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20980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653B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20980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Referências e citações exigem verificação em bases confiáveis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300228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00228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653B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300228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Desempenho numa tarefa não prevê o de outra parecida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379476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79476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653B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1463040" y="379476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Viés vem dos dados, do projeto e do uso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458724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58724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653B"/>
                </a:solidFill>
              </a:rPr>
              <a:t>✓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458724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Fluência, correção e valor pedagógico são filtros diferentes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48640" y="537972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537972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653B"/>
                </a:solidFill>
              </a:rPr>
              <a:t>✓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1463040" y="537972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Detectores de IA não são prova de fraude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4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pensar na sua prática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 tipo de erro seria mais difícil de perceber na sua disciplina?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7180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9748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 estereótipos você já viu em materiais didáticos? O que fez?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93192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20624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93192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Em quais tarefas aceitaria o risco de um erro? Em quais não?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516636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44068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16636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 passo da verificação você poderia incorporar já?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4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D9653B">
              <a:alpha val="70000"/>
            </a:srgbClr>
          </a:solidFill>
          <a:ln w="12700">
            <a:solidFill>
              <a:srgbClr val="D9653B">
                <a:alpha val="7000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Bem escrito não quer dizer certo.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4114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4B860"/>
                </a:solidFill>
              </a:rPr>
              <a:t>A docência é insubstituível.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5029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D9C8"/>
                </a:solidFill>
              </a:rPr>
              <a:t>Obrigado(a)!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 na Educação">
  <a:themeElements>
    <a:clrScheme name="IA na Educação">
      <a:dk1>
        <a:srgbClr val="3B2A2A"/>
      </a:dk1>
      <a:lt1>
        <a:srgbClr val="FFFFFF"/>
      </a:lt1>
      <a:dk2>
        <a:srgbClr val="5A2E2A"/>
      </a:dk2>
      <a:lt2>
        <a:srgbClr val="F7EFE6"/>
      </a:lt2>
      <a:accent1>
        <a:srgbClr val="D9653B"/>
      </a:accent1>
      <a:accent2>
        <a:srgbClr val="2A9D8F"/>
      </a:accent2>
      <a:accent3>
        <a:srgbClr val="E9A23B"/>
      </a:accent3>
      <a:accent4>
        <a:srgbClr val="6D3B6E"/>
      </a:accent4>
      <a:accent5>
        <a:srgbClr val="3D7EA6"/>
      </a:accent5>
      <a:accent6>
        <a:srgbClr val="6E9A4F"/>
      </a:accent6>
      <a:hlink>
        <a:srgbClr val="3D7EA6"/>
      </a:hlink>
      <a:folHlink>
        <a:srgbClr val="6D3B6E"/>
      </a:folHlink>
    </a:clrScheme>
    <a:fontScheme name="IA na Educaçã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Capítulo 4 — Erros, vieses e limites: fluência não é verdade</dc:title>
  <dc:subject>PptxGenJS Presentation</dc:subject>
  <dc:creator>Araken de Medeiros Santos</dc:creator>
  <cp:lastModifiedBy>Araken de Medeiros Santos</cp:lastModifiedBy>
  <cp:revision>1</cp:revision>
  <dcterms:created xsi:type="dcterms:W3CDTF">2026-10-26T23:34:33Z</dcterms:created>
  <dcterms:modified xsi:type="dcterms:W3CDTF">2026-10-26T23:34:33Z</dcterms:modified>
</cp:coreProperties>
</file>