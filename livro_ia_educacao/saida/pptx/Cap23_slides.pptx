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capítulo 23. Apresente o tema e peça que a turma pense em uma situação do dia a dia relacionada.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os objetivos. O capítulo junta três temas que se encontram na rotina do professor: acessibilidade, organização do trabalho e formação entre pares. Pergunte quem se reconhece na cena de domingo à noite. Tempo: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 a cena de Marta: slides com letras pequenas e imagens sem descrição, uma estudante com dislexia, um estudante com baixa visão. A IA devolveu texto com datas trocadas e descrições de imagens que não correspondem. Pergunte: e agora? Deixe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Acessibilidade é acesso com autonomia. A LBI e as políticas de educação especial são o piso de direitos; a sala de aula é onde ele se concretiza. Ideia central: as barreiras estão no material e no ambiente, não na pessoa. Isso não elimina apoios individuais.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Dois referenciais. O desenho universal para a aprendizagem: múltiplos meios de engajamento, representação, ação e expressão. As diretrizes de acessibilidade da web: conteúdo perceptível, operável, compreensível e robusto. Úteis para documentos, slides e vídeos, embora voltadas à web.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escada de cinco camadas da acessibilidade na prática docente. Peça que a turma indique em que degrau seus materiais estão hoje. Suba um degrau por vez.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Resuma a tabela de verificação. Estrutura: títulos reais e ordem lógica. Texto: fonte legível, parágrafos curtos. Contraste: não usar só a cor. Imagens: texto alternativo. Vídeo e áudio: legendas e transcrição. Linguagem: frases diretas. A IA pode rascunhar, você verifica.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Frase de impacto: rascunho sim, verdade não. Uma descrição de imagem por IA pode parecer correta e estar errada; uma simplificação pode alterar fatos; uma transcrição pode errar nomes. Confira com o original diante dos olhos.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Pare e verifique antes de distribuir um material adaptado com IA. Peça que a turma aplique ao material de Marta. Em textos longos, cheque ao menos todas as datas, nomes e relações de causa. Teste com o estudante: ele sabe o que o ajuda.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Tecnologias assistivas são recursos do cotidiano do estudante, com treinamento e escolha pessoal. A IA pode complementá-las, não substituí-las. Libras é língua com gramática própria e traduções automáticas ainda são limitadas. Envolva intérpretes, professores bilíngues e a comunidade surda. Ouça os estudantes.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Dados sensíveis. Informações sobre saúde e deficiência têm proteção reforçada pela LGPD. Para pedir ajuda à IA não é preciso informar nome, laudo ou história. Melhor ainda: não inclua nada sobre a pessoa e peça só uma versão acessível do material. O plano individual é feito com a família e o atendimento especializado, fora dos sistemas de 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de geração não é tempo de trabalho. Um experimento de campo com consultores mostra ganho dentro da fronteira de capacidade da IA e piora fora dela, sem que as pessoas notem. Não foi com professores, mas é um lembrete. Práticas: triagem em três colunas, banco pessoal, diário de prompts, limites de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Fluxo do pedido ao material usado: triagem, rascunho, verificação, adaptação à turma e registro no banco. Aponte que a verificação vem antes do uso. Peça que a turma diga onde costuma pular etapas.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Experimento de um mês: escolha uma tarefa recorrente, teste uma rotina com IA e outra sem, medindo tempo total, incluindo a revisão, e sua confiança no material. Os dados serão seus e valem mais do que qualquer propaganda de produtividade. Ainda há poucas evidências robustas sobre ganho de tempo para professores brasileiros.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Formação docente em IA não pode virar curso de ferramentas, que muda a cada trimestre. O durável: critérios de decisão, conhecimento pedagógico do conteúdo, hábitos de verificação. Características frequentes de formações associadas a mudança de prática: foco no conteúdo, aprendizagem ativa, colaboração, acompanhamento, reflexão, duração sustentada. Participação imposta rende menos.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ciclo de estudo entre pares: pergunta de prática, planejar juntos uma tentativa pequena, experimentar e coletar uma evidência simples, analisar juntos (inclusive os erros da IA), registrar e decidir o próximo ciclo. Funciona mesmo com vinte minutos semanais.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1: auditoria de acessibilidade de um material seu. Percorra a lista de verificação, priorize três mudanças de maior impacto e menor custo, use a IA só como rascunho, verifique com o original, peça revisão a um colega e teste com estudantes. Sem estigma: versões acessíveis para todos.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2: ciclo de estudo entre pares sobre planejamento acessível e uso crítico de IA. Quatro encontros quinzenais com tentativa em sala entre o segundo e o terceiro. Registre os erros da IA, não só os acertos, conte o tempo de revisão e respeite recusas fundamentadas.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Respeitar a autonomia docente inclui reconhecer que alguns professores decidam não usar IA em certas tarefas. Distinga recusa fundamentada, que é decisão profissional, de falta de informação, que se resolve com estudo e prática. Convide a uma tentativa pequena e a registrar resultados.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a pesquisa permite afirmar. Formação: revisões associam características a mudança de prática, com variação e cautela na transferência ao Brasil. Ganhos de tempo com IA: poucas evidências robustas para professores. Acessibilidade e IA: desenho universal é consolidado, mas estudos controlados sobre IA para materiais acessíveis na escola são escassos.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Riscos do capítulo: adaptações erradas, exposição de dados, estigma, excesso de confiança em ferramentas como substitutas de intérpretes e profissionais de apoio, intensificação do trabalho e pressão por adoção. Quando dispensar: pedido com dados identificáveis, material crítico para segurança ou saúde, ou quando não se pode verificar.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Síntese: acessibilidade, trabalho e formação, ligados por uma pequena caixa tracejada: IA, rascunhos sob verificação. Peça que cada um diga qual bloco fortalecerá primeiro.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Releia os pontos. Sugira o bilhete anônimo para os estudantes: qual formato ajuda você mais a estudar, texto, esquema, áudio ou vídeo? O que atrapalha?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Dê 5 minutos. Convide pares a combinar uma pergunta de prática para um ciclo de estudo.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Convide a turma a escolher uma ideia para experimentar nesta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6D3B6E">
              <a:alpha val="75000"/>
            </a:srgbClr>
          </a:solidFill>
          <a:ln w="12700">
            <a:solidFill>
              <a:srgbClr val="6D3B6E">
                <a:alpha val="7500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692640" y="3840480"/>
            <a:ext cx="3840480" cy="3840480"/>
          </a:xfrm>
          <a:prstGeom prst="ellipse">
            <a:avLst/>
          </a:prstGeom>
          <a:solidFill>
            <a:srgbClr val="E9A23B">
              <a:alpha val="65000"/>
            </a:srgbClr>
          </a:solidFill>
          <a:ln w="12700">
            <a:solidFill>
              <a:srgbClr val="E9A23B">
                <a:alpha val="65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188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4B860"/>
                </a:solidFill>
              </a:rPr>
              <a:t>CAPÍTULO 23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737360"/>
            <a:ext cx="8412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Acessibilidade na prática, organização do trabalho docente e desenvolvimento profissional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297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7EFE6"/>
                </a:solidFill>
              </a:rPr>
              <a:t>Parte IV — Aplicações práticas no trabalho docente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D9C8"/>
                </a:solidFill>
              </a:rPr>
              <a:t>Inteligência Artificial Aplicada à Educação · Araken de Medeiros Santos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vamos aprender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31520" y="164592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4630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Ligar acessibilidade e desenho universal à rotina de sala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4688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65176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651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554480" y="24688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Aplicar uma lista de verificação a materiais didáticos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4747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34747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Proteger dados sensíveis de estudantes com deficiência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44805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31520" y="466344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554480" y="448056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Organizar o trabalho com triagem, banco de materiais e limites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548640" y="548640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31520" y="566928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5669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554480" y="548640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Planejar ciclos de formação entre pares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23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D3B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22960" y="914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FFFFF"/>
                </a:solidFill>
              </a:rPr>
              <a:t>DOMINGO À NOITE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1645920"/>
            <a:ext cx="10515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'Adapte tudo para acessibilidade.' A IA devolveu datas trocadas e imagens mal descritas.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3E6"/>
                </a:solidFill>
              </a:rPr>
              <a:t>Cena fictícia: a coordenadora propõe um grupo de estudo quinzenal. Marta tem tempo?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Barreiras estão no material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Acessibilidade é acesso, com autonomia, à informação e à aprendizagem. A barreira está no ambiente e no material, não na pessoa.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uma rampa: feita para cadeiras de rodas, ajuda também carrinho de bebê, mala pesada e perna machucada.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“Planejar com acessibilidade é planejar melhor para todos.”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Dois referenciais para a prática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Desenho universal (UDL)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Vários meios de engajamento, representação e ação e expressão, desde o planejamento.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2816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5676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567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5676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Diretrizes da web (WCAG)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55676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Conteúdo perceptível, operável, compreensível e robusto.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10768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33628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62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33628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Apoios individuais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3628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Planejados com o estudante, a família e o atendimento especializado.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23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Camadas da acessibilidade</a:t>
            </a:r>
            <a:endParaRPr lang="en-US" sz="3400" dirty="0"/>
          </a:p>
        </p:txBody>
      </p:sp>
      <p:pic>
        <p:nvPicPr>
          <p:cNvPr id="4" name="Image 0" descr="Figura 23.2 — Camadas da acessibilidade na prática docent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74915" y="1325880"/>
            <a:ext cx="6411691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23.2 — Camadas da acessibilidade na prática docente.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23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verificar em um material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Estrutura e texto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Títulos reais, listas, fonte legível, parágrafos curtos.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Contraste e imagens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Contraste suficiente; texto alternativo que corresponda à imagem.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Vídeo e áudio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Legendas e transcrição revisadas: nomes e termos técnicos.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Linguagem e formatos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Frases diretas; mais de um formato dizendo a mesma coisa.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23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914400" y="1188720"/>
            <a:ext cx="103327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“Rascunho, sim. Verdade, só depois de conferir.”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521208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4B860"/>
                </a:solidFill>
              </a:rPr>
              <a:t>Descrição de imagem, simplificação e legenda por IA: confira com o original.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23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 e verifique o material adaptado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O conteúdo é o mesmo do original?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As descrições de imagens correspondem ao que se precisa perceber?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Legendas e transcrições foram revisadas?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O estudante ou o profissional de apoio testou? Há alternativa sem IA?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23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Tecnologias assistivas e Libras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estudante já usa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Leitor de tela e ampliador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Teclado adaptado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Comunicação alternativa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Intérpretes e professores bilíngues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IA pode complementar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Mas não substitui os recursos pessoais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Tradução automática de Libras ainda é limitada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Ouvir o estudante: o que ajuda um pode atrapalhar outro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Comunidade surda sabe o que funciona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23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Dados sensíveis: laudos ficam de fora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Saúde e deficiência são dados pessoais sensíveis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Não informe nome, laudo ou história do estudante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Descreva a necessidade em termos gerais, ou nada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Plano individual: com família e atendimento, fora da IA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23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Rotina sustentável com IA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Triagem em 3 colunas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Usar IA, adaptar o que já tem, ou dispensar.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Banco de materiais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Pasta com atividades e versões acessíveis já revisadas. Reutilizar é mais seguro.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Limites de tempo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Se em dez minutos o rascunho não ficou bom, faça à mão.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Fronteira da jornada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Resposta à noite não obriga a trabalhar à noite.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23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pedido ao material usado</a:t>
            </a:r>
            <a:endParaRPr lang="en-US" sz="3400" dirty="0"/>
          </a:p>
        </p:txBody>
      </p:sp>
      <p:pic>
        <p:nvPicPr>
          <p:cNvPr id="4" name="Image 0" descr="Figura 23.3 — Fluxo de trabalho docente com verificaçã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11064240" cy="3589268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23.3 — Fluxo de trabalho docente com verificação.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 de tempo: com e sem IA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Escolha uma tarefa recorrente e meça por um mês duas coisas: tempo total, incluindo a revisão, e a sua confiança no material.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o preço de uma promoção: só vale se você somar o frete e o tempo de devolver.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“Tempo de gerar não é tempo de trabalhar.”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Formação docente que funciona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Foco no conteúdo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Critérios de decisão e conhecimento pedagógico, não só ferramentas.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Ativa e colaborativa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Aprendizagem ativa, colaboração e modelagem de práticas.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Acompanhada e reflexiva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Acompanhamento de pares ou especialistas, feedback e reflexão.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Sustentada e voluntária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Duração contínua; a participação imposta tende a render menos.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23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Ciclo de estudo entre pares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243584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243584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Escolher uma pergunta de prática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3B6E"/>
                </a:solidFill>
              </a:rPr>
              <a:t>›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2807208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02152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02152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944368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Planejar uma tentativa pequena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818888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3B6E"/>
                </a:solidFill>
              </a:rPr>
              <a:t>›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5065776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760720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76072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202936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Experimentar e coletar evidência simples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077456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3B6E"/>
                </a:solidFill>
              </a:rPr>
              <a:t>›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7324344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019288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19288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461504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Analisar juntos, inclusive erros da IA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9336024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3B6E"/>
                </a:solidFill>
              </a:rPr>
              <a:t>›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9582912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277856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277856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9720072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Registrar e decidir o próximo ciclo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2E2A"/>
                </a:solidFill>
              </a:rPr>
              <a:t>Até 20 minutos semanais entre dois colegas já são um ciclo.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23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 1: auditoria de acessibilidade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Escolher um material e percorrer a lista de verificação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Priorizar três mudanças de maior impacto e menor custo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Rascunhar descrições ou simplificação (IA opcional)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Comparar cada trecho com o original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Revisão por um colega e teste com dois estudantes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Guardar a versão no banco e anotar o aprendizado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2 sessões de 60 min, com intervalo de uma semana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Material revisado, lista antes e depois, notas da revisão e do teste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Material impresso: letras maiores, blocos curtos, leitura em voz alta e colegas.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23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 2: ciclo de estudo entre pares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Escolher a pergunta de prática e a evidência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Planejar uma tentativa pequena por participante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Aplicar em sala e anotar imprevistos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Apresentar em 3 minutos: fez, viu, corrigiu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Montar banco compartilhado e decidir o próximo ciclo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4 encontros de 60 a 90 min, quinzenais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Registro de decisões, banco compartilhado e pergunta do ciclo seguinte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Encontros no horário coletivo, anotações em papel; sem IA, só adaptações dos professores.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23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não quer usar IA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Recusa fundamentada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Razões pedagógicas, éticas ou de contexto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É decisão profissional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Merece espaço de discussão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Escola precisa de quem decide não usar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Falta de informação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Resolve-se com estudo e prática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Convide para uma tentativa pequena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Registre os resultados juntos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Não imponha a adoção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23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pesquisa permite afirmar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Formação docente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Ativa, colaborativa e sustentada se associa a mudança de prática, com variação.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2816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5676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567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5676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Ganho de tempo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55676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Poucas evidências robustas para professores brasileiros; depende da tarefa.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10768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33628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62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33628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Acessibilidade e IA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3628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Desenho universal é consolidado; estudos controlados sobre IA ainda são escassos.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23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Riscos e quando dispensar a IA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Adaptação errada: imagem mal descrita, fato alterado, legenda errada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Estigma: material diferente que marca o estudante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Dispense se o pedido exigir dados ou laudos identificáveis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Dispense em material crítico de segurança ou saúde, ou sem como verificar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23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Síntese: apoio entre estudantes, professores e colegas</a:t>
            </a:r>
            <a:endParaRPr lang="en-US" sz="3400" dirty="0"/>
          </a:p>
        </p:txBody>
      </p:sp>
      <p:pic>
        <p:nvPicPr>
          <p:cNvPr id="4" name="Image 0" descr="Figura 23.4 — Acessibilidade, trabalho e formação, com a IA como ferrament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56957" y="1325880"/>
            <a:ext cx="8447606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23.4 — Acessibilidade, trabalho e formação, com a IA como ferramenta.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23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6D3B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vale a pena lembrar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17320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1417320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Acessibilidade é direito e prática: barreiras estão no material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2289048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289048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2289048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Desenho universal planeja para muitos ao mesmo tempo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160776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160776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3160776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A IA rascunha; você verifica com o original e testa com o estudante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4032504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4032504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4032504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Dados de saúde e deficiência são sensíveis: não os insira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4904232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904232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4904232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Conte a revisão no tempo; use triagem, banco e limites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5775960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520" y="5775960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5775960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Formação efetiva é ativa, colaborativa e contínua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pensar na sua prática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3736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barreira de acesso você reduziria esta semana, sem tecnologia?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6974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7180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71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9748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Como você verifica uma descrição de imagem produzida por IA?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9319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20624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93192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tarefa recorrente merece um teste de tempo com e sem IA?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5166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44068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16636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pergunta de prática você levaria a um grupo de estudo?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23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6D3B6E">
              <a:alpha val="70000"/>
            </a:srgbClr>
          </a:solidFill>
          <a:ln w="12700">
            <a:solidFill>
              <a:srgbClr val="6D3B6E">
                <a:alpha val="70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Planejar para todos é planejar melhor.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41148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4B860"/>
                </a:solidFill>
              </a:rPr>
              <a:t>A docência é insubstituível.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5029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D9C8"/>
                </a:solidFill>
              </a:rPr>
              <a:t>Obrigado(a)!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 na Educação">
  <a:themeElements>
    <a:clrScheme name="IA na Educação">
      <a:dk1>
        <a:srgbClr val="3B2A2A"/>
      </a:dk1>
      <a:lt1>
        <a:srgbClr val="FFFFFF"/>
      </a:lt1>
      <a:dk2>
        <a:srgbClr val="5A2E2A"/>
      </a:dk2>
      <a:lt2>
        <a:srgbClr val="F7EFE6"/>
      </a:lt2>
      <a:accent1>
        <a:srgbClr val="D9653B"/>
      </a:accent1>
      <a:accent2>
        <a:srgbClr val="2A9D8F"/>
      </a:accent2>
      <a:accent3>
        <a:srgbClr val="E9A23B"/>
      </a:accent3>
      <a:accent4>
        <a:srgbClr val="6D3B6E"/>
      </a:accent4>
      <a:accent5>
        <a:srgbClr val="3D7EA6"/>
      </a:accent5>
      <a:accent6>
        <a:srgbClr val="6E9A4F"/>
      </a:accent6>
      <a:hlink>
        <a:srgbClr val="3D7EA6"/>
      </a:hlink>
      <a:folHlink>
        <a:srgbClr val="6D3B6E"/>
      </a:folHlink>
    </a:clrScheme>
    <a:fontScheme name="IA na Educaçã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Capítulo 23 — Acessibilidade na prática, organização do trabalho docente e desenvolvimento profissional</dc:title>
  <dc:subject>PptxGenJS Presentation</dc:subject>
  <dc:creator>Araken de Medeiros Santos</dc:creator>
  <cp:lastModifiedBy>Araken de Medeiros Santos</cp:lastModifiedBy>
  <cp:revision>1</cp:revision>
  <dcterms:created xsi:type="dcterms:W3CDTF">2026-10-26T23:32:44Z</dcterms:created>
  <dcterms:modified xsi:type="dcterms:W3CDTF">2026-10-26T23:32:44Z</dcterms:modified>
</cp:coreProperties>
</file>