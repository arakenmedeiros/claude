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22.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Pergunte à turma: quantos já tiveram uma pilha de textos para corrigir e pouco tempo? Anuncie que o capítulo trata de ganhar tempo sem perder o caráter formativo.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de Rogério com 120 redações. A IA devolve notas e elogios, mas duas sugestões contradizem o que ele ensinou e uma estudante esforçada recebe nota baixa e comentário seco. Pergunte: o que posso delegar e o que não posso? Deixe 2 minutos de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funções da avaliação, e confundi-las gera frustração. Diagnóstica: antes, para decidir o que ensinar. Formativa: durante, para ajustar enquanto há tempo. Somativa: ao final, para certificar. A LDB indica avaliação contínua e cumulativa, com prevalência dos aspectos qualitativos. Uma prova pode ser formativa se usada para replanejar.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da cozinha. Provar o tempero durante o preparo é formativo; o cliente que prova o prato pronto faz avaliação somativa. A escola precisa das duas, mas costuma ter provas demais e provas de tempero de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Estratégias de diagnóstico curto: perguntas abertas, itens de múltipla escolha com distratores diagnósticos, mapas conceituais, problemas de entrada e conversas. Cada alternativa errada deve corresponder a uma ideia equivocada comum. Pergunte: que pergunta mudaria seu plano de aula?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 antes de aplicar um diagnóstico feito com IA. A IA erra conceitos e repete itens ambíguos. Resolva você mesmo todos os itens. Nunca insira respostas com nome, imagem ou dados de estudantes em ferramentas externas. Para turmas pequenas, tabulação em papel é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da avaliação formativa só se completa quando há ação depois da evidência. A IA pode apoiar a interpretação de evidências que você coletou, como agrupar respostas anonimizadas por tipo de erro. A decisão é sua. Se a ferramenta disser que a turma está bem, pergunte com base em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Estratégias formativas de baixo custo. Bilhetes de saída, quatro cantos ou cartões, perguntas de verificação, revisão em pares e autoavaliação guiada. Sugira o bilhete de saída semanal: ler em dez minutos, agrupar em três ou quatro pilhas e começar a aula seguinte por 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rubrica: critérios de qualidade e níveis de desempenho. Pode ser analítica ou holística. Usada antes e durante a tarefa ela apoia a aprendizagem; entregue só na hora da nota, tem pouco efeito. Peça um exemplo de critério para argumentação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Anatomia de uma rubrica: critério, níveis, descritores e pesos opcionais. Boas práticas: poucos critérios, entre três e cinco; descritores observáveis, sem adjetivos vagos; construção com a turma; calibração entre colegas; uso formativo com autoavaliação.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e as rubricas. Pode rascunhar critérios e descritores, ou versões em linguagem simples. Mas rubricas geradas costumam ser genéricas, com descritores quase intercambiáveis. Teste em dois ou três trabalhos reais. Evite pedir que a IA aplique a rubrica e atribua notas: nota é decisão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útil indica o próximo passo. A síntese clássica propõe três perguntas: para onde vou, como estou indo, o que faço a seguir. Comentários sobre a pessoa ajudam pouco. Peça que a turma reescreva 'Melhore a argumentação' como feedback mais útil. Dê uma ou duas prioridades, não quinze.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Arranjo prudente: a IA rascunha a partir de critérios seus e de texto sem identificação; o professor lê, decide e assina; o estudante age. Sem ação, não há ciclo. Os resultados de feedback por IA são promissores, mas contextuais, recentes e mistos.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capítulo. Use para situar o que vem a seguir: atividades, integridade e limites,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 pesquisa permite afirmar. Formativa e feedback informativo podem ajudar, com efeito que varia muito. Rubricas: uso formativo é o que mais se associa a ganhos. Feedback por IA: estudos recentes, em contextos específicos, resultados mistos. Detectores: limitações importantes e viés contra escritores não nativos.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diagnóstico de entrada. Escolha um conceito central, liste equívocos prováveis, valide quatro a seis itens, aplique sem nota em 15 minutos, tabule e transforme em plano de ação. IA só na preparação, opcional. Sem recursos: cartões A, B, C e D de folha dobrada.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rubrica construída com a turma e feedback em ciclo. Comece pela ordenação de quatro textos anônimos, extraia critérios, descreva níveis, teste a rubrica, faça feedback de pares e revise. A IA só entra, opcional, para rascunhar descritores que serão comparados com os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automáticas, detectores e decisões consequentes exigem supervisão humana e devido processo. Não delegue a nota. Não use detectores como prova isolada: em caso de suspeita, converse, peça explicação oral e compare com produções em sala. Explique as regras antes de cada tarefa e proteja 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 na avaliação. Notas e aprovação ou reprovação. Feedback em situações sensíveis, como sofrimento ou suspeita de má conduta. Quando não dá para anonimizar. Quando não há tempo de ler e revisar o rascunho. E quando o objetivo é avaliar o estudante sem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critérios claros, evidências de aprendizagem, feedback com o próximo passo e ação do estudante, tudo sob a responsabilidade do professor, com a IA como rascunho a ser revisado.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pontos. Sugira o experimento: cada estudante recebe feedback de um colega e escreve uma resposta: vou mudar X porque, não vou mudar Y porque.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 de escrita e depois conversa em duplas. Convide a turma a combinar as regras sobre IA nas avaliações do próximo bimestre.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D3B6E">
              <a:alpha val="75000"/>
            </a:srgbClr>
          </a:solidFill>
          <a:ln w="12700">
            <a:solidFill>
              <a:srgbClr val="6D3B6E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22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diagnóstica e formativa, rubricas e feedback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IV — Aplicações práticas no trabalho docente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avaliação diagnóstica, formativa e somativa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diagnósticos curtos que revelem o raciocínio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Elaborar rubricas claras, observáveis e construídas com a turma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Produzir feedback que indique o próximo passo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limites de notas automáticas e de detectores de IA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CENTO E VINTE REDAÇÕES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corrige tudo em minutos. O que posso delegar e o que não posso?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Rogério ganha tempo, mas perde o controle sobre o que os estudantes recebem.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funções da avaliação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Antes de ensinar: o que já sabem e que ideias equivocadas trazem? Não precisa gerar nota.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Durante: onde estão e o que fazer a seguir? Ajusta o ensino enquanto há tempo.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Somativa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Ao final: o que foi aprendido? Certifica, classifica ou informa.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Provar o tempero durante o preparo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A avaliação formativa ajusta o ensino enquanto ainda dá para corrigir. A somativa certifica ao final.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cozinheiro que prova o sal durante o preparo, e não só o cliente com o prato pronto.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“Provas demais, 'provas de tempero' de menos.”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Diagnóstico: curto, específico, orientado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Pergunta aberta curta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Item com distratores diagnósticos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Mapa conceitual ou desenho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Problema de entrada com método registrado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Conversa e observação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Uma boa pergunta é aquela cuja resposta muda o plano de aula.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 o diagnóstico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Resolva todos os itens e veja se há mais de uma resposta defensável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item mede o conceito, não a leitura do enunciado?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Teste com um colega ou estudante de outra turma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Decida de antemão o que fará com cada padrão de respostas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da avaliação formativa</a:t>
            </a:r>
            <a:endParaRPr lang="en-US" sz="3400" dirty="0"/>
          </a:p>
        </p:txBody>
      </p:sp>
      <p:pic>
        <p:nvPicPr>
          <p:cNvPr id="4" name="Image 0" descr="Figura 22.2 — Critério, evidência, interpretação e feedback, ação de ajus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976" y="1325880"/>
            <a:ext cx="618556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22.2 — Critério, evidência, interpretação e feedback, ação de ajuste.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Formativa de baixo custo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Bilhete de saída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Uma pergunta que revele o raciocínio. Leia em dez minutos e agrupe em pilhas.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cantos ou cartões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Mostram a distribuição de ideias da turma em segundos.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de verificação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No meio da explicação, com tempo para pensar.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e autoavaliação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Revisão com critérios; o estudante reconhece onde está.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Rubrica: o mapa do que é qualidade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Descreve critérios e níveis de desempenho. Vale mais quando usada antes e durante a tarefa, não só na nota.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legenda de um mapa: sem ela, o caminho existe, mas ninguém sabe ler.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“Rubrica entregue só na hora da nota quase não ensina.”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de rubrica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Poucos critérios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 três a cinco, ligados aos objetivos da tarefa.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Descritores observáveis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o estudante faz em cada nível, sem 'bom' ou 'excelente'.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com a turma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 exemplos de trabalhos anônimos.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Dois colegas avaliam os mesmos trabalhos; divergência mostra descritor ambíguo.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 rubricas: o que pode e o que não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rascunhar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Critérios e descritores a partir dos seus objetivos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Versão em linguagem simples para os mais novos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Ponto de partida para testar em trabalhos reais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Você ajusta e valida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delegue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Aplicar a rubrica e dar nota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Notas inconsistentes entre execuções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Vieses de estilo, língua e dialeto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Responsabilidade pela decisão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Feedback: do comentário à 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 útil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'Melhore a argumentação.'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'Bom trabalho!'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'Atenção ao raciocínio.'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Lista de quinze apontamentos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útil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'Sua tese aparece só no último parágrafo. Reescreva o primeiro.'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'Falta explicar por que o segundo dado favorece a conclusão.'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'No passo 3 você somou os denominadores. Refaça.'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Uma ou duas prioridades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Arranjo prudente para o feedback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 IA rascunha, com texto sem identificação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professor lê, decide e assina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estudante age: revisa, responde, refaz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Sem ação do estudante, não há ciclo formativo.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22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22.1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Formativa e feedback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Podem ajudar a aprender, com grande variação conforme tipo, tarefa e contexto.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uso formativo é o que mais se associa a ganhos.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por IA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Estudos recentes e contextuais, com resultados mistos. Faltam dados na educação básica brasileira.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Limitações importantes e viés contra escritores não nativos.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diagnóstico de entrada e plano de 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o conceito central e listar equívocos prováveis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Rascunhar itens com distratores (IA opcional)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Resolver, validar e ficar com quatro a seis itens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Aplicar em 15 min, sem nota, com justificativa em uma frase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Tabular e decidir uma ação por equívoco frequente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Devolver o padrão geral à turma, sem expor indivíduos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60 min preparo, 15 min aplicação, 30 min análise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Diagnóstico de 4 a 6 itens, folha de tabulação e plano da aula seguinte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Itens no quadro e cartões A, B, C e D de folha dobrada; contagem manual.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rubrica da turma e feedback em ciclo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Ordenar quatro textos anônimos e anotar por quê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Agrupar as razões em três a cinco critérios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Descrever os quatro níveis; testar em dois textos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Feedback de pares: ponto forte, prioridade e pergunta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Professor dá uma ou duas orientações; estudante revisa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Rubrica da turma, textos revisados e ajustes para a próxima tarefa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Cópias manuscritas, exemplos escritos pelo professor e IA fora do processo.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automáticas e detectores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Não delegue a nota: a responsabilidade é do professor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Detectores não são prova isolada; há viés contra não nativos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Em caso de suspeita: converse e peça explicação oral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Trabalhos e notas são dados pessoais: proteja-os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 na avaliação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e decisões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Atribuir nota, aprovar ou reprovar.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Situações sensíveis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Dificuldades pessoais, relatos de sofrimento, suspeita de má conduta.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anonimizar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 não dá para anonimizar o material, não envie.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tempo de revisar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Ou quando o objetivo é avaliar o estudante sem apoio.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critérios, evidências, feedback e ação</a:t>
            </a:r>
            <a:endParaRPr lang="en-US" sz="3400" dirty="0"/>
          </a:p>
        </p:txBody>
      </p:sp>
      <p:pic>
        <p:nvPicPr>
          <p:cNvPr id="4" name="Image 0" descr="Figura 22.3 — Sob responsabilidade do professor, com a IA como rascunh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286" y="1325880"/>
            <a:ext cx="882494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22.3 — Sob responsabilidade do professor, com a IA como rascunho.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Diagnóstico orienta, formativa ajusta, somativa certifica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Diagnóstico bom: curto, específico, leva a uma decisão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Rubricas valem antes e durante a tarefa, com critérios observáveis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Feedback indica o próximo passo; a IA rascunha, você assina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Não delegue notas; detectores não são prova isolada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Proteja dados: anonimize e siga a LGPD e a escola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decisão de ensino você já mudou por causa de uma evidência da turma?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critérios das suas avaliações os estudantes explicam com suas palavras?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parte do seu feedback poderia ser rascunhada com segurança?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regras sobre IA nas avaliações você combinaria com a turma?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B6E">
              <a:alpha val="70000"/>
            </a:srgbClr>
          </a:solidFill>
          <a:ln w="12700">
            <a:solidFill>
              <a:srgbClr val="6D3B6E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rascunha. O professor lê, decide e assina.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22 — Avaliação diagnóstica e formativa, rubricas e feedback</dc:title>
  <dc:subject>PptxGenJS Presentation</dc:subject>
  <dc:creator>Araken de Medeiros Santos</dc:creator>
  <cp:lastModifiedBy>Araken de Medeiros Santos</cp:lastModifiedBy>
  <cp:revision>1</cp:revision>
  <dcterms:created xsi:type="dcterms:W3CDTF">2026-10-26T23:32:39Z</dcterms:created>
  <dcterms:modified xsi:type="dcterms:W3CDTF">2026-10-26T23:32:39Z</dcterms:modified>
</cp:coreProperties>
</file>