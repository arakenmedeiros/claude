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do capítulo 3. Apresente o tema e peça que a turma pense em uma situação do dia a dia relacionada.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os objetivos. O capítulo abre a caixa-preta sem matemática: dados, treinamento, geração. Avise que haverá um jogo desplugado no final. Tempo: 2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 a cena da professora Lúcia: acerta quem proclamou a República, mas depois recebe um episódio local distorcido e um artigo que parece não existir. Pergunte à turma se já viveu isso. Cena fictícia, mas descreve um padrão relatado por usuários. Tempo: 3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mapa como roteiro: dados, treinamento, tokens e probabilidades, geração, multimodal e busca, e consequências para o professor. Tempo: 2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Dados são enormes coleções de textos, com escolhas, filtros e lacunas. Desconfie de treinado com toda a internet: nenhum conjunto contém tudo. O que não está nos dados não pode ser aprendido, e estereótipos que estão nos dados podem ser reproduzidos. Tempo: 3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analogia da biblioteca ajuda, mas tem limites. A pessoa tem experiências e pode verificar o mundo; sabe quando não sabe; tem intenção e responsabilidade. O modelo, por si só, não. Peça à turma que acrescente mais um limite. Tempo: 3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Tokens são as peças do texto: palavras inteiras, partes de palavras, pontuação. A divisão real varia conforme o modelo, então a figura é ilustrativa. Peça que a turma tente dividir uma frase em pedaços. Tempo: 2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Pré-treinamento: dado um trecho, prever o próximo token, bilhões de vezes. A cada erro, os números internos se ajustam para errar um pouco menos. Use o teclado do celular: Bom dia, tudo ___. Peça que a turma complete. Tempo: 3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Percorra o caminho de construção de um assistente. Só o pré-treinamento completa textos; as etapas seguintes ensinam a seguir instruções e dialogar. Destaque que nada disso o transforma em verificador de fatos. Tempo: 3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mesma ideia em figura, para fixar o fluxo. Pergunte onde, nessa linha, entra a verificação do professor. A resposta é: depois de tudo. Tempo: 2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prompt vira tokens, o sistema calcula probabilidades e sorteia o próximo token, e repete. Como há sorteio, a mesma pergunta pode ter respostas diferentes. A temperatura controla o quanto o modelo arrisca, mas em muitos produtos não aparece. Tempo: 3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Exemplo O professor entrou na sala e abriu o ___. As probabilidades são inventadas para fins didáticos e não representam nenhum modelo real. Mostre que oceano é possível, só pouco provável. Tempo: 2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Quatro consequências práticas da geração por probabilidade. Plausível não é verdadeiro; assuntos raros, locais ou recentes aumentam o risco de invenção, as alucinações, tema do próximo capítulo. Janela de contexto e data de corte limitam o que o modelo sabe. Tempo: 4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Texto, imagem, áudio e sistemas multimodais. Imagens podem ter mãos com dedos a mais, texto ilegível, detalhe histórico errado. Cada cartão traz um aviso de verificação. Peça um exemplo de uso em sua disciplina. Tempo: 3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Alguns sistemas combinam o modelo com busca ou documentos do usuário. Isso ajuda a fundamentar, mas não elimina erros: podem escolher fontes ruins ou citar o que a fonte não diz. Na prática: forneça o material, peça que se baseie só nele e confira trechos. Tempo: 3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lições em quatro cartões. A decisão final é humana: o modelo produz rascunhos e hipóteses, e quem valida e se responsabiliza é o professor. Lembre de não descrever a turma com dados pessoais. Tempo: 3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Frase de impacto sobre a lição central do capítulo. Peça que a turma diga em voz alta e depois dê um exemplo de texto bonito e errado. Tempo: 2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Jogo desplugado em que a turma faz o papel do modelo. Na terceira rodada, com um fato local desconhecido, observe como todos chutam nomes plausíveis: é uma alucinação humana. Deixe claro que é uma analogia simplificada, pois o modelo usa contextos muito mais longos. Cerca de 50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riscos mais comuns de quem não entende o funcionamento. Atenção à falsa segurança: ver referências na resposta e supor que são reais. Lembre que muitas empresas não divulgam dados de treinamento nem detalhes do ajuste. Tempo: 3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Quando evitar modelos de linguagem: informação factual precisa que você não terá tempo de conferir, ou resposta com consequências para pessoas. Nesses casos, fontes primárias e especialistas. Pergunte à turma por que notas e laudos entram na lista. Tempo: 2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Síntese: dados, treinamento, prompt, resposta plausível e verificação pelo professor, com seta de volta ao prompt para refinar. Peça que a turma narre o caminho com suas palavras. Tempo: 3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Releia os itens e peça que a turma escolha o que explicaria a um estudante. Volte à professora Lúcia: agora, o que ela faria diferente?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Duas perguntas para duplas, 5 minutos. Se um estudante disser mas o computador falou, peça que a turma ensaie a resposta.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Encerramento. Convide a turma a escolher uma ideia para experimentar nesta semana.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412480" y="-1463040"/>
            <a:ext cx="5943600" cy="5943600"/>
          </a:xfrm>
          <a:prstGeom prst="ellipse">
            <a:avLst/>
          </a:prstGeom>
          <a:solidFill>
            <a:srgbClr val="D9653B">
              <a:alpha val="75000"/>
            </a:srgbClr>
          </a:solidFill>
          <a:ln w="12700">
            <a:solidFill>
              <a:srgbClr val="D9653B">
                <a:alpha val="75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692640" y="3840480"/>
            <a:ext cx="3840480" cy="3840480"/>
          </a:xfrm>
          <a:prstGeom prst="ellipse">
            <a:avLst/>
          </a:prstGeom>
          <a:solidFill>
            <a:srgbClr val="E9A23B">
              <a:alpha val="65000"/>
            </a:srgbClr>
          </a:solidFill>
          <a:ln w="12700">
            <a:solidFill>
              <a:srgbClr val="E9A23B">
                <a:alpha val="6500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188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4B860"/>
                </a:solidFill>
              </a:rPr>
              <a:t>CAPÍTULO 3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737360"/>
            <a:ext cx="8412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 IA generativa funciona: dados, treinamento e respostas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7EFE6"/>
                </a:solidFill>
              </a:rPr>
              <a:t>Parte I — Fundamentos para compreender e decidir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D9C8"/>
                </a:solidFill>
              </a:rPr>
              <a:t>Inteligência Artificial Aplicada à Educação · Araken de Medeiros Santos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aprender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31520" y="1645920"/>
            <a:ext cx="548640" cy="548640"/>
          </a:xfrm>
          <a:prstGeom prst="ellipse">
            <a:avLst/>
          </a:prstGeom>
          <a:solidFill>
            <a:srgbClr val="D9653B"/>
          </a:solidFill>
          <a:ln w="12700">
            <a:solidFill>
              <a:srgbClr val="D9653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146304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Explicar de onde vem o conhecimento de um modelo de linguagem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2651760"/>
            <a:ext cx="548640" cy="548640"/>
          </a:xfrm>
          <a:prstGeom prst="ellipse">
            <a:avLst/>
          </a:prstGeom>
          <a:solidFill>
            <a:srgbClr val="D9653B"/>
          </a:solidFill>
          <a:ln w="12700">
            <a:solidFill>
              <a:srgbClr val="D9653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554480" y="246888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Descrever as etapas: dados, treinamento e ajuste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48640" y="347472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31520" y="3657600"/>
            <a:ext cx="548640" cy="548640"/>
          </a:xfrm>
          <a:prstGeom prst="ellipse">
            <a:avLst/>
          </a:prstGeom>
          <a:solidFill>
            <a:srgbClr val="D9653B"/>
          </a:solidFill>
          <a:ln w="12700">
            <a:solidFill>
              <a:srgbClr val="D9653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554480" y="347472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Entender tokens, probabilidades e janela de contexto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548640" y="448056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31520" y="4663440"/>
            <a:ext cx="548640" cy="548640"/>
          </a:xfrm>
          <a:prstGeom prst="ellipse">
            <a:avLst/>
          </a:prstGeom>
          <a:solidFill>
            <a:srgbClr val="D9653B"/>
          </a:solidFill>
          <a:ln w="12700">
            <a:solidFill>
              <a:srgbClr val="D9653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4663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554480" y="448056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Diferenciar texto, imagem, multimodal e busca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548640" y="548640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31520" y="5669280"/>
            <a:ext cx="548640" cy="548640"/>
          </a:xfrm>
          <a:prstGeom prst="ellipse">
            <a:avLst/>
          </a:prstGeom>
          <a:solidFill>
            <a:srgbClr val="D9653B"/>
          </a:solidFill>
          <a:ln w="12700">
            <a:solidFill>
              <a:srgbClr val="D9653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1520" y="5669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1554480" y="548640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Relacionar o funcionamento às consequências para o professor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965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22960" y="914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FFFFF"/>
                </a:solidFill>
              </a:rPr>
              <a:t>TÃO CERTA, E TÃO ERRADA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645920"/>
            <a:ext cx="10515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não é enciclopédia nem buscador, o que é um modelo de linguagem?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51206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3E6"/>
                </a:solidFill>
              </a:rPr>
              <a:t>Como produz respostas tão fluentes, e erra com tanta convicção?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do capítulo</a:t>
            </a:r>
            <a:endParaRPr lang="en-US" sz="3400" dirty="0"/>
          </a:p>
        </p:txBody>
      </p:sp>
      <p:pic>
        <p:nvPicPr>
          <p:cNvPr id="4" name="Image 0" descr="Figura 3.1 — Mapa dos conceitos principais do capítul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30290" y="1325880"/>
            <a:ext cx="6300940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Figura 3.1 — Mapa dos conceitos principais do capítulo.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ponto de partida: os dados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675120" cy="2926080"/>
          </a:xfrm>
          <a:prstGeom prst="roundRect">
            <a:avLst>
              <a:gd name="adj" fmla="val 4688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653B"/>
                </a:solidFill>
              </a:rPr>
              <a:t>O QUE É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6126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Enormes coleções de textos, escolhidos e filtrados por quem constrói o modelo. Há lacunas e culturas mais e menos representadas.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498080" y="1463040"/>
            <a:ext cx="4114800" cy="2926080"/>
          </a:xfrm>
          <a:prstGeom prst="roundRect">
            <a:avLst>
              <a:gd name="adj" fmla="val 4688"/>
            </a:avLst>
          </a:prstGeom>
          <a:solidFill>
            <a:srgbClr val="D9653B"/>
          </a:solidFill>
          <a:ln w="12700">
            <a:solidFill>
              <a:srgbClr val="D9653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É COMO…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01168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uma pessoa que leu milhões de páginas sem nunca sair da biblioteca.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“Nenhum conjunto de dados contém tudo.”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analogia da biblioteca e seus limites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Pessoa da biblioteca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Tem experiências no mundo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Pode verificar informações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Sabe quando não sabe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Tem intenção e responsabilidade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63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63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D9653B"/>
          </a:solidFill>
          <a:ln w="12700">
            <a:solidFill>
              <a:srgbClr val="D9653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92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linguagem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6537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Aprendeu como se costuma escrever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Não verifica o mundo por si só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Tende a continuar com algo plausível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Não tem intenção nem responsabilidade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3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Tokens: as peças do texto</a:t>
            </a:r>
            <a:endParaRPr lang="en-US" sz="3400" dirty="0"/>
          </a:p>
        </p:txBody>
      </p:sp>
      <p:pic>
        <p:nvPicPr>
          <p:cNvPr id="4" name="Image 0" descr="Ilustração conceitual: a divisão real varia conforme o model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11064240" cy="3757983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Ilustração conceitual: a divisão real varia conforme o modelo.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3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Treinamento: prever o próximo token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675120" cy="2926080"/>
          </a:xfrm>
          <a:prstGeom prst="roundRect">
            <a:avLst>
              <a:gd name="adj" fmla="val 4688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653B"/>
                </a:solidFill>
              </a:rPr>
              <a:t>O QUE É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6126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Dado um trecho de texto, prever qual token vem a seguir. O modelo faz isso bilhões de vezes e ajusta seus parâmetros a cada erro.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498080" y="1463040"/>
            <a:ext cx="4114800" cy="2926080"/>
          </a:xfrm>
          <a:prstGeom prst="roundRect">
            <a:avLst>
              <a:gd name="adj" fmla="val 4688"/>
            </a:avLst>
          </a:prstGeom>
          <a:solidFill>
            <a:srgbClr val="D9653B"/>
          </a:solidFill>
          <a:ln w="12700">
            <a:solidFill>
              <a:srgbClr val="D9653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É COMO…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01168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o teclado do celular sugerindo a próxima palavra, só que com muito mais contexto.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“Aprender padrões de linguagem, uma peça por vez.”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3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coleta de dados ao assistente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243584" y="1600200"/>
            <a:ext cx="640080" cy="640080"/>
          </a:xfrm>
          <a:prstGeom prst="ellipse">
            <a:avLst/>
          </a:prstGeom>
          <a:solidFill>
            <a:srgbClr val="D9653B"/>
          </a:solidFill>
          <a:ln w="12700">
            <a:solidFill>
              <a:srgbClr val="D9653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243584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Coleta de dados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2560320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653B"/>
                </a:solidFill>
              </a:rPr>
              <a:t>›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2807208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02152" y="1600200"/>
            <a:ext cx="640080" cy="640080"/>
          </a:xfrm>
          <a:prstGeom prst="ellipse">
            <a:avLst/>
          </a:prstGeom>
          <a:solidFill>
            <a:srgbClr val="D9653B"/>
          </a:solidFill>
          <a:ln w="12700">
            <a:solidFill>
              <a:srgbClr val="D9653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502152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2944368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Pré-treinamento: prever o próximo token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818888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653B"/>
                </a:solidFill>
              </a:rPr>
              <a:t>›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5065776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760720" y="1600200"/>
            <a:ext cx="640080" cy="640080"/>
          </a:xfrm>
          <a:prstGeom prst="ellipse">
            <a:avLst/>
          </a:prstGeom>
          <a:solidFill>
            <a:srgbClr val="D9653B"/>
          </a:solidFill>
          <a:ln w="12700">
            <a:solidFill>
              <a:srgbClr val="D9653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76072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5202936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Ajuste com instruções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7077456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653B"/>
                </a:solidFill>
              </a:rPr>
              <a:t>›</a:t>
            </a:r>
            <a:endParaRPr lang="en-US" sz="2800" dirty="0"/>
          </a:p>
        </p:txBody>
      </p:sp>
      <p:sp>
        <p:nvSpPr>
          <p:cNvPr id="19" name="Shape 16"/>
          <p:cNvSpPr/>
          <p:nvPr/>
        </p:nvSpPr>
        <p:spPr>
          <a:xfrm>
            <a:off x="7324344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019288" y="1600200"/>
            <a:ext cx="640080" cy="640080"/>
          </a:xfrm>
          <a:prstGeom prst="ellipse">
            <a:avLst/>
          </a:prstGeom>
          <a:solidFill>
            <a:srgbClr val="D9653B"/>
          </a:solidFill>
          <a:ln w="12700">
            <a:solidFill>
              <a:srgbClr val="D9653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019288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7461504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Feedback humano e regras de segurança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9336024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653B"/>
                </a:solidFill>
              </a:rPr>
              <a:t>›</a:t>
            </a:r>
            <a:endParaRPr lang="en-US" sz="2800" dirty="0"/>
          </a:p>
        </p:txBody>
      </p:sp>
      <p:sp>
        <p:nvSpPr>
          <p:cNvPr id="24" name="Shape 21"/>
          <p:cNvSpPr/>
          <p:nvPr/>
        </p:nvSpPr>
        <p:spPr>
          <a:xfrm>
            <a:off x="9582912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0277856" y="1600200"/>
            <a:ext cx="640080" cy="640080"/>
          </a:xfrm>
          <a:prstGeom prst="ellipse">
            <a:avLst/>
          </a:prstGeom>
          <a:solidFill>
            <a:srgbClr val="D9653B"/>
          </a:solidFill>
          <a:ln w="12700">
            <a:solidFill>
              <a:srgbClr val="D9653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0277856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9720072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Assistente que conversa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48640" y="54864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A2E2A"/>
                </a:solidFill>
              </a:rPr>
              <a:t>Mais útil e seguro não significa verificador de fatos.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3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Etapas simplificadas de um assistente</a:t>
            </a:r>
            <a:endParaRPr lang="en-US" sz="3400" dirty="0"/>
          </a:p>
        </p:txBody>
      </p:sp>
      <p:pic>
        <p:nvPicPr>
          <p:cNvPr id="4" name="Image 0" descr="Ilustração conceitual das etapas de construçã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11064240" cy="3957809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Ilustração conceitual das etapas de construção.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3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uma resposta é gerada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675120" cy="2926080"/>
          </a:xfrm>
          <a:prstGeom prst="roundRect">
            <a:avLst>
              <a:gd name="adj" fmla="val 4688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653B"/>
                </a:solidFill>
              </a:rPr>
              <a:t>O QUE É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6126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B2A2A"/>
                </a:solidFill>
              </a:rPr>
              <a:t>Cada próximo token recebe uma probabilidade, um é sorteado e o processo se repete até a resposta ficar completa.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498080" y="1463040"/>
            <a:ext cx="4114800" cy="2926080"/>
          </a:xfrm>
          <a:prstGeom prst="roundRect">
            <a:avLst>
              <a:gd name="adj" fmla="val 4688"/>
            </a:avLst>
          </a:prstGeom>
          <a:solidFill>
            <a:srgbClr val="D9653B"/>
          </a:solidFill>
          <a:ln w="12700">
            <a:solidFill>
              <a:srgbClr val="D9653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É COMO…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01168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um sorteio com dados viciados: o mais provável sai mais, mas nem sempre.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“Há sorteio: a mesma pergunta pode render outra resposta.”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3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o modelo escolhe a próxima palavra</a:t>
            </a:r>
            <a:endParaRPr lang="en-US" sz="3400" dirty="0"/>
          </a:p>
        </p:txBody>
      </p:sp>
      <p:pic>
        <p:nvPicPr>
          <p:cNvPr id="4" name="Image 0" descr="Probabilidades inventadas, só para ensinar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2326" y="1325880"/>
            <a:ext cx="9716867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Probabilidades inventadas, só para ensinar.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consequências para quem usa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Resposta varia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Há sorteio entre opções prováveis; a temperatura controla o risco.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38328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18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Plausível, não verdadeiro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61188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Em tema raro, local ou recente, cresce a chance de invenção.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4652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46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Memória limitada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Janela de contexto: o que passa do limite pode ser esquecido.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05256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281160" y="1691640"/>
            <a:ext cx="640080" cy="640080"/>
          </a:xfrm>
          <a:prstGeom prst="ellipse">
            <a:avLst/>
          </a:prstGeom>
          <a:solidFill>
            <a:srgbClr val="D9653B"/>
          </a:solidFill>
          <a:ln w="12700">
            <a:solidFill>
              <a:srgbClr val="D9653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811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28116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de corte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28116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Fatos posteriores ao treino faltam, salvo busca ou documentos.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Texto, imagem, áudio e multimodal</a:t>
            </a:r>
            <a:endParaRPr lang="en-US" sz="3400" dirty="0"/>
          </a:p>
        </p:txBody>
      </p:sp>
      <p:pic>
        <p:nvPicPr>
          <p:cNvPr id="4" name="Image 0" descr="Tipos de sistemas generativos e exemplos de uso educacional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11064240" cy="4085997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Tipos de sistemas generativos e exemplos de uso educacional.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o sistema consulta fontes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675120" cy="2926080"/>
          </a:xfrm>
          <a:prstGeom prst="roundRect">
            <a:avLst>
              <a:gd name="adj" fmla="val 4688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653B"/>
                </a:solidFill>
              </a:rPr>
              <a:t>O QUE É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6126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O modelo se junta a uma busca ou aos documentos que você fornece, o que ajuda a fundamentar a resposta, mas não elimina erros.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498080" y="1463040"/>
            <a:ext cx="4114800" cy="2926080"/>
          </a:xfrm>
          <a:prstGeom prst="roundRect">
            <a:avLst>
              <a:gd name="adj" fmla="val 4688"/>
            </a:avLst>
          </a:prstGeom>
          <a:solidFill>
            <a:srgbClr val="D9653B"/>
          </a:solidFill>
          <a:ln w="12700">
            <a:solidFill>
              <a:srgbClr val="D9653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É COMO…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01168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um aluno com consulta liberada: pode escolher o livro errado ou ler mal o trecho.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“Com fonte ou sem fonte, confira os trechos.”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3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isso muda para o professor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Fluência não é verdade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Texto bem escrito não prova que os fatos estejam corretos.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38328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18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Depende do pedido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61188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Prompts com contexto e objetivo ajudam, mas não garantem exatidão.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4652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46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conhece a turma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Só sabe o que você descrever, sem dados pessoais.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05256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281160" y="1691640"/>
            <a:ext cx="640080" cy="640080"/>
          </a:xfrm>
          <a:prstGeom prst="ellipse">
            <a:avLst/>
          </a:prstGeom>
          <a:solidFill>
            <a:srgbClr val="D9653B"/>
          </a:solidFill>
          <a:ln w="12700">
            <a:solidFill>
              <a:srgbClr val="D9653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811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28116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Decisão humana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28116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Quem valida, adapta e se responsabiliza é o professor.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3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5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914400" y="1188720"/>
            <a:ext cx="103327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“Fluência não é verdade: o texto bonito ainda precisa de conferência.”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52120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4B860"/>
                </a:solidFill>
              </a:rPr>
              <a:t>Trate cada resposta como hipótese a verificar.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3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Atividade: Jogo da próxima palavra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6949440" cy="4663440"/>
          </a:xfrm>
          <a:prstGeom prst="roundRect">
            <a:avLst>
              <a:gd name="adj" fmla="val 2941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653B"/>
                </a:solidFill>
              </a:rPr>
              <a:t>PASSO A PASSO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965960"/>
            <a:ext cx="6400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Escreva uma frase incompleta no quadro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Cada estudante anota a palavra mais provável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Conte as respostas e calcule as proporções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Pergunte: um sorteio por proporção daria sempre a mesma?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Repita com frase factual e com fato local desconhecido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Feche: o que o modelo faz de parecido? E o que não faz?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772400" y="1417320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D9653B"/>
          </a:solidFill>
          <a:ln w="12700">
            <a:solidFill>
              <a:srgbClr val="D9653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01000" y="15270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TEMPO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1874520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50 minutos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772400" y="3026664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01000" y="31363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PRODUTO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3483864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Tabelas de contagem e proporções, e discussão que relacione o jogo ao modelo.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772400" y="4636008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01000" y="474573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POUCOS RECURSOS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001000" y="5093208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Só lousa e voz. Em turmas grandes, grupos contam e o professor compõe a tabela.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3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 e verifique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71450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145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46304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Antropomorfismo: tratar o sistema como alguém que sabe ou sente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65176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290322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9032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1600200" y="265176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Excesso de confiança em respostas bem escritas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48640" y="384048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409194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0919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1600200" y="384048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Referências na resposta não são prova de que existem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48640" y="502920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7240" y="528066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52806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1600200" y="502920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Produtos opacos dificultam avaliar vieses e lacunas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3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dispensar o modelo de linguagem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Evite quando...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Citações, datas e dados legais sem tempo de conferir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A resposta afeta pessoas: notas, laudos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Há encaminhamentos em jogo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63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63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D9653B"/>
          </a:solidFill>
          <a:ln w="12700">
            <a:solidFill>
              <a:srgbClr val="D9653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92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Faça em vez disso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6537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Consulte fontes primárias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Peça ajuda a especialistas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Use IA só para rascunho revisável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3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Síntese: do dado ao julgamento do professor</a:t>
            </a:r>
            <a:endParaRPr lang="en-US" sz="3400" dirty="0"/>
          </a:p>
        </p:txBody>
      </p:sp>
      <p:pic>
        <p:nvPicPr>
          <p:cNvPr id="4" name="Image 0" descr="O último passo é humano e volta ao prompt para refinament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11064240" cy="3957809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O último passo é humano e volta ao prompt para refinamento.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3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D965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vale a pena lembrar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11064240" cy="682752"/>
          </a:xfrm>
          <a:prstGeom prst="roundRect">
            <a:avLst>
              <a:gd name="adj" fmla="val 1607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417320"/>
            <a:ext cx="548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653B"/>
                </a:solidFill>
              </a:rPr>
              <a:t>✓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417320"/>
            <a:ext cx="99669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Modelo de linguagem aprende padrões; não é enciclopédia nem buscador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2209800"/>
            <a:ext cx="11064240" cy="682752"/>
          </a:xfrm>
          <a:prstGeom prst="roundRect">
            <a:avLst>
              <a:gd name="adj" fmla="val 1607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2209800"/>
            <a:ext cx="548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653B"/>
                </a:solidFill>
              </a:rPr>
              <a:t>✓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2209800"/>
            <a:ext cx="99669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O treino básico é prever o próximo token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48640" y="3002280"/>
            <a:ext cx="11064240" cy="682752"/>
          </a:xfrm>
          <a:prstGeom prst="roundRect">
            <a:avLst>
              <a:gd name="adj" fmla="val 1607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002280"/>
            <a:ext cx="548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653B"/>
                </a:solidFill>
              </a:rPr>
              <a:t>✓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1463040" y="3002280"/>
            <a:ext cx="99669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A resposta sai token a token, com sorteio, e pode variar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48640" y="3794760"/>
            <a:ext cx="11064240" cy="682752"/>
          </a:xfrm>
          <a:prstGeom prst="roundRect">
            <a:avLst>
              <a:gd name="adj" fmla="val 1607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794760"/>
            <a:ext cx="548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653B"/>
                </a:solidFill>
              </a:rPr>
              <a:t>✓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1463040" y="3794760"/>
            <a:ext cx="99669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Plausível pode ser falso, sobretudo em tema raro, local ou recente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48640" y="4587240"/>
            <a:ext cx="11064240" cy="682752"/>
          </a:xfrm>
          <a:prstGeom prst="roundRect">
            <a:avLst>
              <a:gd name="adj" fmla="val 1607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4587240"/>
            <a:ext cx="548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653B"/>
                </a:solidFill>
              </a:rPr>
              <a:t>✓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1463040" y="4587240"/>
            <a:ext cx="99669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Busca e documentos ajudam, mas não dispensam a checagem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548640" y="5379720"/>
            <a:ext cx="11064240" cy="682752"/>
          </a:xfrm>
          <a:prstGeom prst="roundRect">
            <a:avLst>
              <a:gd name="adj" fmla="val 1607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1520" y="5379720"/>
            <a:ext cx="548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653B"/>
                </a:solidFill>
              </a:rPr>
              <a:t>✓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1463040" y="5379720"/>
            <a:ext cx="99669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O professor valida, adapta e se responsabiliza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3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pensar na sua prática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73736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46304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Que analogias você usaria para explicar o modelo a um colega?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297180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600200" y="269748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Em que tarefas a variação das respostas seria problema? E vantagem?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48640" y="393192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420624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600200" y="393192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Que erro seria mais difícil de perceber na sua área?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548640" y="516636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7240" y="544068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5440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600200" y="516636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Se um estudante disser "mas o computador falou", o que responde?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5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D9653B">
              <a:alpha val="70000"/>
            </a:srgbClr>
          </a:solidFill>
          <a:ln w="12700">
            <a:solidFill>
              <a:srgbClr val="D9653B">
                <a:alpha val="7000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1097280" y="182880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Plausível não é o mesmo que verdadeiro.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1097280" y="4114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4B860"/>
                </a:solidFill>
              </a:rPr>
              <a:t>A docência é insubstituível.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1097280" y="5029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9D9C8"/>
                </a:solidFill>
              </a:rPr>
              <a:t>Obrigado(a)!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A na Educação">
  <a:themeElements>
    <a:clrScheme name="IA na Educação">
      <a:dk1>
        <a:srgbClr val="3B2A2A"/>
      </a:dk1>
      <a:lt1>
        <a:srgbClr val="FFFFFF"/>
      </a:lt1>
      <a:dk2>
        <a:srgbClr val="5A2E2A"/>
      </a:dk2>
      <a:lt2>
        <a:srgbClr val="F7EFE6"/>
      </a:lt2>
      <a:accent1>
        <a:srgbClr val="D9653B"/>
      </a:accent1>
      <a:accent2>
        <a:srgbClr val="2A9D8F"/>
      </a:accent2>
      <a:accent3>
        <a:srgbClr val="E9A23B"/>
      </a:accent3>
      <a:accent4>
        <a:srgbClr val="6D3B6E"/>
      </a:accent4>
      <a:accent5>
        <a:srgbClr val="3D7EA6"/>
      </a:accent5>
      <a:accent6>
        <a:srgbClr val="6E9A4F"/>
      </a:accent6>
      <a:hlink>
        <a:srgbClr val="3D7EA6"/>
      </a:hlink>
      <a:folHlink>
        <a:srgbClr val="6D3B6E"/>
      </a:folHlink>
    </a:clrScheme>
    <a:fontScheme name="IA na Educaçã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Capítulo 3 — Como a IA generativa funciona: dados, treinamento e respostas</dc:title>
  <dc:subject>PptxGenJS Presentation</dc:subject>
  <dc:creator>Araken de Medeiros Santos</dc:creator>
  <cp:lastModifiedBy>Araken de Medeiros Santos</cp:lastModifiedBy>
  <cp:revision>1</cp:revision>
  <dcterms:created xsi:type="dcterms:W3CDTF">2026-10-26T23:34:33Z</dcterms:created>
  <dcterms:modified xsi:type="dcterms:W3CDTF">2026-10-26T23:34:33Z</dcterms:modified>
</cp:coreProperties>
</file>