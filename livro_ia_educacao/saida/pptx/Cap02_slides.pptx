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do capítulo 2. Apresente o tema e peça que a turma pense em uma situação do dia a dia relacionada.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Apresente os objetivos e avise que o capítulo termina com um jogo de classificação. A meta é dar critérios simples para a turma conversar sobre IA sem mistério. Tempo: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 a cena do professor Caio: a calculadora, o corretor vermelho e o aplicativo de rotas, tudo chamado de IA. Pergunte à turma o que ela responderia. Anote os palpites no quadro e volte a eles no final.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Não há definição única. A palavra nasceu em 1955, numa proposta para um encontro de verão em Dartmouth. Destaque as palavras sistemas e tarefas: dizemos que o sistema realiza uma tarefa, não que ele é inteligente como uma pessoa.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o mapa para dar o panorama do capítulo. Peça que a turma aponte o ramo que lhe parece mais confuso hoje. Tempo: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Automação convencional: alguém escreveu o passo a passo. Exemplos: calculadora, planilha, semáforo de tempo fixo, formulário com campo obrigatório. Dado o mesmo dado, o mesmo resultado, e se há erro dá para achar a regra. Peça outros exemplos da escola.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se as regras forem difíceis de escrever? Use o exemplo do gato: de costas, filhote, em preto e branco. As exceções se multiplicam. A saída foi mostrar muitos exemplos ao sistema e deixar que ele descubra padrões. Pergunte à turma que outra tarefa teria o mesmo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figura mostra um espectro, não dois blocos: muitos sistemas reais combinam regras e aprendizado. A pergunta-chave diante de qualquer anúncio é o que, exatamente, aprende com dados.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Filtro de spam: ninguém escreveu a lista de todos os e-mails indesejáveis. O sistema viu muitos exemplos e aprendeu padrões, e pode errar. Pergunte quem já perdeu um e-mail importante na caixa de spam. Esse erro razoável faz parte desses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Bonecas russas: IA contém aprendizado de máquina, que contém aprendizado profundo, que contém IA generativa. Lembre que há IA sem aprendizado de máquina, como sistemas especialistas por regras. Redes neurais são metáfora, não réplica do cérebro. Tempo: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forma útil de organizar sistemas é pela tarefa. Peça à turma um exemplo da escola para cada cartão. Gerar é a tarefa que mais aparece hoje, mas não é a única.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sistemas de hoje são IA estreita: fazem tarefas específicas, mesmo parecendo versáteis. A IA geral é objeto de debate e pesquisa, mas não é a que está nas escolas. Quando a notícia fala em IA que supera a humanidade, costuma tratar de hipóteses. Tempo: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Quatro áreas clássicas da IA na educação, segundo uma revisão sobre ensino superior: perfil e previsão, avaliação, sistemas adaptativos e tutores inteligentes. A pesquisa sobre IA na educação é anterior à IA generativa. Pergunte qual desses usos a turma já viu.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revisão clássica apontou pouca reflexão crítica sobre riscos e fraca conexão com teorias pedagógicas. Revisões recentes mostram mais publicações. Sobre tutores, o ganho depende do que se compara e de como o sistema é usado. Reforce a ressalva de evidência.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relações possíveis entre IA e educação. Mesmo o professor que decide não usar IA com os estudantes pode e deve tratar das duas últimas. Peça que a turma diga em qual das três já atua.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Percorra os mitos mais comuns. Insista: parecer entender não é entender, o chamado efeito ELIZA, de 1966, quando pessoas atribuíam empatia a um programa simples. Pergunte qual mito a turma mais ouve. Tempo: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para a frase de impacto. O efeito ELIZA mostra a tendência humana de atribuir compreensão a quem só imita a forma da conversa. Peça que a turma pense em um momento em que se enganou assim. Tempo: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Jogo de classificação em grupos de três ou quatro. O gabarito é uma proposta simplificada: aceite justificativas bem fundamentadas diferentes. Justificar vale mais que acertar. Reserve 50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ouvir que o aplicativo usa IA, não pare aí. Faça as cinco perguntas. Sem respostas, trate como marketing, não como informação técnica. Cuide também dos extremos: simplismo e alarmismo.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o objetivo é compreender conceitualmente o que é IA, nenhum sistema de IA é necessário: cartões, dramatização e conversa bastam. Sugira a dramatização de uma máquina de regras e outra que aprende. Tempo: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Síntese em três perguntas encadeadas: alguém escreveu o passo a passo? Aprendeu padrões a partir de dados? Gera conteúdo novo? Peça que cada dupla aplique o fluxo a uma tecnologia da sala.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Releia os itens e pergunte qual a turma explicaria a um colega no corredor. Volte aos palpites do início e veja o que mudou.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Escolha duas perguntas para duplas, 5 minutos. Peça que a turma volte à pergunta do professor Caio e responda com o critério aprendido.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Convide a turma a escolher uma ideia para experimentar nesta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2E2A"/>
        </a:solidFill>
      </p:bgPr>
    </p:bg>
    <p:spTree>
      <p:nvGrpSpPr>
        <p:cNvPr id="1" name=""/>
        <p:cNvGrpSpPr/>
        <p:nvPr/>
      </p:nvGrpSpPr>
      <p:grpSpPr>
        <a:xfrm>
          <a:off x="0" y="0"/>
          <a:ext cx="0" cy="0"/>
          <a:chOff x="0" y="0"/>
          <a:chExt cx="0" cy="0"/>
        </a:xfrm>
      </p:grpSpPr>
      <p:sp>
        <p:nvSpPr>
          <p:cNvPr id="3" name="Shape 0"/>
          <p:cNvSpPr/>
          <p:nvPr/>
        </p:nvSpPr>
        <p:spPr>
          <a:xfrm>
            <a:off x="8412480" y="-1463040"/>
            <a:ext cx="5943600" cy="5943600"/>
          </a:xfrm>
          <a:prstGeom prst="ellipse">
            <a:avLst/>
          </a:prstGeom>
          <a:solidFill>
            <a:srgbClr val="D9653B">
              <a:alpha val="75000"/>
            </a:srgbClr>
          </a:solidFill>
          <a:ln w="12700">
            <a:solidFill>
              <a:srgbClr val="D9653B">
                <a:alpha val="75000"/>
              </a:srgbClr>
            </a:solidFill>
            <a:prstDash val="solid"/>
          </a:ln>
        </p:spPr>
      </p:sp>
      <p:sp>
        <p:nvSpPr>
          <p:cNvPr id="4" name="Shape 1"/>
          <p:cNvSpPr/>
          <p:nvPr/>
        </p:nvSpPr>
        <p:spPr>
          <a:xfrm>
            <a:off x="9692640" y="3840480"/>
            <a:ext cx="3840480" cy="3840480"/>
          </a:xfrm>
          <a:prstGeom prst="ellipse">
            <a:avLst/>
          </a:prstGeom>
          <a:solidFill>
            <a:srgbClr val="E9A23B">
              <a:alpha val="65000"/>
            </a:srgbClr>
          </a:solidFill>
          <a:ln w="12700">
            <a:solidFill>
              <a:srgbClr val="E9A23B">
                <a:alpha val="65000"/>
              </a:srgbClr>
            </a:solidFill>
            <a:prstDash val="solid"/>
          </a:ln>
        </p:spPr>
      </p:sp>
      <p:sp>
        <p:nvSpPr>
          <p:cNvPr id="5" name="Text 2"/>
          <p:cNvSpPr txBox="1"/>
          <p:nvPr/>
        </p:nvSpPr>
        <p:spPr>
          <a:xfrm>
            <a:off x="731520" y="1188720"/>
            <a:ext cx="7315200" cy="457200"/>
          </a:xfrm>
          <a:prstGeom prst="rect">
            <a:avLst/>
          </a:prstGeom>
          <a:noFill/>
          <a:ln/>
        </p:spPr>
        <p:txBody>
          <a:bodyPr wrap="square" lIns="0" tIns="0" rIns="0" bIns="0" rtlCol="0" anchor="ctr"/>
          <a:lstStyle/>
          <a:p>
            <a:pPr indent="0" marL="0">
              <a:buNone/>
            </a:pPr>
            <a:r>
              <a:rPr lang="en-US" sz="1800" b="1" spc="400" kern="0" dirty="0">
                <a:solidFill>
                  <a:srgbClr val="F4B860"/>
                </a:solidFill>
              </a:rPr>
              <a:t>CAPÍTULO 2</a:t>
            </a:r>
            <a:endParaRPr lang="en-US" sz="1800" dirty="0"/>
          </a:p>
        </p:txBody>
      </p:sp>
      <p:sp>
        <p:nvSpPr>
          <p:cNvPr id="6" name="Text 3"/>
          <p:cNvSpPr txBox="1"/>
          <p:nvPr/>
        </p:nvSpPr>
        <p:spPr>
          <a:xfrm>
            <a:off x="731520" y="1737360"/>
            <a:ext cx="8412480" cy="23774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O que é Inteligência Artificial (e o que não é)</a:t>
            </a:r>
            <a:endParaRPr lang="en-US" sz="4000" dirty="0"/>
          </a:p>
        </p:txBody>
      </p:sp>
      <p:sp>
        <p:nvSpPr>
          <p:cNvPr id="7" name="Text 4"/>
          <p:cNvSpPr txBox="1"/>
          <p:nvPr/>
        </p:nvSpPr>
        <p:spPr>
          <a:xfrm>
            <a:off x="731520" y="4297680"/>
            <a:ext cx="8229600" cy="457200"/>
          </a:xfrm>
          <a:prstGeom prst="rect">
            <a:avLst/>
          </a:prstGeom>
          <a:noFill/>
          <a:ln/>
        </p:spPr>
        <p:txBody>
          <a:bodyPr wrap="square" lIns="0" tIns="0" rIns="0" bIns="0" rtlCol="0" anchor="ctr"/>
          <a:lstStyle/>
          <a:p>
            <a:pPr indent="0" marL="0">
              <a:buNone/>
            </a:pPr>
            <a:r>
              <a:rPr lang="en-US" sz="1800" i="1" dirty="0">
                <a:solidFill>
                  <a:srgbClr val="F7EFE6"/>
                </a:solidFill>
              </a:rPr>
              <a:t>Parte I — Fundamentos para compreender e decidir</a:t>
            </a:r>
            <a:endParaRPr lang="en-US" sz="1800" dirty="0"/>
          </a:p>
        </p:txBody>
      </p:sp>
      <p:sp>
        <p:nvSpPr>
          <p:cNvPr id="8" name="Text 5"/>
          <p:cNvSpPr txBox="1"/>
          <p:nvPr/>
        </p:nvSpPr>
        <p:spPr>
          <a:xfrm>
            <a:off x="731520" y="6035040"/>
            <a:ext cx="9144000" cy="365760"/>
          </a:xfrm>
          <a:prstGeom prst="rect">
            <a:avLst/>
          </a:prstGeom>
          <a:noFill/>
          <a:ln/>
        </p:spPr>
        <p:txBody>
          <a:bodyPr wrap="square" lIns="0" tIns="0" rIns="0" bIns="0" rtlCol="0" anchor="ctr"/>
          <a:lstStyle/>
          <a:p>
            <a:pPr indent="0" marL="0">
              <a:buNone/>
            </a:pPr>
            <a:r>
              <a:rPr lang="en-US" sz="1300" dirty="0">
                <a:solidFill>
                  <a:srgbClr val="E9D9C8"/>
                </a:solidFill>
              </a:rPr>
              <a:t>Inteligência Artificial Aplicada à Educação · Araken de Medeiros Santos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vamos aprender</a:t>
            </a:r>
            <a:endParaRPr lang="en-US" sz="3400" dirty="0"/>
          </a:p>
        </p:txBody>
      </p:sp>
      <p:sp>
        <p:nvSpPr>
          <p:cNvPr id="4" name="Shape 1"/>
          <p:cNvSpPr/>
          <p:nvPr/>
        </p:nvSpPr>
        <p:spPr>
          <a:xfrm>
            <a:off x="548640" y="1463040"/>
            <a:ext cx="11064240" cy="914400"/>
          </a:xfrm>
          <a:prstGeom prst="roundRect">
            <a:avLst>
              <a:gd name="adj" fmla="val 12000"/>
            </a:avLst>
          </a:prstGeom>
          <a:solidFill>
            <a:srgbClr val="F7EFE6"/>
          </a:solidFill>
          <a:ln w="12700">
            <a:solidFill>
              <a:srgbClr val="F7EFE6"/>
            </a:solidFill>
            <a:prstDash val="solid"/>
          </a:ln>
        </p:spPr>
      </p:sp>
      <p:sp>
        <p:nvSpPr>
          <p:cNvPr id="5" name="Shape 2"/>
          <p:cNvSpPr/>
          <p:nvPr/>
        </p:nvSpPr>
        <p:spPr>
          <a:xfrm>
            <a:off x="731520" y="1645920"/>
            <a:ext cx="548640" cy="548640"/>
          </a:xfrm>
          <a:prstGeom prst="ellipse">
            <a:avLst/>
          </a:prstGeom>
          <a:solidFill>
            <a:srgbClr val="D9653B"/>
          </a:solidFill>
          <a:ln w="12700">
            <a:solidFill>
              <a:srgbClr val="D9653B"/>
            </a:solidFill>
            <a:prstDash val="solid"/>
          </a:ln>
        </p:spPr>
      </p:sp>
      <p:sp>
        <p:nvSpPr>
          <p:cNvPr id="6"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554480" y="1463040"/>
            <a:ext cx="9875520" cy="914400"/>
          </a:xfrm>
          <a:prstGeom prst="rect">
            <a:avLst/>
          </a:prstGeom>
          <a:noFill/>
          <a:ln/>
        </p:spPr>
        <p:txBody>
          <a:bodyPr wrap="square" lIns="0" tIns="0" rIns="0" bIns="0" rtlCol="0" anchor="ctr"/>
          <a:lstStyle/>
          <a:p>
            <a:pPr indent="0" marL="0">
              <a:buNone/>
            </a:pPr>
            <a:r>
              <a:rPr lang="en-US" sz="2000" dirty="0">
                <a:solidFill>
                  <a:srgbClr val="3B2A2A"/>
                </a:solidFill>
              </a:rPr>
              <a:t>Explicar o que é IA e por que não há uma definição única</a:t>
            </a:r>
            <a:endParaRPr lang="en-US" sz="2000" dirty="0"/>
          </a:p>
        </p:txBody>
      </p:sp>
      <p:sp>
        <p:nvSpPr>
          <p:cNvPr id="8" name="Shape 5"/>
          <p:cNvSpPr/>
          <p:nvPr/>
        </p:nvSpPr>
        <p:spPr>
          <a:xfrm>
            <a:off x="548640" y="2468880"/>
            <a:ext cx="11064240" cy="914400"/>
          </a:xfrm>
          <a:prstGeom prst="roundRect">
            <a:avLst>
              <a:gd name="adj" fmla="val 12000"/>
            </a:avLst>
          </a:prstGeom>
          <a:solidFill>
            <a:srgbClr val="F7EFE6"/>
          </a:solidFill>
          <a:ln w="12700">
            <a:solidFill>
              <a:srgbClr val="F7EFE6"/>
            </a:solidFill>
            <a:prstDash val="solid"/>
          </a:ln>
        </p:spPr>
      </p:sp>
      <p:sp>
        <p:nvSpPr>
          <p:cNvPr id="9" name="Shape 6"/>
          <p:cNvSpPr/>
          <p:nvPr/>
        </p:nvSpPr>
        <p:spPr>
          <a:xfrm>
            <a:off x="731520" y="2651760"/>
            <a:ext cx="548640" cy="548640"/>
          </a:xfrm>
          <a:prstGeom prst="ellipse">
            <a:avLst/>
          </a:prstGeom>
          <a:solidFill>
            <a:srgbClr val="D9653B"/>
          </a:solidFill>
          <a:ln w="12700">
            <a:solidFill>
              <a:srgbClr val="D9653B"/>
            </a:solidFill>
            <a:prstDash val="solid"/>
          </a:ln>
        </p:spPr>
      </p:sp>
      <p:sp>
        <p:nvSpPr>
          <p:cNvPr id="10" name="Text 7"/>
          <p:cNvSpPr txBox="1"/>
          <p:nvPr/>
        </p:nvSpPr>
        <p:spPr>
          <a:xfrm>
            <a:off x="73152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1554480" y="2468880"/>
            <a:ext cx="9875520" cy="914400"/>
          </a:xfrm>
          <a:prstGeom prst="rect">
            <a:avLst/>
          </a:prstGeom>
          <a:noFill/>
          <a:ln/>
        </p:spPr>
        <p:txBody>
          <a:bodyPr wrap="square" lIns="0" tIns="0" rIns="0" bIns="0" rtlCol="0" anchor="ctr"/>
          <a:lstStyle/>
          <a:p>
            <a:pPr indent="0" marL="0">
              <a:buNone/>
            </a:pPr>
            <a:r>
              <a:rPr lang="en-US" sz="2000" dirty="0">
                <a:solidFill>
                  <a:srgbClr val="3B2A2A"/>
                </a:solidFill>
              </a:rPr>
              <a:t>Distinguir regras explícitas de sistemas que aprendem com dados</a:t>
            </a:r>
            <a:endParaRPr lang="en-US" sz="2000" dirty="0"/>
          </a:p>
        </p:txBody>
      </p:sp>
      <p:sp>
        <p:nvSpPr>
          <p:cNvPr id="12" name="Shape 9"/>
          <p:cNvSpPr/>
          <p:nvPr/>
        </p:nvSpPr>
        <p:spPr>
          <a:xfrm>
            <a:off x="548640" y="3474720"/>
            <a:ext cx="11064240" cy="914400"/>
          </a:xfrm>
          <a:prstGeom prst="roundRect">
            <a:avLst>
              <a:gd name="adj" fmla="val 12000"/>
            </a:avLst>
          </a:prstGeom>
          <a:solidFill>
            <a:srgbClr val="F7EFE6"/>
          </a:solidFill>
          <a:ln w="12700">
            <a:solidFill>
              <a:srgbClr val="F7EFE6"/>
            </a:solidFill>
            <a:prstDash val="solid"/>
          </a:ln>
        </p:spPr>
      </p:sp>
      <p:sp>
        <p:nvSpPr>
          <p:cNvPr id="13" name="Shape 10"/>
          <p:cNvSpPr/>
          <p:nvPr/>
        </p:nvSpPr>
        <p:spPr>
          <a:xfrm>
            <a:off x="731520" y="3657600"/>
            <a:ext cx="548640" cy="548640"/>
          </a:xfrm>
          <a:prstGeom prst="ellipse">
            <a:avLst/>
          </a:prstGeom>
          <a:solidFill>
            <a:srgbClr val="D9653B"/>
          </a:solidFill>
          <a:ln w="12700">
            <a:solidFill>
              <a:srgbClr val="D9653B"/>
            </a:solidFill>
            <a:prstDash val="solid"/>
          </a:ln>
        </p:spPr>
      </p:sp>
      <p:sp>
        <p:nvSpPr>
          <p:cNvPr id="14" name="Text 11"/>
          <p:cNvSpPr txBox="1"/>
          <p:nvPr/>
        </p:nvSpPr>
        <p:spPr>
          <a:xfrm>
            <a:off x="731520" y="36576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2"/>
          <p:cNvSpPr txBox="1"/>
          <p:nvPr/>
        </p:nvSpPr>
        <p:spPr>
          <a:xfrm>
            <a:off x="1554480" y="3474720"/>
            <a:ext cx="9875520" cy="914400"/>
          </a:xfrm>
          <a:prstGeom prst="rect">
            <a:avLst/>
          </a:prstGeom>
          <a:noFill/>
          <a:ln/>
        </p:spPr>
        <p:txBody>
          <a:bodyPr wrap="square" lIns="0" tIns="0" rIns="0" bIns="0" rtlCol="0" anchor="ctr"/>
          <a:lstStyle/>
          <a:p>
            <a:pPr indent="0" marL="0">
              <a:buNone/>
            </a:pPr>
            <a:r>
              <a:rPr lang="en-US" sz="2000" dirty="0">
                <a:solidFill>
                  <a:srgbClr val="3B2A2A"/>
                </a:solidFill>
              </a:rPr>
              <a:t>Situar IA, aprendizado de máquina, profundo e generativa</a:t>
            </a:r>
            <a:endParaRPr lang="en-US" sz="2000" dirty="0"/>
          </a:p>
        </p:txBody>
      </p:sp>
      <p:sp>
        <p:nvSpPr>
          <p:cNvPr id="16" name="Shape 13"/>
          <p:cNvSpPr/>
          <p:nvPr/>
        </p:nvSpPr>
        <p:spPr>
          <a:xfrm>
            <a:off x="548640" y="4480560"/>
            <a:ext cx="11064240" cy="914400"/>
          </a:xfrm>
          <a:prstGeom prst="roundRect">
            <a:avLst>
              <a:gd name="adj" fmla="val 12000"/>
            </a:avLst>
          </a:prstGeom>
          <a:solidFill>
            <a:srgbClr val="F7EFE6"/>
          </a:solidFill>
          <a:ln w="12700">
            <a:solidFill>
              <a:srgbClr val="F7EFE6"/>
            </a:solidFill>
            <a:prstDash val="solid"/>
          </a:ln>
        </p:spPr>
      </p:sp>
      <p:sp>
        <p:nvSpPr>
          <p:cNvPr id="17" name="Shape 14"/>
          <p:cNvSpPr/>
          <p:nvPr/>
        </p:nvSpPr>
        <p:spPr>
          <a:xfrm>
            <a:off x="731520" y="4663440"/>
            <a:ext cx="548640" cy="548640"/>
          </a:xfrm>
          <a:prstGeom prst="ellipse">
            <a:avLst/>
          </a:prstGeom>
          <a:solidFill>
            <a:srgbClr val="D9653B"/>
          </a:solidFill>
          <a:ln w="12700">
            <a:solidFill>
              <a:srgbClr val="D9653B"/>
            </a:solidFill>
            <a:prstDash val="solid"/>
          </a:ln>
        </p:spPr>
      </p:sp>
      <p:sp>
        <p:nvSpPr>
          <p:cNvPr id="18" name="Text 15"/>
          <p:cNvSpPr txBox="1"/>
          <p:nvPr/>
        </p:nvSpPr>
        <p:spPr>
          <a:xfrm>
            <a:off x="731520" y="4663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6"/>
          <p:cNvSpPr txBox="1"/>
          <p:nvPr/>
        </p:nvSpPr>
        <p:spPr>
          <a:xfrm>
            <a:off x="1554480" y="4480560"/>
            <a:ext cx="9875520" cy="914400"/>
          </a:xfrm>
          <a:prstGeom prst="rect">
            <a:avLst/>
          </a:prstGeom>
          <a:noFill/>
          <a:ln/>
        </p:spPr>
        <p:txBody>
          <a:bodyPr wrap="square" lIns="0" tIns="0" rIns="0" bIns="0" rtlCol="0" anchor="ctr"/>
          <a:lstStyle/>
          <a:p>
            <a:pPr indent="0" marL="0">
              <a:buNone/>
            </a:pPr>
            <a:r>
              <a:rPr lang="en-US" sz="2000" dirty="0">
                <a:solidFill>
                  <a:srgbClr val="3B2A2A"/>
                </a:solidFill>
              </a:rPr>
              <a:t>Reconhecer usos da IA na educação</a:t>
            </a:r>
            <a:endParaRPr lang="en-US" sz="2000" dirty="0"/>
          </a:p>
        </p:txBody>
      </p:sp>
      <p:sp>
        <p:nvSpPr>
          <p:cNvPr id="20" name="Shape 17"/>
          <p:cNvSpPr/>
          <p:nvPr/>
        </p:nvSpPr>
        <p:spPr>
          <a:xfrm>
            <a:off x="548640" y="5486400"/>
            <a:ext cx="11064240" cy="914400"/>
          </a:xfrm>
          <a:prstGeom prst="roundRect">
            <a:avLst>
              <a:gd name="adj" fmla="val 12000"/>
            </a:avLst>
          </a:prstGeom>
          <a:solidFill>
            <a:srgbClr val="F7EFE6"/>
          </a:solidFill>
          <a:ln w="12700">
            <a:solidFill>
              <a:srgbClr val="F7EFE6"/>
            </a:solidFill>
            <a:prstDash val="solid"/>
          </a:ln>
        </p:spPr>
      </p:sp>
      <p:sp>
        <p:nvSpPr>
          <p:cNvPr id="21" name="Shape 18"/>
          <p:cNvSpPr/>
          <p:nvPr/>
        </p:nvSpPr>
        <p:spPr>
          <a:xfrm>
            <a:off x="731520" y="5669280"/>
            <a:ext cx="548640" cy="548640"/>
          </a:xfrm>
          <a:prstGeom prst="ellipse">
            <a:avLst/>
          </a:prstGeom>
          <a:solidFill>
            <a:srgbClr val="D9653B"/>
          </a:solidFill>
          <a:ln w="12700">
            <a:solidFill>
              <a:srgbClr val="D9653B"/>
            </a:solidFill>
            <a:prstDash val="solid"/>
          </a:ln>
        </p:spPr>
      </p:sp>
      <p:sp>
        <p:nvSpPr>
          <p:cNvPr id="22" name="Text 19"/>
          <p:cNvSpPr txBox="1"/>
          <p:nvPr/>
        </p:nvSpPr>
        <p:spPr>
          <a:xfrm>
            <a:off x="731520" y="5669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0"/>
          <p:cNvSpPr txBox="1"/>
          <p:nvPr/>
        </p:nvSpPr>
        <p:spPr>
          <a:xfrm>
            <a:off x="1554480" y="5486400"/>
            <a:ext cx="9875520" cy="914400"/>
          </a:xfrm>
          <a:prstGeom prst="rect">
            <a:avLst/>
          </a:prstGeom>
          <a:noFill/>
          <a:ln/>
        </p:spPr>
        <p:txBody>
          <a:bodyPr wrap="square" lIns="0" tIns="0" rIns="0" bIns="0" rtlCol="0" anchor="ctr"/>
          <a:lstStyle/>
          <a:p>
            <a:pPr indent="0" marL="0">
              <a:buNone/>
            </a:pPr>
            <a:r>
              <a:rPr lang="en-US" sz="2000" dirty="0">
                <a:solidFill>
                  <a:srgbClr val="3B2A2A"/>
                </a:solidFill>
              </a:rPr>
              <a:t>Desfazer mitos e aplicar critérios a tecnologias do dia a dia</a:t>
            </a:r>
            <a:endParaRPr lang="en-US" sz="20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9653B"/>
        </a:solidFill>
      </p:bgPr>
    </p:bg>
    <p:spTree>
      <p:nvGrpSpPr>
        <p:cNvPr id="1" name=""/>
        <p:cNvGrpSpPr/>
        <p:nvPr/>
      </p:nvGrpSpPr>
      <p:grpSpPr>
        <a:xfrm>
          <a:off x="0" y="0"/>
          <a:ext cx="0" cy="0"/>
          <a:chOff x="0" y="0"/>
          <a:chExt cx="0" cy="0"/>
        </a:xfrm>
      </p:grpSpPr>
      <p:sp>
        <p:nvSpPr>
          <p:cNvPr id="3" name="Text 0"/>
          <p:cNvSpPr txBox="1"/>
          <p:nvPr/>
        </p:nvSpPr>
        <p:spPr>
          <a:xfrm>
            <a:off x="822960" y="914400"/>
            <a:ext cx="10058400" cy="457200"/>
          </a:xfrm>
          <a:prstGeom prst="rect">
            <a:avLst/>
          </a:prstGeom>
          <a:noFill/>
          <a:ln/>
        </p:spPr>
        <p:txBody>
          <a:bodyPr wrap="square" lIns="0" tIns="0" rIns="0" bIns="0" rtlCol="0" anchor="ctr"/>
          <a:lstStyle/>
          <a:p>
            <a:pPr indent="0" marL="0">
              <a:buNone/>
            </a:pPr>
            <a:r>
              <a:rPr lang="en-US" sz="1800" b="1" spc="400" kern="0" dirty="0">
                <a:solidFill>
                  <a:srgbClr val="FFFFFF"/>
                </a:solidFill>
              </a:rPr>
              <a:t>ISSO AÍ É IA?</a:t>
            </a:r>
            <a:endParaRPr lang="en-US" sz="1800" dirty="0"/>
          </a:p>
        </p:txBody>
      </p:sp>
      <p:sp>
        <p:nvSpPr>
          <p:cNvPr id="4" name="Text 1"/>
          <p:cNvSpPr txBox="1"/>
          <p:nvPr/>
        </p:nvSpPr>
        <p:spPr>
          <a:xfrm>
            <a:off x="822960" y="1645920"/>
            <a:ext cx="10515600" cy="3291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 que torna um sistema inteligência artificial, e por que isso importa a quem ensina?</a:t>
            </a:r>
            <a:endParaRPr lang="en-US" sz="3800" dirty="0"/>
          </a:p>
        </p:txBody>
      </p:sp>
      <p:sp>
        <p:nvSpPr>
          <p:cNvPr id="5" name="Text 2"/>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800" i="1" dirty="0">
                <a:solidFill>
                  <a:srgbClr val="FFF3E6"/>
                </a:solidFill>
              </a:rPr>
              <a:t>Cena fictícia: a palavra é usada para tudo, e o professor não tem um critério claro.</a:t>
            </a:r>
            <a:endParaRPr lang="en-US" sz="1800" dirty="0"/>
          </a:p>
        </p:txBody>
      </p:sp>
      <p:sp>
        <p:nvSpPr>
          <p:cNvPr id="6" name="Text 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Uma definição de trabalho para professores</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D9653B"/>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200" dirty="0">
                <a:solidFill>
                  <a:srgbClr val="3B2A2A"/>
                </a:solidFill>
              </a:rPr>
              <a:t>Área que desenvolve sistemas capazes de realizar tarefas que associamos à inteligência, em geral usando dados.</a:t>
            </a:r>
            <a:endParaRPr lang="en-US" sz="2200" dirty="0"/>
          </a:p>
        </p:txBody>
      </p:sp>
      <p:sp>
        <p:nvSpPr>
          <p:cNvPr id="7" name="Shape 4"/>
          <p:cNvSpPr/>
          <p:nvPr/>
        </p:nvSpPr>
        <p:spPr>
          <a:xfrm>
            <a:off x="7498080" y="1463040"/>
            <a:ext cx="4114800" cy="2926080"/>
          </a:xfrm>
          <a:prstGeom prst="roundRect">
            <a:avLst>
              <a:gd name="adj" fmla="val 4688"/>
            </a:avLst>
          </a:prstGeom>
          <a:solidFill>
            <a:srgbClr val="D9653B"/>
          </a:solidFill>
          <a:ln w="12700">
            <a:solidFill>
              <a:srgbClr val="D9653B"/>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uma ferramenta que faz tarefas de gente, sem ser gente.</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“O sistema realiza uma tarefa; não é inteligente como uma pessoa.”</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Mapa do capítulo</a:t>
            </a:r>
            <a:endParaRPr lang="en-US" sz="3400" dirty="0"/>
          </a:p>
        </p:txBody>
      </p:sp>
      <p:pic>
        <p:nvPicPr>
          <p:cNvPr id="4" name="Image 0" descr="Figura 2.1 — Mapa dos conceitos principais do capítulo.">    </p:cNvPr>
          <p:cNvPicPr>
            <a:picLocks noChangeAspect="1"/>
          </p:cNvPicPr>
          <p:nvPr/>
        </p:nvPicPr>
        <p:blipFill>
          <a:blip r:embed="rId1"/>
          <a:stretch>
            <a:fillRect/>
          </a:stretch>
        </p:blipFill>
        <p:spPr>
          <a:xfrm>
            <a:off x="2930290" y="1325880"/>
            <a:ext cx="6300940"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Figura 2.1 — Mapa dos conceitos principais do capítulo.</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Automação convencional: o sistema de regras</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D9653B"/>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200" dirty="0">
                <a:solidFill>
                  <a:srgbClr val="3B2A2A"/>
                </a:solidFill>
              </a:rPr>
              <a:t>O programador define passo a passo o que fazer. Mesmo dado, mesmo resultado, e dá para achar a regra de um erro.</a:t>
            </a:r>
            <a:endParaRPr lang="en-US" sz="2200" dirty="0"/>
          </a:p>
        </p:txBody>
      </p:sp>
      <p:sp>
        <p:nvSpPr>
          <p:cNvPr id="7" name="Shape 4"/>
          <p:cNvSpPr/>
          <p:nvPr/>
        </p:nvSpPr>
        <p:spPr>
          <a:xfrm>
            <a:off x="7498080" y="1463040"/>
            <a:ext cx="4114800" cy="2926080"/>
          </a:xfrm>
          <a:prstGeom prst="roundRect">
            <a:avLst>
              <a:gd name="adj" fmla="val 4688"/>
            </a:avLst>
          </a:prstGeom>
          <a:solidFill>
            <a:srgbClr val="D9653B"/>
          </a:solidFill>
          <a:ln w="12700">
            <a:solidFill>
              <a:srgbClr val="D9653B"/>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uma receita de bolo seguida à risca: o resultado é sempre o previsto.</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“Quem escreveu a regra, sabe explicar o erro.”</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Aprendizado de máquina: aprender com exemplos</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D9653B"/>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200" dirty="0">
                <a:solidFill>
                  <a:srgbClr val="3B2A2A"/>
                </a:solidFill>
              </a:rPr>
              <a:t>Em vez de escrever regras, mostramos muitos exemplos ao sistema e deixamos que ele descubra padrões.</a:t>
            </a:r>
            <a:endParaRPr lang="en-US" sz="2200" dirty="0"/>
          </a:p>
        </p:txBody>
      </p:sp>
      <p:sp>
        <p:nvSpPr>
          <p:cNvPr id="7" name="Shape 4"/>
          <p:cNvSpPr/>
          <p:nvPr/>
        </p:nvSpPr>
        <p:spPr>
          <a:xfrm>
            <a:off x="7498080" y="1463040"/>
            <a:ext cx="4114800" cy="2926080"/>
          </a:xfrm>
          <a:prstGeom prst="roundRect">
            <a:avLst>
              <a:gd name="adj" fmla="val 4688"/>
            </a:avLst>
          </a:prstGeom>
          <a:solidFill>
            <a:srgbClr val="D9653B"/>
          </a:solidFill>
          <a:ln w="12700">
            <a:solidFill>
              <a:srgbClr val="D9653B"/>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uma criança que aprende o que é um gato vendo muitos gatos, e não lendo uma lista de regras.</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“Sem regras escritas, com padrões aprendidos.”</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Um espectro: de regras a dados</a:t>
            </a:r>
            <a:endParaRPr lang="en-US" sz="3400" dirty="0"/>
          </a:p>
        </p:txBody>
      </p:sp>
      <p:pic>
        <p:nvPicPr>
          <p:cNvPr id="4" name="Image 0" descr="Da calculadora ao assistente conversacional: regras e aprendizado se misturam.">    </p:cNvPr>
          <p:cNvPicPr>
            <a:picLocks noChangeAspect="1"/>
          </p:cNvPicPr>
          <p:nvPr/>
        </p:nvPicPr>
        <p:blipFill>
          <a:blip r:embed="rId1"/>
          <a:stretch>
            <a:fillRect/>
          </a:stretch>
        </p:blipFill>
        <p:spPr>
          <a:xfrm>
            <a:off x="993954" y="1325880"/>
            <a:ext cx="10173611"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Da calculadora ao assistente conversacional: regras e aprendizado se misturam.</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filtro de spam como exemplo</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D9653B"/>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000" dirty="0">
                <a:solidFill>
                  <a:srgbClr val="3B2A2A"/>
                </a:solidFill>
              </a:rPr>
              <a:t>Aprendeu padrões de palavras, remetentes e formatos com muitos exemplos marcados. Ao marcar spam, você ajuda a refiná-lo, e ele pode errar.</a:t>
            </a:r>
            <a:endParaRPr lang="en-US" sz="2000" dirty="0"/>
          </a:p>
        </p:txBody>
      </p:sp>
      <p:sp>
        <p:nvSpPr>
          <p:cNvPr id="7" name="Shape 4"/>
          <p:cNvSpPr/>
          <p:nvPr/>
        </p:nvSpPr>
        <p:spPr>
          <a:xfrm>
            <a:off x="7498080" y="1463040"/>
            <a:ext cx="4114800" cy="2926080"/>
          </a:xfrm>
          <a:prstGeom prst="roundRect">
            <a:avLst>
              <a:gd name="adj" fmla="val 4688"/>
            </a:avLst>
          </a:prstGeom>
          <a:solidFill>
            <a:srgbClr val="D9653B"/>
          </a:solidFill>
          <a:ln w="12700">
            <a:solidFill>
              <a:srgbClr val="D9653B"/>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um porteiro que aprendeu a reconhecer visitantes suspeitos, mas às vezes barra um amigo.</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“Aprender com dados também é aprender a errar.”</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 família da IA: conjuntos que se contêm</a:t>
            </a:r>
            <a:endParaRPr lang="en-US" sz="3400" dirty="0"/>
          </a:p>
        </p:txBody>
      </p:sp>
      <p:pic>
        <p:nvPicPr>
          <p:cNvPr id="4" name="Image 0" descr="Como bonecas russas: cada conjunto está dentro do outro.">    </p:cNvPr>
          <p:cNvPicPr>
            <a:picLocks noChangeAspect="1"/>
          </p:cNvPicPr>
          <p:nvPr/>
        </p:nvPicPr>
        <p:blipFill>
          <a:blip r:embed="rId1"/>
          <a:stretch>
            <a:fillRect/>
          </a:stretch>
        </p:blipFill>
        <p:spPr>
          <a:xfrm>
            <a:off x="2364398" y="1325880"/>
            <a:ext cx="7432724"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Como bonecas russas: cada conjunto está dentro do outro.</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um sistema de IA faz: cinco tarefas</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2A9D8F"/>
          </a:solidFill>
          <a:ln w="12700">
            <a:solidFill>
              <a:srgbClr val="2A9D8F"/>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Classificar</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Dá uma categoria. Ex.: identificar o tipo de erro em respostas.</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6D3B6E"/>
          </a:solidFill>
          <a:ln w="12700">
            <a:solidFill>
              <a:srgbClr val="6D3B6E"/>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Prever</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Estima um valor ou evento. Ex.: risco de evasão.</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3D7EA6"/>
          </a:solidFill>
          <a:ln w="12700">
            <a:solidFill>
              <a:srgbClr val="3D7EA6"/>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Recomendar</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Sugere itens. Ex.: exercícios ou leituras.</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D9653B"/>
          </a:solidFill>
          <a:ln w="12700">
            <a:solidFill>
              <a:srgbClr val="D9653B"/>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Gerar</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Cria conteúdo novo. Ex.: rascunhos de exemplos e perguntas.</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IA estreita e IA geral</a:t>
            </a:r>
            <a:endParaRPr lang="en-US" sz="3400" dirty="0"/>
          </a:p>
        </p:txBody>
      </p:sp>
      <p:sp>
        <p:nvSpPr>
          <p:cNvPr id="4" name="Shape 1"/>
          <p:cNvSpPr/>
          <p:nvPr/>
        </p:nvSpPr>
        <p:spPr>
          <a:xfrm>
            <a:off x="548640" y="1463040"/>
            <a:ext cx="5394960" cy="4572000"/>
          </a:xfrm>
          <a:prstGeom prst="roundRect">
            <a:avLst>
              <a:gd name="adj" fmla="val 3000"/>
            </a:avLst>
          </a:prstGeom>
          <a:solidFill>
            <a:srgbClr val="F7EFE6"/>
          </a:solidFill>
          <a:ln w="12700">
            <a:solidFill>
              <a:srgbClr val="F7EFE6"/>
            </a:solidFill>
            <a:prstDash val="solid"/>
          </a:ln>
        </p:spPr>
      </p:sp>
      <p:sp>
        <p:nvSpPr>
          <p:cNvPr id="5" name="Shape 2"/>
          <p:cNvSpPr/>
          <p:nvPr/>
        </p:nvSpPr>
        <p:spPr>
          <a:xfrm>
            <a:off x="548640" y="1463040"/>
            <a:ext cx="5394960" cy="731520"/>
          </a:xfrm>
          <a:prstGeom prst="roundRect">
            <a:avLst>
              <a:gd name="adj" fmla="val 18750"/>
            </a:avLst>
          </a:prstGeom>
          <a:solidFill>
            <a:srgbClr val="2A9D8F"/>
          </a:solidFill>
          <a:ln w="12700">
            <a:solidFill>
              <a:srgbClr val="2A9D8F"/>
            </a:solidFill>
            <a:prstDash val="solid"/>
          </a:ln>
        </p:spPr>
      </p:sp>
      <p:sp>
        <p:nvSpPr>
          <p:cNvPr id="6" name="Text 3"/>
          <p:cNvSpPr txBox="1"/>
          <p:nvPr/>
        </p:nvSpPr>
        <p:spPr>
          <a:xfrm>
            <a:off x="777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IA estreita (a que existe)</a:t>
            </a:r>
            <a:endParaRPr lang="en-US" sz="2200" dirty="0"/>
          </a:p>
        </p:txBody>
      </p:sp>
      <p:sp>
        <p:nvSpPr>
          <p:cNvPr id="7"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Realiza tarefas específicas</a:t>
            </a:r>
            <a:endParaRPr lang="en-US" sz="1700" dirty="0"/>
          </a:p>
          <a:p>
            <a:pPr marL="342900" indent="-342900">
              <a:spcAft>
                <a:spcPts val="800"/>
              </a:spcAft>
              <a:buSzPct val="100000"/>
              <a:buChar char="•"/>
            </a:pPr>
            <a:r>
              <a:rPr lang="en-US" sz="1700" dirty="0">
                <a:solidFill>
                  <a:srgbClr val="3B2A2A"/>
                </a:solidFill>
              </a:rPr>
              <a:t>Mesmo quando parece versátil</a:t>
            </a:r>
            <a:endParaRPr lang="en-US" sz="1700" dirty="0"/>
          </a:p>
          <a:p>
            <a:pPr marL="342900" indent="-342900">
              <a:spcAft>
                <a:spcPts val="800"/>
              </a:spcAft>
              <a:buSzPct val="100000"/>
              <a:buChar char="•"/>
            </a:pPr>
            <a:r>
              <a:rPr lang="en-US" sz="1700" dirty="0">
                <a:solidFill>
                  <a:srgbClr val="3B2A2A"/>
                </a:solidFill>
              </a:rPr>
              <a:t>É a que chega às escolas</a:t>
            </a:r>
            <a:endParaRPr lang="en-US" sz="1700" dirty="0"/>
          </a:p>
        </p:txBody>
      </p:sp>
      <p:sp>
        <p:nvSpPr>
          <p:cNvPr id="8" name="Shape 5"/>
          <p:cNvSpPr/>
          <p:nvPr/>
        </p:nvSpPr>
        <p:spPr>
          <a:xfrm>
            <a:off x="6263640" y="1463040"/>
            <a:ext cx="5394960" cy="4572000"/>
          </a:xfrm>
          <a:prstGeom prst="roundRect">
            <a:avLst>
              <a:gd name="adj" fmla="val 3000"/>
            </a:avLst>
          </a:prstGeom>
          <a:solidFill>
            <a:srgbClr val="F7EFE6"/>
          </a:solidFill>
          <a:ln w="12700">
            <a:solidFill>
              <a:srgbClr val="F7EFE6"/>
            </a:solidFill>
            <a:prstDash val="solid"/>
          </a:ln>
        </p:spPr>
      </p:sp>
      <p:sp>
        <p:nvSpPr>
          <p:cNvPr id="9" name="Shape 6"/>
          <p:cNvSpPr/>
          <p:nvPr/>
        </p:nvSpPr>
        <p:spPr>
          <a:xfrm>
            <a:off x="6263640" y="1463040"/>
            <a:ext cx="5394960" cy="731520"/>
          </a:xfrm>
          <a:prstGeom prst="roundRect">
            <a:avLst>
              <a:gd name="adj" fmla="val 18750"/>
            </a:avLst>
          </a:prstGeom>
          <a:solidFill>
            <a:srgbClr val="D9653B"/>
          </a:solidFill>
          <a:ln w="12700">
            <a:solidFill>
              <a:srgbClr val="D9653B"/>
            </a:solidFill>
            <a:prstDash val="solid"/>
          </a:ln>
        </p:spPr>
      </p:sp>
      <p:sp>
        <p:nvSpPr>
          <p:cNvPr id="10" name="Text 7"/>
          <p:cNvSpPr txBox="1"/>
          <p:nvPr/>
        </p:nvSpPr>
        <p:spPr>
          <a:xfrm>
            <a:off x="6492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IA geral (em debate)</a:t>
            </a:r>
            <a:endParaRPr lang="en-US" sz="2200" dirty="0"/>
          </a:p>
        </p:txBody>
      </p:sp>
      <p:sp>
        <p:nvSpPr>
          <p:cNvPr id="11" name="Text 8"/>
          <p:cNvSpPr txBox="1"/>
          <p:nvPr/>
        </p:nvSpPr>
        <p:spPr>
          <a:xfrm>
            <a:off x="6537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Aprenderia qualquer tarefa como um humano</a:t>
            </a:r>
            <a:endParaRPr lang="en-US" sz="1700" dirty="0"/>
          </a:p>
          <a:p>
            <a:pPr marL="342900" indent="-342900">
              <a:spcAft>
                <a:spcPts val="800"/>
              </a:spcAft>
              <a:buSzPct val="100000"/>
              <a:buChar char="•"/>
            </a:pPr>
            <a:r>
              <a:rPr lang="en-US" sz="1700" dirty="0">
                <a:solidFill>
                  <a:srgbClr val="3B2A2A"/>
                </a:solidFill>
              </a:rPr>
              <a:t>Objeto de debate e pesquisa</a:t>
            </a:r>
            <a:endParaRPr lang="en-US" sz="1700" dirty="0"/>
          </a:p>
          <a:p>
            <a:pPr marL="342900" indent="-342900">
              <a:spcAft>
                <a:spcPts val="800"/>
              </a:spcAft>
              <a:buSzPct val="100000"/>
              <a:buChar char="•"/>
            </a:pPr>
            <a:r>
              <a:rPr lang="en-US" sz="1700" dirty="0">
                <a:solidFill>
                  <a:srgbClr val="3B2A2A"/>
                </a:solidFill>
              </a:rPr>
              <a:t>Não está disponível para a segunda-feira</a:t>
            </a:r>
            <a:endParaRPr lang="en-US" sz="17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Quatro áreas de IA na educação</a:t>
            </a:r>
            <a:endParaRPr lang="en-US" sz="3400" dirty="0"/>
          </a:p>
        </p:txBody>
      </p:sp>
      <p:pic>
        <p:nvPicPr>
          <p:cNvPr id="4" name="Image 0" descr="Classificação de Zawacki-Richter et al. (2019), em ilustração conceitual.">    </p:cNvPr>
          <p:cNvPicPr>
            <a:picLocks noChangeAspect="1"/>
          </p:cNvPicPr>
          <p:nvPr/>
        </p:nvPicPr>
        <p:blipFill>
          <a:blip r:embed="rId1"/>
          <a:stretch>
            <a:fillRect/>
          </a:stretch>
        </p:blipFill>
        <p:spPr>
          <a:xfrm>
            <a:off x="548640" y="1325880"/>
            <a:ext cx="11064240" cy="3957809"/>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Classificação de Zawacki-Richter et al. (2019), em ilustração conceitual.</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a pesquisa permite afirmar</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2A9D8F"/>
          </a:solidFill>
          <a:ln w="12700">
            <a:solidFill>
              <a:srgbClr val="2A9D8F"/>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Revisão clássica</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Pouca reflexão sobre riscos e conexão fraca com teorias pedagógicas.</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6D3B6E"/>
          </a:solidFill>
          <a:ln w="12700">
            <a:solidFill>
              <a:srgbClr val="6D3B6E"/>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Revisões recentes</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Mais publicações; ainda se pede mais ética e rigor.</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3D7EA6"/>
          </a:solidFill>
          <a:ln w="12700">
            <a:solidFill>
              <a:srgbClr val="3D7EA6"/>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Tutores inteligentes</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Efeitos em geral positivos na educação básica.</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D9653B"/>
          </a:solidFill>
          <a:ln w="12700">
            <a:solidFill>
              <a:srgbClr val="D9653B"/>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Ressalva</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Menos claros quando comparados a tutoria não inteligente.</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Três relações entre IA e educação</a:t>
            </a:r>
            <a:endParaRPr lang="en-US" sz="3400" dirty="0"/>
          </a:p>
        </p:txBody>
      </p:sp>
      <p:sp>
        <p:nvSpPr>
          <p:cNvPr id="4" name="Shape 1"/>
          <p:cNvSpPr/>
          <p:nvPr/>
        </p:nvSpPr>
        <p:spPr>
          <a:xfrm>
            <a:off x="548640" y="1920240"/>
            <a:ext cx="3535680" cy="3291840"/>
          </a:xfrm>
          <a:prstGeom prst="roundRect">
            <a:avLst>
              <a:gd name="adj" fmla="val 4167"/>
            </a:avLst>
          </a:prstGeom>
          <a:solidFill>
            <a:srgbClr val="F7EFE6"/>
          </a:solidFill>
          <a:ln w="12700">
            <a:solidFill>
              <a:srgbClr val="F7EFE6"/>
            </a:solidFill>
            <a:prstDash val="solid"/>
          </a:ln>
        </p:spPr>
      </p:sp>
      <p:sp>
        <p:nvSpPr>
          <p:cNvPr id="5" name="Shape 2"/>
          <p:cNvSpPr/>
          <p:nvPr/>
        </p:nvSpPr>
        <p:spPr>
          <a:xfrm>
            <a:off x="1996440" y="1600200"/>
            <a:ext cx="640080" cy="640080"/>
          </a:xfrm>
          <a:prstGeom prst="ellipse">
            <a:avLst/>
          </a:prstGeom>
          <a:solidFill>
            <a:srgbClr val="D9653B"/>
          </a:solidFill>
          <a:ln w="12700">
            <a:solidFill>
              <a:srgbClr val="D9653B"/>
            </a:solidFill>
            <a:prstDash val="solid"/>
          </a:ln>
        </p:spPr>
      </p:sp>
      <p:sp>
        <p:nvSpPr>
          <p:cNvPr id="6" name="Text 3"/>
          <p:cNvSpPr txBox="1"/>
          <p:nvPr/>
        </p:nvSpPr>
        <p:spPr>
          <a:xfrm>
            <a:off x="1996440"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685800" y="2377440"/>
            <a:ext cx="3261360" cy="2743200"/>
          </a:xfrm>
          <a:prstGeom prst="rect">
            <a:avLst/>
          </a:prstGeom>
          <a:noFill/>
          <a:ln/>
        </p:spPr>
        <p:txBody>
          <a:bodyPr wrap="square" lIns="0" tIns="0" rIns="0" bIns="0" rtlCol="0" anchor="ctr"/>
          <a:lstStyle/>
          <a:p>
            <a:pPr algn="ctr" indent="0" marL="0">
              <a:buNone/>
            </a:pPr>
            <a:r>
              <a:rPr lang="en-US" sz="1700" dirty="0">
                <a:solidFill>
                  <a:srgbClr val="3B2A2A"/>
                </a:solidFill>
              </a:rPr>
              <a:t>Educar COM IA: apoio a ensinar e aprender</a:t>
            </a:r>
            <a:endParaRPr lang="en-US" sz="1700" dirty="0"/>
          </a:p>
        </p:txBody>
      </p:sp>
      <p:sp>
        <p:nvSpPr>
          <p:cNvPr id="8" name="Text 5"/>
          <p:cNvSpPr txBox="1"/>
          <p:nvPr/>
        </p:nvSpPr>
        <p:spPr>
          <a:xfrm>
            <a:off x="4066032" y="3200400"/>
            <a:ext cx="265176" cy="548640"/>
          </a:xfrm>
          <a:prstGeom prst="rect">
            <a:avLst/>
          </a:prstGeom>
          <a:noFill/>
          <a:ln/>
        </p:spPr>
        <p:txBody>
          <a:bodyPr wrap="square" lIns="0" tIns="0" rIns="0" bIns="0" rtlCol="0" anchor="ctr"/>
          <a:lstStyle/>
          <a:p>
            <a:pPr algn="ctr" indent="0" marL="0">
              <a:buNone/>
            </a:pPr>
            <a:r>
              <a:rPr lang="en-US" sz="2800" b="1" dirty="0">
                <a:solidFill>
                  <a:srgbClr val="D9653B"/>
                </a:solidFill>
              </a:rPr>
              <a:t>›</a:t>
            </a:r>
            <a:endParaRPr lang="en-US" sz="2800" dirty="0"/>
          </a:p>
        </p:txBody>
      </p:sp>
      <p:sp>
        <p:nvSpPr>
          <p:cNvPr id="9" name="Shape 6"/>
          <p:cNvSpPr/>
          <p:nvPr/>
        </p:nvSpPr>
        <p:spPr>
          <a:xfrm>
            <a:off x="4312920" y="1920240"/>
            <a:ext cx="3535680" cy="3291840"/>
          </a:xfrm>
          <a:prstGeom prst="roundRect">
            <a:avLst>
              <a:gd name="adj" fmla="val 4167"/>
            </a:avLst>
          </a:prstGeom>
          <a:solidFill>
            <a:srgbClr val="F7EFE6"/>
          </a:solidFill>
          <a:ln w="12700">
            <a:solidFill>
              <a:srgbClr val="F7EFE6"/>
            </a:solidFill>
            <a:prstDash val="solid"/>
          </a:ln>
        </p:spPr>
      </p:sp>
      <p:sp>
        <p:nvSpPr>
          <p:cNvPr id="10" name="Shape 7"/>
          <p:cNvSpPr/>
          <p:nvPr/>
        </p:nvSpPr>
        <p:spPr>
          <a:xfrm>
            <a:off x="5760720" y="1600200"/>
            <a:ext cx="640080" cy="640080"/>
          </a:xfrm>
          <a:prstGeom prst="ellipse">
            <a:avLst/>
          </a:prstGeom>
          <a:solidFill>
            <a:srgbClr val="D9653B"/>
          </a:solidFill>
          <a:ln w="12700">
            <a:solidFill>
              <a:srgbClr val="D9653B"/>
            </a:solidFill>
            <a:prstDash val="solid"/>
          </a:ln>
        </p:spPr>
      </p:sp>
      <p:sp>
        <p:nvSpPr>
          <p:cNvPr id="11" name="Text 8"/>
          <p:cNvSpPr txBox="1"/>
          <p:nvPr/>
        </p:nvSpPr>
        <p:spPr>
          <a:xfrm>
            <a:off x="5760720"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4450080" y="2377440"/>
            <a:ext cx="3261360" cy="2743200"/>
          </a:xfrm>
          <a:prstGeom prst="rect">
            <a:avLst/>
          </a:prstGeom>
          <a:noFill/>
          <a:ln/>
        </p:spPr>
        <p:txBody>
          <a:bodyPr wrap="square" lIns="0" tIns="0" rIns="0" bIns="0" rtlCol="0" anchor="ctr"/>
          <a:lstStyle/>
          <a:p>
            <a:pPr algn="ctr" indent="0" marL="0">
              <a:buNone/>
            </a:pPr>
            <a:r>
              <a:rPr lang="en-US" sz="1700" dirty="0">
                <a:solidFill>
                  <a:srgbClr val="3B2A2A"/>
                </a:solidFill>
              </a:rPr>
              <a:t>Educar SOBRE IA: o que é, como funciona, riscos</a:t>
            </a:r>
            <a:endParaRPr lang="en-US" sz="1700" dirty="0"/>
          </a:p>
        </p:txBody>
      </p:sp>
      <p:sp>
        <p:nvSpPr>
          <p:cNvPr id="13" name="Text 10"/>
          <p:cNvSpPr txBox="1"/>
          <p:nvPr/>
        </p:nvSpPr>
        <p:spPr>
          <a:xfrm>
            <a:off x="7830312" y="3200400"/>
            <a:ext cx="265176" cy="548640"/>
          </a:xfrm>
          <a:prstGeom prst="rect">
            <a:avLst/>
          </a:prstGeom>
          <a:noFill/>
          <a:ln/>
        </p:spPr>
        <p:txBody>
          <a:bodyPr wrap="square" lIns="0" tIns="0" rIns="0" bIns="0" rtlCol="0" anchor="ctr"/>
          <a:lstStyle/>
          <a:p>
            <a:pPr algn="ctr" indent="0" marL="0">
              <a:buNone/>
            </a:pPr>
            <a:r>
              <a:rPr lang="en-US" sz="2800" b="1" dirty="0">
                <a:solidFill>
                  <a:srgbClr val="D9653B"/>
                </a:solidFill>
              </a:rPr>
              <a:t>›</a:t>
            </a:r>
            <a:endParaRPr lang="en-US" sz="2800" dirty="0"/>
          </a:p>
        </p:txBody>
      </p:sp>
      <p:sp>
        <p:nvSpPr>
          <p:cNvPr id="14" name="Shape 11"/>
          <p:cNvSpPr/>
          <p:nvPr/>
        </p:nvSpPr>
        <p:spPr>
          <a:xfrm>
            <a:off x="8077200" y="1920240"/>
            <a:ext cx="3535680" cy="3291840"/>
          </a:xfrm>
          <a:prstGeom prst="roundRect">
            <a:avLst>
              <a:gd name="adj" fmla="val 4167"/>
            </a:avLst>
          </a:prstGeom>
          <a:solidFill>
            <a:srgbClr val="F7EFE6"/>
          </a:solidFill>
          <a:ln w="12700">
            <a:solidFill>
              <a:srgbClr val="F7EFE6"/>
            </a:solidFill>
            <a:prstDash val="solid"/>
          </a:ln>
        </p:spPr>
      </p:sp>
      <p:sp>
        <p:nvSpPr>
          <p:cNvPr id="15" name="Shape 12"/>
          <p:cNvSpPr/>
          <p:nvPr/>
        </p:nvSpPr>
        <p:spPr>
          <a:xfrm>
            <a:off x="9525000" y="1600200"/>
            <a:ext cx="640080" cy="640080"/>
          </a:xfrm>
          <a:prstGeom prst="ellipse">
            <a:avLst/>
          </a:prstGeom>
          <a:solidFill>
            <a:srgbClr val="D9653B"/>
          </a:solidFill>
          <a:ln w="12700">
            <a:solidFill>
              <a:srgbClr val="D9653B"/>
            </a:solidFill>
            <a:prstDash val="solid"/>
          </a:ln>
        </p:spPr>
      </p:sp>
      <p:sp>
        <p:nvSpPr>
          <p:cNvPr id="16" name="Text 13"/>
          <p:cNvSpPr txBox="1"/>
          <p:nvPr/>
        </p:nvSpPr>
        <p:spPr>
          <a:xfrm>
            <a:off x="9525000"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8214360" y="2377440"/>
            <a:ext cx="3261360" cy="2743200"/>
          </a:xfrm>
          <a:prstGeom prst="rect">
            <a:avLst/>
          </a:prstGeom>
          <a:noFill/>
          <a:ln/>
        </p:spPr>
        <p:txBody>
          <a:bodyPr wrap="square" lIns="0" tIns="0" rIns="0" bIns="0" rtlCol="0" anchor="ctr"/>
          <a:lstStyle/>
          <a:p>
            <a:pPr algn="ctr" indent="0" marL="0">
              <a:buNone/>
            </a:pPr>
            <a:r>
              <a:rPr lang="en-US" sz="1700" dirty="0">
                <a:solidFill>
                  <a:srgbClr val="3B2A2A"/>
                </a:solidFill>
              </a:rPr>
              <a:t>Educar PARA um mundo com IA: crítica, ética, cuidado</a:t>
            </a:r>
            <a:endParaRPr lang="en-US" sz="1700" dirty="0"/>
          </a:p>
        </p:txBody>
      </p:sp>
      <p:sp>
        <p:nvSpPr>
          <p:cNvPr id="18" name="Text 15"/>
          <p:cNvSpPr txBox="1"/>
          <p:nvPr/>
        </p:nvSpPr>
        <p:spPr>
          <a:xfrm>
            <a:off x="548640" y="5486400"/>
            <a:ext cx="11064240" cy="731520"/>
          </a:xfrm>
          <a:prstGeom prst="rect">
            <a:avLst/>
          </a:prstGeom>
          <a:noFill/>
          <a:ln/>
        </p:spPr>
        <p:txBody>
          <a:bodyPr wrap="square" lIns="0" tIns="0" rIns="0" bIns="0" rtlCol="0" anchor="ctr"/>
          <a:lstStyle/>
          <a:p>
            <a:pPr algn="ctr" indent="0" marL="0">
              <a:buNone/>
            </a:pPr>
            <a:r>
              <a:rPr lang="en-US" sz="1800" i="1" dirty="0">
                <a:solidFill>
                  <a:srgbClr val="5A2E2A"/>
                </a:solidFill>
              </a:rPr>
              <a:t>Quem não usa IA em aula ainda pode educar sobre e para ela.</a:t>
            </a:r>
            <a:endParaRPr lang="en-US" sz="18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Mitos e verdades sobre IA</a:t>
            </a:r>
            <a:endParaRPr lang="en-US" sz="3400" dirty="0"/>
          </a:p>
        </p:txBody>
      </p:sp>
      <p:sp>
        <p:nvSpPr>
          <p:cNvPr id="4" name="Shape 1"/>
          <p:cNvSpPr/>
          <p:nvPr/>
        </p:nvSpPr>
        <p:spPr>
          <a:xfrm>
            <a:off x="548640" y="1463040"/>
            <a:ext cx="5394960" cy="4572000"/>
          </a:xfrm>
          <a:prstGeom prst="roundRect">
            <a:avLst>
              <a:gd name="adj" fmla="val 3000"/>
            </a:avLst>
          </a:prstGeom>
          <a:solidFill>
            <a:srgbClr val="F7EFE6"/>
          </a:solidFill>
          <a:ln w="12700">
            <a:solidFill>
              <a:srgbClr val="F7EFE6"/>
            </a:solidFill>
            <a:prstDash val="solid"/>
          </a:ln>
        </p:spPr>
      </p:sp>
      <p:sp>
        <p:nvSpPr>
          <p:cNvPr id="5" name="Shape 2"/>
          <p:cNvSpPr/>
          <p:nvPr/>
        </p:nvSpPr>
        <p:spPr>
          <a:xfrm>
            <a:off x="548640" y="1463040"/>
            <a:ext cx="5394960" cy="731520"/>
          </a:xfrm>
          <a:prstGeom prst="roundRect">
            <a:avLst>
              <a:gd name="adj" fmla="val 18750"/>
            </a:avLst>
          </a:prstGeom>
          <a:solidFill>
            <a:srgbClr val="2A9D8F"/>
          </a:solidFill>
          <a:ln w="12700">
            <a:solidFill>
              <a:srgbClr val="2A9D8F"/>
            </a:solidFill>
            <a:prstDash val="solid"/>
          </a:ln>
        </p:spPr>
      </p:sp>
      <p:sp>
        <p:nvSpPr>
          <p:cNvPr id="6" name="Text 3"/>
          <p:cNvSpPr txBox="1"/>
          <p:nvPr/>
        </p:nvSpPr>
        <p:spPr>
          <a:xfrm>
            <a:off x="777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Mito</a:t>
            </a:r>
            <a:endParaRPr lang="en-US" sz="2200" dirty="0"/>
          </a:p>
        </p:txBody>
      </p:sp>
      <p:sp>
        <p:nvSpPr>
          <p:cNvPr id="7"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A IA entende o que diz</a:t>
            </a:r>
            <a:endParaRPr lang="en-US" sz="1700" dirty="0"/>
          </a:p>
          <a:p>
            <a:pPr marL="342900" indent="-342900">
              <a:spcAft>
                <a:spcPts val="800"/>
              </a:spcAft>
              <a:buSzPct val="100000"/>
              <a:buChar char="•"/>
            </a:pPr>
            <a:r>
              <a:rPr lang="en-US" sz="1700" dirty="0">
                <a:solidFill>
                  <a:srgbClr val="3B2A2A"/>
                </a:solidFill>
              </a:rPr>
              <a:t>A IA é neutra e objetiva</a:t>
            </a:r>
            <a:endParaRPr lang="en-US" sz="1700" dirty="0"/>
          </a:p>
          <a:p>
            <a:pPr marL="342900" indent="-342900">
              <a:spcAft>
                <a:spcPts val="800"/>
              </a:spcAft>
              <a:buSzPct val="100000"/>
              <a:buChar char="•"/>
            </a:pPr>
            <a:r>
              <a:rPr lang="en-US" sz="1700" dirty="0">
                <a:solidFill>
                  <a:srgbClr val="3B2A2A"/>
                </a:solidFill>
              </a:rPr>
              <a:t>A IA sabe tudo</a:t>
            </a:r>
            <a:endParaRPr lang="en-US" sz="1700" dirty="0"/>
          </a:p>
          <a:p>
            <a:pPr marL="342900" indent="-342900">
              <a:spcAft>
                <a:spcPts val="800"/>
              </a:spcAft>
              <a:buSzPct val="100000"/>
              <a:buChar char="•"/>
            </a:pPr>
            <a:r>
              <a:rPr lang="en-US" sz="1700" dirty="0">
                <a:solidFill>
                  <a:srgbClr val="3B2A2A"/>
                </a:solidFill>
              </a:rPr>
              <a:t>A IA vai substituir o professor</a:t>
            </a:r>
            <a:endParaRPr lang="en-US" sz="1700" dirty="0"/>
          </a:p>
        </p:txBody>
      </p:sp>
      <p:sp>
        <p:nvSpPr>
          <p:cNvPr id="8" name="Shape 5"/>
          <p:cNvSpPr/>
          <p:nvPr/>
        </p:nvSpPr>
        <p:spPr>
          <a:xfrm>
            <a:off x="6263640" y="1463040"/>
            <a:ext cx="5394960" cy="4572000"/>
          </a:xfrm>
          <a:prstGeom prst="roundRect">
            <a:avLst>
              <a:gd name="adj" fmla="val 3000"/>
            </a:avLst>
          </a:prstGeom>
          <a:solidFill>
            <a:srgbClr val="F7EFE6"/>
          </a:solidFill>
          <a:ln w="12700">
            <a:solidFill>
              <a:srgbClr val="F7EFE6"/>
            </a:solidFill>
            <a:prstDash val="solid"/>
          </a:ln>
        </p:spPr>
      </p:sp>
      <p:sp>
        <p:nvSpPr>
          <p:cNvPr id="9" name="Shape 6"/>
          <p:cNvSpPr/>
          <p:nvPr/>
        </p:nvSpPr>
        <p:spPr>
          <a:xfrm>
            <a:off x="6263640" y="1463040"/>
            <a:ext cx="5394960" cy="731520"/>
          </a:xfrm>
          <a:prstGeom prst="roundRect">
            <a:avLst>
              <a:gd name="adj" fmla="val 18750"/>
            </a:avLst>
          </a:prstGeom>
          <a:solidFill>
            <a:srgbClr val="D9653B"/>
          </a:solidFill>
          <a:ln w="12700">
            <a:solidFill>
              <a:srgbClr val="D9653B"/>
            </a:solidFill>
            <a:prstDash val="solid"/>
          </a:ln>
        </p:spPr>
      </p:sp>
      <p:sp>
        <p:nvSpPr>
          <p:cNvPr id="10" name="Text 7"/>
          <p:cNvSpPr txBox="1"/>
          <p:nvPr/>
        </p:nvSpPr>
        <p:spPr>
          <a:xfrm>
            <a:off x="6492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O que vale dizer</a:t>
            </a:r>
            <a:endParaRPr lang="en-US" sz="2200" dirty="0"/>
          </a:p>
        </p:txBody>
      </p:sp>
      <p:sp>
        <p:nvSpPr>
          <p:cNvPr id="11" name="Text 8"/>
          <p:cNvSpPr txBox="1"/>
          <p:nvPr/>
        </p:nvSpPr>
        <p:spPr>
          <a:xfrm>
            <a:off x="6537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Produz texto plausível a partir de padrões</a:t>
            </a:r>
            <a:endParaRPr lang="en-US" sz="1700" dirty="0"/>
          </a:p>
          <a:p>
            <a:pPr marL="342900" indent="-342900">
              <a:spcAft>
                <a:spcPts val="800"/>
              </a:spcAft>
              <a:buSzPct val="100000"/>
              <a:buChar char="•"/>
            </a:pPr>
            <a:r>
              <a:rPr lang="en-US" sz="1700" dirty="0">
                <a:solidFill>
                  <a:srgbClr val="3B2A2A"/>
                </a:solidFill>
              </a:rPr>
              <a:t>Aprende com dados feitos por pessoas</a:t>
            </a:r>
            <a:endParaRPr lang="en-US" sz="1700" dirty="0"/>
          </a:p>
          <a:p>
            <a:pPr marL="342900" indent="-342900">
              <a:spcAft>
                <a:spcPts val="800"/>
              </a:spcAft>
              <a:buSzPct val="100000"/>
              <a:buChar char="•"/>
            </a:pPr>
            <a:r>
              <a:rPr lang="en-US" sz="1700" dirty="0">
                <a:solidFill>
                  <a:srgbClr val="3B2A2A"/>
                </a:solidFill>
              </a:rPr>
              <a:t>Tem limites e pode inventar com certeza</a:t>
            </a:r>
            <a:endParaRPr lang="en-US" sz="1700" dirty="0"/>
          </a:p>
          <a:p>
            <a:pPr marL="342900" indent="-342900">
              <a:spcAft>
                <a:spcPts val="800"/>
              </a:spcAft>
              <a:buSzPct val="100000"/>
              <a:buChar char="•"/>
            </a:pPr>
            <a:r>
              <a:rPr lang="en-US" sz="1700" dirty="0">
                <a:solidFill>
                  <a:srgbClr val="3B2A2A"/>
                </a:solidFill>
              </a:rPr>
              <a:t>Docência é relação, julgamento e cuidado</a:t>
            </a:r>
            <a:endParaRPr lang="en-US" sz="17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A2E2A"/>
        </a:solidFill>
      </p:bgPr>
    </p:bg>
    <p:spTree>
      <p:nvGrpSpPr>
        <p:cNvPr id="1" name=""/>
        <p:cNvGrpSpPr/>
        <p:nvPr/>
      </p:nvGrpSpPr>
      <p:grpSpPr>
        <a:xfrm>
          <a:off x="0" y="0"/>
          <a:ext cx="0" cy="0"/>
          <a:chOff x="0" y="0"/>
          <a:chExt cx="0" cy="0"/>
        </a:xfrm>
      </p:grpSpPr>
      <p:sp>
        <p:nvSpPr>
          <p:cNvPr id="3" name="Text 0"/>
          <p:cNvSpPr txBox="1"/>
          <p:nvPr/>
        </p:nvSpPr>
        <p:spPr>
          <a:xfrm>
            <a:off x="914400" y="1188720"/>
            <a:ext cx="10332720" cy="3840480"/>
          </a:xfrm>
          <a:prstGeom prst="rect">
            <a:avLst/>
          </a:prstGeom>
          <a:noFill/>
          <a:ln/>
        </p:spPr>
        <p:txBody>
          <a:bodyPr wrap="square" lIns="0" tIns="0" rIns="0" bIns="0" rtlCol="0" anchor="ctr"/>
          <a:lstStyle/>
          <a:p>
            <a:pPr algn="ctr" indent="0" marL="0">
              <a:buNone/>
            </a:pPr>
            <a:r>
              <a:rPr lang="en-US" sz="4000" b="1" i="1" dirty="0">
                <a:solidFill>
                  <a:srgbClr val="FFFFFF"/>
                </a:solidFill>
                <a:latin typeface="Cambria" pitchFamily="34" charset="0"/>
                <a:ea typeface="Cambria" pitchFamily="34" charset="-122"/>
                <a:cs typeface="Cambria" pitchFamily="34" charset="-120"/>
              </a:rPr>
              <a:t>“Parecer entender não é entender.”</a:t>
            </a:r>
            <a:endParaRPr lang="en-US" sz="4000" dirty="0"/>
          </a:p>
        </p:txBody>
      </p:sp>
      <p:sp>
        <p:nvSpPr>
          <p:cNvPr id="4" name="Text 1"/>
          <p:cNvSpPr txBox="1"/>
          <p:nvPr/>
        </p:nvSpPr>
        <p:spPr>
          <a:xfrm>
            <a:off x="914400" y="5212080"/>
            <a:ext cx="10332720" cy="822960"/>
          </a:xfrm>
          <a:prstGeom prst="rect">
            <a:avLst/>
          </a:prstGeom>
          <a:noFill/>
          <a:ln/>
        </p:spPr>
        <p:txBody>
          <a:bodyPr wrap="square" lIns="0" tIns="0" rIns="0" bIns="0" rtlCol="0" anchor="ctr"/>
          <a:lstStyle/>
          <a:p>
            <a:pPr algn="ctr" indent="0" marL="0">
              <a:buNone/>
            </a:pPr>
            <a:r>
              <a:rPr lang="en-US" sz="1800" dirty="0">
                <a:solidFill>
                  <a:srgbClr val="F4B860"/>
                </a:solidFill>
              </a:rPr>
              <a:t>Efeito ELIZA: atribuir compreensão a quem só imita a forma da conversa.</a:t>
            </a:r>
            <a:endParaRPr lang="en-US" sz="1800" dirty="0"/>
          </a:p>
        </p:txBody>
      </p:sp>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Atividade: Isso é IA?</a:t>
            </a:r>
            <a:endParaRPr lang="en-US" sz="3400" dirty="0"/>
          </a:p>
        </p:txBody>
      </p:sp>
      <p:sp>
        <p:nvSpPr>
          <p:cNvPr id="4" name="Shape 1"/>
          <p:cNvSpPr/>
          <p:nvPr/>
        </p:nvSpPr>
        <p:spPr>
          <a:xfrm>
            <a:off x="548640" y="1417320"/>
            <a:ext cx="6949440" cy="4663440"/>
          </a:xfrm>
          <a:prstGeom prst="roundRect">
            <a:avLst>
              <a:gd name="adj" fmla="val 2941"/>
            </a:avLst>
          </a:prstGeom>
          <a:solidFill>
            <a:srgbClr val="F7EFE6"/>
          </a:solidFill>
          <a:ln w="12700">
            <a:solidFill>
              <a:srgbClr val="F7EFE6"/>
            </a:solidFill>
            <a:prstDash val="solid"/>
          </a:ln>
        </p:spPr>
      </p:sp>
      <p:sp>
        <p:nvSpPr>
          <p:cNvPr id="5" name="Text 2"/>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300" b="1" spc="300" kern="0" dirty="0">
                <a:solidFill>
                  <a:srgbClr val="D9653B"/>
                </a:solidFill>
              </a:rPr>
              <a:t>PASSO A PASSO</a:t>
            </a:r>
            <a:endParaRPr lang="en-US" sz="1300" dirty="0"/>
          </a:p>
        </p:txBody>
      </p:sp>
      <p:sp>
        <p:nvSpPr>
          <p:cNvPr id="6" name="Text 3"/>
          <p:cNvSpPr txBox="1"/>
          <p:nvPr/>
        </p:nvSpPr>
        <p:spPr>
          <a:xfrm>
            <a:off x="822960" y="1965960"/>
            <a:ext cx="64008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3B2A2A"/>
                </a:solidFill>
              </a:rPr>
              <a:t>Explique dois critérios: há passo a passo escrito? Houve exemplos?</a:t>
            </a:r>
            <a:endParaRPr lang="en-US" sz="1600" dirty="0"/>
          </a:p>
          <a:p>
            <a:pPr marL="342900" indent="-342900">
              <a:spcAft>
                <a:spcPts val="600"/>
              </a:spcAft>
              <a:buSzPct val="100000"/>
              <a:buFont typeface="+mj-lt"/>
              <a:buAutoNum type="arabicPeriod" startAt="1"/>
            </a:pPr>
            <a:r>
              <a:rPr lang="en-US" sz="1600" dirty="0">
                <a:solidFill>
                  <a:srgbClr val="3B2A2A"/>
                </a:solidFill>
              </a:rPr>
              <a:t>Distribua 12 cartões de tecnologias do dia a dia</a:t>
            </a:r>
            <a:endParaRPr lang="en-US" sz="1600" dirty="0"/>
          </a:p>
          <a:p>
            <a:pPr marL="342900" indent="-342900">
              <a:spcAft>
                <a:spcPts val="600"/>
              </a:spcAft>
              <a:buSzPct val="100000"/>
              <a:buFont typeface="+mj-lt"/>
              <a:buAutoNum type="arabicPeriod" startAt="1"/>
            </a:pPr>
            <a:r>
              <a:rPr lang="en-US" sz="1600" dirty="0">
                <a:solidFill>
                  <a:srgbClr val="3B2A2A"/>
                </a:solidFill>
              </a:rPr>
              <a:t>Cada grupo classifica: regras, aprende com dados ou depende</a:t>
            </a:r>
            <a:endParaRPr lang="en-US" sz="1600" dirty="0"/>
          </a:p>
          <a:p>
            <a:pPr marL="342900" indent="-342900">
              <a:spcAft>
                <a:spcPts val="600"/>
              </a:spcAft>
              <a:buSzPct val="100000"/>
              <a:buFont typeface="+mj-lt"/>
              <a:buAutoNum type="arabicPeriod" startAt="1"/>
            </a:pPr>
            <a:r>
              <a:rPr lang="en-US" sz="1600" dirty="0">
                <a:solidFill>
                  <a:srgbClr val="3B2A2A"/>
                </a:solidFill>
              </a:rPr>
              <a:t>Cada grupo escreve uma justificativa curta</a:t>
            </a:r>
            <a:endParaRPr lang="en-US" sz="1600" dirty="0"/>
          </a:p>
          <a:p>
            <a:pPr marL="342900" indent="-342900">
              <a:spcAft>
                <a:spcPts val="600"/>
              </a:spcAft>
              <a:buSzPct val="100000"/>
              <a:buFont typeface="+mj-lt"/>
              <a:buAutoNum type="arabicPeriod" startAt="1"/>
            </a:pPr>
            <a:r>
              <a:rPr lang="en-US" sz="1600" dirty="0">
                <a:solidFill>
                  <a:srgbClr val="3B2A2A"/>
                </a:solidFill>
              </a:rPr>
              <a:t>Discuta os casos ambíguos, como corretor e rotas</a:t>
            </a:r>
            <a:endParaRPr lang="en-US" sz="1600" dirty="0"/>
          </a:p>
          <a:p>
            <a:pPr marL="342900" indent="-342900">
              <a:spcAft>
                <a:spcPts val="600"/>
              </a:spcAft>
              <a:buSzPct val="100000"/>
              <a:buFont typeface="+mj-lt"/>
              <a:buAutoNum type="arabicPeriod" startAt="1"/>
            </a:pPr>
            <a:r>
              <a:rPr lang="en-US" sz="1600" dirty="0">
                <a:solidFill>
                  <a:srgbClr val="3B2A2A"/>
                </a:solidFill>
              </a:rPr>
              <a:t>Cada grupo formula uma pergunta ao fabricante</a:t>
            </a:r>
            <a:endParaRPr lang="en-US" sz="1600" dirty="0"/>
          </a:p>
        </p:txBody>
      </p:sp>
      <p:sp>
        <p:nvSpPr>
          <p:cNvPr id="7" name="Shape 4"/>
          <p:cNvSpPr/>
          <p:nvPr/>
        </p:nvSpPr>
        <p:spPr>
          <a:xfrm>
            <a:off x="7772400" y="1417320"/>
            <a:ext cx="3840480" cy="1444752"/>
          </a:xfrm>
          <a:prstGeom prst="roundRect">
            <a:avLst>
              <a:gd name="adj" fmla="val 9494"/>
            </a:avLst>
          </a:prstGeom>
          <a:solidFill>
            <a:srgbClr val="D9653B"/>
          </a:solidFill>
          <a:ln w="12700">
            <a:solidFill>
              <a:srgbClr val="D9653B"/>
            </a:solidFill>
            <a:prstDash val="solid"/>
          </a:ln>
        </p:spPr>
      </p:sp>
      <p:sp>
        <p:nvSpPr>
          <p:cNvPr id="8" name="Text 5"/>
          <p:cNvSpPr txBox="1"/>
          <p:nvPr/>
        </p:nvSpPr>
        <p:spPr>
          <a:xfrm>
            <a:off x="8001000" y="1527048"/>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TEMPO</a:t>
            </a:r>
            <a:endParaRPr lang="en-US" sz="1200" dirty="0"/>
          </a:p>
        </p:txBody>
      </p:sp>
      <p:sp>
        <p:nvSpPr>
          <p:cNvPr id="9" name="Text 6"/>
          <p:cNvSpPr txBox="1"/>
          <p:nvPr/>
        </p:nvSpPr>
        <p:spPr>
          <a:xfrm>
            <a:off x="8001000" y="1874520"/>
            <a:ext cx="3383280" cy="896112"/>
          </a:xfrm>
          <a:prstGeom prst="rect">
            <a:avLst/>
          </a:prstGeom>
          <a:noFill/>
          <a:ln/>
        </p:spPr>
        <p:txBody>
          <a:bodyPr wrap="square" lIns="0" tIns="0" rIns="0" bIns="0" rtlCol="0" anchor="t"/>
          <a:lstStyle/>
          <a:p>
            <a:pPr indent="0" marL="0">
              <a:buNone/>
            </a:pPr>
            <a:r>
              <a:rPr lang="en-US" sz="1600" dirty="0">
                <a:solidFill>
                  <a:srgbClr val="FFFFFF"/>
                </a:solidFill>
              </a:rPr>
              <a:t>50 minutos, em grupos de 3 ou 4</a:t>
            </a:r>
            <a:endParaRPr lang="en-US" sz="1600" dirty="0"/>
          </a:p>
        </p:txBody>
      </p:sp>
      <p:sp>
        <p:nvSpPr>
          <p:cNvPr id="10" name="Shape 7"/>
          <p:cNvSpPr/>
          <p:nvPr/>
        </p:nvSpPr>
        <p:spPr>
          <a:xfrm>
            <a:off x="7772400" y="3026664"/>
            <a:ext cx="3840480" cy="1444752"/>
          </a:xfrm>
          <a:prstGeom prst="roundRect">
            <a:avLst>
              <a:gd name="adj" fmla="val 9494"/>
            </a:avLst>
          </a:prstGeom>
          <a:solidFill>
            <a:srgbClr val="2A9D8F"/>
          </a:solidFill>
          <a:ln w="12700">
            <a:solidFill>
              <a:srgbClr val="2A9D8F"/>
            </a:solidFill>
            <a:prstDash val="solid"/>
          </a:ln>
        </p:spPr>
      </p:sp>
      <p:sp>
        <p:nvSpPr>
          <p:cNvPr id="11" name="Text 8"/>
          <p:cNvSpPr txBox="1"/>
          <p:nvPr/>
        </p:nvSpPr>
        <p:spPr>
          <a:xfrm>
            <a:off x="8001000" y="3136392"/>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PRODUTO</a:t>
            </a:r>
            <a:endParaRPr lang="en-US" sz="1200" dirty="0"/>
          </a:p>
        </p:txBody>
      </p:sp>
      <p:sp>
        <p:nvSpPr>
          <p:cNvPr id="12" name="Text 9"/>
          <p:cNvSpPr txBox="1"/>
          <p:nvPr/>
        </p:nvSpPr>
        <p:spPr>
          <a:xfrm>
            <a:off x="8001000" y="3483864"/>
            <a:ext cx="3383280" cy="896112"/>
          </a:xfrm>
          <a:prstGeom prst="rect">
            <a:avLst/>
          </a:prstGeom>
          <a:noFill/>
          <a:ln/>
        </p:spPr>
        <p:txBody>
          <a:bodyPr wrap="square" lIns="0" tIns="0" rIns="0" bIns="0" rtlCol="0" anchor="t"/>
          <a:lstStyle/>
          <a:p>
            <a:pPr indent="0" marL="0">
              <a:buNone/>
            </a:pPr>
            <a:r>
              <a:rPr lang="en-US" sz="1600" dirty="0">
                <a:solidFill>
                  <a:srgbClr val="FFFFFF"/>
                </a:solidFill>
              </a:rPr>
              <a:t>Quadro de classificação com justificativas e uma pergunta por grupo.</a:t>
            </a:r>
            <a:endParaRPr lang="en-US" sz="1600" dirty="0"/>
          </a:p>
        </p:txBody>
      </p:sp>
      <p:sp>
        <p:nvSpPr>
          <p:cNvPr id="13" name="Shape 10"/>
          <p:cNvSpPr/>
          <p:nvPr/>
        </p:nvSpPr>
        <p:spPr>
          <a:xfrm>
            <a:off x="7772400" y="4636008"/>
            <a:ext cx="3840480" cy="1444752"/>
          </a:xfrm>
          <a:prstGeom prst="roundRect">
            <a:avLst>
              <a:gd name="adj" fmla="val 9494"/>
            </a:avLst>
          </a:prstGeom>
          <a:solidFill>
            <a:srgbClr val="6D3B6E"/>
          </a:solidFill>
          <a:ln w="12700">
            <a:solidFill>
              <a:srgbClr val="6D3B6E"/>
            </a:solidFill>
            <a:prstDash val="solid"/>
          </a:ln>
        </p:spPr>
      </p:sp>
      <p:sp>
        <p:nvSpPr>
          <p:cNvPr id="14" name="Text 11"/>
          <p:cNvSpPr txBox="1"/>
          <p:nvPr/>
        </p:nvSpPr>
        <p:spPr>
          <a:xfrm>
            <a:off x="8001000" y="4745736"/>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POUCOS RECURSOS</a:t>
            </a:r>
            <a:endParaRPr lang="en-US" sz="1200" dirty="0"/>
          </a:p>
        </p:txBody>
      </p:sp>
      <p:sp>
        <p:nvSpPr>
          <p:cNvPr id="15" name="Text 12"/>
          <p:cNvSpPr txBox="1"/>
          <p:nvPr/>
        </p:nvSpPr>
        <p:spPr>
          <a:xfrm>
            <a:off x="8001000" y="5093208"/>
            <a:ext cx="3383280" cy="896112"/>
          </a:xfrm>
          <a:prstGeom prst="rect">
            <a:avLst/>
          </a:prstGeom>
          <a:noFill/>
          <a:ln/>
        </p:spPr>
        <p:txBody>
          <a:bodyPr wrap="square" lIns="0" tIns="0" rIns="0" bIns="0" rtlCol="0" anchor="t"/>
          <a:lstStyle/>
          <a:p>
            <a:pPr indent="0" marL="0">
              <a:buNone/>
            </a:pPr>
            <a:r>
              <a:rPr lang="en-US" sz="1600" dirty="0">
                <a:solidFill>
                  <a:srgbClr val="FFFFFF"/>
                </a:solidFill>
              </a:rPr>
              <a:t>Sem impressora, use a lousa e tiras de papel. A discussão oral é o centro.</a:t>
            </a:r>
            <a:endParaRPr lang="en-US" sz="1600" dirty="0"/>
          </a:p>
        </p:txBody>
      </p:sp>
      <p:sp>
        <p:nvSpPr>
          <p:cNvPr id="16" name="Text 1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Pare e verifique</a:t>
            </a:r>
            <a:endParaRPr lang="en-US" sz="3400" dirty="0"/>
          </a:p>
        </p:txBody>
      </p:sp>
      <p:sp>
        <p:nvSpPr>
          <p:cNvPr id="4" name="Shape 1"/>
          <p:cNvSpPr/>
          <p:nvPr/>
        </p:nvSpPr>
        <p:spPr>
          <a:xfrm>
            <a:off x="548640" y="1463040"/>
            <a:ext cx="11064240" cy="1051560"/>
          </a:xfrm>
          <a:prstGeom prst="roundRect">
            <a:avLst>
              <a:gd name="adj" fmla="val 10435"/>
            </a:avLst>
          </a:prstGeom>
          <a:solidFill>
            <a:srgbClr val="FDECE4"/>
          </a:solidFill>
          <a:ln w="12700">
            <a:solidFill>
              <a:srgbClr val="F2B8A0"/>
            </a:solidFill>
            <a:prstDash val="solid"/>
          </a:ln>
        </p:spPr>
      </p:sp>
      <p:sp>
        <p:nvSpPr>
          <p:cNvPr id="5" name="Shape 2"/>
          <p:cNvSpPr/>
          <p:nvPr/>
        </p:nvSpPr>
        <p:spPr>
          <a:xfrm>
            <a:off x="777240" y="1714500"/>
            <a:ext cx="548640" cy="548640"/>
          </a:xfrm>
          <a:prstGeom prst="ellipse">
            <a:avLst/>
          </a:prstGeom>
          <a:solidFill>
            <a:srgbClr val="C0392B"/>
          </a:solidFill>
          <a:ln w="12700">
            <a:solidFill>
              <a:srgbClr val="C0392B"/>
            </a:solidFill>
            <a:prstDash val="solid"/>
          </a:ln>
        </p:spPr>
      </p:sp>
      <p:sp>
        <p:nvSpPr>
          <p:cNvPr id="6" name="Text 3"/>
          <p:cNvSpPr txBox="1"/>
          <p:nvPr/>
        </p:nvSpPr>
        <p:spPr>
          <a:xfrm>
            <a:off x="777240" y="17145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7" name="Text 4"/>
          <p:cNvSpPr txBox="1"/>
          <p:nvPr/>
        </p:nvSpPr>
        <p:spPr>
          <a:xfrm>
            <a:off x="1600200" y="146304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O que o sistema faz? Com que dados foi construído? Quem o produziu?</a:t>
            </a:r>
            <a:endParaRPr lang="en-US" sz="1800" dirty="0"/>
          </a:p>
        </p:txBody>
      </p:sp>
      <p:sp>
        <p:nvSpPr>
          <p:cNvPr id="8" name="Shape 5"/>
          <p:cNvSpPr/>
          <p:nvPr/>
        </p:nvSpPr>
        <p:spPr>
          <a:xfrm>
            <a:off x="548640" y="2651760"/>
            <a:ext cx="11064240" cy="1051560"/>
          </a:xfrm>
          <a:prstGeom prst="roundRect">
            <a:avLst>
              <a:gd name="adj" fmla="val 10435"/>
            </a:avLst>
          </a:prstGeom>
          <a:solidFill>
            <a:srgbClr val="FDECE4"/>
          </a:solidFill>
          <a:ln w="12700">
            <a:solidFill>
              <a:srgbClr val="F2B8A0"/>
            </a:solidFill>
            <a:prstDash val="solid"/>
          </a:ln>
        </p:spPr>
      </p:sp>
      <p:sp>
        <p:nvSpPr>
          <p:cNvPr id="9" name="Shape 6"/>
          <p:cNvSpPr/>
          <p:nvPr/>
        </p:nvSpPr>
        <p:spPr>
          <a:xfrm>
            <a:off x="777240" y="2903220"/>
            <a:ext cx="548640" cy="548640"/>
          </a:xfrm>
          <a:prstGeom prst="ellipse">
            <a:avLst/>
          </a:prstGeom>
          <a:solidFill>
            <a:srgbClr val="C0392B"/>
          </a:solidFill>
          <a:ln w="12700">
            <a:solidFill>
              <a:srgbClr val="C0392B"/>
            </a:solidFill>
            <a:prstDash val="solid"/>
          </a:ln>
        </p:spPr>
      </p:sp>
      <p:sp>
        <p:nvSpPr>
          <p:cNvPr id="10" name="Text 7"/>
          <p:cNvSpPr txBox="1"/>
          <p:nvPr/>
        </p:nvSpPr>
        <p:spPr>
          <a:xfrm>
            <a:off x="777240" y="29032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1" name="Text 8"/>
          <p:cNvSpPr txBox="1"/>
          <p:nvPr/>
        </p:nvSpPr>
        <p:spPr>
          <a:xfrm>
            <a:off x="1600200" y="265176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Quais limitações declara? Há avaliação independente?</a:t>
            </a:r>
            <a:endParaRPr lang="en-US" sz="1800" dirty="0"/>
          </a:p>
        </p:txBody>
      </p:sp>
      <p:sp>
        <p:nvSpPr>
          <p:cNvPr id="12" name="Shape 9"/>
          <p:cNvSpPr/>
          <p:nvPr/>
        </p:nvSpPr>
        <p:spPr>
          <a:xfrm>
            <a:off x="548640" y="3840480"/>
            <a:ext cx="11064240" cy="1051560"/>
          </a:xfrm>
          <a:prstGeom prst="roundRect">
            <a:avLst>
              <a:gd name="adj" fmla="val 10435"/>
            </a:avLst>
          </a:prstGeom>
          <a:solidFill>
            <a:srgbClr val="FDECE4"/>
          </a:solidFill>
          <a:ln w="12700">
            <a:solidFill>
              <a:srgbClr val="F2B8A0"/>
            </a:solidFill>
            <a:prstDash val="solid"/>
          </a:ln>
        </p:spPr>
      </p:sp>
      <p:sp>
        <p:nvSpPr>
          <p:cNvPr id="13" name="Shape 10"/>
          <p:cNvSpPr/>
          <p:nvPr/>
        </p:nvSpPr>
        <p:spPr>
          <a:xfrm>
            <a:off x="777240" y="4091940"/>
            <a:ext cx="548640" cy="548640"/>
          </a:xfrm>
          <a:prstGeom prst="ellipse">
            <a:avLst/>
          </a:prstGeom>
          <a:solidFill>
            <a:srgbClr val="C0392B"/>
          </a:solidFill>
          <a:ln w="12700">
            <a:solidFill>
              <a:srgbClr val="C0392B"/>
            </a:solidFill>
            <a:prstDash val="solid"/>
          </a:ln>
        </p:spPr>
      </p:sp>
      <p:sp>
        <p:nvSpPr>
          <p:cNvPr id="14" name="Text 11"/>
          <p:cNvSpPr txBox="1"/>
          <p:nvPr/>
        </p:nvSpPr>
        <p:spPr>
          <a:xfrm>
            <a:off x="777240" y="40919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5" name="Text 12"/>
          <p:cNvSpPr txBox="1"/>
          <p:nvPr/>
        </p:nvSpPr>
        <p:spPr>
          <a:xfrm>
            <a:off x="1600200" y="384048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Sem isso, "usa IA" é frase de marketing, não informação técnica</a:t>
            </a:r>
            <a:endParaRPr lang="en-US" sz="1800" dirty="0"/>
          </a:p>
        </p:txBody>
      </p:sp>
      <p:sp>
        <p:nvSpPr>
          <p:cNvPr id="16" name="Shape 13"/>
          <p:cNvSpPr/>
          <p:nvPr/>
        </p:nvSpPr>
        <p:spPr>
          <a:xfrm>
            <a:off x="548640" y="5029200"/>
            <a:ext cx="11064240" cy="1051560"/>
          </a:xfrm>
          <a:prstGeom prst="roundRect">
            <a:avLst>
              <a:gd name="adj" fmla="val 10435"/>
            </a:avLst>
          </a:prstGeom>
          <a:solidFill>
            <a:srgbClr val="FDECE4"/>
          </a:solidFill>
          <a:ln w="12700">
            <a:solidFill>
              <a:srgbClr val="F2B8A0"/>
            </a:solidFill>
            <a:prstDash val="solid"/>
          </a:ln>
        </p:spPr>
      </p:sp>
      <p:sp>
        <p:nvSpPr>
          <p:cNvPr id="17" name="Shape 14"/>
          <p:cNvSpPr/>
          <p:nvPr/>
        </p:nvSpPr>
        <p:spPr>
          <a:xfrm>
            <a:off x="777240" y="5280660"/>
            <a:ext cx="548640" cy="548640"/>
          </a:xfrm>
          <a:prstGeom prst="ellipse">
            <a:avLst/>
          </a:prstGeom>
          <a:solidFill>
            <a:srgbClr val="C0392B"/>
          </a:solidFill>
          <a:ln w="12700">
            <a:solidFill>
              <a:srgbClr val="C0392B"/>
            </a:solidFill>
            <a:prstDash val="solid"/>
          </a:ln>
        </p:spPr>
      </p:sp>
      <p:sp>
        <p:nvSpPr>
          <p:cNvPr id="18" name="Text 15"/>
          <p:cNvSpPr txBox="1"/>
          <p:nvPr/>
        </p:nvSpPr>
        <p:spPr>
          <a:xfrm>
            <a:off x="777240" y="52806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9" name="Text 16"/>
          <p:cNvSpPr txBox="1"/>
          <p:nvPr/>
        </p:nvSpPr>
        <p:spPr>
          <a:xfrm>
            <a:off x="1600200" y="502920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Evite os extremos: simplismo para não assustar e alarmismo</a:t>
            </a:r>
            <a:endParaRPr lang="en-US" sz="18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Aprender sobre IA sem usar IA</a:t>
            </a:r>
            <a:endParaRPr lang="en-US" sz="3400" dirty="0"/>
          </a:p>
        </p:txBody>
      </p:sp>
      <p:sp>
        <p:nvSpPr>
          <p:cNvPr id="4" name="Shape 1"/>
          <p:cNvSpPr/>
          <p:nvPr/>
        </p:nvSpPr>
        <p:spPr>
          <a:xfrm>
            <a:off x="548640" y="1463040"/>
            <a:ext cx="5394960" cy="4572000"/>
          </a:xfrm>
          <a:prstGeom prst="roundRect">
            <a:avLst>
              <a:gd name="adj" fmla="val 3000"/>
            </a:avLst>
          </a:prstGeom>
          <a:solidFill>
            <a:srgbClr val="F7EFE6"/>
          </a:solidFill>
          <a:ln w="12700">
            <a:solidFill>
              <a:srgbClr val="F7EFE6"/>
            </a:solidFill>
            <a:prstDash val="solid"/>
          </a:ln>
        </p:spPr>
      </p:sp>
      <p:sp>
        <p:nvSpPr>
          <p:cNvPr id="5" name="Shape 2"/>
          <p:cNvSpPr/>
          <p:nvPr/>
        </p:nvSpPr>
        <p:spPr>
          <a:xfrm>
            <a:off x="548640" y="1463040"/>
            <a:ext cx="5394960" cy="731520"/>
          </a:xfrm>
          <a:prstGeom prst="roundRect">
            <a:avLst>
              <a:gd name="adj" fmla="val 18750"/>
            </a:avLst>
          </a:prstGeom>
          <a:solidFill>
            <a:srgbClr val="2A9D8F"/>
          </a:solidFill>
          <a:ln w="12700">
            <a:solidFill>
              <a:srgbClr val="2A9D8F"/>
            </a:solidFill>
            <a:prstDash val="solid"/>
          </a:ln>
        </p:spPr>
      </p:sp>
      <p:sp>
        <p:nvSpPr>
          <p:cNvPr id="6" name="Text 3"/>
          <p:cNvSpPr txBox="1"/>
          <p:nvPr/>
        </p:nvSpPr>
        <p:spPr>
          <a:xfrm>
            <a:off x="777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Sem nenhuma ferramenta</a:t>
            </a:r>
            <a:endParaRPr lang="en-US" sz="2200" dirty="0"/>
          </a:p>
        </p:txBody>
      </p:sp>
      <p:sp>
        <p:nvSpPr>
          <p:cNvPr id="7"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Cartões de classificação</a:t>
            </a:r>
            <a:endParaRPr lang="en-US" sz="1700" dirty="0"/>
          </a:p>
          <a:p>
            <a:pPr marL="342900" indent="-342900">
              <a:spcAft>
                <a:spcPts val="800"/>
              </a:spcAft>
              <a:buSzPct val="100000"/>
              <a:buChar char="•"/>
            </a:pPr>
            <a:r>
              <a:rPr lang="en-US" sz="1700" dirty="0">
                <a:solidFill>
                  <a:srgbClr val="3B2A2A"/>
                </a:solidFill>
              </a:rPr>
              <a:t>Dramatização: máquina de regras e de exemplos</a:t>
            </a:r>
            <a:endParaRPr lang="en-US" sz="1700" dirty="0"/>
          </a:p>
          <a:p>
            <a:pPr marL="342900" indent="-342900">
              <a:spcAft>
                <a:spcPts val="800"/>
              </a:spcAft>
              <a:buSzPct val="100000"/>
              <a:buChar char="•"/>
            </a:pPr>
            <a:r>
              <a:rPr lang="en-US" sz="1700" dirty="0">
                <a:solidFill>
                  <a:srgbClr val="3B2A2A"/>
                </a:solidFill>
              </a:rPr>
              <a:t>Desenhos e conversa</a:t>
            </a:r>
            <a:endParaRPr lang="en-US" sz="1700" dirty="0"/>
          </a:p>
        </p:txBody>
      </p:sp>
      <p:sp>
        <p:nvSpPr>
          <p:cNvPr id="8" name="Shape 5"/>
          <p:cNvSpPr/>
          <p:nvPr/>
        </p:nvSpPr>
        <p:spPr>
          <a:xfrm>
            <a:off x="6263640" y="1463040"/>
            <a:ext cx="5394960" cy="4572000"/>
          </a:xfrm>
          <a:prstGeom prst="roundRect">
            <a:avLst>
              <a:gd name="adj" fmla="val 3000"/>
            </a:avLst>
          </a:prstGeom>
          <a:solidFill>
            <a:srgbClr val="F7EFE6"/>
          </a:solidFill>
          <a:ln w="12700">
            <a:solidFill>
              <a:srgbClr val="F7EFE6"/>
            </a:solidFill>
            <a:prstDash val="solid"/>
          </a:ln>
        </p:spPr>
      </p:sp>
      <p:sp>
        <p:nvSpPr>
          <p:cNvPr id="9" name="Shape 6"/>
          <p:cNvSpPr/>
          <p:nvPr/>
        </p:nvSpPr>
        <p:spPr>
          <a:xfrm>
            <a:off x="6263640" y="1463040"/>
            <a:ext cx="5394960" cy="731520"/>
          </a:xfrm>
          <a:prstGeom prst="roundRect">
            <a:avLst>
              <a:gd name="adj" fmla="val 18750"/>
            </a:avLst>
          </a:prstGeom>
          <a:solidFill>
            <a:srgbClr val="D9653B"/>
          </a:solidFill>
          <a:ln w="12700">
            <a:solidFill>
              <a:srgbClr val="D9653B"/>
            </a:solidFill>
            <a:prstDash val="solid"/>
          </a:ln>
        </p:spPr>
      </p:sp>
      <p:sp>
        <p:nvSpPr>
          <p:cNvPr id="10" name="Text 7"/>
          <p:cNvSpPr txBox="1"/>
          <p:nvPr/>
        </p:nvSpPr>
        <p:spPr>
          <a:xfrm>
            <a:off x="6492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Com ferramenta real</a:t>
            </a:r>
            <a:endParaRPr lang="en-US" sz="2200" dirty="0"/>
          </a:p>
        </p:txBody>
      </p:sp>
      <p:sp>
        <p:nvSpPr>
          <p:cNvPr id="11" name="Text 8"/>
          <p:cNvSpPr txBox="1"/>
          <p:nvPr/>
        </p:nvSpPr>
        <p:spPr>
          <a:xfrm>
            <a:off x="6537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Útil para exemplificar</a:t>
            </a:r>
            <a:endParaRPr lang="en-US" sz="1700" dirty="0"/>
          </a:p>
          <a:p>
            <a:pPr marL="342900" indent="-342900">
              <a:spcAft>
                <a:spcPts val="800"/>
              </a:spcAft>
              <a:buSzPct val="100000"/>
              <a:buChar char="•"/>
            </a:pPr>
            <a:r>
              <a:rPr lang="en-US" sz="1700" dirty="0">
                <a:solidFill>
                  <a:srgbClr val="3B2A2A"/>
                </a:solidFill>
              </a:rPr>
              <a:t>Não é obrigatória</a:t>
            </a:r>
            <a:endParaRPr lang="en-US" sz="1700" dirty="0"/>
          </a:p>
          <a:p>
            <a:pPr marL="342900" indent="-342900">
              <a:spcAft>
                <a:spcPts val="800"/>
              </a:spcAft>
              <a:buSzPct val="100000"/>
              <a:buChar char="•"/>
            </a:pPr>
            <a:r>
              <a:rPr lang="en-US" sz="1700" dirty="0">
                <a:solidFill>
                  <a:srgbClr val="3B2A2A"/>
                </a:solidFill>
              </a:rPr>
              <a:t>Cuidado: não insira dados pessoais</a:t>
            </a:r>
            <a:endParaRPr lang="en-US" sz="17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Síntese: três perguntas para identificar IA</a:t>
            </a:r>
            <a:endParaRPr lang="en-US" sz="3400" dirty="0"/>
          </a:p>
        </p:txBody>
      </p:sp>
      <p:pic>
        <p:nvPicPr>
          <p:cNvPr id="4" name="Image 0" descr="Regras, aprendizado de máquina ou IA generativa?">    </p:cNvPr>
          <p:cNvPicPr>
            <a:picLocks noChangeAspect="1"/>
          </p:cNvPicPr>
          <p:nvPr/>
        </p:nvPicPr>
        <p:blipFill>
          <a:blip r:embed="rId1"/>
          <a:stretch>
            <a:fillRect/>
          </a:stretch>
        </p:blipFill>
        <p:spPr>
          <a:xfrm>
            <a:off x="3457191" y="1325880"/>
            <a:ext cx="5247137"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Regras, aprendizado de máquina ou IA generativa?</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9653B"/>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O que vale a pena lembrar</a:t>
            </a:r>
            <a:endParaRPr lang="en-US" sz="3400" dirty="0"/>
          </a:p>
        </p:txBody>
      </p:sp>
      <p:sp>
        <p:nvSpPr>
          <p:cNvPr id="4" name="Shape 1"/>
          <p:cNvSpPr/>
          <p:nvPr/>
        </p:nvSpPr>
        <p:spPr>
          <a:xfrm>
            <a:off x="548640" y="1417320"/>
            <a:ext cx="11064240" cy="682752"/>
          </a:xfrm>
          <a:prstGeom prst="roundRect">
            <a:avLst>
              <a:gd name="adj" fmla="val 16071"/>
            </a:avLst>
          </a:prstGeom>
          <a:solidFill>
            <a:srgbClr val="FFFFFF">
              <a:alpha val="88000"/>
            </a:srgbClr>
          </a:solidFill>
          <a:ln w="12700">
            <a:solidFill>
              <a:srgbClr val="FFFFFF">
                <a:alpha val="88000"/>
              </a:srgbClr>
            </a:solidFill>
            <a:prstDash val="solid"/>
          </a:ln>
        </p:spPr>
      </p:sp>
      <p:sp>
        <p:nvSpPr>
          <p:cNvPr id="5" name="Text 2"/>
          <p:cNvSpPr txBox="1"/>
          <p:nvPr/>
        </p:nvSpPr>
        <p:spPr>
          <a:xfrm>
            <a:off x="731520" y="1417320"/>
            <a:ext cx="548640" cy="682752"/>
          </a:xfrm>
          <a:prstGeom prst="rect">
            <a:avLst/>
          </a:prstGeom>
          <a:noFill/>
          <a:ln/>
        </p:spPr>
        <p:txBody>
          <a:bodyPr wrap="square" lIns="0" tIns="0" rIns="0" bIns="0" rtlCol="0" anchor="ctr"/>
          <a:lstStyle/>
          <a:p>
            <a:pPr algn="ctr" indent="0" marL="0">
              <a:buNone/>
            </a:pPr>
            <a:r>
              <a:rPr lang="en-US" sz="2400" b="1" dirty="0">
                <a:solidFill>
                  <a:srgbClr val="D9653B"/>
                </a:solidFill>
              </a:rPr>
              <a:t>✓</a:t>
            </a:r>
            <a:endParaRPr lang="en-US" sz="2400" dirty="0"/>
          </a:p>
        </p:txBody>
      </p:sp>
      <p:sp>
        <p:nvSpPr>
          <p:cNvPr id="6" name="Text 3"/>
          <p:cNvSpPr txBox="1"/>
          <p:nvPr/>
        </p:nvSpPr>
        <p:spPr>
          <a:xfrm>
            <a:off x="1463040" y="1417320"/>
            <a:ext cx="9966960" cy="682752"/>
          </a:xfrm>
          <a:prstGeom prst="rect">
            <a:avLst/>
          </a:prstGeom>
          <a:noFill/>
          <a:ln/>
        </p:spPr>
        <p:txBody>
          <a:bodyPr wrap="square" lIns="0" tIns="0" rIns="0" bIns="0" rtlCol="0" anchor="ctr"/>
          <a:lstStyle/>
          <a:p>
            <a:pPr indent="0" marL="0">
              <a:buNone/>
            </a:pPr>
            <a:r>
              <a:rPr lang="en-US" sz="1800" b="1" dirty="0">
                <a:solidFill>
                  <a:srgbClr val="3B2A2A"/>
                </a:solidFill>
              </a:rPr>
              <a:t>Não há definição única de IA; usamos uma definição de trabalho</a:t>
            </a:r>
            <a:endParaRPr lang="en-US" sz="1800" dirty="0"/>
          </a:p>
        </p:txBody>
      </p:sp>
      <p:sp>
        <p:nvSpPr>
          <p:cNvPr id="7" name="Shape 4"/>
          <p:cNvSpPr/>
          <p:nvPr/>
        </p:nvSpPr>
        <p:spPr>
          <a:xfrm>
            <a:off x="548640" y="2209800"/>
            <a:ext cx="11064240" cy="682752"/>
          </a:xfrm>
          <a:prstGeom prst="roundRect">
            <a:avLst>
              <a:gd name="adj" fmla="val 16071"/>
            </a:avLst>
          </a:prstGeom>
          <a:solidFill>
            <a:srgbClr val="FFFFFF">
              <a:alpha val="88000"/>
            </a:srgbClr>
          </a:solidFill>
          <a:ln w="12700">
            <a:solidFill>
              <a:srgbClr val="FFFFFF">
                <a:alpha val="88000"/>
              </a:srgbClr>
            </a:solidFill>
            <a:prstDash val="solid"/>
          </a:ln>
        </p:spPr>
      </p:sp>
      <p:sp>
        <p:nvSpPr>
          <p:cNvPr id="8" name="Text 5"/>
          <p:cNvSpPr txBox="1"/>
          <p:nvPr/>
        </p:nvSpPr>
        <p:spPr>
          <a:xfrm>
            <a:off x="731520" y="2209800"/>
            <a:ext cx="548640" cy="682752"/>
          </a:xfrm>
          <a:prstGeom prst="rect">
            <a:avLst/>
          </a:prstGeom>
          <a:noFill/>
          <a:ln/>
        </p:spPr>
        <p:txBody>
          <a:bodyPr wrap="square" lIns="0" tIns="0" rIns="0" bIns="0" rtlCol="0" anchor="ctr"/>
          <a:lstStyle/>
          <a:p>
            <a:pPr algn="ctr" indent="0" marL="0">
              <a:buNone/>
            </a:pPr>
            <a:r>
              <a:rPr lang="en-US" sz="2400" b="1" dirty="0">
                <a:solidFill>
                  <a:srgbClr val="D9653B"/>
                </a:solidFill>
              </a:rPr>
              <a:t>✓</a:t>
            </a:r>
            <a:endParaRPr lang="en-US" sz="2400" dirty="0"/>
          </a:p>
        </p:txBody>
      </p:sp>
      <p:sp>
        <p:nvSpPr>
          <p:cNvPr id="9" name="Text 6"/>
          <p:cNvSpPr txBox="1"/>
          <p:nvPr/>
        </p:nvSpPr>
        <p:spPr>
          <a:xfrm>
            <a:off x="1463040" y="2209800"/>
            <a:ext cx="9966960" cy="682752"/>
          </a:xfrm>
          <a:prstGeom prst="rect">
            <a:avLst/>
          </a:prstGeom>
          <a:noFill/>
          <a:ln/>
        </p:spPr>
        <p:txBody>
          <a:bodyPr wrap="square" lIns="0" tIns="0" rIns="0" bIns="0" rtlCol="0" anchor="ctr"/>
          <a:lstStyle/>
          <a:p>
            <a:pPr indent="0" marL="0">
              <a:buNone/>
            </a:pPr>
            <a:r>
              <a:rPr lang="en-US" sz="1800" b="1" dirty="0">
                <a:solidFill>
                  <a:srgbClr val="3B2A2A"/>
                </a:solidFill>
              </a:rPr>
              <a:t>Regras escritas por pessoas ou padrões aprendidos de exemplos</a:t>
            </a:r>
            <a:endParaRPr lang="en-US" sz="1800" dirty="0"/>
          </a:p>
        </p:txBody>
      </p:sp>
      <p:sp>
        <p:nvSpPr>
          <p:cNvPr id="10" name="Shape 7"/>
          <p:cNvSpPr/>
          <p:nvPr/>
        </p:nvSpPr>
        <p:spPr>
          <a:xfrm>
            <a:off x="548640" y="3002280"/>
            <a:ext cx="11064240" cy="682752"/>
          </a:xfrm>
          <a:prstGeom prst="roundRect">
            <a:avLst>
              <a:gd name="adj" fmla="val 16071"/>
            </a:avLst>
          </a:prstGeom>
          <a:solidFill>
            <a:srgbClr val="FFFFFF">
              <a:alpha val="88000"/>
            </a:srgbClr>
          </a:solidFill>
          <a:ln w="12700">
            <a:solidFill>
              <a:srgbClr val="FFFFFF">
                <a:alpha val="88000"/>
              </a:srgbClr>
            </a:solidFill>
            <a:prstDash val="solid"/>
          </a:ln>
        </p:spPr>
      </p:sp>
      <p:sp>
        <p:nvSpPr>
          <p:cNvPr id="11" name="Text 8"/>
          <p:cNvSpPr txBox="1"/>
          <p:nvPr/>
        </p:nvSpPr>
        <p:spPr>
          <a:xfrm>
            <a:off x="731520" y="3002280"/>
            <a:ext cx="548640" cy="682752"/>
          </a:xfrm>
          <a:prstGeom prst="rect">
            <a:avLst/>
          </a:prstGeom>
          <a:noFill/>
          <a:ln/>
        </p:spPr>
        <p:txBody>
          <a:bodyPr wrap="square" lIns="0" tIns="0" rIns="0" bIns="0" rtlCol="0" anchor="ctr"/>
          <a:lstStyle/>
          <a:p>
            <a:pPr algn="ctr" indent="0" marL="0">
              <a:buNone/>
            </a:pPr>
            <a:r>
              <a:rPr lang="en-US" sz="2400" b="1" dirty="0">
                <a:solidFill>
                  <a:srgbClr val="D9653B"/>
                </a:solidFill>
              </a:rPr>
              <a:t>✓</a:t>
            </a:r>
            <a:endParaRPr lang="en-US" sz="2400" dirty="0"/>
          </a:p>
        </p:txBody>
      </p:sp>
      <p:sp>
        <p:nvSpPr>
          <p:cNvPr id="12" name="Text 9"/>
          <p:cNvSpPr txBox="1"/>
          <p:nvPr/>
        </p:nvSpPr>
        <p:spPr>
          <a:xfrm>
            <a:off x="1463040" y="3002280"/>
            <a:ext cx="9966960" cy="682752"/>
          </a:xfrm>
          <a:prstGeom prst="rect">
            <a:avLst/>
          </a:prstGeom>
          <a:noFill/>
          <a:ln/>
        </p:spPr>
        <p:txBody>
          <a:bodyPr wrap="square" lIns="0" tIns="0" rIns="0" bIns="0" rtlCol="0" anchor="ctr"/>
          <a:lstStyle/>
          <a:p>
            <a:pPr indent="0" marL="0">
              <a:buNone/>
            </a:pPr>
            <a:r>
              <a:rPr lang="en-US" sz="1800" b="1" dirty="0">
                <a:solidFill>
                  <a:srgbClr val="3B2A2A"/>
                </a:solidFill>
              </a:rPr>
              <a:t>IA, aprendizado de máquina, profundo e generativa se contêm</a:t>
            </a:r>
            <a:endParaRPr lang="en-US" sz="1800" dirty="0"/>
          </a:p>
        </p:txBody>
      </p:sp>
      <p:sp>
        <p:nvSpPr>
          <p:cNvPr id="13" name="Shape 10"/>
          <p:cNvSpPr/>
          <p:nvPr/>
        </p:nvSpPr>
        <p:spPr>
          <a:xfrm>
            <a:off x="548640" y="3794760"/>
            <a:ext cx="11064240" cy="682752"/>
          </a:xfrm>
          <a:prstGeom prst="roundRect">
            <a:avLst>
              <a:gd name="adj" fmla="val 16071"/>
            </a:avLst>
          </a:prstGeom>
          <a:solidFill>
            <a:srgbClr val="FFFFFF">
              <a:alpha val="88000"/>
            </a:srgbClr>
          </a:solidFill>
          <a:ln w="12700">
            <a:solidFill>
              <a:srgbClr val="FFFFFF">
                <a:alpha val="88000"/>
              </a:srgbClr>
            </a:solidFill>
            <a:prstDash val="solid"/>
          </a:ln>
        </p:spPr>
      </p:sp>
      <p:sp>
        <p:nvSpPr>
          <p:cNvPr id="14" name="Text 11"/>
          <p:cNvSpPr txBox="1"/>
          <p:nvPr/>
        </p:nvSpPr>
        <p:spPr>
          <a:xfrm>
            <a:off x="731520" y="3794760"/>
            <a:ext cx="548640" cy="682752"/>
          </a:xfrm>
          <a:prstGeom prst="rect">
            <a:avLst/>
          </a:prstGeom>
          <a:noFill/>
          <a:ln/>
        </p:spPr>
        <p:txBody>
          <a:bodyPr wrap="square" lIns="0" tIns="0" rIns="0" bIns="0" rtlCol="0" anchor="ctr"/>
          <a:lstStyle/>
          <a:p>
            <a:pPr algn="ctr" indent="0" marL="0">
              <a:buNone/>
            </a:pPr>
            <a:r>
              <a:rPr lang="en-US" sz="2400" b="1" dirty="0">
                <a:solidFill>
                  <a:srgbClr val="D9653B"/>
                </a:solidFill>
              </a:rPr>
              <a:t>✓</a:t>
            </a:r>
            <a:endParaRPr lang="en-US" sz="2400" dirty="0"/>
          </a:p>
        </p:txBody>
      </p:sp>
      <p:sp>
        <p:nvSpPr>
          <p:cNvPr id="15" name="Text 12"/>
          <p:cNvSpPr txBox="1"/>
          <p:nvPr/>
        </p:nvSpPr>
        <p:spPr>
          <a:xfrm>
            <a:off x="1463040" y="3794760"/>
            <a:ext cx="9966960" cy="682752"/>
          </a:xfrm>
          <a:prstGeom prst="rect">
            <a:avLst/>
          </a:prstGeom>
          <a:noFill/>
          <a:ln/>
        </p:spPr>
        <p:txBody>
          <a:bodyPr wrap="square" lIns="0" tIns="0" rIns="0" bIns="0" rtlCol="0" anchor="ctr"/>
          <a:lstStyle/>
          <a:p>
            <a:pPr indent="0" marL="0">
              <a:buNone/>
            </a:pPr>
            <a:r>
              <a:rPr lang="en-US" sz="1800" b="1" dirty="0">
                <a:solidFill>
                  <a:srgbClr val="3B2A2A"/>
                </a:solidFill>
              </a:rPr>
              <a:t>Sistemas atuais fazem tarefas específicas; cautela com "entende"</a:t>
            </a:r>
            <a:endParaRPr lang="en-US" sz="1800" dirty="0"/>
          </a:p>
        </p:txBody>
      </p:sp>
      <p:sp>
        <p:nvSpPr>
          <p:cNvPr id="16" name="Shape 13"/>
          <p:cNvSpPr/>
          <p:nvPr/>
        </p:nvSpPr>
        <p:spPr>
          <a:xfrm>
            <a:off x="548640" y="4587240"/>
            <a:ext cx="11064240" cy="682752"/>
          </a:xfrm>
          <a:prstGeom prst="roundRect">
            <a:avLst>
              <a:gd name="adj" fmla="val 16071"/>
            </a:avLst>
          </a:prstGeom>
          <a:solidFill>
            <a:srgbClr val="FFFFFF">
              <a:alpha val="88000"/>
            </a:srgbClr>
          </a:solidFill>
          <a:ln w="12700">
            <a:solidFill>
              <a:srgbClr val="FFFFFF">
                <a:alpha val="88000"/>
              </a:srgbClr>
            </a:solidFill>
            <a:prstDash val="solid"/>
          </a:ln>
        </p:spPr>
      </p:sp>
      <p:sp>
        <p:nvSpPr>
          <p:cNvPr id="17" name="Text 14"/>
          <p:cNvSpPr txBox="1"/>
          <p:nvPr/>
        </p:nvSpPr>
        <p:spPr>
          <a:xfrm>
            <a:off x="731520" y="4587240"/>
            <a:ext cx="548640" cy="682752"/>
          </a:xfrm>
          <a:prstGeom prst="rect">
            <a:avLst/>
          </a:prstGeom>
          <a:noFill/>
          <a:ln/>
        </p:spPr>
        <p:txBody>
          <a:bodyPr wrap="square" lIns="0" tIns="0" rIns="0" bIns="0" rtlCol="0" anchor="ctr"/>
          <a:lstStyle/>
          <a:p>
            <a:pPr algn="ctr" indent="0" marL="0">
              <a:buNone/>
            </a:pPr>
            <a:r>
              <a:rPr lang="en-US" sz="2400" b="1" dirty="0">
                <a:solidFill>
                  <a:srgbClr val="D9653B"/>
                </a:solidFill>
              </a:rPr>
              <a:t>✓</a:t>
            </a:r>
            <a:endParaRPr lang="en-US" sz="2400" dirty="0"/>
          </a:p>
        </p:txBody>
      </p:sp>
      <p:sp>
        <p:nvSpPr>
          <p:cNvPr id="18" name="Text 15"/>
          <p:cNvSpPr txBox="1"/>
          <p:nvPr/>
        </p:nvSpPr>
        <p:spPr>
          <a:xfrm>
            <a:off x="1463040" y="4587240"/>
            <a:ext cx="9966960" cy="682752"/>
          </a:xfrm>
          <a:prstGeom prst="rect">
            <a:avLst/>
          </a:prstGeom>
          <a:noFill/>
          <a:ln/>
        </p:spPr>
        <p:txBody>
          <a:bodyPr wrap="square" lIns="0" tIns="0" rIns="0" bIns="0" rtlCol="0" anchor="ctr"/>
          <a:lstStyle/>
          <a:p>
            <a:pPr indent="0" marL="0">
              <a:buNone/>
            </a:pPr>
            <a:r>
              <a:rPr lang="en-US" sz="1800" b="1" dirty="0">
                <a:solidFill>
                  <a:srgbClr val="3B2A2A"/>
                </a:solidFill>
              </a:rPr>
              <a:t>Educar com, sobre e para um mundo com IA são frentes diferentes</a:t>
            </a:r>
            <a:endParaRPr lang="en-US" sz="1800" dirty="0"/>
          </a:p>
        </p:txBody>
      </p:sp>
      <p:sp>
        <p:nvSpPr>
          <p:cNvPr id="19" name="Shape 16"/>
          <p:cNvSpPr/>
          <p:nvPr/>
        </p:nvSpPr>
        <p:spPr>
          <a:xfrm>
            <a:off x="548640" y="5379720"/>
            <a:ext cx="11064240" cy="682752"/>
          </a:xfrm>
          <a:prstGeom prst="roundRect">
            <a:avLst>
              <a:gd name="adj" fmla="val 16071"/>
            </a:avLst>
          </a:prstGeom>
          <a:solidFill>
            <a:srgbClr val="FFFFFF">
              <a:alpha val="88000"/>
            </a:srgbClr>
          </a:solidFill>
          <a:ln w="12700">
            <a:solidFill>
              <a:srgbClr val="FFFFFF">
                <a:alpha val="88000"/>
              </a:srgbClr>
            </a:solidFill>
            <a:prstDash val="solid"/>
          </a:ln>
        </p:spPr>
      </p:sp>
      <p:sp>
        <p:nvSpPr>
          <p:cNvPr id="20" name="Text 17"/>
          <p:cNvSpPr txBox="1"/>
          <p:nvPr/>
        </p:nvSpPr>
        <p:spPr>
          <a:xfrm>
            <a:off x="731520" y="5379720"/>
            <a:ext cx="548640" cy="682752"/>
          </a:xfrm>
          <a:prstGeom prst="rect">
            <a:avLst/>
          </a:prstGeom>
          <a:noFill/>
          <a:ln/>
        </p:spPr>
        <p:txBody>
          <a:bodyPr wrap="square" lIns="0" tIns="0" rIns="0" bIns="0" rtlCol="0" anchor="ctr"/>
          <a:lstStyle/>
          <a:p>
            <a:pPr algn="ctr" indent="0" marL="0">
              <a:buNone/>
            </a:pPr>
            <a:r>
              <a:rPr lang="en-US" sz="2400" b="1" dirty="0">
                <a:solidFill>
                  <a:srgbClr val="D9653B"/>
                </a:solidFill>
              </a:rPr>
              <a:t>✓</a:t>
            </a:r>
            <a:endParaRPr lang="en-US" sz="2400" dirty="0"/>
          </a:p>
        </p:txBody>
      </p:sp>
      <p:sp>
        <p:nvSpPr>
          <p:cNvPr id="21" name="Text 18"/>
          <p:cNvSpPr txBox="1"/>
          <p:nvPr/>
        </p:nvSpPr>
        <p:spPr>
          <a:xfrm>
            <a:off x="1463040" y="5379720"/>
            <a:ext cx="9966960" cy="682752"/>
          </a:xfrm>
          <a:prstGeom prst="rect">
            <a:avLst/>
          </a:prstGeom>
          <a:noFill/>
          <a:ln/>
        </p:spPr>
        <p:txBody>
          <a:bodyPr wrap="square" lIns="0" tIns="0" rIns="0" bIns="0" rtlCol="0" anchor="ctr"/>
          <a:lstStyle/>
          <a:p>
            <a:pPr indent="0" marL="0">
              <a:buNone/>
            </a:pPr>
            <a:r>
              <a:rPr lang="en-US" sz="1800" b="1" dirty="0">
                <a:solidFill>
                  <a:srgbClr val="3B2A2A"/>
                </a:solidFill>
              </a:rPr>
              <a:t>Saber o que é IA ajuda mesmo quem escolhe não usá-la</a:t>
            </a:r>
            <a:endParaRPr lang="en-US" sz="1800" dirty="0"/>
          </a:p>
        </p:txBody>
      </p:sp>
      <p:sp>
        <p:nvSpPr>
          <p:cNvPr id="22"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Para pensar na sua prática</a:t>
            </a:r>
            <a:endParaRPr lang="en-US" sz="3400" dirty="0"/>
          </a:p>
        </p:txBody>
      </p:sp>
      <p:sp>
        <p:nvSpPr>
          <p:cNvPr id="4" name="Shape 1"/>
          <p:cNvSpPr/>
          <p:nvPr/>
        </p:nvSpPr>
        <p:spPr>
          <a:xfrm>
            <a:off x="548640" y="1463040"/>
            <a:ext cx="11064240" cy="1097280"/>
          </a:xfrm>
          <a:prstGeom prst="roundRect">
            <a:avLst>
              <a:gd name="adj" fmla="val 10000"/>
            </a:avLst>
          </a:prstGeom>
          <a:solidFill>
            <a:srgbClr val="F7EFE6"/>
          </a:solidFill>
          <a:ln w="12700">
            <a:solidFill>
              <a:srgbClr val="F7EFE6"/>
            </a:solidFill>
            <a:prstDash val="solid"/>
          </a:ln>
        </p:spPr>
      </p:sp>
      <p:sp>
        <p:nvSpPr>
          <p:cNvPr id="5" name="Shape 2"/>
          <p:cNvSpPr/>
          <p:nvPr/>
        </p:nvSpPr>
        <p:spPr>
          <a:xfrm>
            <a:off x="777240" y="1737360"/>
            <a:ext cx="548640" cy="548640"/>
          </a:xfrm>
          <a:prstGeom prst="ellipse">
            <a:avLst/>
          </a:prstGeom>
          <a:solidFill>
            <a:srgbClr val="6D3B6E"/>
          </a:solidFill>
          <a:ln w="12700">
            <a:solidFill>
              <a:srgbClr val="6D3B6E"/>
            </a:solidFill>
            <a:prstDash val="solid"/>
          </a:ln>
        </p:spPr>
      </p:sp>
      <p:sp>
        <p:nvSpPr>
          <p:cNvPr id="6" name="Text 3"/>
          <p:cNvSpPr txBox="1"/>
          <p:nvPr/>
        </p:nvSpPr>
        <p:spPr>
          <a:xfrm>
            <a:off x="77724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4"/>
          <p:cNvSpPr txBox="1"/>
          <p:nvPr/>
        </p:nvSpPr>
        <p:spPr>
          <a:xfrm>
            <a:off x="1600200" y="146304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Que tecnologias do seu dia a dia você tinha dúvida se usam IA?</a:t>
            </a:r>
            <a:endParaRPr lang="en-US" sz="2000" dirty="0"/>
          </a:p>
        </p:txBody>
      </p:sp>
      <p:sp>
        <p:nvSpPr>
          <p:cNvPr id="8" name="Shape 5"/>
          <p:cNvSpPr/>
          <p:nvPr/>
        </p:nvSpPr>
        <p:spPr>
          <a:xfrm>
            <a:off x="548640" y="2697480"/>
            <a:ext cx="11064240" cy="1097280"/>
          </a:xfrm>
          <a:prstGeom prst="roundRect">
            <a:avLst>
              <a:gd name="adj" fmla="val 10000"/>
            </a:avLst>
          </a:prstGeom>
          <a:solidFill>
            <a:srgbClr val="F7EFE6"/>
          </a:solidFill>
          <a:ln w="12700">
            <a:solidFill>
              <a:srgbClr val="F7EFE6"/>
            </a:solidFill>
            <a:prstDash val="solid"/>
          </a:ln>
        </p:spPr>
      </p:sp>
      <p:sp>
        <p:nvSpPr>
          <p:cNvPr id="9" name="Shape 6"/>
          <p:cNvSpPr/>
          <p:nvPr/>
        </p:nvSpPr>
        <p:spPr>
          <a:xfrm>
            <a:off x="777240" y="2971800"/>
            <a:ext cx="548640" cy="548640"/>
          </a:xfrm>
          <a:prstGeom prst="ellipse">
            <a:avLst/>
          </a:prstGeom>
          <a:solidFill>
            <a:srgbClr val="6D3B6E"/>
          </a:solidFill>
          <a:ln w="12700">
            <a:solidFill>
              <a:srgbClr val="6D3B6E"/>
            </a:solidFill>
            <a:prstDash val="solid"/>
          </a:ln>
        </p:spPr>
      </p:sp>
      <p:sp>
        <p:nvSpPr>
          <p:cNvPr id="10" name="Text 7"/>
          <p:cNvSpPr txBox="1"/>
          <p:nvPr/>
        </p:nvSpPr>
        <p:spPr>
          <a:xfrm>
            <a:off x="777240" y="2971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8"/>
          <p:cNvSpPr txBox="1"/>
          <p:nvPr/>
        </p:nvSpPr>
        <p:spPr>
          <a:xfrm>
            <a:off x="1600200" y="269748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Que dúvidas sobre IA seus estudantes trazem? Você já os ouviu?</a:t>
            </a:r>
            <a:endParaRPr lang="en-US" sz="2000" dirty="0"/>
          </a:p>
        </p:txBody>
      </p:sp>
      <p:sp>
        <p:nvSpPr>
          <p:cNvPr id="12" name="Shape 9"/>
          <p:cNvSpPr/>
          <p:nvPr/>
        </p:nvSpPr>
        <p:spPr>
          <a:xfrm>
            <a:off x="548640" y="3931920"/>
            <a:ext cx="11064240" cy="1097280"/>
          </a:xfrm>
          <a:prstGeom prst="roundRect">
            <a:avLst>
              <a:gd name="adj" fmla="val 10000"/>
            </a:avLst>
          </a:prstGeom>
          <a:solidFill>
            <a:srgbClr val="F7EFE6"/>
          </a:solidFill>
          <a:ln w="12700">
            <a:solidFill>
              <a:srgbClr val="F7EFE6"/>
            </a:solidFill>
            <a:prstDash val="solid"/>
          </a:ln>
        </p:spPr>
      </p:sp>
      <p:sp>
        <p:nvSpPr>
          <p:cNvPr id="13" name="Shape 10"/>
          <p:cNvSpPr/>
          <p:nvPr/>
        </p:nvSpPr>
        <p:spPr>
          <a:xfrm>
            <a:off x="777240" y="4206240"/>
            <a:ext cx="548640" cy="548640"/>
          </a:xfrm>
          <a:prstGeom prst="ellipse">
            <a:avLst/>
          </a:prstGeom>
          <a:solidFill>
            <a:srgbClr val="6D3B6E"/>
          </a:solidFill>
          <a:ln w="12700">
            <a:solidFill>
              <a:srgbClr val="6D3B6E"/>
            </a:solidFill>
            <a:prstDash val="solid"/>
          </a:ln>
        </p:spPr>
      </p:sp>
      <p:sp>
        <p:nvSpPr>
          <p:cNvPr id="14" name="Text 11"/>
          <p:cNvSpPr txBox="1"/>
          <p:nvPr/>
        </p:nvSpPr>
        <p:spPr>
          <a:xfrm>
            <a:off x="777240" y="4206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5" name="Text 12"/>
          <p:cNvSpPr txBox="1"/>
          <p:nvPr/>
        </p:nvSpPr>
        <p:spPr>
          <a:xfrm>
            <a:off x="1600200" y="393192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Quais mitos você já ouviu na escola? Como responderia?</a:t>
            </a:r>
            <a:endParaRPr lang="en-US" sz="2000" dirty="0"/>
          </a:p>
        </p:txBody>
      </p:sp>
      <p:sp>
        <p:nvSpPr>
          <p:cNvPr id="16" name="Shape 13"/>
          <p:cNvSpPr/>
          <p:nvPr/>
        </p:nvSpPr>
        <p:spPr>
          <a:xfrm>
            <a:off x="548640" y="5166360"/>
            <a:ext cx="11064240" cy="1097280"/>
          </a:xfrm>
          <a:prstGeom prst="roundRect">
            <a:avLst>
              <a:gd name="adj" fmla="val 10000"/>
            </a:avLst>
          </a:prstGeom>
          <a:solidFill>
            <a:srgbClr val="F7EFE6"/>
          </a:solidFill>
          <a:ln w="12700">
            <a:solidFill>
              <a:srgbClr val="F7EFE6"/>
            </a:solidFill>
            <a:prstDash val="solid"/>
          </a:ln>
        </p:spPr>
      </p:sp>
      <p:sp>
        <p:nvSpPr>
          <p:cNvPr id="17" name="Shape 14"/>
          <p:cNvSpPr/>
          <p:nvPr/>
        </p:nvSpPr>
        <p:spPr>
          <a:xfrm>
            <a:off x="777240" y="5440680"/>
            <a:ext cx="548640" cy="548640"/>
          </a:xfrm>
          <a:prstGeom prst="ellipse">
            <a:avLst/>
          </a:prstGeom>
          <a:solidFill>
            <a:srgbClr val="6D3B6E"/>
          </a:solidFill>
          <a:ln w="12700">
            <a:solidFill>
              <a:srgbClr val="6D3B6E"/>
            </a:solidFill>
            <a:prstDash val="solid"/>
          </a:ln>
        </p:spPr>
      </p:sp>
      <p:sp>
        <p:nvSpPr>
          <p:cNvPr id="18" name="Text 15"/>
          <p:cNvSpPr txBox="1"/>
          <p:nvPr/>
        </p:nvSpPr>
        <p:spPr>
          <a:xfrm>
            <a:off x="777240" y="5440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9" name="Text 16"/>
          <p:cNvSpPr txBox="1"/>
          <p:nvPr/>
        </p:nvSpPr>
        <p:spPr>
          <a:xfrm>
            <a:off x="1600200" y="516636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Na sua área, o que muda entre educar com, sobre e para a IA?</a:t>
            </a:r>
            <a:endParaRPr lang="en-US" sz="20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A2E2A"/>
        </a:solidFill>
      </p:bgPr>
    </p:bg>
    <p:spTree>
      <p:nvGrpSpPr>
        <p:cNvPr id="1" name=""/>
        <p:cNvGrpSpPr/>
        <p:nvPr/>
      </p:nvGrpSpPr>
      <p:grpSpPr>
        <a:xfrm>
          <a:off x="0" y="0"/>
          <a:ext cx="0" cy="0"/>
          <a:chOff x="0" y="0"/>
          <a:chExt cx="0" cy="0"/>
        </a:xfrm>
      </p:grpSpPr>
      <p:sp>
        <p:nvSpPr>
          <p:cNvPr id="3" name="Shape 0"/>
          <p:cNvSpPr/>
          <p:nvPr/>
        </p:nvSpPr>
        <p:spPr>
          <a:xfrm>
            <a:off x="-1371600" y="3840480"/>
            <a:ext cx="4572000" cy="4572000"/>
          </a:xfrm>
          <a:prstGeom prst="ellipse">
            <a:avLst/>
          </a:prstGeom>
          <a:solidFill>
            <a:srgbClr val="D9653B">
              <a:alpha val="70000"/>
            </a:srgbClr>
          </a:solidFill>
          <a:ln w="12700">
            <a:solidFill>
              <a:srgbClr val="D9653B">
                <a:alpha val="70000"/>
              </a:srgbClr>
            </a:solidFill>
            <a:prstDash val="solid"/>
          </a:ln>
        </p:spPr>
      </p:sp>
      <p:sp>
        <p:nvSpPr>
          <p:cNvPr id="4" name="Text 1"/>
          <p:cNvSpPr txBox="1"/>
          <p:nvPr/>
        </p:nvSpPr>
        <p:spPr>
          <a:xfrm>
            <a:off x="1097280" y="1828800"/>
            <a:ext cx="10058400" cy="20116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Parecer entender não é entender.</a:t>
            </a:r>
            <a:endParaRPr lang="en-US" sz="4400" dirty="0"/>
          </a:p>
        </p:txBody>
      </p:sp>
      <p:sp>
        <p:nvSpPr>
          <p:cNvPr id="5" name="Text 2"/>
          <p:cNvSpPr txBox="1"/>
          <p:nvPr/>
        </p:nvSpPr>
        <p:spPr>
          <a:xfrm>
            <a:off x="1097280" y="4114800"/>
            <a:ext cx="10058400" cy="640080"/>
          </a:xfrm>
          <a:prstGeom prst="rect">
            <a:avLst/>
          </a:prstGeom>
          <a:noFill/>
          <a:ln/>
        </p:spPr>
        <p:txBody>
          <a:bodyPr wrap="square" lIns="0" tIns="0" rIns="0" bIns="0" rtlCol="0" anchor="ctr"/>
          <a:lstStyle/>
          <a:p>
            <a:pPr algn="ctr" indent="0" marL="0">
              <a:buNone/>
            </a:pPr>
            <a:r>
              <a:rPr lang="en-US" sz="2200" i="1" dirty="0">
                <a:solidFill>
                  <a:srgbClr val="F4B860"/>
                </a:solidFill>
              </a:rPr>
              <a:t>A docência é insubstituível.</a:t>
            </a:r>
            <a:endParaRPr lang="en-US" sz="2200" dirty="0"/>
          </a:p>
        </p:txBody>
      </p:sp>
      <p:sp>
        <p:nvSpPr>
          <p:cNvPr id="6" name="Text 3"/>
          <p:cNvSpPr txBox="1"/>
          <p:nvPr/>
        </p:nvSpPr>
        <p:spPr>
          <a:xfrm>
            <a:off x="1097280" y="5029200"/>
            <a:ext cx="10058400" cy="548640"/>
          </a:xfrm>
          <a:prstGeom prst="rect">
            <a:avLst/>
          </a:prstGeom>
          <a:noFill/>
          <a:ln/>
        </p:spPr>
        <p:txBody>
          <a:bodyPr wrap="square" lIns="0" tIns="0" rIns="0" bIns="0" rtlCol="0" anchor="ctr"/>
          <a:lstStyle/>
          <a:p>
            <a:pPr algn="ctr" indent="0" marL="0">
              <a:buNone/>
            </a:pPr>
            <a:r>
              <a:rPr lang="en-US" sz="1800" dirty="0">
                <a:solidFill>
                  <a:srgbClr val="E9D9C8"/>
                </a:solidFill>
              </a:rPr>
              <a:t>Obrigado(a)!</a:t>
            </a:r>
            <a:endParaRPr lang="en-US" sz="1800" dirty="0"/>
          </a:p>
        </p:txBody>
      </p:sp>
    </p:spTree>
  </p:cSld>
  <p:clrMapOvr>
    <a:masterClrMapping/>
  </p:clrMapOvr>
</p:sld>
</file>

<file path=ppt/theme/theme1.xml><?xml version="1.0" encoding="utf-8"?>
<a:theme xmlns:a="http://schemas.openxmlformats.org/drawingml/2006/main" name="IA na Educação">
  <a:themeElements>
    <a:clrScheme name="IA na Educação">
      <a:dk1>
        <a:srgbClr val="3B2A2A"/>
      </a:dk1>
      <a:lt1>
        <a:srgbClr val="FFFFFF"/>
      </a:lt1>
      <a:dk2>
        <a:srgbClr val="5A2E2A"/>
      </a:dk2>
      <a:lt2>
        <a:srgbClr val="F7EFE6"/>
      </a:lt2>
      <a:accent1>
        <a:srgbClr val="D9653B"/>
      </a:accent1>
      <a:accent2>
        <a:srgbClr val="2A9D8F"/>
      </a:accent2>
      <a:accent3>
        <a:srgbClr val="E9A23B"/>
      </a:accent3>
      <a:accent4>
        <a:srgbClr val="6D3B6E"/>
      </a:accent4>
      <a:accent5>
        <a:srgbClr val="3D7EA6"/>
      </a:accent5>
      <a:accent6>
        <a:srgbClr val="6E9A4F"/>
      </a:accent6>
      <a:hlink>
        <a:srgbClr val="3D7EA6"/>
      </a:hlink>
      <a:folHlink>
        <a:srgbClr val="6D3B6E"/>
      </a:folHlink>
    </a:clrScheme>
    <a:fontScheme name="IA na Educaçã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2 — O que é Inteligência Artificial (e o que não é)</dc:title>
  <dc:subject>PptxGenJS Presentation</dc:subject>
  <dc:creator>Araken de Medeiros Santos</dc:creator>
  <cp:lastModifiedBy>Araken de Medeiros Santos</cp:lastModifiedBy>
  <cp:revision>1</cp:revision>
  <dcterms:created xsi:type="dcterms:W3CDTF">2026-10-26T23:34:33Z</dcterms:created>
  <dcterms:modified xsi:type="dcterms:W3CDTF">2026-10-26T23:34:33Z</dcterms:modified>
</cp:coreProperties>
</file>