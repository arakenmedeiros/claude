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do capítulo 30. Apresente o tema e peça que a turma pense em uma situação do dia a dia relacionada.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 que este capítulo fecha a Parte VI e olha para as pessoas e instituições ao longo do tempo. Pergunte se alguém já sentiu que não conseguia começar sem a ferramenta. Dois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 a cena fictícia: a direção liberou 'cada um usa como achar melhor'; Rui perdeu a confiança na própria escrita, Ivone revisa textos de estudantes à noite, uma colega nova sente pressão e dois professores que não usam se sentem atrasados. A pergunta de Marlene: dependência, pressão ou adaptação? Três minutos de conversa.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Mapa do capítulo: tipos de dependência, sinais e salvaguardas, trabalho docente, direito de não usar, política institucional e riscos. Um minuto.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uso à dependência é um espectro, não uma linha divisória: uso deliberado, hábito útil, hábito automático, perda de confiança na própria capacidade e dependência. Não busque um número de horas; faça perguntas honestas sobre o próprio uso. Peça que cada pessoa se posicione mentalmente na faixa.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Aqui dependência não tem sentido clínico: é não conseguir, ou não querer, fazer uma tarefa importante sem o sistema, com prejuízo aos próprios objetivos. Nem todo uso frequente é problema: calendário e calculadora não nos tornam dependentes. Uso é escolha consciente; hábito automatiza; dependência é perda de capacidade ou confiança.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Quatro formas. Cognitiva: descarregar uma operação mental, como redigir, pode reduzir a prática de habilidades que queremos manter. De julgamento: viés de automação, aceitar porque parece certo. Relacional: respostas sempre cordiais podem substituir conversas com pessoas; efeitos de longo prazo pouco conhecidos. Organizacional: depender de um único fornecedor, sem saída.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rotular alguém de dependente, verifique se é dependência, falta de formação ou falta de alternativa. Um docente que usa IA todos os dias porque não tem tempo de planejamento está tentando sobreviver à sobrecarga. Salvaguardas que ignoram causas estruturais punem pessoas e deixam o problema intacto.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estudantes, a principal salvaguarda é pedagógica: tarefas em que explicam, aplicam e transferem, em momentos sem ajuda ou em que a ajuda faz parte do que se avalia. Para docentes, três hábitos: começar por você, terminar por você e manter treino. Não é ascetismo: é cuidar de uma habilidade que sustenta a autonomia.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Cuidado com generalizações. Um estudo com ensino médio em matemática mostrou melhor desempenho na prática e pior depois, sem o assistente; com orientação pedagógica, o efeito diminuiu. Autorrelatos de menor esforço crítico e uma 'preguiça metacognitiva' vêm de contextos específicos. Um ensaio inglês mostrou menos tempo de planejamento em Ciências, em dez semanas, sem medir carga total, autonomia ou bem-estar. Faltam estudos de longo prazo no Brasil.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 economizado pode virar atenção aos estudantes, ou ser reabsorvido por mais materiais, comunicações e registros, além do trabalho de verificar, corrigir e documentar. Tarefa mais rápida não é jornada mais leve. Pergunte à turma para onde foi o tempo economizado.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ironias da automação, de Bainbridge: quanto mais confiável o sistema, menos o operador pratica e mais difícil intervir quando algo dá errado. Cuidado ao aplicar à escola, pois docência não é operar máquina. Se o professor só aprova planos e correções feitos pelo sistema, perde prática justamente em avaliar. Preserve momentos de julgamento por inteiro.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Três tipos de tarefa docente e três posturas: tarefas que sustentam o julgamento e a relação, a preservar; tarefas de preparação, a apoiar com revisão; tarefas repetitivas e administrativas, a avaliar para delegar com cuidado. Peça que a turma classifique três tarefas da semana. Lembre também de vigilância e datificação: quem acessa os dados docentes?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Letramento em IA não é adesão obrigatória. O direito de não usar precisa de condições reais: ausência de penalidade, alternativas viáveis, informação clara e não vinculação da avaliação funcional ao uso. Em contrapartida, quem opta por não usar continua participando da conversa coletiva sobre usos dos estudantes.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Ciclo de construção de uma política: escutar a comunidade, mapear usos e riscos, redigir, testar em pequena escala, publicar e formar, revisar periodicamente. Uma política escrita só por gestores tende a ser ignorada ou temida; a LDB prevê gestão democrática e participação dos profissionais da educação.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Componentes de uma política: finalidade e princípios; usos permitidos, condicionados e vedados; dados; avaliação e integridade; compras e contratos; formação e apoio; direitos e deveres; governança e revisão. Mantenha curta, com exemplos e uma página-resumo. Princípio da proporcionalidade: regras mais rígidas onde o risco é maior. Confira normas nos textos oficiais.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Síntese: da escolha individual à decisão coletiva. No centro, o docente que observa seu uso; ao redor, o coletivo que dialoga; na camada externa, a instituição com política, formação e revisão. A escuta corre nos dois sentidos.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Pausa. Leia a frase e pergunte quem na escola ainda não foi ouvido na construção das regras.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Atividade 1, três semanas de registro de 5 minutos por dia e um encontro de 90 minutos. Semana 1 registra sem mudar nada; semana 2 começa sempre por esboço próprio; semana 3 faz tarefas-treino sem IA. Registros privados, compartilhamento voluntário e nunca usados em avaliação funcional.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Atividade 2, dois encontros de 90 minutos com intervalo de uma semana. Cartões de situações para classificar em permitido, condicionado ou vedado, incluindo exigir serviço pago em casa, avaliar docentes pelo número de acessos e um professor optar por não usar. Garanta a fala de todos e um ambiente seguro para discordar.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Pare e verifique. Percorra os riscos: perda de habilidade, intensificação do trabalho, imposição de uso e vigilância. Lembre as políticas decorativas: documentos que ninguém conhece, sem formação, sem revisão e sem escuta.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Quando dispensar a IA: quando ela substituiria um contato humano que a situação exige, como uma notícia difícil a uma família; quando você perdeu a confiança para começar sozinho; quando o uso é imposto sem alternativa e sem tempo de verificação; quando exige dados pessoais sem base legal. Contraponha com usos de apoio.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Feche com as ideias principais. Peça que cada pessoa escolha uma salvaguarda pessoal e uma contribuição para a política da escola.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minutos de reflexão individual e depois conversa em duplas. Valorize respostas sobre a própria rotina e sobre quem participou da elaboração das regras da escola.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Encerramento. Convide a turma a escolher uma ideia para experimentar nesta semana.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A2E2A"/>
        </a:solidFill>
      </p:bgPr>
    </p:bg>
    <p:spTree>
      <p:nvGrpSpPr>
        <p:cNvPr id="1" name=""/>
        <p:cNvGrpSpPr/>
        <p:nvPr/>
      </p:nvGrpSpPr>
      <p:grpSpPr>
        <a:xfrm>
          <a:off x="0" y="0"/>
          <a:ext cx="0" cy="0"/>
          <a:chOff x="0" y="0"/>
          <a:chExt cx="0" cy="0"/>
        </a:xfrm>
      </p:grpSpPr>
      <p:sp>
        <p:nvSpPr>
          <p:cNvPr id="3" name="Shape 0"/>
          <p:cNvSpPr/>
          <p:nvPr/>
        </p:nvSpPr>
        <p:spPr>
          <a:xfrm>
            <a:off x="8412480" y="-1463040"/>
            <a:ext cx="5943600" cy="5943600"/>
          </a:xfrm>
          <a:prstGeom prst="ellipse">
            <a:avLst/>
          </a:prstGeom>
          <a:solidFill>
            <a:srgbClr val="D95D7F">
              <a:alpha val="75000"/>
            </a:srgbClr>
          </a:solidFill>
          <a:ln w="12700">
            <a:solidFill>
              <a:srgbClr val="D95D7F">
                <a:alpha val="75000"/>
              </a:srgbClr>
            </a:solidFill>
            <a:prstDash val="solid"/>
          </a:ln>
        </p:spPr>
      </p:sp>
      <p:sp>
        <p:nvSpPr>
          <p:cNvPr id="4" name="Shape 1"/>
          <p:cNvSpPr/>
          <p:nvPr/>
        </p:nvSpPr>
        <p:spPr>
          <a:xfrm>
            <a:off x="9692640" y="3840480"/>
            <a:ext cx="3840480" cy="3840480"/>
          </a:xfrm>
          <a:prstGeom prst="ellipse">
            <a:avLst/>
          </a:prstGeom>
          <a:solidFill>
            <a:srgbClr val="E9A23B">
              <a:alpha val="65000"/>
            </a:srgbClr>
          </a:solidFill>
          <a:ln w="12700">
            <a:solidFill>
              <a:srgbClr val="E9A23B">
                <a:alpha val="65000"/>
              </a:srgbClr>
            </a:solidFill>
            <a:prstDash val="solid"/>
          </a:ln>
        </p:spPr>
      </p:sp>
      <p:sp>
        <p:nvSpPr>
          <p:cNvPr id="5" name="Text 2"/>
          <p:cNvSpPr txBox="1"/>
          <p:nvPr/>
        </p:nvSpPr>
        <p:spPr>
          <a:xfrm>
            <a:off x="731520" y="1188720"/>
            <a:ext cx="7315200" cy="457200"/>
          </a:xfrm>
          <a:prstGeom prst="rect">
            <a:avLst/>
          </a:prstGeom>
          <a:noFill/>
          <a:ln/>
        </p:spPr>
        <p:txBody>
          <a:bodyPr wrap="square" lIns="0" tIns="0" rIns="0" bIns="0" rtlCol="0" anchor="ctr"/>
          <a:lstStyle/>
          <a:p>
            <a:pPr indent="0" marL="0">
              <a:buNone/>
            </a:pPr>
            <a:r>
              <a:rPr lang="en-US" sz="1800" b="1" spc="400" kern="0" dirty="0">
                <a:solidFill>
                  <a:srgbClr val="F4B860"/>
                </a:solidFill>
              </a:rPr>
              <a:t>CAPÍTULO 30</a:t>
            </a:r>
            <a:endParaRPr lang="en-US" sz="1800" dirty="0"/>
          </a:p>
        </p:txBody>
      </p:sp>
      <p:sp>
        <p:nvSpPr>
          <p:cNvPr id="6" name="Text 3"/>
          <p:cNvSpPr txBox="1"/>
          <p:nvPr/>
        </p:nvSpPr>
        <p:spPr>
          <a:xfrm>
            <a:off x="731520" y="1737360"/>
            <a:ext cx="8412480" cy="237744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Dependência, trabalho docente e políticas institucionais</a:t>
            </a:r>
            <a:endParaRPr lang="en-US" sz="4000" dirty="0"/>
          </a:p>
        </p:txBody>
      </p:sp>
      <p:sp>
        <p:nvSpPr>
          <p:cNvPr id="7" name="Text 4"/>
          <p:cNvSpPr txBox="1"/>
          <p:nvPr/>
        </p:nvSpPr>
        <p:spPr>
          <a:xfrm>
            <a:off x="731520" y="4297680"/>
            <a:ext cx="8229600" cy="457200"/>
          </a:xfrm>
          <a:prstGeom prst="rect">
            <a:avLst/>
          </a:prstGeom>
          <a:noFill/>
          <a:ln/>
        </p:spPr>
        <p:txBody>
          <a:bodyPr wrap="square" lIns="0" tIns="0" rIns="0" bIns="0" rtlCol="0" anchor="ctr"/>
          <a:lstStyle/>
          <a:p>
            <a:pPr indent="0" marL="0">
              <a:buNone/>
            </a:pPr>
            <a:r>
              <a:rPr lang="en-US" sz="1800" i="1" dirty="0">
                <a:solidFill>
                  <a:srgbClr val="F7EFE6"/>
                </a:solidFill>
              </a:rPr>
              <a:t>Parte VI — Oportunidades, benefícios, riscos e governança</a:t>
            </a:r>
            <a:endParaRPr lang="en-US" sz="1800" dirty="0"/>
          </a:p>
        </p:txBody>
      </p:sp>
      <p:sp>
        <p:nvSpPr>
          <p:cNvPr id="8" name="Text 5"/>
          <p:cNvSpPr txBox="1"/>
          <p:nvPr/>
        </p:nvSpPr>
        <p:spPr>
          <a:xfrm>
            <a:off x="731520" y="6035040"/>
            <a:ext cx="9144000" cy="365760"/>
          </a:xfrm>
          <a:prstGeom prst="rect">
            <a:avLst/>
          </a:prstGeom>
          <a:noFill/>
          <a:ln/>
        </p:spPr>
        <p:txBody>
          <a:bodyPr wrap="square" lIns="0" tIns="0" rIns="0" bIns="0" rtlCol="0" anchor="ctr"/>
          <a:lstStyle/>
          <a:p>
            <a:pPr indent="0" marL="0">
              <a:buNone/>
            </a:pPr>
            <a:r>
              <a:rPr lang="en-US" sz="1300" dirty="0">
                <a:solidFill>
                  <a:srgbClr val="E9D9C8"/>
                </a:solidFill>
              </a:rPr>
              <a:t>Inteligência Artificial Aplicada à Educação · Araken de Medeiros Santos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O que vamos aprender</a:t>
            </a:r>
            <a:endParaRPr lang="en-US" sz="3400" dirty="0"/>
          </a:p>
        </p:txBody>
      </p:sp>
      <p:sp>
        <p:nvSpPr>
          <p:cNvPr id="4" name="Shape 1"/>
          <p:cNvSpPr/>
          <p:nvPr/>
        </p:nvSpPr>
        <p:spPr>
          <a:xfrm>
            <a:off x="548640" y="1463040"/>
            <a:ext cx="11064240" cy="914400"/>
          </a:xfrm>
          <a:prstGeom prst="roundRect">
            <a:avLst>
              <a:gd name="adj" fmla="val 12000"/>
            </a:avLst>
          </a:prstGeom>
          <a:solidFill>
            <a:srgbClr val="F7EFE6"/>
          </a:solidFill>
          <a:ln w="12700">
            <a:solidFill>
              <a:srgbClr val="F7EFE6"/>
            </a:solidFill>
            <a:prstDash val="solid"/>
          </a:ln>
        </p:spPr>
      </p:sp>
      <p:sp>
        <p:nvSpPr>
          <p:cNvPr id="5" name="Shape 2"/>
          <p:cNvSpPr/>
          <p:nvPr/>
        </p:nvSpPr>
        <p:spPr>
          <a:xfrm>
            <a:off x="731520" y="1645920"/>
            <a:ext cx="548640" cy="548640"/>
          </a:xfrm>
          <a:prstGeom prst="ellipse">
            <a:avLst/>
          </a:prstGeom>
          <a:solidFill>
            <a:srgbClr val="D95D7F"/>
          </a:solidFill>
          <a:ln w="12700">
            <a:solidFill>
              <a:srgbClr val="D95D7F"/>
            </a:solidFill>
            <a:prstDash val="solid"/>
          </a:ln>
        </p:spPr>
      </p:sp>
      <p:sp>
        <p:nvSpPr>
          <p:cNvPr id="6" name="Text 3"/>
          <p:cNvSpPr txBox="1"/>
          <p:nvPr/>
        </p:nvSpPr>
        <p:spPr>
          <a:xfrm>
            <a:off x="731520" y="16459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4"/>
          <p:cNvSpPr txBox="1"/>
          <p:nvPr/>
        </p:nvSpPr>
        <p:spPr>
          <a:xfrm>
            <a:off x="1554480" y="1463040"/>
            <a:ext cx="9875520" cy="914400"/>
          </a:xfrm>
          <a:prstGeom prst="rect">
            <a:avLst/>
          </a:prstGeom>
          <a:noFill/>
          <a:ln/>
        </p:spPr>
        <p:txBody>
          <a:bodyPr wrap="square" lIns="0" tIns="0" rIns="0" bIns="0" rtlCol="0" anchor="ctr"/>
          <a:lstStyle/>
          <a:p>
            <a:pPr indent="0" marL="0">
              <a:buNone/>
            </a:pPr>
            <a:r>
              <a:rPr lang="en-US" sz="2000" dirty="0">
                <a:solidFill>
                  <a:srgbClr val="3B2A2A"/>
                </a:solidFill>
              </a:rPr>
              <a:t>Distinguir uso, hábito e dependência</a:t>
            </a:r>
            <a:endParaRPr lang="en-US" sz="2000" dirty="0"/>
          </a:p>
        </p:txBody>
      </p:sp>
      <p:sp>
        <p:nvSpPr>
          <p:cNvPr id="8" name="Shape 5"/>
          <p:cNvSpPr/>
          <p:nvPr/>
        </p:nvSpPr>
        <p:spPr>
          <a:xfrm>
            <a:off x="548640" y="2468880"/>
            <a:ext cx="11064240" cy="914400"/>
          </a:xfrm>
          <a:prstGeom prst="roundRect">
            <a:avLst>
              <a:gd name="adj" fmla="val 12000"/>
            </a:avLst>
          </a:prstGeom>
          <a:solidFill>
            <a:srgbClr val="F7EFE6"/>
          </a:solidFill>
          <a:ln w="12700">
            <a:solidFill>
              <a:srgbClr val="F7EFE6"/>
            </a:solidFill>
            <a:prstDash val="solid"/>
          </a:ln>
        </p:spPr>
      </p:sp>
      <p:sp>
        <p:nvSpPr>
          <p:cNvPr id="9" name="Shape 6"/>
          <p:cNvSpPr/>
          <p:nvPr/>
        </p:nvSpPr>
        <p:spPr>
          <a:xfrm>
            <a:off x="731520" y="2651760"/>
            <a:ext cx="548640" cy="548640"/>
          </a:xfrm>
          <a:prstGeom prst="ellipse">
            <a:avLst/>
          </a:prstGeom>
          <a:solidFill>
            <a:srgbClr val="D95D7F"/>
          </a:solidFill>
          <a:ln w="12700">
            <a:solidFill>
              <a:srgbClr val="D95D7F"/>
            </a:solidFill>
            <a:prstDash val="solid"/>
          </a:ln>
        </p:spPr>
      </p:sp>
      <p:sp>
        <p:nvSpPr>
          <p:cNvPr id="10" name="Text 7"/>
          <p:cNvSpPr txBox="1"/>
          <p:nvPr/>
        </p:nvSpPr>
        <p:spPr>
          <a:xfrm>
            <a:off x="731520" y="26517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1" name="Text 8"/>
          <p:cNvSpPr txBox="1"/>
          <p:nvPr/>
        </p:nvSpPr>
        <p:spPr>
          <a:xfrm>
            <a:off x="1554480" y="2468880"/>
            <a:ext cx="9875520" cy="914400"/>
          </a:xfrm>
          <a:prstGeom prst="rect">
            <a:avLst/>
          </a:prstGeom>
          <a:noFill/>
          <a:ln/>
        </p:spPr>
        <p:txBody>
          <a:bodyPr wrap="square" lIns="0" tIns="0" rIns="0" bIns="0" rtlCol="0" anchor="ctr"/>
          <a:lstStyle/>
          <a:p>
            <a:pPr indent="0" marL="0">
              <a:buNone/>
            </a:pPr>
            <a:r>
              <a:rPr lang="en-US" sz="2000" dirty="0">
                <a:solidFill>
                  <a:srgbClr val="3B2A2A"/>
                </a:solidFill>
              </a:rPr>
              <a:t>Identificar sinais de dependência e salvaguardas proporcionais</a:t>
            </a:r>
            <a:endParaRPr lang="en-US" sz="2000" dirty="0"/>
          </a:p>
        </p:txBody>
      </p:sp>
      <p:sp>
        <p:nvSpPr>
          <p:cNvPr id="12" name="Shape 9"/>
          <p:cNvSpPr/>
          <p:nvPr/>
        </p:nvSpPr>
        <p:spPr>
          <a:xfrm>
            <a:off x="548640" y="3474720"/>
            <a:ext cx="11064240" cy="914400"/>
          </a:xfrm>
          <a:prstGeom prst="roundRect">
            <a:avLst>
              <a:gd name="adj" fmla="val 12000"/>
            </a:avLst>
          </a:prstGeom>
          <a:solidFill>
            <a:srgbClr val="F7EFE6"/>
          </a:solidFill>
          <a:ln w="12700">
            <a:solidFill>
              <a:srgbClr val="F7EFE6"/>
            </a:solidFill>
            <a:prstDash val="solid"/>
          </a:ln>
        </p:spPr>
      </p:sp>
      <p:sp>
        <p:nvSpPr>
          <p:cNvPr id="13" name="Shape 10"/>
          <p:cNvSpPr/>
          <p:nvPr/>
        </p:nvSpPr>
        <p:spPr>
          <a:xfrm>
            <a:off x="731520" y="3657600"/>
            <a:ext cx="548640" cy="548640"/>
          </a:xfrm>
          <a:prstGeom prst="ellipse">
            <a:avLst/>
          </a:prstGeom>
          <a:solidFill>
            <a:srgbClr val="D95D7F"/>
          </a:solidFill>
          <a:ln w="12700">
            <a:solidFill>
              <a:srgbClr val="D95D7F"/>
            </a:solidFill>
            <a:prstDash val="solid"/>
          </a:ln>
        </p:spPr>
      </p:sp>
      <p:sp>
        <p:nvSpPr>
          <p:cNvPr id="14" name="Text 11"/>
          <p:cNvSpPr txBox="1"/>
          <p:nvPr/>
        </p:nvSpPr>
        <p:spPr>
          <a:xfrm>
            <a:off x="731520" y="36576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5" name="Text 12"/>
          <p:cNvSpPr txBox="1"/>
          <p:nvPr/>
        </p:nvSpPr>
        <p:spPr>
          <a:xfrm>
            <a:off x="1554480" y="3474720"/>
            <a:ext cx="9875520" cy="914400"/>
          </a:xfrm>
          <a:prstGeom prst="rect">
            <a:avLst/>
          </a:prstGeom>
          <a:noFill/>
          <a:ln/>
        </p:spPr>
        <p:txBody>
          <a:bodyPr wrap="square" lIns="0" tIns="0" rIns="0" bIns="0" rtlCol="0" anchor="ctr"/>
          <a:lstStyle/>
          <a:p>
            <a:pPr indent="0" marL="0">
              <a:buNone/>
            </a:pPr>
            <a:r>
              <a:rPr lang="en-US" sz="2000" dirty="0">
                <a:solidFill>
                  <a:srgbClr val="3B2A2A"/>
                </a:solidFill>
              </a:rPr>
              <a:t>Analisar efeitos da IA sobre o trabalho docente</a:t>
            </a:r>
            <a:endParaRPr lang="en-US" sz="2000" dirty="0"/>
          </a:p>
        </p:txBody>
      </p:sp>
      <p:sp>
        <p:nvSpPr>
          <p:cNvPr id="16" name="Shape 13"/>
          <p:cNvSpPr/>
          <p:nvPr/>
        </p:nvSpPr>
        <p:spPr>
          <a:xfrm>
            <a:off x="548640" y="4480560"/>
            <a:ext cx="11064240" cy="914400"/>
          </a:xfrm>
          <a:prstGeom prst="roundRect">
            <a:avLst>
              <a:gd name="adj" fmla="val 12000"/>
            </a:avLst>
          </a:prstGeom>
          <a:solidFill>
            <a:srgbClr val="F7EFE6"/>
          </a:solidFill>
          <a:ln w="12700">
            <a:solidFill>
              <a:srgbClr val="F7EFE6"/>
            </a:solidFill>
            <a:prstDash val="solid"/>
          </a:ln>
        </p:spPr>
      </p:sp>
      <p:sp>
        <p:nvSpPr>
          <p:cNvPr id="17" name="Shape 14"/>
          <p:cNvSpPr/>
          <p:nvPr/>
        </p:nvSpPr>
        <p:spPr>
          <a:xfrm>
            <a:off x="731520" y="4663440"/>
            <a:ext cx="548640" cy="548640"/>
          </a:xfrm>
          <a:prstGeom prst="ellipse">
            <a:avLst/>
          </a:prstGeom>
          <a:solidFill>
            <a:srgbClr val="D95D7F"/>
          </a:solidFill>
          <a:ln w="12700">
            <a:solidFill>
              <a:srgbClr val="D95D7F"/>
            </a:solidFill>
            <a:prstDash val="solid"/>
          </a:ln>
        </p:spPr>
      </p:sp>
      <p:sp>
        <p:nvSpPr>
          <p:cNvPr id="18" name="Text 15"/>
          <p:cNvSpPr txBox="1"/>
          <p:nvPr/>
        </p:nvSpPr>
        <p:spPr>
          <a:xfrm>
            <a:off x="731520" y="466344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9" name="Text 16"/>
          <p:cNvSpPr txBox="1"/>
          <p:nvPr/>
        </p:nvSpPr>
        <p:spPr>
          <a:xfrm>
            <a:off x="1554480" y="4480560"/>
            <a:ext cx="9875520" cy="914400"/>
          </a:xfrm>
          <a:prstGeom prst="rect">
            <a:avLst/>
          </a:prstGeom>
          <a:noFill/>
          <a:ln/>
        </p:spPr>
        <p:txBody>
          <a:bodyPr wrap="square" lIns="0" tIns="0" rIns="0" bIns="0" rtlCol="0" anchor="ctr"/>
          <a:lstStyle/>
          <a:p>
            <a:pPr indent="0" marL="0">
              <a:buNone/>
            </a:pPr>
            <a:r>
              <a:rPr lang="en-US" sz="2000" dirty="0">
                <a:solidFill>
                  <a:srgbClr val="3B2A2A"/>
                </a:solidFill>
              </a:rPr>
              <a:t>Reconhecer o direito de não usar</a:t>
            </a:r>
            <a:endParaRPr lang="en-US" sz="2000" dirty="0"/>
          </a:p>
        </p:txBody>
      </p:sp>
      <p:sp>
        <p:nvSpPr>
          <p:cNvPr id="20" name="Shape 17"/>
          <p:cNvSpPr/>
          <p:nvPr/>
        </p:nvSpPr>
        <p:spPr>
          <a:xfrm>
            <a:off x="548640" y="5486400"/>
            <a:ext cx="11064240" cy="914400"/>
          </a:xfrm>
          <a:prstGeom prst="roundRect">
            <a:avLst>
              <a:gd name="adj" fmla="val 12000"/>
            </a:avLst>
          </a:prstGeom>
          <a:solidFill>
            <a:srgbClr val="F7EFE6"/>
          </a:solidFill>
          <a:ln w="12700">
            <a:solidFill>
              <a:srgbClr val="F7EFE6"/>
            </a:solidFill>
            <a:prstDash val="solid"/>
          </a:ln>
        </p:spPr>
      </p:sp>
      <p:sp>
        <p:nvSpPr>
          <p:cNvPr id="21" name="Shape 18"/>
          <p:cNvSpPr/>
          <p:nvPr/>
        </p:nvSpPr>
        <p:spPr>
          <a:xfrm>
            <a:off x="731520" y="5669280"/>
            <a:ext cx="548640" cy="548640"/>
          </a:xfrm>
          <a:prstGeom prst="ellipse">
            <a:avLst/>
          </a:prstGeom>
          <a:solidFill>
            <a:srgbClr val="D95D7F"/>
          </a:solidFill>
          <a:ln w="12700">
            <a:solidFill>
              <a:srgbClr val="D95D7F"/>
            </a:solidFill>
            <a:prstDash val="solid"/>
          </a:ln>
        </p:spPr>
      </p:sp>
      <p:sp>
        <p:nvSpPr>
          <p:cNvPr id="22" name="Text 19"/>
          <p:cNvSpPr txBox="1"/>
          <p:nvPr/>
        </p:nvSpPr>
        <p:spPr>
          <a:xfrm>
            <a:off x="731520" y="56692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3" name="Text 20"/>
          <p:cNvSpPr txBox="1"/>
          <p:nvPr/>
        </p:nvSpPr>
        <p:spPr>
          <a:xfrm>
            <a:off x="1554480" y="5486400"/>
            <a:ext cx="9875520" cy="914400"/>
          </a:xfrm>
          <a:prstGeom prst="rect">
            <a:avLst/>
          </a:prstGeom>
          <a:noFill/>
          <a:ln/>
        </p:spPr>
        <p:txBody>
          <a:bodyPr wrap="square" lIns="0" tIns="0" rIns="0" bIns="0" rtlCol="0" anchor="ctr"/>
          <a:lstStyle/>
          <a:p>
            <a:pPr indent="0" marL="0">
              <a:buNone/>
            </a:pPr>
            <a:r>
              <a:rPr lang="en-US" sz="2000" dirty="0">
                <a:solidFill>
                  <a:srgbClr val="3B2A2A"/>
                </a:solidFill>
              </a:rPr>
              <a:t>Descrever os componentes de uma política institucional</a:t>
            </a:r>
            <a:endParaRPr lang="en-US" sz="2000" dirty="0"/>
          </a:p>
        </p:txBody>
      </p:sp>
      <p:sp>
        <p:nvSpPr>
          <p:cNvPr id="24" name="Text 21"/>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30</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D95D7F"/>
        </a:solidFill>
      </p:bgPr>
    </p:bg>
    <p:spTree>
      <p:nvGrpSpPr>
        <p:cNvPr id="1" name=""/>
        <p:cNvGrpSpPr/>
        <p:nvPr/>
      </p:nvGrpSpPr>
      <p:grpSpPr>
        <a:xfrm>
          <a:off x="0" y="0"/>
          <a:ext cx="0" cy="0"/>
          <a:chOff x="0" y="0"/>
          <a:chExt cx="0" cy="0"/>
        </a:xfrm>
      </p:grpSpPr>
      <p:sp>
        <p:nvSpPr>
          <p:cNvPr id="3" name="Text 0"/>
          <p:cNvSpPr txBox="1"/>
          <p:nvPr/>
        </p:nvSpPr>
        <p:spPr>
          <a:xfrm>
            <a:off x="822960" y="914400"/>
            <a:ext cx="10058400" cy="457200"/>
          </a:xfrm>
          <a:prstGeom prst="rect">
            <a:avLst/>
          </a:prstGeom>
          <a:noFill/>
          <a:ln/>
        </p:spPr>
        <p:txBody>
          <a:bodyPr wrap="square" lIns="0" tIns="0" rIns="0" bIns="0" rtlCol="0" anchor="ctr"/>
          <a:lstStyle/>
          <a:p>
            <a:pPr indent="0" marL="0">
              <a:buNone/>
            </a:pPr>
            <a:r>
              <a:rPr lang="en-US" sz="1800" b="1" spc="400" kern="0" dirty="0">
                <a:solidFill>
                  <a:srgbClr val="FFFFFF"/>
                </a:solidFill>
              </a:rPr>
              <a:t>PENSE UM POUCO</a:t>
            </a:r>
            <a:endParaRPr lang="en-US" sz="1800" dirty="0"/>
          </a:p>
        </p:txBody>
      </p:sp>
      <p:sp>
        <p:nvSpPr>
          <p:cNvPr id="4" name="Text 1"/>
          <p:cNvSpPr txBox="1"/>
          <p:nvPr/>
        </p:nvSpPr>
        <p:spPr>
          <a:xfrm>
            <a:off x="822960" y="1645920"/>
            <a:ext cx="10515600" cy="32918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Quando a IA deixa de apoiar e passa a gerar dependência ou perda de autonomia?</a:t>
            </a:r>
            <a:endParaRPr lang="en-US" sz="3800" dirty="0"/>
          </a:p>
        </p:txBody>
      </p:sp>
      <p:sp>
        <p:nvSpPr>
          <p:cNvPr id="5" name="Text 2"/>
          <p:cNvSpPr txBox="1"/>
          <p:nvPr/>
        </p:nvSpPr>
        <p:spPr>
          <a:xfrm>
            <a:off x="822960" y="5120640"/>
            <a:ext cx="10515600" cy="914400"/>
          </a:xfrm>
          <a:prstGeom prst="rect">
            <a:avLst/>
          </a:prstGeom>
          <a:noFill/>
          <a:ln/>
        </p:spPr>
        <p:txBody>
          <a:bodyPr wrap="square" lIns="0" tIns="0" rIns="0" bIns="0" rtlCol="0" anchor="ctr"/>
          <a:lstStyle/>
          <a:p>
            <a:pPr indent="0" marL="0">
              <a:buNone/>
            </a:pPr>
            <a:r>
              <a:rPr lang="en-US" sz="1800" i="1" dirty="0">
                <a:solidFill>
                  <a:srgbClr val="FFF3E6"/>
                </a:solidFill>
              </a:rPr>
              <a:t>Marlene: 'É dependência, pressão ou adaptação? O que a escola deve combinar?'</a:t>
            </a:r>
            <a:endParaRPr lang="en-US" sz="1800" dirty="0"/>
          </a:p>
        </p:txBody>
      </p:sp>
      <p:sp>
        <p:nvSpPr>
          <p:cNvPr id="6" name="Text 3"/>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E9D9C8"/>
                </a:solidFill>
                <a:latin typeface="Calibri" pitchFamily="34" charset="0"/>
                <a:ea typeface="Calibri" pitchFamily="34" charset="-122"/>
                <a:cs typeface="Calibri" pitchFamily="34" charset="-120"/>
              </a:rPr>
              <a:t>IA aplicada à Educação · Cap. 30</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Mapa do capítulo</a:t>
            </a:r>
            <a:endParaRPr lang="en-US" sz="3400" dirty="0"/>
          </a:p>
        </p:txBody>
      </p:sp>
      <p:pic>
        <p:nvPicPr>
          <p:cNvPr id="4" name="Image 0" descr="Mapa dos conceitos principais do capítulo 30.">    </p:cNvPr>
          <p:cNvPicPr>
            <a:picLocks noChangeAspect="1"/>
          </p:cNvPicPr>
          <p:nvPr/>
        </p:nvPicPr>
        <p:blipFill>
          <a:blip r:embed="rId1"/>
          <a:stretch>
            <a:fillRect/>
          </a:stretch>
        </p:blipFill>
        <p:spPr>
          <a:xfrm>
            <a:off x="2984443" y="1325880"/>
            <a:ext cx="6192633" cy="4434840"/>
          </a:xfrm>
          <a:prstGeom prst="rect">
            <a:avLst/>
          </a:prstGeom>
        </p:spPr>
      </p:pic>
      <p:sp>
        <p:nvSpPr>
          <p:cNvPr id="5" name="Text 1"/>
          <p:cNvSpPr txBox="1"/>
          <p:nvPr/>
        </p:nvSpPr>
        <p:spPr>
          <a:xfrm>
            <a:off x="548640" y="5852160"/>
            <a:ext cx="11064240" cy="548640"/>
          </a:xfrm>
          <a:prstGeom prst="rect">
            <a:avLst/>
          </a:prstGeom>
          <a:noFill/>
          <a:ln/>
        </p:spPr>
        <p:txBody>
          <a:bodyPr wrap="square" lIns="0" tIns="0" rIns="0" bIns="0" rtlCol="0" anchor="ctr"/>
          <a:lstStyle/>
          <a:p>
            <a:pPr algn="ctr" indent="0" marL="0">
              <a:buNone/>
            </a:pPr>
            <a:r>
              <a:rPr lang="en-US" sz="1400" i="1" dirty="0">
                <a:solidFill>
                  <a:srgbClr val="6B5F59"/>
                </a:solidFill>
              </a:rPr>
              <a:t>Mapa dos conceitos principais do capítulo 30.</a:t>
            </a:r>
            <a:endParaRPr lang="en-US" sz="1400" dirty="0"/>
          </a:p>
        </p:txBody>
      </p:sp>
      <p:sp>
        <p:nvSpPr>
          <p:cNvPr id="6" name="Text 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30</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Do uso à dependência: um espectro</a:t>
            </a:r>
            <a:endParaRPr lang="en-US" sz="3400" dirty="0"/>
          </a:p>
        </p:txBody>
      </p:sp>
      <p:pic>
        <p:nvPicPr>
          <p:cNvPr id="4" name="Image 0" descr="Não há linha exata entre hábito saudável e problemático.">    </p:cNvPr>
          <p:cNvPicPr>
            <a:picLocks noChangeAspect="1"/>
          </p:cNvPicPr>
          <p:nvPr/>
        </p:nvPicPr>
        <p:blipFill>
          <a:blip r:embed="rId1"/>
          <a:stretch>
            <a:fillRect/>
          </a:stretch>
        </p:blipFill>
        <p:spPr>
          <a:xfrm>
            <a:off x="548640" y="1325880"/>
            <a:ext cx="11064240" cy="4085997"/>
          </a:xfrm>
          <a:prstGeom prst="rect">
            <a:avLst/>
          </a:prstGeom>
        </p:spPr>
      </p:pic>
      <p:sp>
        <p:nvSpPr>
          <p:cNvPr id="5" name="Text 1"/>
          <p:cNvSpPr txBox="1"/>
          <p:nvPr/>
        </p:nvSpPr>
        <p:spPr>
          <a:xfrm>
            <a:off x="548640" y="5852160"/>
            <a:ext cx="11064240" cy="548640"/>
          </a:xfrm>
          <a:prstGeom prst="rect">
            <a:avLst/>
          </a:prstGeom>
          <a:noFill/>
          <a:ln/>
        </p:spPr>
        <p:txBody>
          <a:bodyPr wrap="square" lIns="0" tIns="0" rIns="0" bIns="0" rtlCol="0" anchor="ctr"/>
          <a:lstStyle/>
          <a:p>
            <a:pPr algn="ctr" indent="0" marL="0">
              <a:buNone/>
            </a:pPr>
            <a:r>
              <a:rPr lang="en-US" sz="1400" i="1" dirty="0">
                <a:solidFill>
                  <a:srgbClr val="6B5F59"/>
                </a:solidFill>
              </a:rPr>
              <a:t>Não há linha exata entre hábito saudável e problemático.</a:t>
            </a:r>
            <a:endParaRPr lang="en-US" sz="1400" dirty="0"/>
          </a:p>
        </p:txBody>
      </p:sp>
      <p:sp>
        <p:nvSpPr>
          <p:cNvPr id="6" name="Text 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30</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Uso, hábito e dependência</a:t>
            </a:r>
            <a:endParaRPr lang="en-US" sz="3400" dirty="0"/>
          </a:p>
        </p:txBody>
      </p:sp>
      <p:sp>
        <p:nvSpPr>
          <p:cNvPr id="4" name="Shape 1"/>
          <p:cNvSpPr/>
          <p:nvPr/>
        </p:nvSpPr>
        <p:spPr>
          <a:xfrm>
            <a:off x="548640" y="1463040"/>
            <a:ext cx="6675120" cy="2926080"/>
          </a:xfrm>
          <a:prstGeom prst="roundRect">
            <a:avLst>
              <a:gd name="adj" fmla="val 4688"/>
            </a:avLst>
          </a:prstGeom>
          <a:solidFill>
            <a:srgbClr val="F7EFE6"/>
          </a:solidFill>
          <a:ln w="12700">
            <a:solidFill>
              <a:srgbClr val="F7EFE6"/>
            </a:solidFill>
            <a:prstDash val="solid"/>
          </a:ln>
        </p:spPr>
      </p:sp>
      <p:sp>
        <p:nvSpPr>
          <p:cNvPr id="5" name="Text 2"/>
          <p:cNvSpPr txBox="1"/>
          <p:nvPr/>
        </p:nvSpPr>
        <p:spPr>
          <a:xfrm>
            <a:off x="822960" y="1600200"/>
            <a:ext cx="5943600" cy="365760"/>
          </a:xfrm>
          <a:prstGeom prst="rect">
            <a:avLst/>
          </a:prstGeom>
          <a:noFill/>
          <a:ln/>
        </p:spPr>
        <p:txBody>
          <a:bodyPr wrap="square" lIns="0" tIns="0" rIns="0" bIns="0" rtlCol="0" anchor="ctr"/>
          <a:lstStyle/>
          <a:p>
            <a:pPr indent="0" marL="0">
              <a:buNone/>
            </a:pPr>
            <a:r>
              <a:rPr lang="en-US" sz="1300" b="1" spc="300" kern="0" dirty="0">
                <a:solidFill>
                  <a:srgbClr val="D95D7F"/>
                </a:solidFill>
              </a:rPr>
              <a:t>O QUE É</a:t>
            </a:r>
            <a:endParaRPr lang="en-US" sz="1300" dirty="0"/>
          </a:p>
        </p:txBody>
      </p:sp>
      <p:sp>
        <p:nvSpPr>
          <p:cNvPr id="6" name="Text 3"/>
          <p:cNvSpPr txBox="1"/>
          <p:nvPr/>
        </p:nvSpPr>
        <p:spPr>
          <a:xfrm>
            <a:off x="822960" y="2011680"/>
            <a:ext cx="6126480" cy="2286000"/>
          </a:xfrm>
          <a:prstGeom prst="rect">
            <a:avLst/>
          </a:prstGeom>
          <a:noFill/>
          <a:ln/>
        </p:spPr>
        <p:txBody>
          <a:bodyPr wrap="square" lIns="0" tIns="0" rIns="0" bIns="0" rtlCol="0" anchor="t"/>
          <a:lstStyle/>
          <a:p>
            <a:pPr indent="0" marL="0">
              <a:buNone/>
            </a:pPr>
            <a:r>
              <a:rPr lang="en-US" sz="2000" dirty="0">
                <a:solidFill>
                  <a:srgbClr val="3B2A2A"/>
                </a:solidFill>
              </a:rPr>
              <a:t>Dependência é já não conseguir, ou não querer, fazer sem o sistema uma tarefa importante, com prejuízo aos seus objetivos.</a:t>
            </a:r>
            <a:endParaRPr lang="en-US" sz="2000" dirty="0"/>
          </a:p>
        </p:txBody>
      </p:sp>
      <p:sp>
        <p:nvSpPr>
          <p:cNvPr id="7" name="Shape 4"/>
          <p:cNvSpPr/>
          <p:nvPr/>
        </p:nvSpPr>
        <p:spPr>
          <a:xfrm>
            <a:off x="7498080" y="1463040"/>
            <a:ext cx="4114800" cy="2926080"/>
          </a:xfrm>
          <a:prstGeom prst="roundRect">
            <a:avLst>
              <a:gd name="adj" fmla="val 4688"/>
            </a:avLst>
          </a:prstGeom>
          <a:solidFill>
            <a:srgbClr val="D95D7F"/>
          </a:solidFill>
          <a:ln w="12700">
            <a:solidFill>
              <a:srgbClr val="D95D7F"/>
            </a:solidFill>
            <a:prstDash val="solid"/>
          </a:ln>
        </p:spPr>
      </p:sp>
      <p:sp>
        <p:nvSpPr>
          <p:cNvPr id="8" name="Text 5"/>
          <p:cNvSpPr txBox="1"/>
          <p:nvPr/>
        </p:nvSpPr>
        <p:spPr>
          <a:xfrm>
            <a:off x="7772400" y="1600200"/>
            <a:ext cx="3657600" cy="365760"/>
          </a:xfrm>
          <a:prstGeom prst="rect">
            <a:avLst/>
          </a:prstGeom>
          <a:noFill/>
          <a:ln/>
        </p:spPr>
        <p:txBody>
          <a:bodyPr wrap="square" lIns="0" tIns="0" rIns="0" bIns="0" rtlCol="0" anchor="ctr"/>
          <a:lstStyle/>
          <a:p>
            <a:pPr indent="0" marL="0">
              <a:buNone/>
            </a:pPr>
            <a:r>
              <a:rPr lang="en-US" sz="1300" b="1" spc="300" kern="0" dirty="0">
                <a:solidFill>
                  <a:srgbClr val="FFFFFF"/>
                </a:solidFill>
              </a:rPr>
              <a:t>É COMO…</a:t>
            </a:r>
            <a:endParaRPr lang="en-US" sz="1300" dirty="0"/>
          </a:p>
        </p:txBody>
      </p:sp>
      <p:sp>
        <p:nvSpPr>
          <p:cNvPr id="9" name="Text 6"/>
          <p:cNvSpPr txBox="1"/>
          <p:nvPr/>
        </p:nvSpPr>
        <p:spPr>
          <a:xfrm>
            <a:off x="7772400" y="2011680"/>
            <a:ext cx="3611880" cy="2286000"/>
          </a:xfrm>
          <a:prstGeom prst="rect">
            <a:avLst/>
          </a:prstGeom>
          <a:noFill/>
          <a:ln/>
        </p:spPr>
        <p:txBody>
          <a:bodyPr wrap="square" lIns="0" tIns="0" rIns="0" bIns="0" rtlCol="0" anchor="t"/>
          <a:lstStyle/>
          <a:p>
            <a:pPr indent="0" marL="0">
              <a:buNone/>
            </a:pPr>
            <a:r>
              <a:rPr lang="en-US" sz="2000" dirty="0">
                <a:solidFill>
                  <a:srgbClr val="FFFFFF"/>
                </a:solidFill>
              </a:rPr>
              <a:t>a muleta: ajuda na lesão, mas usada para sempre, a perna enfraquece.</a:t>
            </a:r>
            <a:endParaRPr lang="en-US" sz="2000" dirty="0"/>
          </a:p>
        </p:txBody>
      </p:sp>
      <p:sp>
        <p:nvSpPr>
          <p:cNvPr id="10" name="Text 7"/>
          <p:cNvSpPr txBox="1"/>
          <p:nvPr/>
        </p:nvSpPr>
        <p:spPr>
          <a:xfrm>
            <a:off x="548640" y="4754880"/>
            <a:ext cx="11064240" cy="1280160"/>
          </a:xfrm>
          <a:prstGeom prst="rect">
            <a:avLst/>
          </a:prstGeom>
          <a:noFill/>
          <a:ln/>
        </p:spPr>
        <p:txBody>
          <a:bodyPr wrap="square" lIns="0" tIns="0" rIns="0" bIns="0" rtlCol="0" anchor="ctr"/>
          <a:lstStyle/>
          <a:p>
            <a:pPr algn="ctr" indent="0" marL="0">
              <a:buNone/>
            </a:pPr>
            <a:r>
              <a:rPr lang="en-US" sz="2800" b="1" i="1" dirty="0">
                <a:solidFill>
                  <a:srgbClr val="5A2E2A"/>
                </a:solidFill>
                <a:latin typeface="Cambria" pitchFamily="34" charset="0"/>
                <a:ea typeface="Cambria" pitchFamily="34" charset="-122"/>
                <a:cs typeface="Cambria" pitchFamily="34" charset="-120"/>
              </a:rPr>
              <a:t>“A pergunta é: que habilidades quero manter vivas?”</a:t>
            </a:r>
            <a:endParaRPr lang="en-US" sz="2800" dirty="0"/>
          </a:p>
        </p:txBody>
      </p:sp>
      <p:sp>
        <p:nvSpPr>
          <p:cNvPr id="11" name="Text 8"/>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30</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Quatro formas de dependência</a:t>
            </a:r>
            <a:endParaRPr lang="en-US" sz="3400" dirty="0"/>
          </a:p>
        </p:txBody>
      </p:sp>
      <p:sp>
        <p:nvSpPr>
          <p:cNvPr id="4" name="Shape 1"/>
          <p:cNvSpPr/>
          <p:nvPr/>
        </p:nvSpPr>
        <p:spPr>
          <a:xfrm>
            <a:off x="54864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777240" y="1691640"/>
            <a:ext cx="640080" cy="640080"/>
          </a:xfrm>
          <a:prstGeom prst="ellipse">
            <a:avLst/>
          </a:prstGeom>
          <a:solidFill>
            <a:srgbClr val="6D3B6E"/>
          </a:solidFill>
          <a:ln w="12700">
            <a:solidFill>
              <a:srgbClr val="6D3B6E"/>
            </a:solidFill>
            <a:prstDash val="solid"/>
          </a:ln>
        </p:spPr>
      </p:sp>
      <p:sp>
        <p:nvSpPr>
          <p:cNvPr id="6" name="Text 3"/>
          <p:cNvSpPr txBox="1"/>
          <p:nvPr/>
        </p:nvSpPr>
        <p:spPr>
          <a:xfrm>
            <a:off x="77724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4"/>
          <p:cNvSpPr txBox="1"/>
          <p:nvPr/>
        </p:nvSpPr>
        <p:spPr>
          <a:xfrm>
            <a:off x="77724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De habilidade</a:t>
            </a:r>
            <a:endParaRPr lang="en-US" sz="1800" dirty="0"/>
          </a:p>
        </p:txBody>
      </p:sp>
      <p:sp>
        <p:nvSpPr>
          <p:cNvPr id="8" name="Text 5"/>
          <p:cNvSpPr txBox="1"/>
          <p:nvPr/>
        </p:nvSpPr>
        <p:spPr>
          <a:xfrm>
            <a:off x="77724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Delegar tanto que a prática se perde, como estruturar um parágrafo.</a:t>
            </a:r>
            <a:endParaRPr lang="en-US" sz="1500" dirty="0"/>
          </a:p>
        </p:txBody>
      </p:sp>
      <p:sp>
        <p:nvSpPr>
          <p:cNvPr id="9" name="Shape 6"/>
          <p:cNvSpPr/>
          <p:nvPr/>
        </p:nvSpPr>
        <p:spPr>
          <a:xfrm>
            <a:off x="338328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10" name="Shape 7"/>
          <p:cNvSpPr/>
          <p:nvPr/>
        </p:nvSpPr>
        <p:spPr>
          <a:xfrm>
            <a:off x="3611880" y="1691640"/>
            <a:ext cx="640080" cy="640080"/>
          </a:xfrm>
          <a:prstGeom prst="ellipse">
            <a:avLst/>
          </a:prstGeom>
          <a:solidFill>
            <a:srgbClr val="3D7EA6"/>
          </a:solidFill>
          <a:ln w="12700">
            <a:solidFill>
              <a:srgbClr val="3D7EA6"/>
            </a:solidFill>
            <a:prstDash val="solid"/>
          </a:ln>
        </p:spPr>
      </p:sp>
      <p:sp>
        <p:nvSpPr>
          <p:cNvPr id="11" name="Text 8"/>
          <p:cNvSpPr txBox="1"/>
          <p:nvPr/>
        </p:nvSpPr>
        <p:spPr>
          <a:xfrm>
            <a:off x="361188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9"/>
          <p:cNvSpPr txBox="1"/>
          <p:nvPr/>
        </p:nvSpPr>
        <p:spPr>
          <a:xfrm>
            <a:off x="361188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De julgamento</a:t>
            </a:r>
            <a:endParaRPr lang="en-US" sz="1800" dirty="0"/>
          </a:p>
        </p:txBody>
      </p:sp>
      <p:sp>
        <p:nvSpPr>
          <p:cNvPr id="13" name="Text 10"/>
          <p:cNvSpPr txBox="1"/>
          <p:nvPr/>
        </p:nvSpPr>
        <p:spPr>
          <a:xfrm>
            <a:off x="361188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Aceitar a saída sem checar, porque parece certa.</a:t>
            </a:r>
            <a:endParaRPr lang="en-US" sz="1500" dirty="0"/>
          </a:p>
        </p:txBody>
      </p:sp>
      <p:sp>
        <p:nvSpPr>
          <p:cNvPr id="14" name="Shape 11"/>
          <p:cNvSpPr/>
          <p:nvPr/>
        </p:nvSpPr>
        <p:spPr>
          <a:xfrm>
            <a:off x="621792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15" name="Shape 12"/>
          <p:cNvSpPr/>
          <p:nvPr/>
        </p:nvSpPr>
        <p:spPr>
          <a:xfrm>
            <a:off x="6446520" y="1691640"/>
            <a:ext cx="640080" cy="640080"/>
          </a:xfrm>
          <a:prstGeom prst="ellipse">
            <a:avLst/>
          </a:prstGeom>
          <a:solidFill>
            <a:srgbClr val="D95D7F"/>
          </a:solidFill>
          <a:ln w="12700">
            <a:solidFill>
              <a:srgbClr val="D95D7F"/>
            </a:solidFill>
            <a:prstDash val="solid"/>
          </a:ln>
        </p:spPr>
      </p:sp>
      <p:sp>
        <p:nvSpPr>
          <p:cNvPr id="16" name="Text 13"/>
          <p:cNvSpPr txBox="1"/>
          <p:nvPr/>
        </p:nvSpPr>
        <p:spPr>
          <a:xfrm>
            <a:off x="644652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4"/>
          <p:cNvSpPr txBox="1"/>
          <p:nvPr/>
        </p:nvSpPr>
        <p:spPr>
          <a:xfrm>
            <a:off x="644652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Relacional</a:t>
            </a:r>
            <a:endParaRPr lang="en-US" sz="1800" dirty="0"/>
          </a:p>
        </p:txBody>
      </p:sp>
      <p:sp>
        <p:nvSpPr>
          <p:cNvPr id="18" name="Text 15"/>
          <p:cNvSpPr txBox="1"/>
          <p:nvPr/>
        </p:nvSpPr>
        <p:spPr>
          <a:xfrm>
            <a:off x="644652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Respostas sempre cordiais podem substituir pessoas.</a:t>
            </a:r>
            <a:endParaRPr lang="en-US" sz="1500" dirty="0"/>
          </a:p>
        </p:txBody>
      </p:sp>
      <p:sp>
        <p:nvSpPr>
          <p:cNvPr id="19" name="Shape 16"/>
          <p:cNvSpPr/>
          <p:nvPr/>
        </p:nvSpPr>
        <p:spPr>
          <a:xfrm>
            <a:off x="905256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20" name="Shape 17"/>
          <p:cNvSpPr/>
          <p:nvPr/>
        </p:nvSpPr>
        <p:spPr>
          <a:xfrm>
            <a:off x="9281160" y="1691640"/>
            <a:ext cx="640080" cy="640080"/>
          </a:xfrm>
          <a:prstGeom prst="ellipse">
            <a:avLst/>
          </a:prstGeom>
          <a:solidFill>
            <a:srgbClr val="2A9D8F"/>
          </a:solidFill>
          <a:ln w="12700">
            <a:solidFill>
              <a:srgbClr val="2A9D8F"/>
            </a:solidFill>
            <a:prstDash val="solid"/>
          </a:ln>
        </p:spPr>
      </p:sp>
      <p:sp>
        <p:nvSpPr>
          <p:cNvPr id="21" name="Text 18"/>
          <p:cNvSpPr txBox="1"/>
          <p:nvPr/>
        </p:nvSpPr>
        <p:spPr>
          <a:xfrm>
            <a:off x="928116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19"/>
          <p:cNvSpPr txBox="1"/>
          <p:nvPr/>
        </p:nvSpPr>
        <p:spPr>
          <a:xfrm>
            <a:off x="928116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Organizacional</a:t>
            </a:r>
            <a:endParaRPr lang="en-US" sz="1800" dirty="0"/>
          </a:p>
        </p:txBody>
      </p:sp>
      <p:sp>
        <p:nvSpPr>
          <p:cNvPr id="23" name="Text 20"/>
          <p:cNvSpPr txBox="1"/>
          <p:nvPr/>
        </p:nvSpPr>
        <p:spPr>
          <a:xfrm>
            <a:off x="928116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Escola presa a um único fornecedor, sem saída.</a:t>
            </a:r>
            <a:endParaRPr lang="en-US" sz="1500" dirty="0"/>
          </a:p>
        </p:txBody>
      </p:sp>
      <p:sp>
        <p:nvSpPr>
          <p:cNvPr id="24" name="Text 21"/>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30</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Dependência ou outra coisa?</a:t>
            </a:r>
            <a:endParaRPr lang="en-US" sz="3400" dirty="0"/>
          </a:p>
        </p:txBody>
      </p:sp>
      <p:sp>
        <p:nvSpPr>
          <p:cNvPr id="4" name="Shape 1"/>
          <p:cNvSpPr/>
          <p:nvPr/>
        </p:nvSpPr>
        <p:spPr>
          <a:xfrm>
            <a:off x="548640" y="1463040"/>
            <a:ext cx="5394960" cy="4572000"/>
          </a:xfrm>
          <a:prstGeom prst="roundRect">
            <a:avLst>
              <a:gd name="adj" fmla="val 3000"/>
            </a:avLst>
          </a:prstGeom>
          <a:solidFill>
            <a:srgbClr val="F7EFE6"/>
          </a:solidFill>
          <a:ln w="12700">
            <a:solidFill>
              <a:srgbClr val="F7EFE6"/>
            </a:solidFill>
            <a:prstDash val="solid"/>
          </a:ln>
        </p:spPr>
      </p:sp>
      <p:sp>
        <p:nvSpPr>
          <p:cNvPr id="5" name="Shape 2"/>
          <p:cNvSpPr/>
          <p:nvPr/>
        </p:nvSpPr>
        <p:spPr>
          <a:xfrm>
            <a:off x="548640" y="1463040"/>
            <a:ext cx="5394960" cy="731520"/>
          </a:xfrm>
          <a:prstGeom prst="roundRect">
            <a:avLst>
              <a:gd name="adj" fmla="val 18750"/>
            </a:avLst>
          </a:prstGeom>
          <a:solidFill>
            <a:srgbClr val="2A9D8F"/>
          </a:solidFill>
          <a:ln w="12700">
            <a:solidFill>
              <a:srgbClr val="2A9D8F"/>
            </a:solidFill>
            <a:prstDash val="solid"/>
          </a:ln>
        </p:spPr>
      </p:sp>
      <p:sp>
        <p:nvSpPr>
          <p:cNvPr id="6" name="Text 3"/>
          <p:cNvSpPr txBox="1"/>
          <p:nvPr/>
        </p:nvSpPr>
        <p:spPr>
          <a:xfrm>
            <a:off x="777240" y="1463040"/>
            <a:ext cx="4937760" cy="73152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Pode ser dependência</a:t>
            </a:r>
            <a:endParaRPr lang="en-US" sz="2200" dirty="0"/>
          </a:p>
        </p:txBody>
      </p:sp>
      <p:sp>
        <p:nvSpPr>
          <p:cNvPr id="7" name="Text 4"/>
          <p:cNvSpPr txBox="1"/>
          <p:nvPr/>
        </p:nvSpPr>
        <p:spPr>
          <a:xfrm>
            <a:off x="822960" y="2377440"/>
            <a:ext cx="4846320" cy="35661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3B2A2A"/>
                </a:solidFill>
              </a:rPr>
              <a:t>Não consegue começar sem o sistema</a:t>
            </a:r>
            <a:endParaRPr lang="en-US" sz="1700" dirty="0"/>
          </a:p>
          <a:p>
            <a:pPr marL="342900" indent="-342900">
              <a:spcAft>
                <a:spcPts val="800"/>
              </a:spcAft>
              <a:buSzPct val="100000"/>
              <a:buChar char="•"/>
            </a:pPr>
            <a:r>
              <a:rPr lang="en-US" sz="1700" dirty="0">
                <a:solidFill>
                  <a:srgbClr val="3B2A2A"/>
                </a:solidFill>
              </a:rPr>
              <a:t>Evita tarefas que antes fazia com segurança</a:t>
            </a:r>
            <a:endParaRPr lang="en-US" sz="1700" dirty="0"/>
          </a:p>
          <a:p>
            <a:pPr marL="342900" indent="-342900">
              <a:spcAft>
                <a:spcPts val="800"/>
              </a:spcAft>
              <a:buSzPct val="100000"/>
              <a:buChar char="•"/>
            </a:pPr>
            <a:r>
              <a:rPr lang="en-US" sz="1700" dirty="0">
                <a:solidFill>
                  <a:srgbClr val="3B2A2A"/>
                </a:solidFill>
              </a:rPr>
              <a:t>Aceita sem checar</a:t>
            </a:r>
            <a:endParaRPr lang="en-US" sz="1700" dirty="0"/>
          </a:p>
          <a:p>
            <a:pPr marL="342900" indent="-342900">
              <a:spcAft>
                <a:spcPts val="800"/>
              </a:spcAft>
              <a:buSzPct val="100000"/>
              <a:buChar char="•"/>
            </a:pPr>
            <a:r>
              <a:rPr lang="en-US" sz="1700" dirty="0">
                <a:solidFill>
                  <a:srgbClr val="3B2A2A"/>
                </a:solidFill>
              </a:rPr>
              <a:t>Estudante não explica o próprio trabalho</a:t>
            </a:r>
            <a:endParaRPr lang="en-US" sz="1700" dirty="0"/>
          </a:p>
        </p:txBody>
      </p:sp>
      <p:sp>
        <p:nvSpPr>
          <p:cNvPr id="8" name="Shape 5"/>
          <p:cNvSpPr/>
          <p:nvPr/>
        </p:nvSpPr>
        <p:spPr>
          <a:xfrm>
            <a:off x="6263640" y="1463040"/>
            <a:ext cx="5394960" cy="4572000"/>
          </a:xfrm>
          <a:prstGeom prst="roundRect">
            <a:avLst>
              <a:gd name="adj" fmla="val 3000"/>
            </a:avLst>
          </a:prstGeom>
          <a:solidFill>
            <a:srgbClr val="F7EFE6"/>
          </a:solidFill>
          <a:ln w="12700">
            <a:solidFill>
              <a:srgbClr val="F7EFE6"/>
            </a:solidFill>
            <a:prstDash val="solid"/>
          </a:ln>
        </p:spPr>
      </p:sp>
      <p:sp>
        <p:nvSpPr>
          <p:cNvPr id="9" name="Shape 6"/>
          <p:cNvSpPr/>
          <p:nvPr/>
        </p:nvSpPr>
        <p:spPr>
          <a:xfrm>
            <a:off x="6263640" y="1463040"/>
            <a:ext cx="5394960" cy="731520"/>
          </a:xfrm>
          <a:prstGeom prst="roundRect">
            <a:avLst>
              <a:gd name="adj" fmla="val 18750"/>
            </a:avLst>
          </a:prstGeom>
          <a:solidFill>
            <a:srgbClr val="D95D7F"/>
          </a:solidFill>
          <a:ln w="12700">
            <a:solidFill>
              <a:srgbClr val="D95D7F"/>
            </a:solidFill>
            <a:prstDash val="solid"/>
          </a:ln>
        </p:spPr>
      </p:sp>
      <p:sp>
        <p:nvSpPr>
          <p:cNvPr id="10" name="Text 7"/>
          <p:cNvSpPr txBox="1"/>
          <p:nvPr/>
        </p:nvSpPr>
        <p:spPr>
          <a:xfrm>
            <a:off x="6492240" y="1463040"/>
            <a:ext cx="4937760" cy="73152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Pode ser causa estrutural</a:t>
            </a:r>
            <a:endParaRPr lang="en-US" sz="2200" dirty="0"/>
          </a:p>
        </p:txBody>
      </p:sp>
      <p:sp>
        <p:nvSpPr>
          <p:cNvPr id="11" name="Text 8"/>
          <p:cNvSpPr txBox="1"/>
          <p:nvPr/>
        </p:nvSpPr>
        <p:spPr>
          <a:xfrm>
            <a:off x="6537960" y="2377440"/>
            <a:ext cx="4846320" cy="35661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3B2A2A"/>
                </a:solidFill>
              </a:rPr>
              <a:t>Falta de tempo de planejamento</a:t>
            </a:r>
            <a:endParaRPr lang="en-US" sz="1700" dirty="0"/>
          </a:p>
          <a:p>
            <a:pPr marL="342900" indent="-342900">
              <a:spcAft>
                <a:spcPts val="800"/>
              </a:spcAft>
              <a:buSzPct val="100000"/>
              <a:buChar char="•"/>
            </a:pPr>
            <a:r>
              <a:rPr lang="en-US" sz="1700" dirty="0">
                <a:solidFill>
                  <a:srgbClr val="3B2A2A"/>
                </a:solidFill>
              </a:rPr>
              <a:t>Falta de formação</a:t>
            </a:r>
            <a:endParaRPr lang="en-US" sz="1700" dirty="0"/>
          </a:p>
          <a:p>
            <a:pPr marL="342900" indent="-342900">
              <a:spcAft>
                <a:spcPts val="800"/>
              </a:spcAft>
              <a:buSzPct val="100000"/>
              <a:buChar char="•"/>
            </a:pPr>
            <a:r>
              <a:rPr lang="en-US" sz="1700" dirty="0">
                <a:solidFill>
                  <a:srgbClr val="3B2A2A"/>
                </a:solidFill>
              </a:rPr>
              <a:t>Falta de alternativa ou de acesso</a:t>
            </a:r>
            <a:endParaRPr lang="en-US" sz="1700" dirty="0"/>
          </a:p>
          <a:p>
            <a:pPr marL="342900" indent="-342900">
              <a:spcAft>
                <a:spcPts val="800"/>
              </a:spcAft>
              <a:buSzPct val="100000"/>
              <a:buChar char="•"/>
            </a:pPr>
            <a:r>
              <a:rPr lang="en-US" sz="1700" dirty="0">
                <a:solidFill>
                  <a:srgbClr val="3B2A2A"/>
                </a:solidFill>
              </a:rPr>
              <a:t>Pressão porque 'todos usam'</a:t>
            </a:r>
            <a:endParaRPr lang="en-US" sz="1700" dirty="0"/>
          </a:p>
        </p:txBody>
      </p:sp>
      <p:sp>
        <p:nvSpPr>
          <p:cNvPr id="12" name="Text 9"/>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30</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Salvaguardas para docentes</a:t>
            </a:r>
            <a:endParaRPr lang="en-US" sz="3400" dirty="0"/>
          </a:p>
        </p:txBody>
      </p:sp>
      <p:sp>
        <p:nvSpPr>
          <p:cNvPr id="4" name="Shape 1"/>
          <p:cNvSpPr/>
          <p:nvPr/>
        </p:nvSpPr>
        <p:spPr>
          <a:xfrm>
            <a:off x="548640" y="1920240"/>
            <a:ext cx="2029968" cy="3291840"/>
          </a:xfrm>
          <a:prstGeom prst="roundRect">
            <a:avLst>
              <a:gd name="adj" fmla="val 6757"/>
            </a:avLst>
          </a:prstGeom>
          <a:solidFill>
            <a:srgbClr val="F7EFE6"/>
          </a:solidFill>
          <a:ln w="12700">
            <a:solidFill>
              <a:srgbClr val="F7EFE6"/>
            </a:solidFill>
            <a:prstDash val="solid"/>
          </a:ln>
        </p:spPr>
      </p:sp>
      <p:sp>
        <p:nvSpPr>
          <p:cNvPr id="5" name="Shape 2"/>
          <p:cNvSpPr/>
          <p:nvPr/>
        </p:nvSpPr>
        <p:spPr>
          <a:xfrm>
            <a:off x="1243584" y="1600200"/>
            <a:ext cx="640080" cy="640080"/>
          </a:xfrm>
          <a:prstGeom prst="ellipse">
            <a:avLst/>
          </a:prstGeom>
          <a:solidFill>
            <a:srgbClr val="D95D7F"/>
          </a:solidFill>
          <a:ln w="12700">
            <a:solidFill>
              <a:srgbClr val="D95D7F"/>
            </a:solidFill>
            <a:prstDash val="solid"/>
          </a:ln>
        </p:spPr>
      </p:sp>
      <p:sp>
        <p:nvSpPr>
          <p:cNvPr id="6" name="Text 3"/>
          <p:cNvSpPr txBox="1"/>
          <p:nvPr/>
        </p:nvSpPr>
        <p:spPr>
          <a:xfrm>
            <a:off x="1243584" y="16002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4"/>
          <p:cNvSpPr txBox="1"/>
          <p:nvPr/>
        </p:nvSpPr>
        <p:spPr>
          <a:xfrm>
            <a:off x="685800" y="2377440"/>
            <a:ext cx="1755648" cy="2743200"/>
          </a:xfrm>
          <a:prstGeom prst="rect">
            <a:avLst/>
          </a:prstGeom>
          <a:noFill/>
          <a:ln/>
        </p:spPr>
        <p:txBody>
          <a:bodyPr wrap="square" lIns="0" tIns="0" rIns="0" bIns="0" rtlCol="0" anchor="ctr"/>
          <a:lstStyle/>
          <a:p>
            <a:pPr algn="ctr" indent="0" marL="0">
              <a:buNone/>
            </a:pPr>
            <a:r>
              <a:rPr lang="en-US" sz="1500" dirty="0">
                <a:solidFill>
                  <a:srgbClr val="3B2A2A"/>
                </a:solidFill>
              </a:rPr>
              <a:t>Começar por você: esboço próprio antes</a:t>
            </a:r>
            <a:endParaRPr lang="en-US" sz="1500" dirty="0"/>
          </a:p>
        </p:txBody>
      </p:sp>
      <p:sp>
        <p:nvSpPr>
          <p:cNvPr id="8" name="Text 5"/>
          <p:cNvSpPr txBox="1"/>
          <p:nvPr/>
        </p:nvSpPr>
        <p:spPr>
          <a:xfrm>
            <a:off x="2560320" y="3200400"/>
            <a:ext cx="265176" cy="548640"/>
          </a:xfrm>
          <a:prstGeom prst="rect">
            <a:avLst/>
          </a:prstGeom>
          <a:noFill/>
          <a:ln/>
        </p:spPr>
        <p:txBody>
          <a:bodyPr wrap="square" lIns="0" tIns="0" rIns="0" bIns="0" rtlCol="0" anchor="ctr"/>
          <a:lstStyle/>
          <a:p>
            <a:pPr algn="ctr" indent="0" marL="0">
              <a:buNone/>
            </a:pPr>
            <a:r>
              <a:rPr lang="en-US" sz="2800" b="1" dirty="0">
                <a:solidFill>
                  <a:srgbClr val="D95D7F"/>
                </a:solidFill>
              </a:rPr>
              <a:t>›</a:t>
            </a:r>
            <a:endParaRPr lang="en-US" sz="2800" dirty="0"/>
          </a:p>
        </p:txBody>
      </p:sp>
      <p:sp>
        <p:nvSpPr>
          <p:cNvPr id="9" name="Shape 6"/>
          <p:cNvSpPr/>
          <p:nvPr/>
        </p:nvSpPr>
        <p:spPr>
          <a:xfrm>
            <a:off x="2807208" y="1920240"/>
            <a:ext cx="2029968" cy="3291840"/>
          </a:xfrm>
          <a:prstGeom prst="roundRect">
            <a:avLst>
              <a:gd name="adj" fmla="val 6757"/>
            </a:avLst>
          </a:prstGeom>
          <a:solidFill>
            <a:srgbClr val="F7EFE6"/>
          </a:solidFill>
          <a:ln w="12700">
            <a:solidFill>
              <a:srgbClr val="F7EFE6"/>
            </a:solidFill>
            <a:prstDash val="solid"/>
          </a:ln>
        </p:spPr>
      </p:sp>
      <p:sp>
        <p:nvSpPr>
          <p:cNvPr id="10" name="Shape 7"/>
          <p:cNvSpPr/>
          <p:nvPr/>
        </p:nvSpPr>
        <p:spPr>
          <a:xfrm>
            <a:off x="3502152" y="1600200"/>
            <a:ext cx="640080" cy="640080"/>
          </a:xfrm>
          <a:prstGeom prst="ellipse">
            <a:avLst/>
          </a:prstGeom>
          <a:solidFill>
            <a:srgbClr val="D95D7F"/>
          </a:solidFill>
          <a:ln w="12700">
            <a:solidFill>
              <a:srgbClr val="D95D7F"/>
            </a:solidFill>
            <a:prstDash val="solid"/>
          </a:ln>
        </p:spPr>
      </p:sp>
      <p:sp>
        <p:nvSpPr>
          <p:cNvPr id="11" name="Text 8"/>
          <p:cNvSpPr txBox="1"/>
          <p:nvPr/>
        </p:nvSpPr>
        <p:spPr>
          <a:xfrm>
            <a:off x="3502152" y="16002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9"/>
          <p:cNvSpPr txBox="1"/>
          <p:nvPr/>
        </p:nvSpPr>
        <p:spPr>
          <a:xfrm>
            <a:off x="2944368" y="2377440"/>
            <a:ext cx="1755648" cy="2743200"/>
          </a:xfrm>
          <a:prstGeom prst="rect">
            <a:avLst/>
          </a:prstGeom>
          <a:noFill/>
          <a:ln/>
        </p:spPr>
        <p:txBody>
          <a:bodyPr wrap="square" lIns="0" tIns="0" rIns="0" bIns="0" rtlCol="0" anchor="ctr"/>
          <a:lstStyle/>
          <a:p>
            <a:pPr algn="ctr" indent="0" marL="0">
              <a:buNone/>
            </a:pPr>
            <a:r>
              <a:rPr lang="en-US" sz="1500" dirty="0">
                <a:solidFill>
                  <a:srgbClr val="3B2A2A"/>
                </a:solidFill>
              </a:rPr>
              <a:t>Consultar o sistema, com verificação</a:t>
            </a:r>
            <a:endParaRPr lang="en-US" sz="1500" dirty="0"/>
          </a:p>
        </p:txBody>
      </p:sp>
      <p:sp>
        <p:nvSpPr>
          <p:cNvPr id="13" name="Text 10"/>
          <p:cNvSpPr txBox="1"/>
          <p:nvPr/>
        </p:nvSpPr>
        <p:spPr>
          <a:xfrm>
            <a:off x="4818888" y="3200400"/>
            <a:ext cx="265176" cy="548640"/>
          </a:xfrm>
          <a:prstGeom prst="rect">
            <a:avLst/>
          </a:prstGeom>
          <a:noFill/>
          <a:ln/>
        </p:spPr>
        <p:txBody>
          <a:bodyPr wrap="square" lIns="0" tIns="0" rIns="0" bIns="0" rtlCol="0" anchor="ctr"/>
          <a:lstStyle/>
          <a:p>
            <a:pPr algn="ctr" indent="0" marL="0">
              <a:buNone/>
            </a:pPr>
            <a:r>
              <a:rPr lang="en-US" sz="2800" b="1" dirty="0">
                <a:solidFill>
                  <a:srgbClr val="D95D7F"/>
                </a:solidFill>
              </a:rPr>
              <a:t>›</a:t>
            </a:r>
            <a:endParaRPr lang="en-US" sz="2800" dirty="0"/>
          </a:p>
        </p:txBody>
      </p:sp>
      <p:sp>
        <p:nvSpPr>
          <p:cNvPr id="14" name="Shape 11"/>
          <p:cNvSpPr/>
          <p:nvPr/>
        </p:nvSpPr>
        <p:spPr>
          <a:xfrm>
            <a:off x="5065776" y="1920240"/>
            <a:ext cx="2029968" cy="3291840"/>
          </a:xfrm>
          <a:prstGeom prst="roundRect">
            <a:avLst>
              <a:gd name="adj" fmla="val 6757"/>
            </a:avLst>
          </a:prstGeom>
          <a:solidFill>
            <a:srgbClr val="F7EFE6"/>
          </a:solidFill>
          <a:ln w="12700">
            <a:solidFill>
              <a:srgbClr val="F7EFE6"/>
            </a:solidFill>
            <a:prstDash val="solid"/>
          </a:ln>
        </p:spPr>
      </p:sp>
      <p:sp>
        <p:nvSpPr>
          <p:cNvPr id="15" name="Shape 12"/>
          <p:cNvSpPr/>
          <p:nvPr/>
        </p:nvSpPr>
        <p:spPr>
          <a:xfrm>
            <a:off x="5760720" y="1600200"/>
            <a:ext cx="640080" cy="640080"/>
          </a:xfrm>
          <a:prstGeom prst="ellipse">
            <a:avLst/>
          </a:prstGeom>
          <a:solidFill>
            <a:srgbClr val="D95D7F"/>
          </a:solidFill>
          <a:ln w="12700">
            <a:solidFill>
              <a:srgbClr val="D95D7F"/>
            </a:solidFill>
            <a:prstDash val="solid"/>
          </a:ln>
        </p:spPr>
      </p:sp>
      <p:sp>
        <p:nvSpPr>
          <p:cNvPr id="16" name="Text 13"/>
          <p:cNvSpPr txBox="1"/>
          <p:nvPr/>
        </p:nvSpPr>
        <p:spPr>
          <a:xfrm>
            <a:off x="5760720" y="16002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4"/>
          <p:cNvSpPr txBox="1"/>
          <p:nvPr/>
        </p:nvSpPr>
        <p:spPr>
          <a:xfrm>
            <a:off x="5202936" y="2377440"/>
            <a:ext cx="1755648" cy="2743200"/>
          </a:xfrm>
          <a:prstGeom prst="rect">
            <a:avLst/>
          </a:prstGeom>
          <a:noFill/>
          <a:ln/>
        </p:spPr>
        <p:txBody>
          <a:bodyPr wrap="square" lIns="0" tIns="0" rIns="0" bIns="0" rtlCol="0" anchor="ctr"/>
          <a:lstStyle/>
          <a:p>
            <a:pPr algn="ctr" indent="0" marL="0">
              <a:buNone/>
            </a:pPr>
            <a:r>
              <a:rPr lang="en-US" sz="1500" dirty="0">
                <a:solidFill>
                  <a:srgbClr val="3B2A2A"/>
                </a:solidFill>
              </a:rPr>
              <a:t>Terminar por você: leitura final e sua voz</a:t>
            </a:r>
            <a:endParaRPr lang="en-US" sz="1500" dirty="0"/>
          </a:p>
        </p:txBody>
      </p:sp>
      <p:sp>
        <p:nvSpPr>
          <p:cNvPr id="18" name="Text 15"/>
          <p:cNvSpPr txBox="1"/>
          <p:nvPr/>
        </p:nvSpPr>
        <p:spPr>
          <a:xfrm>
            <a:off x="7077456" y="3200400"/>
            <a:ext cx="265176" cy="548640"/>
          </a:xfrm>
          <a:prstGeom prst="rect">
            <a:avLst/>
          </a:prstGeom>
          <a:noFill/>
          <a:ln/>
        </p:spPr>
        <p:txBody>
          <a:bodyPr wrap="square" lIns="0" tIns="0" rIns="0" bIns="0" rtlCol="0" anchor="ctr"/>
          <a:lstStyle/>
          <a:p>
            <a:pPr algn="ctr" indent="0" marL="0">
              <a:buNone/>
            </a:pPr>
            <a:r>
              <a:rPr lang="en-US" sz="2800" b="1" dirty="0">
                <a:solidFill>
                  <a:srgbClr val="D95D7F"/>
                </a:solidFill>
              </a:rPr>
              <a:t>›</a:t>
            </a:r>
            <a:endParaRPr lang="en-US" sz="2800" dirty="0"/>
          </a:p>
        </p:txBody>
      </p:sp>
      <p:sp>
        <p:nvSpPr>
          <p:cNvPr id="19" name="Shape 16"/>
          <p:cNvSpPr/>
          <p:nvPr/>
        </p:nvSpPr>
        <p:spPr>
          <a:xfrm>
            <a:off x="7324344" y="1920240"/>
            <a:ext cx="2029968" cy="3291840"/>
          </a:xfrm>
          <a:prstGeom prst="roundRect">
            <a:avLst>
              <a:gd name="adj" fmla="val 6757"/>
            </a:avLst>
          </a:prstGeom>
          <a:solidFill>
            <a:srgbClr val="F7EFE6"/>
          </a:solidFill>
          <a:ln w="12700">
            <a:solidFill>
              <a:srgbClr val="F7EFE6"/>
            </a:solidFill>
            <a:prstDash val="solid"/>
          </a:ln>
        </p:spPr>
      </p:sp>
      <p:sp>
        <p:nvSpPr>
          <p:cNvPr id="20" name="Shape 17"/>
          <p:cNvSpPr/>
          <p:nvPr/>
        </p:nvSpPr>
        <p:spPr>
          <a:xfrm>
            <a:off x="8019288" y="1600200"/>
            <a:ext cx="640080" cy="640080"/>
          </a:xfrm>
          <a:prstGeom prst="ellipse">
            <a:avLst/>
          </a:prstGeom>
          <a:solidFill>
            <a:srgbClr val="D95D7F"/>
          </a:solidFill>
          <a:ln w="12700">
            <a:solidFill>
              <a:srgbClr val="D95D7F"/>
            </a:solidFill>
            <a:prstDash val="solid"/>
          </a:ln>
        </p:spPr>
      </p:sp>
      <p:sp>
        <p:nvSpPr>
          <p:cNvPr id="21" name="Text 18"/>
          <p:cNvSpPr txBox="1"/>
          <p:nvPr/>
        </p:nvSpPr>
        <p:spPr>
          <a:xfrm>
            <a:off x="8019288" y="16002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19"/>
          <p:cNvSpPr txBox="1"/>
          <p:nvPr/>
        </p:nvSpPr>
        <p:spPr>
          <a:xfrm>
            <a:off x="7461504" y="2377440"/>
            <a:ext cx="1755648" cy="2743200"/>
          </a:xfrm>
          <a:prstGeom prst="rect">
            <a:avLst/>
          </a:prstGeom>
          <a:noFill/>
          <a:ln/>
        </p:spPr>
        <p:txBody>
          <a:bodyPr wrap="square" lIns="0" tIns="0" rIns="0" bIns="0" rtlCol="0" anchor="ctr"/>
          <a:lstStyle/>
          <a:p>
            <a:pPr algn="ctr" indent="0" marL="0">
              <a:buNone/>
            </a:pPr>
            <a:r>
              <a:rPr lang="en-US" sz="1500" dirty="0">
                <a:solidFill>
                  <a:srgbClr val="3B2A2A"/>
                </a:solidFill>
              </a:rPr>
              <a:t>Manter treino: tarefas sem apoio</a:t>
            </a:r>
            <a:endParaRPr lang="en-US" sz="1500" dirty="0"/>
          </a:p>
        </p:txBody>
      </p:sp>
      <p:sp>
        <p:nvSpPr>
          <p:cNvPr id="23" name="Text 20"/>
          <p:cNvSpPr txBox="1"/>
          <p:nvPr/>
        </p:nvSpPr>
        <p:spPr>
          <a:xfrm>
            <a:off x="9336024" y="3200400"/>
            <a:ext cx="265176" cy="548640"/>
          </a:xfrm>
          <a:prstGeom prst="rect">
            <a:avLst/>
          </a:prstGeom>
          <a:noFill/>
          <a:ln/>
        </p:spPr>
        <p:txBody>
          <a:bodyPr wrap="square" lIns="0" tIns="0" rIns="0" bIns="0" rtlCol="0" anchor="ctr"/>
          <a:lstStyle/>
          <a:p>
            <a:pPr algn="ctr" indent="0" marL="0">
              <a:buNone/>
            </a:pPr>
            <a:r>
              <a:rPr lang="en-US" sz="2800" b="1" dirty="0">
                <a:solidFill>
                  <a:srgbClr val="D95D7F"/>
                </a:solidFill>
              </a:rPr>
              <a:t>›</a:t>
            </a:r>
            <a:endParaRPr lang="en-US" sz="2800" dirty="0"/>
          </a:p>
        </p:txBody>
      </p:sp>
      <p:sp>
        <p:nvSpPr>
          <p:cNvPr id="24" name="Shape 21"/>
          <p:cNvSpPr/>
          <p:nvPr/>
        </p:nvSpPr>
        <p:spPr>
          <a:xfrm>
            <a:off x="9582912" y="1920240"/>
            <a:ext cx="2029968" cy="3291840"/>
          </a:xfrm>
          <a:prstGeom prst="roundRect">
            <a:avLst>
              <a:gd name="adj" fmla="val 6757"/>
            </a:avLst>
          </a:prstGeom>
          <a:solidFill>
            <a:srgbClr val="F7EFE6"/>
          </a:solidFill>
          <a:ln w="12700">
            <a:solidFill>
              <a:srgbClr val="F7EFE6"/>
            </a:solidFill>
            <a:prstDash val="solid"/>
          </a:ln>
        </p:spPr>
      </p:sp>
      <p:sp>
        <p:nvSpPr>
          <p:cNvPr id="25" name="Shape 22"/>
          <p:cNvSpPr/>
          <p:nvPr/>
        </p:nvSpPr>
        <p:spPr>
          <a:xfrm>
            <a:off x="10277856" y="1600200"/>
            <a:ext cx="640080" cy="640080"/>
          </a:xfrm>
          <a:prstGeom prst="ellipse">
            <a:avLst/>
          </a:prstGeom>
          <a:solidFill>
            <a:srgbClr val="D95D7F"/>
          </a:solidFill>
          <a:ln w="12700">
            <a:solidFill>
              <a:srgbClr val="D95D7F"/>
            </a:solidFill>
            <a:prstDash val="solid"/>
          </a:ln>
        </p:spPr>
      </p:sp>
      <p:sp>
        <p:nvSpPr>
          <p:cNvPr id="26" name="Text 23"/>
          <p:cNvSpPr txBox="1"/>
          <p:nvPr/>
        </p:nvSpPr>
        <p:spPr>
          <a:xfrm>
            <a:off x="10277856" y="16002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7" name="Text 24"/>
          <p:cNvSpPr txBox="1"/>
          <p:nvPr/>
        </p:nvSpPr>
        <p:spPr>
          <a:xfrm>
            <a:off x="9720072" y="2377440"/>
            <a:ext cx="1755648" cy="2743200"/>
          </a:xfrm>
          <a:prstGeom prst="rect">
            <a:avLst/>
          </a:prstGeom>
          <a:noFill/>
          <a:ln/>
        </p:spPr>
        <p:txBody>
          <a:bodyPr wrap="square" lIns="0" tIns="0" rIns="0" bIns="0" rtlCol="0" anchor="ctr"/>
          <a:lstStyle/>
          <a:p>
            <a:pPr algn="ctr" indent="0" marL="0">
              <a:buNone/>
            </a:pPr>
            <a:r>
              <a:rPr lang="en-US" sz="1500" dirty="0">
                <a:solidFill>
                  <a:srgbClr val="3B2A2A"/>
                </a:solidFill>
              </a:rPr>
              <a:t>Rever o uso de tempos em tempos</a:t>
            </a:r>
            <a:endParaRPr lang="en-US" sz="1500" dirty="0"/>
          </a:p>
        </p:txBody>
      </p:sp>
      <p:sp>
        <p:nvSpPr>
          <p:cNvPr id="28" name="Text 25"/>
          <p:cNvSpPr txBox="1"/>
          <p:nvPr/>
        </p:nvSpPr>
        <p:spPr>
          <a:xfrm>
            <a:off x="548640" y="5486400"/>
            <a:ext cx="11064240" cy="731520"/>
          </a:xfrm>
          <a:prstGeom prst="rect">
            <a:avLst/>
          </a:prstGeom>
          <a:noFill/>
          <a:ln/>
        </p:spPr>
        <p:txBody>
          <a:bodyPr wrap="square" lIns="0" tIns="0" rIns="0" bIns="0" rtlCol="0" anchor="ctr"/>
          <a:lstStyle/>
          <a:p>
            <a:pPr algn="ctr" indent="0" marL="0">
              <a:buNone/>
            </a:pPr>
            <a:r>
              <a:rPr lang="en-US" sz="1800" i="1" dirty="0">
                <a:solidFill>
                  <a:srgbClr val="5A2E2A"/>
                </a:solidFill>
              </a:rPr>
              <a:t>Cuidar de uma habilidade que sustenta a autonomia.</a:t>
            </a:r>
            <a:endParaRPr lang="en-US" sz="1800" dirty="0"/>
          </a:p>
        </p:txBody>
      </p:sp>
      <p:sp>
        <p:nvSpPr>
          <p:cNvPr id="29" name="Text 26"/>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30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O que a pesquisa permite afirmar</a:t>
            </a:r>
            <a:endParaRPr lang="en-US" sz="3400" dirty="0"/>
          </a:p>
        </p:txBody>
      </p:sp>
      <p:sp>
        <p:nvSpPr>
          <p:cNvPr id="4" name="Shape 1"/>
          <p:cNvSpPr/>
          <p:nvPr/>
        </p:nvSpPr>
        <p:spPr>
          <a:xfrm>
            <a:off x="54864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777240" y="1691640"/>
            <a:ext cx="640080" cy="640080"/>
          </a:xfrm>
          <a:prstGeom prst="ellipse">
            <a:avLst/>
          </a:prstGeom>
          <a:solidFill>
            <a:srgbClr val="6D3B6E"/>
          </a:solidFill>
          <a:ln w="12700">
            <a:solidFill>
              <a:srgbClr val="6D3B6E"/>
            </a:solidFill>
            <a:prstDash val="solid"/>
          </a:ln>
        </p:spPr>
      </p:sp>
      <p:sp>
        <p:nvSpPr>
          <p:cNvPr id="6" name="Text 3"/>
          <p:cNvSpPr txBox="1"/>
          <p:nvPr/>
        </p:nvSpPr>
        <p:spPr>
          <a:xfrm>
            <a:off x="77724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4"/>
          <p:cNvSpPr txBox="1"/>
          <p:nvPr/>
        </p:nvSpPr>
        <p:spPr>
          <a:xfrm>
            <a:off x="77724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Desempenho x aprendizagem</a:t>
            </a:r>
            <a:endParaRPr lang="en-US" sz="1800" dirty="0"/>
          </a:p>
        </p:txBody>
      </p:sp>
      <p:sp>
        <p:nvSpPr>
          <p:cNvPr id="8" name="Text 5"/>
          <p:cNvSpPr txBox="1"/>
          <p:nvPr/>
        </p:nvSpPr>
        <p:spPr>
          <a:xfrm>
            <a:off x="77724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Apoio sem salvaguardas pode subir o desempenho e não a aprendizagem.</a:t>
            </a:r>
            <a:endParaRPr lang="en-US" sz="1500" dirty="0"/>
          </a:p>
        </p:txBody>
      </p:sp>
      <p:sp>
        <p:nvSpPr>
          <p:cNvPr id="9" name="Shape 6"/>
          <p:cNvSpPr/>
          <p:nvPr/>
        </p:nvSpPr>
        <p:spPr>
          <a:xfrm>
            <a:off x="338328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10" name="Shape 7"/>
          <p:cNvSpPr/>
          <p:nvPr/>
        </p:nvSpPr>
        <p:spPr>
          <a:xfrm>
            <a:off x="3611880" y="1691640"/>
            <a:ext cx="640080" cy="640080"/>
          </a:xfrm>
          <a:prstGeom prst="ellipse">
            <a:avLst/>
          </a:prstGeom>
          <a:solidFill>
            <a:srgbClr val="3D7EA6"/>
          </a:solidFill>
          <a:ln w="12700">
            <a:solidFill>
              <a:srgbClr val="3D7EA6"/>
            </a:solidFill>
            <a:prstDash val="solid"/>
          </a:ln>
        </p:spPr>
      </p:sp>
      <p:sp>
        <p:nvSpPr>
          <p:cNvPr id="11" name="Text 8"/>
          <p:cNvSpPr txBox="1"/>
          <p:nvPr/>
        </p:nvSpPr>
        <p:spPr>
          <a:xfrm>
            <a:off x="361188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9"/>
          <p:cNvSpPr txBox="1"/>
          <p:nvPr/>
        </p:nvSpPr>
        <p:spPr>
          <a:xfrm>
            <a:off x="361188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Esforço mental</a:t>
            </a:r>
            <a:endParaRPr lang="en-US" sz="1800" dirty="0"/>
          </a:p>
        </p:txBody>
      </p:sp>
      <p:sp>
        <p:nvSpPr>
          <p:cNvPr id="13" name="Text 10"/>
          <p:cNvSpPr txBox="1"/>
          <p:nvPr/>
        </p:nvSpPr>
        <p:spPr>
          <a:xfrm>
            <a:off x="361188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Autorrelatos de menor esforço crítico; contextos específicos.</a:t>
            </a:r>
            <a:endParaRPr lang="en-US" sz="1500" dirty="0"/>
          </a:p>
        </p:txBody>
      </p:sp>
      <p:sp>
        <p:nvSpPr>
          <p:cNvPr id="14" name="Shape 11"/>
          <p:cNvSpPr/>
          <p:nvPr/>
        </p:nvSpPr>
        <p:spPr>
          <a:xfrm>
            <a:off x="621792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15" name="Shape 12"/>
          <p:cNvSpPr/>
          <p:nvPr/>
        </p:nvSpPr>
        <p:spPr>
          <a:xfrm>
            <a:off x="6446520" y="1691640"/>
            <a:ext cx="640080" cy="640080"/>
          </a:xfrm>
          <a:prstGeom prst="ellipse">
            <a:avLst/>
          </a:prstGeom>
          <a:solidFill>
            <a:srgbClr val="D95D7F"/>
          </a:solidFill>
          <a:ln w="12700">
            <a:solidFill>
              <a:srgbClr val="D95D7F"/>
            </a:solidFill>
            <a:prstDash val="solid"/>
          </a:ln>
        </p:spPr>
      </p:sp>
      <p:sp>
        <p:nvSpPr>
          <p:cNvPr id="16" name="Text 13"/>
          <p:cNvSpPr txBox="1"/>
          <p:nvPr/>
        </p:nvSpPr>
        <p:spPr>
          <a:xfrm>
            <a:off x="644652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4"/>
          <p:cNvSpPr txBox="1"/>
          <p:nvPr/>
        </p:nvSpPr>
        <p:spPr>
          <a:xfrm>
            <a:off x="644652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Tempo docente</a:t>
            </a:r>
            <a:endParaRPr lang="en-US" sz="1800" dirty="0"/>
          </a:p>
        </p:txBody>
      </p:sp>
      <p:sp>
        <p:nvSpPr>
          <p:cNvPr id="18" name="Text 15"/>
          <p:cNvSpPr txBox="1"/>
          <p:nvPr/>
        </p:nvSpPr>
        <p:spPr>
          <a:xfrm>
            <a:off x="644652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Menos tempo de planejamento em um ensaio, só em 10 semanas.</a:t>
            </a:r>
            <a:endParaRPr lang="en-US" sz="1500" dirty="0"/>
          </a:p>
        </p:txBody>
      </p:sp>
      <p:sp>
        <p:nvSpPr>
          <p:cNvPr id="19" name="Shape 16"/>
          <p:cNvSpPr/>
          <p:nvPr/>
        </p:nvSpPr>
        <p:spPr>
          <a:xfrm>
            <a:off x="905256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20" name="Shape 17"/>
          <p:cNvSpPr/>
          <p:nvPr/>
        </p:nvSpPr>
        <p:spPr>
          <a:xfrm>
            <a:off x="9281160" y="1691640"/>
            <a:ext cx="640080" cy="640080"/>
          </a:xfrm>
          <a:prstGeom prst="ellipse">
            <a:avLst/>
          </a:prstGeom>
          <a:solidFill>
            <a:srgbClr val="2A9D8F"/>
          </a:solidFill>
          <a:ln w="12700">
            <a:solidFill>
              <a:srgbClr val="2A9D8F"/>
            </a:solidFill>
            <a:prstDash val="solid"/>
          </a:ln>
        </p:spPr>
      </p:sp>
      <p:sp>
        <p:nvSpPr>
          <p:cNvPr id="21" name="Text 18"/>
          <p:cNvSpPr txBox="1"/>
          <p:nvPr/>
        </p:nvSpPr>
        <p:spPr>
          <a:xfrm>
            <a:off x="928116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19"/>
          <p:cNvSpPr txBox="1"/>
          <p:nvPr/>
        </p:nvSpPr>
        <p:spPr>
          <a:xfrm>
            <a:off x="928116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Não sabemos</a:t>
            </a:r>
            <a:endParaRPr lang="en-US" sz="1800" dirty="0"/>
          </a:p>
        </p:txBody>
      </p:sp>
      <p:sp>
        <p:nvSpPr>
          <p:cNvPr id="23" name="Text 20"/>
          <p:cNvSpPr txBox="1"/>
          <p:nvPr/>
        </p:nvSpPr>
        <p:spPr>
          <a:xfrm>
            <a:off x="928116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Efeitos de longo prazo em escolas brasileiras.</a:t>
            </a:r>
            <a:endParaRPr lang="en-US" sz="1500" dirty="0"/>
          </a:p>
        </p:txBody>
      </p:sp>
      <p:sp>
        <p:nvSpPr>
          <p:cNvPr id="24" name="Text 21"/>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30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Tempo economizado, tempo reabsorvido</a:t>
            </a:r>
            <a:endParaRPr lang="en-US" sz="3400" dirty="0"/>
          </a:p>
        </p:txBody>
      </p:sp>
      <p:sp>
        <p:nvSpPr>
          <p:cNvPr id="4" name="Shape 1"/>
          <p:cNvSpPr/>
          <p:nvPr/>
        </p:nvSpPr>
        <p:spPr>
          <a:xfrm>
            <a:off x="548640" y="1463040"/>
            <a:ext cx="6675120" cy="2926080"/>
          </a:xfrm>
          <a:prstGeom prst="roundRect">
            <a:avLst>
              <a:gd name="adj" fmla="val 4688"/>
            </a:avLst>
          </a:prstGeom>
          <a:solidFill>
            <a:srgbClr val="F7EFE6"/>
          </a:solidFill>
          <a:ln w="12700">
            <a:solidFill>
              <a:srgbClr val="F7EFE6"/>
            </a:solidFill>
            <a:prstDash val="solid"/>
          </a:ln>
        </p:spPr>
      </p:sp>
      <p:sp>
        <p:nvSpPr>
          <p:cNvPr id="5" name="Text 2"/>
          <p:cNvSpPr txBox="1"/>
          <p:nvPr/>
        </p:nvSpPr>
        <p:spPr>
          <a:xfrm>
            <a:off x="822960" y="1600200"/>
            <a:ext cx="5943600" cy="365760"/>
          </a:xfrm>
          <a:prstGeom prst="rect">
            <a:avLst/>
          </a:prstGeom>
          <a:noFill/>
          <a:ln/>
        </p:spPr>
        <p:txBody>
          <a:bodyPr wrap="square" lIns="0" tIns="0" rIns="0" bIns="0" rtlCol="0" anchor="ctr"/>
          <a:lstStyle/>
          <a:p>
            <a:pPr indent="0" marL="0">
              <a:buNone/>
            </a:pPr>
            <a:r>
              <a:rPr lang="en-US" sz="1300" b="1" spc="300" kern="0" dirty="0">
                <a:solidFill>
                  <a:srgbClr val="D95D7F"/>
                </a:solidFill>
              </a:rPr>
              <a:t>O QUE É</a:t>
            </a:r>
            <a:endParaRPr lang="en-US" sz="1300" dirty="0"/>
          </a:p>
        </p:txBody>
      </p:sp>
      <p:sp>
        <p:nvSpPr>
          <p:cNvPr id="6" name="Text 3"/>
          <p:cNvSpPr txBox="1"/>
          <p:nvPr/>
        </p:nvSpPr>
        <p:spPr>
          <a:xfrm>
            <a:off x="822960" y="2011680"/>
            <a:ext cx="6126480" cy="2286000"/>
          </a:xfrm>
          <a:prstGeom prst="rect">
            <a:avLst/>
          </a:prstGeom>
          <a:noFill/>
          <a:ln/>
        </p:spPr>
        <p:txBody>
          <a:bodyPr wrap="square" lIns="0" tIns="0" rIns="0" bIns="0" rtlCol="0" anchor="t"/>
          <a:lstStyle/>
          <a:p>
            <a:pPr indent="0" marL="0">
              <a:buNone/>
            </a:pPr>
            <a:r>
              <a:rPr lang="en-US" sz="2000" dirty="0">
                <a:solidFill>
                  <a:srgbClr val="3B2A2A"/>
                </a:solidFill>
              </a:rPr>
              <a:t>Uma tarefa mais rápida não implica jornada mais leve: o tempo pode ser reabsorvido por novas demandas e pela verificação.</a:t>
            </a:r>
            <a:endParaRPr lang="en-US" sz="2000" dirty="0"/>
          </a:p>
        </p:txBody>
      </p:sp>
      <p:sp>
        <p:nvSpPr>
          <p:cNvPr id="7" name="Shape 4"/>
          <p:cNvSpPr/>
          <p:nvPr/>
        </p:nvSpPr>
        <p:spPr>
          <a:xfrm>
            <a:off x="7498080" y="1463040"/>
            <a:ext cx="4114800" cy="2926080"/>
          </a:xfrm>
          <a:prstGeom prst="roundRect">
            <a:avLst>
              <a:gd name="adj" fmla="val 4688"/>
            </a:avLst>
          </a:prstGeom>
          <a:solidFill>
            <a:srgbClr val="D95D7F"/>
          </a:solidFill>
          <a:ln w="12700">
            <a:solidFill>
              <a:srgbClr val="D95D7F"/>
            </a:solidFill>
            <a:prstDash val="solid"/>
          </a:ln>
        </p:spPr>
      </p:sp>
      <p:sp>
        <p:nvSpPr>
          <p:cNvPr id="8" name="Text 5"/>
          <p:cNvSpPr txBox="1"/>
          <p:nvPr/>
        </p:nvSpPr>
        <p:spPr>
          <a:xfrm>
            <a:off x="7772400" y="1600200"/>
            <a:ext cx="3657600" cy="365760"/>
          </a:xfrm>
          <a:prstGeom prst="rect">
            <a:avLst/>
          </a:prstGeom>
          <a:noFill/>
          <a:ln/>
        </p:spPr>
        <p:txBody>
          <a:bodyPr wrap="square" lIns="0" tIns="0" rIns="0" bIns="0" rtlCol="0" anchor="ctr"/>
          <a:lstStyle/>
          <a:p>
            <a:pPr indent="0" marL="0">
              <a:buNone/>
            </a:pPr>
            <a:r>
              <a:rPr lang="en-US" sz="1300" b="1" spc="300" kern="0" dirty="0">
                <a:solidFill>
                  <a:srgbClr val="FFFFFF"/>
                </a:solidFill>
              </a:rPr>
              <a:t>É COMO…</a:t>
            </a:r>
            <a:endParaRPr lang="en-US" sz="1300" dirty="0"/>
          </a:p>
        </p:txBody>
      </p:sp>
      <p:sp>
        <p:nvSpPr>
          <p:cNvPr id="9" name="Text 6"/>
          <p:cNvSpPr txBox="1"/>
          <p:nvPr/>
        </p:nvSpPr>
        <p:spPr>
          <a:xfrm>
            <a:off x="7772400" y="2011680"/>
            <a:ext cx="3611880" cy="2286000"/>
          </a:xfrm>
          <a:prstGeom prst="rect">
            <a:avLst/>
          </a:prstGeom>
          <a:noFill/>
          <a:ln/>
        </p:spPr>
        <p:txBody>
          <a:bodyPr wrap="square" lIns="0" tIns="0" rIns="0" bIns="0" rtlCol="0" anchor="t"/>
          <a:lstStyle/>
          <a:p>
            <a:pPr indent="0" marL="0">
              <a:buNone/>
            </a:pPr>
            <a:r>
              <a:rPr lang="en-US" sz="2000" dirty="0">
                <a:solidFill>
                  <a:srgbClr val="FFFFFF"/>
                </a:solidFill>
              </a:rPr>
              <a:t>alargar a avenida: logo aparecem mais carros e o trânsito volta.</a:t>
            </a:r>
            <a:endParaRPr lang="en-US" sz="2000" dirty="0"/>
          </a:p>
        </p:txBody>
      </p:sp>
      <p:sp>
        <p:nvSpPr>
          <p:cNvPr id="10" name="Text 7"/>
          <p:cNvSpPr txBox="1"/>
          <p:nvPr/>
        </p:nvSpPr>
        <p:spPr>
          <a:xfrm>
            <a:off x="548640" y="4754880"/>
            <a:ext cx="11064240" cy="1280160"/>
          </a:xfrm>
          <a:prstGeom prst="rect">
            <a:avLst/>
          </a:prstGeom>
          <a:noFill/>
          <a:ln/>
        </p:spPr>
        <p:txBody>
          <a:bodyPr wrap="square" lIns="0" tIns="0" rIns="0" bIns="0" rtlCol="0" anchor="ctr"/>
          <a:lstStyle/>
          <a:p>
            <a:pPr algn="ctr" indent="0" marL="0">
              <a:buNone/>
            </a:pPr>
            <a:r>
              <a:rPr lang="en-US" sz="2800" b="1" i="1" dirty="0">
                <a:solidFill>
                  <a:srgbClr val="5A2E2A"/>
                </a:solidFill>
                <a:latin typeface="Cambria" pitchFamily="34" charset="0"/>
                <a:ea typeface="Cambria" pitchFamily="34" charset="-122"/>
                <a:cs typeface="Cambria" pitchFamily="34" charset="-120"/>
              </a:rPr>
              <a:t>“Para onde vai o tempo que você economiza?”</a:t>
            </a:r>
            <a:endParaRPr lang="en-US" sz="2800" dirty="0"/>
          </a:p>
        </p:txBody>
      </p:sp>
      <p:sp>
        <p:nvSpPr>
          <p:cNvPr id="11" name="Text 8"/>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30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As ironias da automação</a:t>
            </a:r>
            <a:endParaRPr lang="en-US" sz="3400" dirty="0"/>
          </a:p>
        </p:txBody>
      </p:sp>
      <p:sp>
        <p:nvSpPr>
          <p:cNvPr id="4" name="Shape 1"/>
          <p:cNvSpPr/>
          <p:nvPr/>
        </p:nvSpPr>
        <p:spPr>
          <a:xfrm>
            <a:off x="548640" y="1463040"/>
            <a:ext cx="6675120" cy="2926080"/>
          </a:xfrm>
          <a:prstGeom prst="roundRect">
            <a:avLst>
              <a:gd name="adj" fmla="val 4688"/>
            </a:avLst>
          </a:prstGeom>
          <a:solidFill>
            <a:srgbClr val="F7EFE6"/>
          </a:solidFill>
          <a:ln w="12700">
            <a:solidFill>
              <a:srgbClr val="F7EFE6"/>
            </a:solidFill>
            <a:prstDash val="solid"/>
          </a:ln>
        </p:spPr>
      </p:sp>
      <p:sp>
        <p:nvSpPr>
          <p:cNvPr id="5" name="Text 2"/>
          <p:cNvSpPr txBox="1"/>
          <p:nvPr/>
        </p:nvSpPr>
        <p:spPr>
          <a:xfrm>
            <a:off x="822960" y="1600200"/>
            <a:ext cx="5943600" cy="365760"/>
          </a:xfrm>
          <a:prstGeom prst="rect">
            <a:avLst/>
          </a:prstGeom>
          <a:noFill/>
          <a:ln/>
        </p:spPr>
        <p:txBody>
          <a:bodyPr wrap="square" lIns="0" tIns="0" rIns="0" bIns="0" rtlCol="0" anchor="ctr"/>
          <a:lstStyle/>
          <a:p>
            <a:pPr indent="0" marL="0">
              <a:buNone/>
            </a:pPr>
            <a:r>
              <a:rPr lang="en-US" sz="1300" b="1" spc="300" kern="0" dirty="0">
                <a:solidFill>
                  <a:srgbClr val="D95D7F"/>
                </a:solidFill>
              </a:rPr>
              <a:t>O QUE É</a:t>
            </a:r>
            <a:endParaRPr lang="en-US" sz="1300" dirty="0"/>
          </a:p>
        </p:txBody>
      </p:sp>
      <p:sp>
        <p:nvSpPr>
          <p:cNvPr id="6" name="Text 3"/>
          <p:cNvSpPr txBox="1"/>
          <p:nvPr/>
        </p:nvSpPr>
        <p:spPr>
          <a:xfrm>
            <a:off x="822960" y="2011680"/>
            <a:ext cx="6126480" cy="2286000"/>
          </a:xfrm>
          <a:prstGeom prst="rect">
            <a:avLst/>
          </a:prstGeom>
          <a:noFill/>
          <a:ln/>
        </p:spPr>
        <p:txBody>
          <a:bodyPr wrap="square" lIns="0" tIns="0" rIns="0" bIns="0" rtlCol="0" anchor="t"/>
          <a:lstStyle/>
          <a:p>
            <a:pPr indent="0" marL="0">
              <a:buNone/>
            </a:pPr>
            <a:r>
              <a:rPr lang="en-US" sz="2200" dirty="0">
                <a:solidFill>
                  <a:srgbClr val="3B2A2A"/>
                </a:solidFill>
              </a:rPr>
              <a:t>Quanto mais o sistema faz, menos o humano pratica, e mais difícil é intervir quando ele erra.</a:t>
            </a:r>
            <a:endParaRPr lang="en-US" sz="2200" dirty="0"/>
          </a:p>
        </p:txBody>
      </p:sp>
      <p:sp>
        <p:nvSpPr>
          <p:cNvPr id="7" name="Shape 4"/>
          <p:cNvSpPr/>
          <p:nvPr/>
        </p:nvSpPr>
        <p:spPr>
          <a:xfrm>
            <a:off x="7498080" y="1463040"/>
            <a:ext cx="4114800" cy="2926080"/>
          </a:xfrm>
          <a:prstGeom prst="roundRect">
            <a:avLst>
              <a:gd name="adj" fmla="val 4688"/>
            </a:avLst>
          </a:prstGeom>
          <a:solidFill>
            <a:srgbClr val="D95D7F"/>
          </a:solidFill>
          <a:ln w="12700">
            <a:solidFill>
              <a:srgbClr val="D95D7F"/>
            </a:solidFill>
            <a:prstDash val="solid"/>
          </a:ln>
        </p:spPr>
      </p:sp>
      <p:sp>
        <p:nvSpPr>
          <p:cNvPr id="8" name="Text 5"/>
          <p:cNvSpPr txBox="1"/>
          <p:nvPr/>
        </p:nvSpPr>
        <p:spPr>
          <a:xfrm>
            <a:off x="7772400" y="1600200"/>
            <a:ext cx="3657600" cy="365760"/>
          </a:xfrm>
          <a:prstGeom prst="rect">
            <a:avLst/>
          </a:prstGeom>
          <a:noFill/>
          <a:ln/>
        </p:spPr>
        <p:txBody>
          <a:bodyPr wrap="square" lIns="0" tIns="0" rIns="0" bIns="0" rtlCol="0" anchor="ctr"/>
          <a:lstStyle/>
          <a:p>
            <a:pPr indent="0" marL="0">
              <a:buNone/>
            </a:pPr>
            <a:r>
              <a:rPr lang="en-US" sz="1300" b="1" spc="300" kern="0" dirty="0">
                <a:solidFill>
                  <a:srgbClr val="FFFFFF"/>
                </a:solidFill>
              </a:rPr>
              <a:t>É COMO…</a:t>
            </a:r>
            <a:endParaRPr lang="en-US" sz="1300" dirty="0"/>
          </a:p>
        </p:txBody>
      </p:sp>
      <p:sp>
        <p:nvSpPr>
          <p:cNvPr id="9" name="Text 6"/>
          <p:cNvSpPr txBox="1"/>
          <p:nvPr/>
        </p:nvSpPr>
        <p:spPr>
          <a:xfrm>
            <a:off x="7772400" y="2011680"/>
            <a:ext cx="3611880" cy="2286000"/>
          </a:xfrm>
          <a:prstGeom prst="rect">
            <a:avLst/>
          </a:prstGeom>
          <a:noFill/>
          <a:ln/>
        </p:spPr>
        <p:txBody>
          <a:bodyPr wrap="square" lIns="0" tIns="0" rIns="0" bIns="0" rtlCol="0" anchor="t"/>
          <a:lstStyle/>
          <a:p>
            <a:pPr indent="0" marL="0">
              <a:buNone/>
            </a:pPr>
            <a:r>
              <a:rPr lang="en-US" sz="2000" dirty="0">
                <a:solidFill>
                  <a:srgbClr val="FFFFFF"/>
                </a:solidFill>
              </a:rPr>
              <a:t>o piloto automático: o piloto precisa treinar o voo manual para o dia em que o automático falhar.</a:t>
            </a:r>
            <a:endParaRPr lang="en-US" sz="2000" dirty="0"/>
          </a:p>
        </p:txBody>
      </p:sp>
      <p:sp>
        <p:nvSpPr>
          <p:cNvPr id="10" name="Text 7"/>
          <p:cNvSpPr txBox="1"/>
          <p:nvPr/>
        </p:nvSpPr>
        <p:spPr>
          <a:xfrm>
            <a:off x="548640" y="4754880"/>
            <a:ext cx="11064240" cy="1280160"/>
          </a:xfrm>
          <a:prstGeom prst="rect">
            <a:avLst/>
          </a:prstGeom>
          <a:noFill/>
          <a:ln/>
        </p:spPr>
        <p:txBody>
          <a:bodyPr wrap="square" lIns="0" tIns="0" rIns="0" bIns="0" rtlCol="0" anchor="ctr"/>
          <a:lstStyle/>
          <a:p>
            <a:pPr algn="ctr" indent="0" marL="0">
              <a:buNone/>
            </a:pPr>
            <a:r>
              <a:rPr lang="en-US" sz="2800" b="1" i="1" dirty="0">
                <a:solidFill>
                  <a:srgbClr val="5A2E2A"/>
                </a:solidFill>
                <a:latin typeface="Cambria" pitchFamily="34" charset="0"/>
                <a:ea typeface="Cambria" pitchFamily="34" charset="-122"/>
                <a:cs typeface="Cambria" pitchFamily="34" charset="-120"/>
              </a:rPr>
              <a:t>“Preserve momentos de julgamento por inteiro.”</a:t>
            </a:r>
            <a:endParaRPr lang="en-US" sz="2800" dirty="0"/>
          </a:p>
        </p:txBody>
      </p:sp>
      <p:sp>
        <p:nvSpPr>
          <p:cNvPr id="11" name="Text 8"/>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30</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Tarefas docentes e posturas</a:t>
            </a:r>
            <a:endParaRPr lang="en-US" sz="3400" dirty="0"/>
          </a:p>
        </p:txBody>
      </p:sp>
      <p:pic>
        <p:nvPicPr>
          <p:cNvPr id="4" name="Image 0" descr="Preservar, apoiar com revisão, delegar com cuidado.">    </p:cNvPr>
          <p:cNvPicPr>
            <a:picLocks noChangeAspect="1"/>
          </p:cNvPicPr>
          <p:nvPr/>
        </p:nvPicPr>
        <p:blipFill>
          <a:blip r:embed="rId1"/>
          <a:stretch>
            <a:fillRect/>
          </a:stretch>
        </p:blipFill>
        <p:spPr>
          <a:xfrm>
            <a:off x="548640" y="1325880"/>
            <a:ext cx="11064240" cy="4414480"/>
          </a:xfrm>
          <a:prstGeom prst="rect">
            <a:avLst/>
          </a:prstGeom>
        </p:spPr>
      </p:pic>
      <p:sp>
        <p:nvSpPr>
          <p:cNvPr id="5" name="Text 1"/>
          <p:cNvSpPr txBox="1"/>
          <p:nvPr/>
        </p:nvSpPr>
        <p:spPr>
          <a:xfrm>
            <a:off x="548640" y="5852160"/>
            <a:ext cx="11064240" cy="548640"/>
          </a:xfrm>
          <a:prstGeom prst="rect">
            <a:avLst/>
          </a:prstGeom>
          <a:noFill/>
          <a:ln/>
        </p:spPr>
        <p:txBody>
          <a:bodyPr wrap="square" lIns="0" tIns="0" rIns="0" bIns="0" rtlCol="0" anchor="ctr"/>
          <a:lstStyle/>
          <a:p>
            <a:pPr algn="ctr" indent="0" marL="0">
              <a:buNone/>
            </a:pPr>
            <a:r>
              <a:rPr lang="en-US" sz="1400" i="1" dirty="0">
                <a:solidFill>
                  <a:srgbClr val="6B5F59"/>
                </a:solidFill>
              </a:rPr>
              <a:t>Preservar, apoiar com revisão, delegar com cuidado.</a:t>
            </a:r>
            <a:endParaRPr lang="en-US" sz="1400" dirty="0"/>
          </a:p>
        </p:txBody>
      </p:sp>
      <p:sp>
        <p:nvSpPr>
          <p:cNvPr id="6" name="Text 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30</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O direito de não usar, com condições</a:t>
            </a:r>
            <a:endParaRPr lang="en-US" sz="3400" dirty="0"/>
          </a:p>
        </p:txBody>
      </p:sp>
      <p:sp>
        <p:nvSpPr>
          <p:cNvPr id="4" name="Shape 1"/>
          <p:cNvSpPr/>
          <p:nvPr/>
        </p:nvSpPr>
        <p:spPr>
          <a:xfrm>
            <a:off x="54864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777240" y="1691640"/>
            <a:ext cx="640080" cy="640080"/>
          </a:xfrm>
          <a:prstGeom prst="ellipse">
            <a:avLst/>
          </a:prstGeom>
          <a:solidFill>
            <a:srgbClr val="6D3B6E"/>
          </a:solidFill>
          <a:ln w="12700">
            <a:solidFill>
              <a:srgbClr val="6D3B6E"/>
            </a:solidFill>
            <a:prstDash val="solid"/>
          </a:ln>
        </p:spPr>
      </p:sp>
      <p:sp>
        <p:nvSpPr>
          <p:cNvPr id="6" name="Text 3"/>
          <p:cNvSpPr txBox="1"/>
          <p:nvPr/>
        </p:nvSpPr>
        <p:spPr>
          <a:xfrm>
            <a:off x="77724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4"/>
          <p:cNvSpPr txBox="1"/>
          <p:nvPr/>
        </p:nvSpPr>
        <p:spPr>
          <a:xfrm>
            <a:off x="77724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Sem penalidade</a:t>
            </a:r>
            <a:endParaRPr lang="en-US" sz="1800" dirty="0"/>
          </a:p>
        </p:txBody>
      </p:sp>
      <p:sp>
        <p:nvSpPr>
          <p:cNvPr id="8" name="Text 5"/>
          <p:cNvSpPr txBox="1"/>
          <p:nvPr/>
        </p:nvSpPr>
        <p:spPr>
          <a:xfrm>
            <a:off x="77724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Nenhum constrangimento por decidir não usar.</a:t>
            </a:r>
            <a:endParaRPr lang="en-US" sz="1500" dirty="0"/>
          </a:p>
        </p:txBody>
      </p:sp>
      <p:sp>
        <p:nvSpPr>
          <p:cNvPr id="9" name="Shape 6"/>
          <p:cNvSpPr/>
          <p:nvPr/>
        </p:nvSpPr>
        <p:spPr>
          <a:xfrm>
            <a:off x="338328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10" name="Shape 7"/>
          <p:cNvSpPr/>
          <p:nvPr/>
        </p:nvSpPr>
        <p:spPr>
          <a:xfrm>
            <a:off x="3611880" y="1691640"/>
            <a:ext cx="640080" cy="640080"/>
          </a:xfrm>
          <a:prstGeom prst="ellipse">
            <a:avLst/>
          </a:prstGeom>
          <a:solidFill>
            <a:srgbClr val="3D7EA6"/>
          </a:solidFill>
          <a:ln w="12700">
            <a:solidFill>
              <a:srgbClr val="3D7EA6"/>
            </a:solidFill>
            <a:prstDash val="solid"/>
          </a:ln>
        </p:spPr>
      </p:sp>
      <p:sp>
        <p:nvSpPr>
          <p:cNvPr id="11" name="Text 8"/>
          <p:cNvSpPr txBox="1"/>
          <p:nvPr/>
        </p:nvSpPr>
        <p:spPr>
          <a:xfrm>
            <a:off x="361188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9"/>
          <p:cNvSpPr txBox="1"/>
          <p:nvPr/>
        </p:nvSpPr>
        <p:spPr>
          <a:xfrm>
            <a:off x="361188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Alternativas viáveis</a:t>
            </a:r>
            <a:endParaRPr lang="en-US" sz="1800" dirty="0"/>
          </a:p>
        </p:txBody>
      </p:sp>
      <p:sp>
        <p:nvSpPr>
          <p:cNvPr id="13" name="Text 10"/>
          <p:cNvSpPr txBox="1"/>
          <p:nvPr/>
        </p:nvSpPr>
        <p:spPr>
          <a:xfrm>
            <a:off x="361188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Meios de trabalhar sem a ferramenta.</a:t>
            </a:r>
            <a:endParaRPr lang="en-US" sz="1500" dirty="0"/>
          </a:p>
        </p:txBody>
      </p:sp>
      <p:sp>
        <p:nvSpPr>
          <p:cNvPr id="14" name="Shape 11"/>
          <p:cNvSpPr/>
          <p:nvPr/>
        </p:nvSpPr>
        <p:spPr>
          <a:xfrm>
            <a:off x="621792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15" name="Shape 12"/>
          <p:cNvSpPr/>
          <p:nvPr/>
        </p:nvSpPr>
        <p:spPr>
          <a:xfrm>
            <a:off x="6446520" y="1691640"/>
            <a:ext cx="640080" cy="640080"/>
          </a:xfrm>
          <a:prstGeom prst="ellipse">
            <a:avLst/>
          </a:prstGeom>
          <a:solidFill>
            <a:srgbClr val="D95D7F"/>
          </a:solidFill>
          <a:ln w="12700">
            <a:solidFill>
              <a:srgbClr val="D95D7F"/>
            </a:solidFill>
            <a:prstDash val="solid"/>
          </a:ln>
        </p:spPr>
      </p:sp>
      <p:sp>
        <p:nvSpPr>
          <p:cNvPr id="16" name="Text 13"/>
          <p:cNvSpPr txBox="1"/>
          <p:nvPr/>
        </p:nvSpPr>
        <p:spPr>
          <a:xfrm>
            <a:off x="644652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4"/>
          <p:cNvSpPr txBox="1"/>
          <p:nvPr/>
        </p:nvSpPr>
        <p:spPr>
          <a:xfrm>
            <a:off x="644652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Informação clara</a:t>
            </a:r>
            <a:endParaRPr lang="en-US" sz="1800" dirty="0"/>
          </a:p>
        </p:txBody>
      </p:sp>
      <p:sp>
        <p:nvSpPr>
          <p:cNvPr id="18" name="Text 15"/>
          <p:cNvSpPr txBox="1"/>
          <p:nvPr/>
        </p:nvSpPr>
        <p:spPr>
          <a:xfrm>
            <a:off x="644652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Saber o que a escola espera.</a:t>
            </a:r>
            <a:endParaRPr lang="en-US" sz="1500" dirty="0"/>
          </a:p>
        </p:txBody>
      </p:sp>
      <p:sp>
        <p:nvSpPr>
          <p:cNvPr id="19" name="Shape 16"/>
          <p:cNvSpPr/>
          <p:nvPr/>
        </p:nvSpPr>
        <p:spPr>
          <a:xfrm>
            <a:off x="905256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20" name="Shape 17"/>
          <p:cNvSpPr/>
          <p:nvPr/>
        </p:nvSpPr>
        <p:spPr>
          <a:xfrm>
            <a:off x="9281160" y="1691640"/>
            <a:ext cx="640080" cy="640080"/>
          </a:xfrm>
          <a:prstGeom prst="ellipse">
            <a:avLst/>
          </a:prstGeom>
          <a:solidFill>
            <a:srgbClr val="2A9D8F"/>
          </a:solidFill>
          <a:ln w="12700">
            <a:solidFill>
              <a:srgbClr val="2A9D8F"/>
            </a:solidFill>
            <a:prstDash val="solid"/>
          </a:ln>
        </p:spPr>
      </p:sp>
      <p:sp>
        <p:nvSpPr>
          <p:cNvPr id="21" name="Text 18"/>
          <p:cNvSpPr txBox="1"/>
          <p:nvPr/>
        </p:nvSpPr>
        <p:spPr>
          <a:xfrm>
            <a:off x="928116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19"/>
          <p:cNvSpPr txBox="1"/>
          <p:nvPr/>
        </p:nvSpPr>
        <p:spPr>
          <a:xfrm>
            <a:off x="928116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Sem avaliação por uso</a:t>
            </a:r>
            <a:endParaRPr lang="en-US" sz="1800" dirty="0"/>
          </a:p>
        </p:txBody>
      </p:sp>
      <p:sp>
        <p:nvSpPr>
          <p:cNvPr id="23" name="Text 20"/>
          <p:cNvSpPr txBox="1"/>
          <p:nvPr/>
        </p:nvSpPr>
        <p:spPr>
          <a:xfrm>
            <a:off x="928116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Métricas de uso não viram critério funcional.</a:t>
            </a:r>
            <a:endParaRPr lang="en-US" sz="1500" dirty="0"/>
          </a:p>
        </p:txBody>
      </p:sp>
      <p:sp>
        <p:nvSpPr>
          <p:cNvPr id="24" name="Text 21"/>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30</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Como construir uma política</a:t>
            </a:r>
            <a:endParaRPr lang="en-US" sz="3400" dirty="0"/>
          </a:p>
        </p:txBody>
      </p:sp>
      <p:pic>
        <p:nvPicPr>
          <p:cNvPr id="4" name="Image 0" descr="Escutar, mapear, redigir, testar, formar, revisar.">    </p:cNvPr>
          <p:cNvPicPr>
            <a:picLocks noChangeAspect="1"/>
          </p:cNvPicPr>
          <p:nvPr/>
        </p:nvPicPr>
        <p:blipFill>
          <a:blip r:embed="rId1"/>
          <a:stretch>
            <a:fillRect/>
          </a:stretch>
        </p:blipFill>
        <p:spPr>
          <a:xfrm>
            <a:off x="3945295" y="1325880"/>
            <a:ext cx="4270930" cy="4434840"/>
          </a:xfrm>
          <a:prstGeom prst="rect">
            <a:avLst/>
          </a:prstGeom>
        </p:spPr>
      </p:pic>
      <p:sp>
        <p:nvSpPr>
          <p:cNvPr id="5" name="Text 1"/>
          <p:cNvSpPr txBox="1"/>
          <p:nvPr/>
        </p:nvSpPr>
        <p:spPr>
          <a:xfrm>
            <a:off x="548640" y="5852160"/>
            <a:ext cx="11064240" cy="548640"/>
          </a:xfrm>
          <a:prstGeom prst="rect">
            <a:avLst/>
          </a:prstGeom>
          <a:noFill/>
          <a:ln/>
        </p:spPr>
        <p:txBody>
          <a:bodyPr wrap="square" lIns="0" tIns="0" rIns="0" bIns="0" rtlCol="0" anchor="ctr"/>
          <a:lstStyle/>
          <a:p>
            <a:pPr algn="ctr" indent="0" marL="0">
              <a:buNone/>
            </a:pPr>
            <a:r>
              <a:rPr lang="en-US" sz="1400" i="1" dirty="0">
                <a:solidFill>
                  <a:srgbClr val="6B5F59"/>
                </a:solidFill>
              </a:rPr>
              <a:t>Escutar, mapear, redigir, testar, formar, revisar.</a:t>
            </a:r>
            <a:endParaRPr lang="en-US" sz="1400" dirty="0"/>
          </a:p>
        </p:txBody>
      </p:sp>
      <p:sp>
        <p:nvSpPr>
          <p:cNvPr id="6" name="Text 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30</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O que uma política precisa ter</a:t>
            </a:r>
            <a:endParaRPr lang="en-US" sz="3400" dirty="0"/>
          </a:p>
        </p:txBody>
      </p:sp>
      <p:sp>
        <p:nvSpPr>
          <p:cNvPr id="4" name="Shape 1"/>
          <p:cNvSpPr/>
          <p:nvPr/>
        </p:nvSpPr>
        <p:spPr>
          <a:xfrm>
            <a:off x="54864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777240" y="1691640"/>
            <a:ext cx="640080" cy="640080"/>
          </a:xfrm>
          <a:prstGeom prst="ellipse">
            <a:avLst/>
          </a:prstGeom>
          <a:solidFill>
            <a:srgbClr val="6D3B6E"/>
          </a:solidFill>
          <a:ln w="12700">
            <a:solidFill>
              <a:srgbClr val="6D3B6E"/>
            </a:solidFill>
            <a:prstDash val="solid"/>
          </a:ln>
        </p:spPr>
      </p:sp>
      <p:sp>
        <p:nvSpPr>
          <p:cNvPr id="6" name="Text 3"/>
          <p:cNvSpPr txBox="1"/>
          <p:nvPr/>
        </p:nvSpPr>
        <p:spPr>
          <a:xfrm>
            <a:off x="77724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4"/>
          <p:cNvSpPr txBox="1"/>
          <p:nvPr/>
        </p:nvSpPr>
        <p:spPr>
          <a:xfrm>
            <a:off x="77724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Princípios e usos</a:t>
            </a:r>
            <a:endParaRPr lang="en-US" sz="1800" dirty="0"/>
          </a:p>
        </p:txBody>
      </p:sp>
      <p:sp>
        <p:nvSpPr>
          <p:cNvPr id="8" name="Text 5"/>
          <p:cNvSpPr txBox="1"/>
          <p:nvPr/>
        </p:nvSpPr>
        <p:spPr>
          <a:xfrm>
            <a:off x="77724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Para que aceita IA; usos permitidos, condicionados e vedados.</a:t>
            </a:r>
            <a:endParaRPr lang="en-US" sz="1500" dirty="0"/>
          </a:p>
        </p:txBody>
      </p:sp>
      <p:sp>
        <p:nvSpPr>
          <p:cNvPr id="9" name="Shape 6"/>
          <p:cNvSpPr/>
          <p:nvPr/>
        </p:nvSpPr>
        <p:spPr>
          <a:xfrm>
            <a:off x="338328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10" name="Shape 7"/>
          <p:cNvSpPr/>
          <p:nvPr/>
        </p:nvSpPr>
        <p:spPr>
          <a:xfrm>
            <a:off x="3611880" y="1691640"/>
            <a:ext cx="640080" cy="640080"/>
          </a:xfrm>
          <a:prstGeom prst="ellipse">
            <a:avLst/>
          </a:prstGeom>
          <a:solidFill>
            <a:srgbClr val="3D7EA6"/>
          </a:solidFill>
          <a:ln w="12700">
            <a:solidFill>
              <a:srgbClr val="3D7EA6"/>
            </a:solidFill>
            <a:prstDash val="solid"/>
          </a:ln>
        </p:spPr>
      </p:sp>
      <p:sp>
        <p:nvSpPr>
          <p:cNvPr id="11" name="Text 8"/>
          <p:cNvSpPr txBox="1"/>
          <p:nvPr/>
        </p:nvSpPr>
        <p:spPr>
          <a:xfrm>
            <a:off x="361188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9"/>
          <p:cNvSpPr txBox="1"/>
          <p:nvPr/>
        </p:nvSpPr>
        <p:spPr>
          <a:xfrm>
            <a:off x="361188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Dados e integridade</a:t>
            </a:r>
            <a:endParaRPr lang="en-US" sz="1800" dirty="0"/>
          </a:p>
        </p:txBody>
      </p:sp>
      <p:sp>
        <p:nvSpPr>
          <p:cNvPr id="13" name="Text 10"/>
          <p:cNvSpPr txBox="1"/>
          <p:nvPr/>
        </p:nvSpPr>
        <p:spPr>
          <a:xfrm>
            <a:off x="361188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O que nunca se insere; declaração; detector não é prova.</a:t>
            </a:r>
            <a:endParaRPr lang="en-US" sz="1500" dirty="0"/>
          </a:p>
        </p:txBody>
      </p:sp>
      <p:sp>
        <p:nvSpPr>
          <p:cNvPr id="14" name="Shape 11"/>
          <p:cNvSpPr/>
          <p:nvPr/>
        </p:nvSpPr>
        <p:spPr>
          <a:xfrm>
            <a:off x="621792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15" name="Shape 12"/>
          <p:cNvSpPr/>
          <p:nvPr/>
        </p:nvSpPr>
        <p:spPr>
          <a:xfrm>
            <a:off x="6446520" y="1691640"/>
            <a:ext cx="640080" cy="640080"/>
          </a:xfrm>
          <a:prstGeom prst="ellipse">
            <a:avLst/>
          </a:prstGeom>
          <a:solidFill>
            <a:srgbClr val="D95D7F"/>
          </a:solidFill>
          <a:ln w="12700">
            <a:solidFill>
              <a:srgbClr val="D95D7F"/>
            </a:solidFill>
            <a:prstDash val="solid"/>
          </a:ln>
        </p:spPr>
      </p:sp>
      <p:sp>
        <p:nvSpPr>
          <p:cNvPr id="16" name="Text 13"/>
          <p:cNvSpPr txBox="1"/>
          <p:nvPr/>
        </p:nvSpPr>
        <p:spPr>
          <a:xfrm>
            <a:off x="644652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4"/>
          <p:cNvSpPr txBox="1"/>
          <p:nvPr/>
        </p:nvSpPr>
        <p:spPr>
          <a:xfrm>
            <a:off x="644652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Formação e direitos</a:t>
            </a:r>
            <a:endParaRPr lang="en-US" sz="1800" dirty="0"/>
          </a:p>
        </p:txBody>
      </p:sp>
      <p:sp>
        <p:nvSpPr>
          <p:cNvPr id="18" name="Text 15"/>
          <p:cNvSpPr txBox="1"/>
          <p:nvPr/>
        </p:nvSpPr>
        <p:spPr>
          <a:xfrm>
            <a:off x="644652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Tempo para aprender; direito de não usar; sem retaliação.</a:t>
            </a:r>
            <a:endParaRPr lang="en-US" sz="1500" dirty="0"/>
          </a:p>
        </p:txBody>
      </p:sp>
      <p:sp>
        <p:nvSpPr>
          <p:cNvPr id="19" name="Shape 16"/>
          <p:cNvSpPr/>
          <p:nvPr/>
        </p:nvSpPr>
        <p:spPr>
          <a:xfrm>
            <a:off x="9052560" y="1463040"/>
            <a:ext cx="2560320" cy="4480560"/>
          </a:xfrm>
          <a:prstGeom prst="roundRect">
            <a:avLst>
              <a:gd name="adj" fmla="val 5357"/>
            </a:avLst>
          </a:prstGeom>
          <a:solidFill>
            <a:srgbClr val="F7EFE6"/>
          </a:solidFill>
          <a:ln w="12700">
            <a:solidFill>
              <a:srgbClr val="F7EFE6"/>
            </a:solidFill>
            <a:prstDash val="solid"/>
          </a:ln>
          <a:effectLst>
            <a:outerShdw sx="100000" sy="100000" kx="0" ky="0" algn="bl" rotWithShape="0" blurRad="76200" dist="25400" dir="5400000">
              <a:srgbClr val="000000">
                <a:alpha val="12000"/>
              </a:srgbClr>
            </a:outerShdw>
          </a:effectLst>
        </p:spPr>
      </p:sp>
      <p:sp>
        <p:nvSpPr>
          <p:cNvPr id="20" name="Shape 17"/>
          <p:cNvSpPr/>
          <p:nvPr/>
        </p:nvSpPr>
        <p:spPr>
          <a:xfrm>
            <a:off x="9281160" y="1691640"/>
            <a:ext cx="640080" cy="640080"/>
          </a:xfrm>
          <a:prstGeom prst="ellipse">
            <a:avLst/>
          </a:prstGeom>
          <a:solidFill>
            <a:srgbClr val="2A9D8F"/>
          </a:solidFill>
          <a:ln w="12700">
            <a:solidFill>
              <a:srgbClr val="2A9D8F"/>
            </a:solidFill>
            <a:prstDash val="solid"/>
          </a:ln>
        </p:spPr>
      </p:sp>
      <p:sp>
        <p:nvSpPr>
          <p:cNvPr id="21" name="Text 18"/>
          <p:cNvSpPr txBox="1"/>
          <p:nvPr/>
        </p:nvSpPr>
        <p:spPr>
          <a:xfrm>
            <a:off x="9281160" y="16916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19"/>
          <p:cNvSpPr txBox="1"/>
          <p:nvPr/>
        </p:nvSpPr>
        <p:spPr>
          <a:xfrm>
            <a:off x="9281160" y="2468880"/>
            <a:ext cx="2103120" cy="822960"/>
          </a:xfrm>
          <a:prstGeom prst="rect">
            <a:avLst/>
          </a:prstGeom>
          <a:noFill/>
          <a:ln/>
        </p:spPr>
        <p:txBody>
          <a:bodyPr wrap="square" lIns="0" tIns="0" rIns="0" bIns="0" rtlCol="0" anchor="t"/>
          <a:lstStyle/>
          <a:p>
            <a:pPr indent="0" marL="0">
              <a:buNone/>
            </a:pPr>
            <a:r>
              <a:rPr lang="en-US" sz="1800" b="1" dirty="0">
                <a:solidFill>
                  <a:srgbClr val="5A2E2A"/>
                </a:solidFill>
                <a:latin typeface="Cambria" pitchFamily="34" charset="0"/>
                <a:ea typeface="Cambria" pitchFamily="34" charset="-122"/>
                <a:cs typeface="Cambria" pitchFamily="34" charset="-120"/>
              </a:rPr>
              <a:t>Governança</a:t>
            </a:r>
            <a:endParaRPr lang="en-US" sz="1800" dirty="0"/>
          </a:p>
        </p:txBody>
      </p:sp>
      <p:sp>
        <p:nvSpPr>
          <p:cNvPr id="23" name="Text 20"/>
          <p:cNvSpPr txBox="1"/>
          <p:nvPr/>
        </p:nvSpPr>
        <p:spPr>
          <a:xfrm>
            <a:off x="9281160" y="3337560"/>
            <a:ext cx="2103120" cy="2468880"/>
          </a:xfrm>
          <a:prstGeom prst="rect">
            <a:avLst/>
          </a:prstGeom>
          <a:noFill/>
          <a:ln/>
        </p:spPr>
        <p:txBody>
          <a:bodyPr wrap="square" lIns="0" tIns="0" rIns="0" bIns="0" rtlCol="0" anchor="t"/>
          <a:lstStyle/>
          <a:p>
            <a:pPr indent="0" marL="0">
              <a:buNone/>
            </a:pPr>
            <a:r>
              <a:rPr lang="en-US" sz="1500" dirty="0">
                <a:solidFill>
                  <a:srgbClr val="3B2A2A"/>
                </a:solidFill>
              </a:rPr>
              <a:t>Quem acompanha e quando revisa, com participação de todos.</a:t>
            </a:r>
            <a:endParaRPr lang="en-US" sz="1500" dirty="0"/>
          </a:p>
        </p:txBody>
      </p:sp>
      <p:sp>
        <p:nvSpPr>
          <p:cNvPr id="24" name="Text 21"/>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30</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Síntese: da escolha individual à coletiva</a:t>
            </a:r>
            <a:endParaRPr lang="en-US" sz="3400" dirty="0"/>
          </a:p>
        </p:txBody>
      </p:sp>
      <p:pic>
        <p:nvPicPr>
          <p:cNvPr id="4" name="Image 0" descr="Docente, coletivo e instituição, com escuta nos dois sentidos.">    </p:cNvPr>
          <p:cNvPicPr>
            <a:picLocks noChangeAspect="1"/>
          </p:cNvPicPr>
          <p:nvPr/>
        </p:nvPicPr>
        <p:blipFill>
          <a:blip r:embed="rId1"/>
          <a:stretch>
            <a:fillRect/>
          </a:stretch>
        </p:blipFill>
        <p:spPr>
          <a:xfrm>
            <a:off x="1951771" y="1325880"/>
            <a:ext cx="8257978" cy="4434840"/>
          </a:xfrm>
          <a:prstGeom prst="rect">
            <a:avLst/>
          </a:prstGeom>
        </p:spPr>
      </p:pic>
      <p:sp>
        <p:nvSpPr>
          <p:cNvPr id="5" name="Text 1"/>
          <p:cNvSpPr txBox="1"/>
          <p:nvPr/>
        </p:nvSpPr>
        <p:spPr>
          <a:xfrm>
            <a:off x="548640" y="5852160"/>
            <a:ext cx="11064240" cy="548640"/>
          </a:xfrm>
          <a:prstGeom prst="rect">
            <a:avLst/>
          </a:prstGeom>
          <a:noFill/>
          <a:ln/>
        </p:spPr>
        <p:txBody>
          <a:bodyPr wrap="square" lIns="0" tIns="0" rIns="0" bIns="0" rtlCol="0" anchor="ctr"/>
          <a:lstStyle/>
          <a:p>
            <a:pPr algn="ctr" indent="0" marL="0">
              <a:buNone/>
            </a:pPr>
            <a:r>
              <a:rPr lang="en-US" sz="1400" i="1" dirty="0">
                <a:solidFill>
                  <a:srgbClr val="6B5F59"/>
                </a:solidFill>
              </a:rPr>
              <a:t>Docente, coletivo e instituição, com escuta nos dois sentidos.</a:t>
            </a:r>
            <a:endParaRPr lang="en-US" sz="1400" dirty="0"/>
          </a:p>
        </p:txBody>
      </p:sp>
      <p:sp>
        <p:nvSpPr>
          <p:cNvPr id="6" name="Text 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30</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5A2E2A"/>
        </a:solidFill>
      </p:bgPr>
    </p:bg>
    <p:spTree>
      <p:nvGrpSpPr>
        <p:cNvPr id="1" name=""/>
        <p:cNvGrpSpPr/>
        <p:nvPr/>
      </p:nvGrpSpPr>
      <p:grpSpPr>
        <a:xfrm>
          <a:off x="0" y="0"/>
          <a:ext cx="0" cy="0"/>
          <a:chOff x="0" y="0"/>
          <a:chExt cx="0" cy="0"/>
        </a:xfrm>
      </p:grpSpPr>
      <p:sp>
        <p:nvSpPr>
          <p:cNvPr id="3" name="Text 0"/>
          <p:cNvSpPr txBox="1"/>
          <p:nvPr/>
        </p:nvSpPr>
        <p:spPr>
          <a:xfrm>
            <a:off x="914400" y="1188720"/>
            <a:ext cx="10332720" cy="3840480"/>
          </a:xfrm>
          <a:prstGeom prst="rect">
            <a:avLst/>
          </a:prstGeom>
          <a:noFill/>
          <a:ln/>
        </p:spPr>
        <p:txBody>
          <a:bodyPr wrap="square" lIns="0" tIns="0" rIns="0" bIns="0" rtlCol="0" anchor="ctr"/>
          <a:lstStyle/>
          <a:p>
            <a:pPr algn="ctr" indent="0" marL="0">
              <a:buNone/>
            </a:pPr>
            <a:r>
              <a:rPr lang="en-US" sz="4000" b="1" i="1" dirty="0">
                <a:solidFill>
                  <a:srgbClr val="FFFFFF"/>
                </a:solidFill>
                <a:latin typeface="Cambria" pitchFamily="34" charset="0"/>
                <a:ea typeface="Cambria" pitchFamily="34" charset="-122"/>
                <a:cs typeface="Cambria" pitchFamily="34" charset="-120"/>
              </a:rPr>
              <a:t>“Poucas regras, conhecidas e aplicadas, valem mais que muitas esquecidas.”</a:t>
            </a:r>
            <a:endParaRPr lang="en-US" sz="4000" dirty="0"/>
          </a:p>
        </p:txBody>
      </p:sp>
      <p:sp>
        <p:nvSpPr>
          <p:cNvPr id="4" name="Text 1"/>
          <p:cNvSpPr txBox="1"/>
          <p:nvPr/>
        </p:nvSpPr>
        <p:spPr>
          <a:xfrm>
            <a:off x="914400" y="5212080"/>
            <a:ext cx="10332720" cy="822960"/>
          </a:xfrm>
          <a:prstGeom prst="rect">
            <a:avLst/>
          </a:prstGeom>
          <a:noFill/>
          <a:ln/>
        </p:spPr>
        <p:txBody>
          <a:bodyPr wrap="square" lIns="0" tIns="0" rIns="0" bIns="0" rtlCol="0" anchor="ctr"/>
          <a:lstStyle/>
          <a:p>
            <a:pPr algn="ctr" indent="0" marL="0">
              <a:buNone/>
            </a:pPr>
            <a:r>
              <a:rPr lang="en-US" sz="1800" dirty="0">
                <a:solidFill>
                  <a:srgbClr val="F4B860"/>
                </a:solidFill>
              </a:rPr>
              <a:t>Política boa é curta e construída com quem ensina.</a:t>
            </a:r>
            <a:endParaRPr lang="en-US" sz="1800" dirty="0"/>
          </a:p>
        </p:txBody>
      </p:sp>
      <p:sp>
        <p:nvSpPr>
          <p:cNvPr id="5" name="Text 2"/>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E9D9C8"/>
                </a:solidFill>
                <a:latin typeface="Calibri" pitchFamily="34" charset="0"/>
                <a:ea typeface="Calibri" pitchFamily="34" charset="-122"/>
                <a:cs typeface="Calibri" pitchFamily="34" charset="-120"/>
              </a:rPr>
              <a:t>IA aplicada à Educação · Cap. 30</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Atividade: diário de uso e auditoria pessoal</a:t>
            </a:r>
            <a:endParaRPr lang="en-US" sz="3400" dirty="0"/>
          </a:p>
        </p:txBody>
      </p:sp>
      <p:sp>
        <p:nvSpPr>
          <p:cNvPr id="4" name="Shape 1"/>
          <p:cNvSpPr/>
          <p:nvPr/>
        </p:nvSpPr>
        <p:spPr>
          <a:xfrm>
            <a:off x="548640" y="1417320"/>
            <a:ext cx="6949440" cy="4663440"/>
          </a:xfrm>
          <a:prstGeom prst="roundRect">
            <a:avLst>
              <a:gd name="adj" fmla="val 2941"/>
            </a:avLst>
          </a:prstGeom>
          <a:solidFill>
            <a:srgbClr val="F7EFE6"/>
          </a:solidFill>
          <a:ln w="12700">
            <a:solidFill>
              <a:srgbClr val="F7EFE6"/>
            </a:solidFill>
            <a:prstDash val="solid"/>
          </a:ln>
        </p:spPr>
      </p:sp>
      <p:sp>
        <p:nvSpPr>
          <p:cNvPr id="5" name="Text 2"/>
          <p:cNvSpPr txBox="1"/>
          <p:nvPr/>
        </p:nvSpPr>
        <p:spPr>
          <a:xfrm>
            <a:off x="822960" y="1554480"/>
            <a:ext cx="5486400" cy="365760"/>
          </a:xfrm>
          <a:prstGeom prst="rect">
            <a:avLst/>
          </a:prstGeom>
          <a:noFill/>
          <a:ln/>
        </p:spPr>
        <p:txBody>
          <a:bodyPr wrap="square" lIns="0" tIns="0" rIns="0" bIns="0" rtlCol="0" anchor="ctr"/>
          <a:lstStyle/>
          <a:p>
            <a:pPr indent="0" marL="0">
              <a:buNone/>
            </a:pPr>
            <a:r>
              <a:rPr lang="en-US" sz="1300" b="1" spc="300" kern="0" dirty="0">
                <a:solidFill>
                  <a:srgbClr val="D95D7F"/>
                </a:solidFill>
              </a:rPr>
              <a:t>PASSO A PASSO</a:t>
            </a:r>
            <a:endParaRPr lang="en-US" sz="1300" dirty="0"/>
          </a:p>
        </p:txBody>
      </p:sp>
      <p:sp>
        <p:nvSpPr>
          <p:cNvPr id="6" name="Text 3"/>
          <p:cNvSpPr txBox="1"/>
          <p:nvPr/>
        </p:nvSpPr>
        <p:spPr>
          <a:xfrm>
            <a:off x="822960" y="1965960"/>
            <a:ext cx="6400800" cy="402336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600" dirty="0">
                <a:solidFill>
                  <a:srgbClr val="3B2A2A"/>
                </a:solidFill>
              </a:rPr>
              <a:t>Semana 1: registrar usos sem mudar nada</a:t>
            </a:r>
            <a:endParaRPr lang="en-US" sz="1600" dirty="0"/>
          </a:p>
          <a:p>
            <a:pPr marL="342900" indent="-342900">
              <a:spcAft>
                <a:spcPts val="600"/>
              </a:spcAft>
              <a:buSzPct val="100000"/>
              <a:buFont typeface="+mj-lt"/>
              <a:buAutoNum type="arabicPeriod" startAt="1"/>
            </a:pPr>
            <a:r>
              <a:rPr lang="en-US" sz="1600" dirty="0">
                <a:solidFill>
                  <a:srgbClr val="3B2A2A"/>
                </a:solidFill>
              </a:rPr>
              <a:t>Anotar rascunho próprio, verificação e sensação</a:t>
            </a:r>
            <a:endParaRPr lang="en-US" sz="1600" dirty="0"/>
          </a:p>
          <a:p>
            <a:pPr marL="342900" indent="-342900">
              <a:spcAft>
                <a:spcPts val="600"/>
              </a:spcAft>
              <a:buSzPct val="100000"/>
              <a:buFont typeface="+mj-lt"/>
              <a:buAutoNum type="arabicPeriod" startAt="1"/>
            </a:pPr>
            <a:r>
              <a:rPr lang="en-US" sz="1600" dirty="0">
                <a:solidFill>
                  <a:srgbClr val="3B2A2A"/>
                </a:solidFill>
              </a:rPr>
              <a:t>Semana 2: começar sempre por esboço próprio</a:t>
            </a:r>
            <a:endParaRPr lang="en-US" sz="1600" dirty="0"/>
          </a:p>
          <a:p>
            <a:pPr marL="342900" indent="-342900">
              <a:spcAft>
                <a:spcPts val="600"/>
              </a:spcAft>
              <a:buSzPct val="100000"/>
              <a:buFont typeface="+mj-lt"/>
              <a:buAutoNum type="arabicPeriod" startAt="1"/>
            </a:pPr>
            <a:r>
              <a:rPr lang="en-US" sz="1600" dirty="0">
                <a:solidFill>
                  <a:srgbClr val="3B2A2A"/>
                </a:solidFill>
              </a:rPr>
              <a:t>Semana 3: três tarefas habituais sem IA</a:t>
            </a:r>
            <a:endParaRPr lang="en-US" sz="1600" dirty="0"/>
          </a:p>
          <a:p>
            <a:pPr marL="342900" indent="-342900">
              <a:spcAft>
                <a:spcPts val="600"/>
              </a:spcAft>
              <a:buSzPct val="100000"/>
              <a:buFont typeface="+mj-lt"/>
              <a:buAutoNum type="arabicPeriod" startAt="1"/>
            </a:pPr>
            <a:r>
              <a:rPr lang="en-US" sz="1600" dirty="0">
                <a:solidFill>
                  <a:srgbClr val="3B2A2A"/>
                </a:solidFill>
              </a:rPr>
              <a:t>Classificar: manter, com salvaguarda, reduzir, reservar</a:t>
            </a:r>
            <a:endParaRPr lang="en-US" sz="1600" dirty="0"/>
          </a:p>
          <a:p>
            <a:pPr marL="342900" indent="-342900">
              <a:spcAft>
                <a:spcPts val="600"/>
              </a:spcAft>
              <a:buSzPct val="100000"/>
              <a:buFont typeface="+mj-lt"/>
              <a:buAutoNum type="arabicPeriod" startAt="1"/>
            </a:pPr>
            <a:r>
              <a:rPr lang="en-US" sz="1600" dirty="0">
                <a:solidFill>
                  <a:srgbClr val="3B2A2A"/>
                </a:solidFill>
              </a:rPr>
              <a:t>Compartilhar voluntariamente uma descoberta e uma decisão</a:t>
            </a:r>
            <a:endParaRPr lang="en-US" sz="1600" dirty="0"/>
          </a:p>
        </p:txBody>
      </p:sp>
      <p:sp>
        <p:nvSpPr>
          <p:cNvPr id="7" name="Shape 4"/>
          <p:cNvSpPr/>
          <p:nvPr/>
        </p:nvSpPr>
        <p:spPr>
          <a:xfrm>
            <a:off x="7772400" y="1417320"/>
            <a:ext cx="3840480" cy="1444752"/>
          </a:xfrm>
          <a:prstGeom prst="roundRect">
            <a:avLst>
              <a:gd name="adj" fmla="val 9494"/>
            </a:avLst>
          </a:prstGeom>
          <a:solidFill>
            <a:srgbClr val="D95D7F"/>
          </a:solidFill>
          <a:ln w="12700">
            <a:solidFill>
              <a:srgbClr val="D95D7F"/>
            </a:solidFill>
            <a:prstDash val="solid"/>
          </a:ln>
        </p:spPr>
      </p:sp>
      <p:sp>
        <p:nvSpPr>
          <p:cNvPr id="8" name="Text 5"/>
          <p:cNvSpPr txBox="1"/>
          <p:nvPr/>
        </p:nvSpPr>
        <p:spPr>
          <a:xfrm>
            <a:off x="8001000" y="1527048"/>
            <a:ext cx="3383280" cy="320040"/>
          </a:xfrm>
          <a:prstGeom prst="rect">
            <a:avLst/>
          </a:prstGeom>
          <a:noFill/>
          <a:ln/>
        </p:spPr>
        <p:txBody>
          <a:bodyPr wrap="square" lIns="0" tIns="0" rIns="0" bIns="0" rtlCol="0" anchor="ctr"/>
          <a:lstStyle/>
          <a:p>
            <a:pPr indent="0" marL="0">
              <a:buNone/>
            </a:pPr>
            <a:r>
              <a:rPr lang="en-US" sz="1200" b="1" spc="300" kern="0" dirty="0">
                <a:solidFill>
                  <a:srgbClr val="FFFFFF"/>
                </a:solidFill>
              </a:rPr>
              <a:t>TEMPO</a:t>
            </a:r>
            <a:endParaRPr lang="en-US" sz="1200" dirty="0"/>
          </a:p>
        </p:txBody>
      </p:sp>
      <p:sp>
        <p:nvSpPr>
          <p:cNvPr id="9" name="Text 6"/>
          <p:cNvSpPr txBox="1"/>
          <p:nvPr/>
        </p:nvSpPr>
        <p:spPr>
          <a:xfrm>
            <a:off x="8001000" y="1874520"/>
            <a:ext cx="3383280" cy="896112"/>
          </a:xfrm>
          <a:prstGeom prst="rect">
            <a:avLst/>
          </a:prstGeom>
          <a:noFill/>
          <a:ln/>
        </p:spPr>
        <p:txBody>
          <a:bodyPr wrap="square" lIns="0" tIns="0" rIns="0" bIns="0" rtlCol="0" anchor="t"/>
          <a:lstStyle/>
          <a:p>
            <a:pPr indent="0" marL="0">
              <a:buNone/>
            </a:pPr>
            <a:r>
              <a:rPr lang="en-US" sz="1600" dirty="0">
                <a:solidFill>
                  <a:srgbClr val="FFFFFF"/>
                </a:solidFill>
              </a:rPr>
              <a:t>3 semanas e 1 encontro de 90 min</a:t>
            </a:r>
            <a:endParaRPr lang="en-US" sz="1600" dirty="0"/>
          </a:p>
        </p:txBody>
      </p:sp>
      <p:sp>
        <p:nvSpPr>
          <p:cNvPr id="10" name="Shape 7"/>
          <p:cNvSpPr/>
          <p:nvPr/>
        </p:nvSpPr>
        <p:spPr>
          <a:xfrm>
            <a:off x="7772400" y="3026664"/>
            <a:ext cx="3840480" cy="1444752"/>
          </a:xfrm>
          <a:prstGeom prst="roundRect">
            <a:avLst>
              <a:gd name="adj" fmla="val 9494"/>
            </a:avLst>
          </a:prstGeom>
          <a:solidFill>
            <a:srgbClr val="2A9D8F"/>
          </a:solidFill>
          <a:ln w="12700">
            <a:solidFill>
              <a:srgbClr val="2A9D8F"/>
            </a:solidFill>
            <a:prstDash val="solid"/>
          </a:ln>
        </p:spPr>
      </p:sp>
      <p:sp>
        <p:nvSpPr>
          <p:cNvPr id="11" name="Text 8"/>
          <p:cNvSpPr txBox="1"/>
          <p:nvPr/>
        </p:nvSpPr>
        <p:spPr>
          <a:xfrm>
            <a:off x="8001000" y="3136392"/>
            <a:ext cx="3383280" cy="320040"/>
          </a:xfrm>
          <a:prstGeom prst="rect">
            <a:avLst/>
          </a:prstGeom>
          <a:noFill/>
          <a:ln/>
        </p:spPr>
        <p:txBody>
          <a:bodyPr wrap="square" lIns="0" tIns="0" rIns="0" bIns="0" rtlCol="0" anchor="ctr"/>
          <a:lstStyle/>
          <a:p>
            <a:pPr indent="0" marL="0">
              <a:buNone/>
            </a:pPr>
            <a:r>
              <a:rPr lang="en-US" sz="1200" b="1" spc="300" kern="0" dirty="0">
                <a:solidFill>
                  <a:srgbClr val="FFFFFF"/>
                </a:solidFill>
              </a:rPr>
              <a:t>PRODUTO</a:t>
            </a:r>
            <a:endParaRPr lang="en-US" sz="1200" dirty="0"/>
          </a:p>
        </p:txBody>
      </p:sp>
      <p:sp>
        <p:nvSpPr>
          <p:cNvPr id="12" name="Text 9"/>
          <p:cNvSpPr txBox="1"/>
          <p:nvPr/>
        </p:nvSpPr>
        <p:spPr>
          <a:xfrm>
            <a:off x="8001000" y="3483864"/>
            <a:ext cx="3383280" cy="896112"/>
          </a:xfrm>
          <a:prstGeom prst="rect">
            <a:avLst/>
          </a:prstGeom>
          <a:noFill/>
          <a:ln/>
        </p:spPr>
        <p:txBody>
          <a:bodyPr wrap="square" lIns="0" tIns="0" rIns="0" bIns="0" rtlCol="0" anchor="t"/>
          <a:lstStyle/>
          <a:p>
            <a:pPr indent="0" marL="0">
              <a:buNone/>
            </a:pPr>
            <a:r>
              <a:rPr lang="en-US" sz="1600" dirty="0">
                <a:solidFill>
                  <a:srgbClr val="FFFFFF"/>
                </a:solidFill>
              </a:rPr>
              <a:t>Ficha preenchida, classificação dos usos e plano de 2 ou 3 salvaguardas.</a:t>
            </a:r>
            <a:endParaRPr lang="en-US" sz="1600" dirty="0"/>
          </a:p>
        </p:txBody>
      </p:sp>
      <p:sp>
        <p:nvSpPr>
          <p:cNvPr id="13" name="Shape 10"/>
          <p:cNvSpPr/>
          <p:nvPr/>
        </p:nvSpPr>
        <p:spPr>
          <a:xfrm>
            <a:off x="7772400" y="4636008"/>
            <a:ext cx="3840480" cy="1444752"/>
          </a:xfrm>
          <a:prstGeom prst="roundRect">
            <a:avLst>
              <a:gd name="adj" fmla="val 9494"/>
            </a:avLst>
          </a:prstGeom>
          <a:solidFill>
            <a:srgbClr val="6D3B6E"/>
          </a:solidFill>
          <a:ln w="12700">
            <a:solidFill>
              <a:srgbClr val="6D3B6E"/>
            </a:solidFill>
            <a:prstDash val="solid"/>
          </a:ln>
        </p:spPr>
      </p:sp>
      <p:sp>
        <p:nvSpPr>
          <p:cNvPr id="14" name="Text 11"/>
          <p:cNvSpPr txBox="1"/>
          <p:nvPr/>
        </p:nvSpPr>
        <p:spPr>
          <a:xfrm>
            <a:off x="8001000" y="4745736"/>
            <a:ext cx="3383280" cy="320040"/>
          </a:xfrm>
          <a:prstGeom prst="rect">
            <a:avLst/>
          </a:prstGeom>
          <a:noFill/>
          <a:ln/>
        </p:spPr>
        <p:txBody>
          <a:bodyPr wrap="square" lIns="0" tIns="0" rIns="0" bIns="0" rtlCol="0" anchor="ctr"/>
          <a:lstStyle/>
          <a:p>
            <a:pPr indent="0" marL="0">
              <a:buNone/>
            </a:pPr>
            <a:r>
              <a:rPr lang="en-US" sz="1200" b="1" spc="300" kern="0" dirty="0">
                <a:solidFill>
                  <a:srgbClr val="FFFFFF"/>
                </a:solidFill>
              </a:rPr>
              <a:t>POUCOS RECURSOS</a:t>
            </a:r>
            <a:endParaRPr lang="en-US" sz="1200" dirty="0"/>
          </a:p>
        </p:txBody>
      </p:sp>
      <p:sp>
        <p:nvSpPr>
          <p:cNvPr id="15" name="Text 12"/>
          <p:cNvSpPr txBox="1"/>
          <p:nvPr/>
        </p:nvSpPr>
        <p:spPr>
          <a:xfrm>
            <a:off x="8001000" y="5093208"/>
            <a:ext cx="3383280" cy="896112"/>
          </a:xfrm>
          <a:prstGeom prst="rect">
            <a:avLst/>
          </a:prstGeom>
          <a:noFill/>
          <a:ln/>
        </p:spPr>
        <p:txBody>
          <a:bodyPr wrap="square" lIns="0" tIns="0" rIns="0" bIns="0" rtlCol="0" anchor="t"/>
          <a:lstStyle/>
          <a:p>
            <a:pPr indent="0" marL="0">
              <a:buNone/>
            </a:pPr>
            <a:r>
              <a:rPr lang="en-US" sz="1600" dirty="0">
                <a:solidFill>
                  <a:srgbClr val="FFFFFF"/>
                </a:solidFill>
              </a:rPr>
              <a:t>Caderno e tabela à mão; discussão na reunião pedagógica.</a:t>
            </a:r>
            <a:endParaRPr lang="en-US" sz="1600" dirty="0"/>
          </a:p>
        </p:txBody>
      </p:sp>
      <p:sp>
        <p:nvSpPr>
          <p:cNvPr id="16" name="Text 13"/>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30</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Atividade: oficina de política institucional</a:t>
            </a:r>
            <a:endParaRPr lang="en-US" sz="3400" dirty="0"/>
          </a:p>
        </p:txBody>
      </p:sp>
      <p:sp>
        <p:nvSpPr>
          <p:cNvPr id="4" name="Shape 1"/>
          <p:cNvSpPr/>
          <p:nvPr/>
        </p:nvSpPr>
        <p:spPr>
          <a:xfrm>
            <a:off x="548640" y="1417320"/>
            <a:ext cx="6949440" cy="4663440"/>
          </a:xfrm>
          <a:prstGeom prst="roundRect">
            <a:avLst>
              <a:gd name="adj" fmla="val 2941"/>
            </a:avLst>
          </a:prstGeom>
          <a:solidFill>
            <a:srgbClr val="F7EFE6"/>
          </a:solidFill>
          <a:ln w="12700">
            <a:solidFill>
              <a:srgbClr val="F7EFE6"/>
            </a:solidFill>
            <a:prstDash val="solid"/>
          </a:ln>
        </p:spPr>
      </p:sp>
      <p:sp>
        <p:nvSpPr>
          <p:cNvPr id="5" name="Text 2"/>
          <p:cNvSpPr txBox="1"/>
          <p:nvPr/>
        </p:nvSpPr>
        <p:spPr>
          <a:xfrm>
            <a:off x="822960" y="1554480"/>
            <a:ext cx="5486400" cy="365760"/>
          </a:xfrm>
          <a:prstGeom prst="rect">
            <a:avLst/>
          </a:prstGeom>
          <a:noFill/>
          <a:ln/>
        </p:spPr>
        <p:txBody>
          <a:bodyPr wrap="square" lIns="0" tIns="0" rIns="0" bIns="0" rtlCol="0" anchor="ctr"/>
          <a:lstStyle/>
          <a:p>
            <a:pPr indent="0" marL="0">
              <a:buNone/>
            </a:pPr>
            <a:r>
              <a:rPr lang="en-US" sz="1300" b="1" spc="300" kern="0" dirty="0">
                <a:solidFill>
                  <a:srgbClr val="D95D7F"/>
                </a:solidFill>
              </a:rPr>
              <a:t>PASSO A PASSO</a:t>
            </a:r>
            <a:endParaRPr lang="en-US" sz="1300" dirty="0"/>
          </a:p>
        </p:txBody>
      </p:sp>
      <p:sp>
        <p:nvSpPr>
          <p:cNvPr id="6" name="Text 3"/>
          <p:cNvSpPr txBox="1"/>
          <p:nvPr/>
        </p:nvSpPr>
        <p:spPr>
          <a:xfrm>
            <a:off x="822960" y="1965960"/>
            <a:ext cx="6400800" cy="402336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600" dirty="0">
                <a:solidFill>
                  <a:srgbClr val="3B2A2A"/>
                </a:solidFill>
              </a:rPr>
              <a:t>Escrever uso, receio e necessidade em cartões</a:t>
            </a:r>
            <a:endParaRPr lang="en-US" sz="1600" dirty="0"/>
          </a:p>
          <a:p>
            <a:pPr marL="342900" indent="-342900">
              <a:spcAft>
                <a:spcPts val="600"/>
              </a:spcAft>
              <a:buSzPct val="100000"/>
              <a:buFont typeface="+mj-lt"/>
              <a:buAutoNum type="arabicPeriod" startAt="1"/>
            </a:pPr>
            <a:r>
              <a:rPr lang="en-US" sz="1600" dirty="0">
                <a:solidFill>
                  <a:srgbClr val="3B2A2A"/>
                </a:solidFill>
              </a:rPr>
              <a:t>Classificar situações: permitido, condicionado, vedado</a:t>
            </a:r>
            <a:endParaRPr lang="en-US" sz="1600" dirty="0"/>
          </a:p>
          <a:p>
            <a:pPr marL="342900" indent="-342900">
              <a:spcAft>
                <a:spcPts val="600"/>
              </a:spcAft>
              <a:buSzPct val="100000"/>
              <a:buFont typeface="+mj-lt"/>
              <a:buAutoNum type="arabicPeriod" startAt="1"/>
            </a:pPr>
            <a:r>
              <a:rPr lang="en-US" sz="1600" dirty="0">
                <a:solidFill>
                  <a:srgbClr val="3B2A2A"/>
                </a:solidFill>
              </a:rPr>
              <a:t>Extrair cinco princípios e preencher a matriz</a:t>
            </a:r>
            <a:endParaRPr lang="en-US" sz="1600" dirty="0"/>
          </a:p>
          <a:p>
            <a:pPr marL="342900" indent="-342900">
              <a:spcAft>
                <a:spcPts val="600"/>
              </a:spcAft>
              <a:buSzPct val="100000"/>
              <a:buFont typeface="+mj-lt"/>
              <a:buAutoNum type="arabicPeriod" startAt="1"/>
            </a:pPr>
            <a:r>
              <a:rPr lang="en-US" sz="1600" dirty="0">
                <a:solidFill>
                  <a:srgbClr val="3B2A2A"/>
                </a:solidFill>
              </a:rPr>
              <a:t>Redigir minuta de uma a duas páginas</a:t>
            </a:r>
            <a:endParaRPr lang="en-US" sz="1600" dirty="0"/>
          </a:p>
          <a:p>
            <a:pPr marL="342900" indent="-342900">
              <a:spcAft>
                <a:spcPts val="600"/>
              </a:spcAft>
              <a:buSzPct val="100000"/>
              <a:buFont typeface="+mj-lt"/>
              <a:buAutoNum type="arabicPeriod" startAt="1"/>
            </a:pPr>
            <a:r>
              <a:rPr lang="en-US" sz="1600" dirty="0">
                <a:solidFill>
                  <a:srgbClr val="3B2A2A"/>
                </a:solidFill>
              </a:rPr>
              <a:t>Definir direito de não usar, formação e revisão</a:t>
            </a:r>
            <a:endParaRPr lang="en-US" sz="1600" dirty="0"/>
          </a:p>
          <a:p>
            <a:pPr marL="342900" indent="-342900">
              <a:spcAft>
                <a:spcPts val="600"/>
              </a:spcAft>
              <a:buSzPct val="100000"/>
              <a:buFont typeface="+mj-lt"/>
              <a:buAutoNum type="arabicPeriod" startAt="1"/>
            </a:pPr>
            <a:r>
              <a:rPr lang="en-US" sz="1600" dirty="0">
                <a:solidFill>
                  <a:srgbClr val="3B2A2A"/>
                </a:solidFill>
              </a:rPr>
              <a:t>Testar por um período e revisar com quem discordou</a:t>
            </a:r>
            <a:endParaRPr lang="en-US" sz="1600" dirty="0"/>
          </a:p>
        </p:txBody>
      </p:sp>
      <p:sp>
        <p:nvSpPr>
          <p:cNvPr id="7" name="Shape 4"/>
          <p:cNvSpPr/>
          <p:nvPr/>
        </p:nvSpPr>
        <p:spPr>
          <a:xfrm>
            <a:off x="7772400" y="1417320"/>
            <a:ext cx="3840480" cy="1444752"/>
          </a:xfrm>
          <a:prstGeom prst="roundRect">
            <a:avLst>
              <a:gd name="adj" fmla="val 9494"/>
            </a:avLst>
          </a:prstGeom>
          <a:solidFill>
            <a:srgbClr val="D95D7F"/>
          </a:solidFill>
          <a:ln w="12700">
            <a:solidFill>
              <a:srgbClr val="D95D7F"/>
            </a:solidFill>
            <a:prstDash val="solid"/>
          </a:ln>
        </p:spPr>
      </p:sp>
      <p:sp>
        <p:nvSpPr>
          <p:cNvPr id="8" name="Text 5"/>
          <p:cNvSpPr txBox="1"/>
          <p:nvPr/>
        </p:nvSpPr>
        <p:spPr>
          <a:xfrm>
            <a:off x="8001000" y="1527048"/>
            <a:ext cx="3383280" cy="320040"/>
          </a:xfrm>
          <a:prstGeom prst="rect">
            <a:avLst/>
          </a:prstGeom>
          <a:noFill/>
          <a:ln/>
        </p:spPr>
        <p:txBody>
          <a:bodyPr wrap="square" lIns="0" tIns="0" rIns="0" bIns="0" rtlCol="0" anchor="ctr"/>
          <a:lstStyle/>
          <a:p>
            <a:pPr indent="0" marL="0">
              <a:buNone/>
            </a:pPr>
            <a:r>
              <a:rPr lang="en-US" sz="1200" b="1" spc="300" kern="0" dirty="0">
                <a:solidFill>
                  <a:srgbClr val="FFFFFF"/>
                </a:solidFill>
              </a:rPr>
              <a:t>TEMPO</a:t>
            </a:r>
            <a:endParaRPr lang="en-US" sz="1200" dirty="0"/>
          </a:p>
        </p:txBody>
      </p:sp>
      <p:sp>
        <p:nvSpPr>
          <p:cNvPr id="9" name="Text 6"/>
          <p:cNvSpPr txBox="1"/>
          <p:nvPr/>
        </p:nvSpPr>
        <p:spPr>
          <a:xfrm>
            <a:off x="8001000" y="1874520"/>
            <a:ext cx="3383280" cy="896112"/>
          </a:xfrm>
          <a:prstGeom prst="rect">
            <a:avLst/>
          </a:prstGeom>
          <a:noFill/>
          <a:ln/>
        </p:spPr>
        <p:txBody>
          <a:bodyPr wrap="square" lIns="0" tIns="0" rIns="0" bIns="0" rtlCol="0" anchor="t"/>
          <a:lstStyle/>
          <a:p>
            <a:pPr indent="0" marL="0">
              <a:buNone/>
            </a:pPr>
            <a:r>
              <a:rPr lang="en-US" sz="1600" dirty="0">
                <a:solidFill>
                  <a:srgbClr val="FFFFFF"/>
                </a:solidFill>
              </a:rPr>
              <a:t>2 encontros de 90 minutos</a:t>
            </a:r>
            <a:endParaRPr lang="en-US" sz="1600" dirty="0"/>
          </a:p>
        </p:txBody>
      </p:sp>
      <p:sp>
        <p:nvSpPr>
          <p:cNvPr id="10" name="Shape 7"/>
          <p:cNvSpPr/>
          <p:nvPr/>
        </p:nvSpPr>
        <p:spPr>
          <a:xfrm>
            <a:off x="7772400" y="3026664"/>
            <a:ext cx="3840480" cy="1444752"/>
          </a:xfrm>
          <a:prstGeom prst="roundRect">
            <a:avLst>
              <a:gd name="adj" fmla="val 9494"/>
            </a:avLst>
          </a:prstGeom>
          <a:solidFill>
            <a:srgbClr val="2A9D8F"/>
          </a:solidFill>
          <a:ln w="12700">
            <a:solidFill>
              <a:srgbClr val="2A9D8F"/>
            </a:solidFill>
            <a:prstDash val="solid"/>
          </a:ln>
        </p:spPr>
      </p:sp>
      <p:sp>
        <p:nvSpPr>
          <p:cNvPr id="11" name="Text 8"/>
          <p:cNvSpPr txBox="1"/>
          <p:nvPr/>
        </p:nvSpPr>
        <p:spPr>
          <a:xfrm>
            <a:off x="8001000" y="3136392"/>
            <a:ext cx="3383280" cy="320040"/>
          </a:xfrm>
          <a:prstGeom prst="rect">
            <a:avLst/>
          </a:prstGeom>
          <a:noFill/>
          <a:ln/>
        </p:spPr>
        <p:txBody>
          <a:bodyPr wrap="square" lIns="0" tIns="0" rIns="0" bIns="0" rtlCol="0" anchor="ctr"/>
          <a:lstStyle/>
          <a:p>
            <a:pPr indent="0" marL="0">
              <a:buNone/>
            </a:pPr>
            <a:r>
              <a:rPr lang="en-US" sz="1200" b="1" spc="300" kern="0" dirty="0">
                <a:solidFill>
                  <a:srgbClr val="FFFFFF"/>
                </a:solidFill>
              </a:rPr>
              <a:t>PRODUTO</a:t>
            </a:r>
            <a:endParaRPr lang="en-US" sz="1200" dirty="0"/>
          </a:p>
        </p:txBody>
      </p:sp>
      <p:sp>
        <p:nvSpPr>
          <p:cNvPr id="12" name="Text 9"/>
          <p:cNvSpPr txBox="1"/>
          <p:nvPr/>
        </p:nvSpPr>
        <p:spPr>
          <a:xfrm>
            <a:off x="8001000" y="3483864"/>
            <a:ext cx="3383280" cy="896112"/>
          </a:xfrm>
          <a:prstGeom prst="rect">
            <a:avLst/>
          </a:prstGeom>
          <a:noFill/>
          <a:ln/>
        </p:spPr>
        <p:txBody>
          <a:bodyPr wrap="square" lIns="0" tIns="0" rIns="0" bIns="0" rtlCol="0" anchor="t"/>
          <a:lstStyle/>
          <a:p>
            <a:pPr indent="0" marL="0">
              <a:buNone/>
            </a:pPr>
            <a:r>
              <a:rPr lang="en-US" sz="1600" dirty="0">
                <a:solidFill>
                  <a:srgbClr val="FFFFFF"/>
                </a:solidFill>
              </a:rPr>
              <a:t>Minuta de política, matriz preenchida, lista de dúvidas e data de revisão.</a:t>
            </a:r>
            <a:endParaRPr lang="en-US" sz="1600" dirty="0"/>
          </a:p>
        </p:txBody>
      </p:sp>
      <p:sp>
        <p:nvSpPr>
          <p:cNvPr id="13" name="Shape 10"/>
          <p:cNvSpPr/>
          <p:nvPr/>
        </p:nvSpPr>
        <p:spPr>
          <a:xfrm>
            <a:off x="7772400" y="4636008"/>
            <a:ext cx="3840480" cy="1444752"/>
          </a:xfrm>
          <a:prstGeom prst="roundRect">
            <a:avLst>
              <a:gd name="adj" fmla="val 9494"/>
            </a:avLst>
          </a:prstGeom>
          <a:solidFill>
            <a:srgbClr val="6D3B6E"/>
          </a:solidFill>
          <a:ln w="12700">
            <a:solidFill>
              <a:srgbClr val="6D3B6E"/>
            </a:solidFill>
            <a:prstDash val="solid"/>
          </a:ln>
        </p:spPr>
      </p:sp>
      <p:sp>
        <p:nvSpPr>
          <p:cNvPr id="14" name="Text 11"/>
          <p:cNvSpPr txBox="1"/>
          <p:nvPr/>
        </p:nvSpPr>
        <p:spPr>
          <a:xfrm>
            <a:off x="8001000" y="4745736"/>
            <a:ext cx="3383280" cy="320040"/>
          </a:xfrm>
          <a:prstGeom prst="rect">
            <a:avLst/>
          </a:prstGeom>
          <a:noFill/>
          <a:ln/>
        </p:spPr>
        <p:txBody>
          <a:bodyPr wrap="square" lIns="0" tIns="0" rIns="0" bIns="0" rtlCol="0" anchor="ctr"/>
          <a:lstStyle/>
          <a:p>
            <a:pPr indent="0" marL="0">
              <a:buNone/>
            </a:pPr>
            <a:r>
              <a:rPr lang="en-US" sz="1200" b="1" spc="300" kern="0" dirty="0">
                <a:solidFill>
                  <a:srgbClr val="FFFFFF"/>
                </a:solidFill>
              </a:rPr>
              <a:t>POUCOS RECURSOS</a:t>
            </a:r>
            <a:endParaRPr lang="en-US" sz="1200" dirty="0"/>
          </a:p>
        </p:txBody>
      </p:sp>
      <p:sp>
        <p:nvSpPr>
          <p:cNvPr id="15" name="Text 12"/>
          <p:cNvSpPr txBox="1"/>
          <p:nvPr/>
        </p:nvSpPr>
        <p:spPr>
          <a:xfrm>
            <a:off x="8001000" y="5093208"/>
            <a:ext cx="3383280" cy="896112"/>
          </a:xfrm>
          <a:prstGeom prst="rect">
            <a:avLst/>
          </a:prstGeom>
          <a:noFill/>
          <a:ln/>
        </p:spPr>
        <p:txBody>
          <a:bodyPr wrap="square" lIns="0" tIns="0" rIns="0" bIns="0" rtlCol="0" anchor="t"/>
          <a:lstStyle/>
          <a:p>
            <a:pPr indent="0" marL="0">
              <a:buNone/>
            </a:pPr>
            <a:r>
              <a:rPr lang="en-US" sz="1600" dirty="0">
                <a:solidFill>
                  <a:srgbClr val="FFFFFF"/>
                </a:solidFill>
              </a:rPr>
              <a:t>Papel, cartolina e uma folha afixada na sala dos professores.</a:t>
            </a:r>
            <a:endParaRPr lang="en-US" sz="1600" dirty="0"/>
          </a:p>
        </p:txBody>
      </p:sp>
      <p:sp>
        <p:nvSpPr>
          <p:cNvPr id="16" name="Text 13"/>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30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Pare e verifique</a:t>
            </a:r>
            <a:endParaRPr lang="en-US" sz="3400" dirty="0"/>
          </a:p>
        </p:txBody>
      </p:sp>
      <p:sp>
        <p:nvSpPr>
          <p:cNvPr id="4" name="Shape 1"/>
          <p:cNvSpPr/>
          <p:nvPr/>
        </p:nvSpPr>
        <p:spPr>
          <a:xfrm>
            <a:off x="548640" y="1463040"/>
            <a:ext cx="11064240" cy="1051560"/>
          </a:xfrm>
          <a:prstGeom prst="roundRect">
            <a:avLst>
              <a:gd name="adj" fmla="val 10435"/>
            </a:avLst>
          </a:prstGeom>
          <a:solidFill>
            <a:srgbClr val="FDECE4"/>
          </a:solidFill>
          <a:ln w="12700">
            <a:solidFill>
              <a:srgbClr val="F2B8A0"/>
            </a:solidFill>
            <a:prstDash val="solid"/>
          </a:ln>
        </p:spPr>
      </p:sp>
      <p:sp>
        <p:nvSpPr>
          <p:cNvPr id="5" name="Shape 2"/>
          <p:cNvSpPr/>
          <p:nvPr/>
        </p:nvSpPr>
        <p:spPr>
          <a:xfrm>
            <a:off x="777240" y="1714500"/>
            <a:ext cx="548640" cy="548640"/>
          </a:xfrm>
          <a:prstGeom prst="ellipse">
            <a:avLst/>
          </a:prstGeom>
          <a:solidFill>
            <a:srgbClr val="C0392B"/>
          </a:solidFill>
          <a:ln w="12700">
            <a:solidFill>
              <a:srgbClr val="C0392B"/>
            </a:solidFill>
            <a:prstDash val="solid"/>
          </a:ln>
        </p:spPr>
      </p:sp>
      <p:sp>
        <p:nvSpPr>
          <p:cNvPr id="6" name="Text 3"/>
          <p:cNvSpPr txBox="1"/>
          <p:nvPr/>
        </p:nvSpPr>
        <p:spPr>
          <a:xfrm>
            <a:off x="777240" y="17145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rPr>
              <a:t>!</a:t>
            </a:r>
            <a:endParaRPr lang="en-US" sz="2200" dirty="0"/>
          </a:p>
        </p:txBody>
      </p:sp>
      <p:sp>
        <p:nvSpPr>
          <p:cNvPr id="7" name="Text 4"/>
          <p:cNvSpPr txBox="1"/>
          <p:nvPr/>
        </p:nvSpPr>
        <p:spPr>
          <a:xfrm>
            <a:off x="1600200" y="1463040"/>
            <a:ext cx="9784080" cy="1051560"/>
          </a:xfrm>
          <a:prstGeom prst="rect">
            <a:avLst/>
          </a:prstGeom>
          <a:noFill/>
          <a:ln/>
        </p:spPr>
        <p:txBody>
          <a:bodyPr wrap="square" lIns="0" tIns="0" rIns="0" bIns="0" rtlCol="0" anchor="ctr"/>
          <a:lstStyle/>
          <a:p>
            <a:pPr indent="0" marL="0">
              <a:buNone/>
            </a:pPr>
            <a:r>
              <a:rPr lang="en-US" sz="1800" dirty="0">
                <a:solidFill>
                  <a:srgbClr val="3B2A2A"/>
                </a:solidFill>
              </a:rPr>
              <a:t>Perda de habilidade e de confiança em tarefas que se quer manter</a:t>
            </a:r>
            <a:endParaRPr lang="en-US" sz="1800" dirty="0"/>
          </a:p>
        </p:txBody>
      </p:sp>
      <p:sp>
        <p:nvSpPr>
          <p:cNvPr id="8" name="Shape 5"/>
          <p:cNvSpPr/>
          <p:nvPr/>
        </p:nvSpPr>
        <p:spPr>
          <a:xfrm>
            <a:off x="548640" y="2651760"/>
            <a:ext cx="11064240" cy="1051560"/>
          </a:xfrm>
          <a:prstGeom prst="roundRect">
            <a:avLst>
              <a:gd name="adj" fmla="val 10435"/>
            </a:avLst>
          </a:prstGeom>
          <a:solidFill>
            <a:srgbClr val="FDECE4"/>
          </a:solidFill>
          <a:ln w="12700">
            <a:solidFill>
              <a:srgbClr val="F2B8A0"/>
            </a:solidFill>
            <a:prstDash val="solid"/>
          </a:ln>
        </p:spPr>
      </p:sp>
      <p:sp>
        <p:nvSpPr>
          <p:cNvPr id="9" name="Shape 6"/>
          <p:cNvSpPr/>
          <p:nvPr/>
        </p:nvSpPr>
        <p:spPr>
          <a:xfrm>
            <a:off x="777240" y="2903220"/>
            <a:ext cx="548640" cy="548640"/>
          </a:xfrm>
          <a:prstGeom prst="ellipse">
            <a:avLst/>
          </a:prstGeom>
          <a:solidFill>
            <a:srgbClr val="C0392B"/>
          </a:solidFill>
          <a:ln w="12700">
            <a:solidFill>
              <a:srgbClr val="C0392B"/>
            </a:solidFill>
            <a:prstDash val="solid"/>
          </a:ln>
        </p:spPr>
      </p:sp>
      <p:sp>
        <p:nvSpPr>
          <p:cNvPr id="10" name="Text 7"/>
          <p:cNvSpPr txBox="1"/>
          <p:nvPr/>
        </p:nvSpPr>
        <p:spPr>
          <a:xfrm>
            <a:off x="777240" y="290322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rPr>
              <a:t>!</a:t>
            </a:r>
            <a:endParaRPr lang="en-US" sz="2200" dirty="0"/>
          </a:p>
        </p:txBody>
      </p:sp>
      <p:sp>
        <p:nvSpPr>
          <p:cNvPr id="11" name="Text 8"/>
          <p:cNvSpPr txBox="1"/>
          <p:nvPr/>
        </p:nvSpPr>
        <p:spPr>
          <a:xfrm>
            <a:off x="1600200" y="2651760"/>
            <a:ext cx="9784080" cy="1051560"/>
          </a:xfrm>
          <a:prstGeom prst="rect">
            <a:avLst/>
          </a:prstGeom>
          <a:noFill/>
          <a:ln/>
        </p:spPr>
        <p:txBody>
          <a:bodyPr wrap="square" lIns="0" tIns="0" rIns="0" bIns="0" rtlCol="0" anchor="ctr"/>
          <a:lstStyle/>
          <a:p>
            <a:pPr indent="0" marL="0">
              <a:buNone/>
            </a:pPr>
            <a:r>
              <a:rPr lang="en-US" sz="1800" dirty="0">
                <a:solidFill>
                  <a:srgbClr val="3B2A2A"/>
                </a:solidFill>
              </a:rPr>
              <a:t>Tempo economizado reabsorvido por novas demandas</a:t>
            </a:r>
            <a:endParaRPr lang="en-US" sz="1800" dirty="0"/>
          </a:p>
        </p:txBody>
      </p:sp>
      <p:sp>
        <p:nvSpPr>
          <p:cNvPr id="12" name="Shape 9"/>
          <p:cNvSpPr/>
          <p:nvPr/>
        </p:nvSpPr>
        <p:spPr>
          <a:xfrm>
            <a:off x="548640" y="3840480"/>
            <a:ext cx="11064240" cy="1051560"/>
          </a:xfrm>
          <a:prstGeom prst="roundRect">
            <a:avLst>
              <a:gd name="adj" fmla="val 10435"/>
            </a:avLst>
          </a:prstGeom>
          <a:solidFill>
            <a:srgbClr val="FDECE4"/>
          </a:solidFill>
          <a:ln w="12700">
            <a:solidFill>
              <a:srgbClr val="F2B8A0"/>
            </a:solidFill>
            <a:prstDash val="solid"/>
          </a:ln>
        </p:spPr>
      </p:sp>
      <p:sp>
        <p:nvSpPr>
          <p:cNvPr id="13" name="Shape 10"/>
          <p:cNvSpPr/>
          <p:nvPr/>
        </p:nvSpPr>
        <p:spPr>
          <a:xfrm>
            <a:off x="777240" y="4091940"/>
            <a:ext cx="548640" cy="548640"/>
          </a:xfrm>
          <a:prstGeom prst="ellipse">
            <a:avLst/>
          </a:prstGeom>
          <a:solidFill>
            <a:srgbClr val="C0392B"/>
          </a:solidFill>
          <a:ln w="12700">
            <a:solidFill>
              <a:srgbClr val="C0392B"/>
            </a:solidFill>
            <a:prstDash val="solid"/>
          </a:ln>
        </p:spPr>
      </p:sp>
      <p:sp>
        <p:nvSpPr>
          <p:cNvPr id="14" name="Text 11"/>
          <p:cNvSpPr txBox="1"/>
          <p:nvPr/>
        </p:nvSpPr>
        <p:spPr>
          <a:xfrm>
            <a:off x="777240" y="409194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rPr>
              <a:t>!</a:t>
            </a:r>
            <a:endParaRPr lang="en-US" sz="2200" dirty="0"/>
          </a:p>
        </p:txBody>
      </p:sp>
      <p:sp>
        <p:nvSpPr>
          <p:cNvPr id="15" name="Text 12"/>
          <p:cNvSpPr txBox="1"/>
          <p:nvPr/>
        </p:nvSpPr>
        <p:spPr>
          <a:xfrm>
            <a:off x="1600200" y="3840480"/>
            <a:ext cx="9784080" cy="1051560"/>
          </a:xfrm>
          <a:prstGeom prst="rect">
            <a:avLst/>
          </a:prstGeom>
          <a:noFill/>
          <a:ln/>
        </p:spPr>
        <p:txBody>
          <a:bodyPr wrap="square" lIns="0" tIns="0" rIns="0" bIns="0" rtlCol="0" anchor="ctr"/>
          <a:lstStyle/>
          <a:p>
            <a:pPr indent="0" marL="0">
              <a:buNone/>
            </a:pPr>
            <a:r>
              <a:rPr lang="en-US" sz="1800" dirty="0">
                <a:solidFill>
                  <a:srgbClr val="3B2A2A"/>
                </a:solidFill>
              </a:rPr>
              <a:t>Uso imposto sem alternativa, e métricas de uso como vigilância</a:t>
            </a:r>
            <a:endParaRPr lang="en-US" sz="1800" dirty="0"/>
          </a:p>
        </p:txBody>
      </p:sp>
      <p:sp>
        <p:nvSpPr>
          <p:cNvPr id="16" name="Shape 13"/>
          <p:cNvSpPr/>
          <p:nvPr/>
        </p:nvSpPr>
        <p:spPr>
          <a:xfrm>
            <a:off x="548640" y="5029200"/>
            <a:ext cx="11064240" cy="1051560"/>
          </a:xfrm>
          <a:prstGeom prst="roundRect">
            <a:avLst>
              <a:gd name="adj" fmla="val 10435"/>
            </a:avLst>
          </a:prstGeom>
          <a:solidFill>
            <a:srgbClr val="FDECE4"/>
          </a:solidFill>
          <a:ln w="12700">
            <a:solidFill>
              <a:srgbClr val="F2B8A0"/>
            </a:solidFill>
            <a:prstDash val="solid"/>
          </a:ln>
        </p:spPr>
      </p:sp>
      <p:sp>
        <p:nvSpPr>
          <p:cNvPr id="17" name="Shape 14"/>
          <p:cNvSpPr/>
          <p:nvPr/>
        </p:nvSpPr>
        <p:spPr>
          <a:xfrm>
            <a:off x="777240" y="5280660"/>
            <a:ext cx="548640" cy="548640"/>
          </a:xfrm>
          <a:prstGeom prst="ellipse">
            <a:avLst/>
          </a:prstGeom>
          <a:solidFill>
            <a:srgbClr val="C0392B"/>
          </a:solidFill>
          <a:ln w="12700">
            <a:solidFill>
              <a:srgbClr val="C0392B"/>
            </a:solidFill>
            <a:prstDash val="solid"/>
          </a:ln>
        </p:spPr>
      </p:sp>
      <p:sp>
        <p:nvSpPr>
          <p:cNvPr id="18" name="Text 15"/>
          <p:cNvSpPr txBox="1"/>
          <p:nvPr/>
        </p:nvSpPr>
        <p:spPr>
          <a:xfrm>
            <a:off x="777240" y="528066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rPr>
              <a:t>!</a:t>
            </a:r>
            <a:endParaRPr lang="en-US" sz="2200" dirty="0"/>
          </a:p>
        </p:txBody>
      </p:sp>
      <p:sp>
        <p:nvSpPr>
          <p:cNvPr id="19" name="Text 16"/>
          <p:cNvSpPr txBox="1"/>
          <p:nvPr/>
        </p:nvSpPr>
        <p:spPr>
          <a:xfrm>
            <a:off x="1600200" y="5029200"/>
            <a:ext cx="9784080" cy="1051560"/>
          </a:xfrm>
          <a:prstGeom prst="rect">
            <a:avLst/>
          </a:prstGeom>
          <a:noFill/>
          <a:ln/>
        </p:spPr>
        <p:txBody>
          <a:bodyPr wrap="square" lIns="0" tIns="0" rIns="0" bIns="0" rtlCol="0" anchor="ctr"/>
          <a:lstStyle/>
          <a:p>
            <a:pPr indent="0" marL="0">
              <a:buNone/>
            </a:pPr>
            <a:r>
              <a:rPr lang="en-US" sz="1800" dirty="0">
                <a:solidFill>
                  <a:srgbClr val="3B2A2A"/>
                </a:solidFill>
              </a:rPr>
              <a:t>Política decorativa: sem formação, sem revisão, sem escuta</a:t>
            </a:r>
            <a:endParaRPr lang="en-US" sz="1800" dirty="0"/>
          </a:p>
        </p:txBody>
      </p:sp>
      <p:sp>
        <p:nvSpPr>
          <p:cNvPr id="20" name="Text 17"/>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30</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Quando apoiar e quando dispensar</a:t>
            </a:r>
            <a:endParaRPr lang="en-US" sz="3400" dirty="0"/>
          </a:p>
        </p:txBody>
      </p:sp>
      <p:sp>
        <p:nvSpPr>
          <p:cNvPr id="4" name="Shape 1"/>
          <p:cNvSpPr/>
          <p:nvPr/>
        </p:nvSpPr>
        <p:spPr>
          <a:xfrm>
            <a:off x="548640" y="1463040"/>
            <a:ext cx="5394960" cy="4572000"/>
          </a:xfrm>
          <a:prstGeom prst="roundRect">
            <a:avLst>
              <a:gd name="adj" fmla="val 3000"/>
            </a:avLst>
          </a:prstGeom>
          <a:solidFill>
            <a:srgbClr val="F7EFE6"/>
          </a:solidFill>
          <a:ln w="12700">
            <a:solidFill>
              <a:srgbClr val="F7EFE6"/>
            </a:solidFill>
            <a:prstDash val="solid"/>
          </a:ln>
        </p:spPr>
      </p:sp>
      <p:sp>
        <p:nvSpPr>
          <p:cNvPr id="5" name="Shape 2"/>
          <p:cNvSpPr/>
          <p:nvPr/>
        </p:nvSpPr>
        <p:spPr>
          <a:xfrm>
            <a:off x="548640" y="1463040"/>
            <a:ext cx="5394960" cy="731520"/>
          </a:xfrm>
          <a:prstGeom prst="roundRect">
            <a:avLst>
              <a:gd name="adj" fmla="val 18750"/>
            </a:avLst>
          </a:prstGeom>
          <a:solidFill>
            <a:srgbClr val="2A9D8F"/>
          </a:solidFill>
          <a:ln w="12700">
            <a:solidFill>
              <a:srgbClr val="2A9D8F"/>
            </a:solidFill>
            <a:prstDash val="solid"/>
          </a:ln>
        </p:spPr>
      </p:sp>
      <p:sp>
        <p:nvSpPr>
          <p:cNvPr id="6" name="Text 3"/>
          <p:cNvSpPr txBox="1"/>
          <p:nvPr/>
        </p:nvSpPr>
        <p:spPr>
          <a:xfrm>
            <a:off x="777240" y="1463040"/>
            <a:ext cx="4937760" cy="73152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Apoio razoável</a:t>
            </a:r>
            <a:endParaRPr lang="en-US" sz="2200" dirty="0"/>
          </a:p>
        </p:txBody>
      </p:sp>
      <p:sp>
        <p:nvSpPr>
          <p:cNvPr id="7" name="Text 4"/>
          <p:cNvSpPr txBox="1"/>
          <p:nvPr/>
        </p:nvSpPr>
        <p:spPr>
          <a:xfrm>
            <a:off x="822960" y="2377440"/>
            <a:ext cx="4846320" cy="35661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3B2A2A"/>
                </a:solidFill>
              </a:rPr>
              <a:t>Tarefas repetitivas, com ganho real de tempo</a:t>
            </a:r>
            <a:endParaRPr lang="en-US" sz="1700" dirty="0"/>
          </a:p>
          <a:p>
            <a:pPr marL="342900" indent="-342900">
              <a:spcAft>
                <a:spcPts val="800"/>
              </a:spcAft>
              <a:buSzPct val="100000"/>
              <a:buChar char="•"/>
            </a:pPr>
            <a:r>
              <a:rPr lang="en-US" sz="1700" dirty="0">
                <a:solidFill>
                  <a:srgbClr val="3B2A2A"/>
                </a:solidFill>
              </a:rPr>
              <a:t>Rascunho próprio antes, leitura final sua</a:t>
            </a:r>
            <a:endParaRPr lang="en-US" sz="1700" dirty="0"/>
          </a:p>
          <a:p>
            <a:pPr marL="342900" indent="-342900">
              <a:spcAft>
                <a:spcPts val="800"/>
              </a:spcAft>
              <a:buSzPct val="100000"/>
              <a:buChar char="•"/>
            </a:pPr>
            <a:r>
              <a:rPr lang="en-US" sz="1700" dirty="0">
                <a:solidFill>
                  <a:srgbClr val="3B2A2A"/>
                </a:solidFill>
              </a:rPr>
              <a:t>Uso escolhido, com alternativa para quem não quer</a:t>
            </a:r>
            <a:endParaRPr lang="en-US" sz="1700" dirty="0"/>
          </a:p>
          <a:p>
            <a:pPr marL="342900" indent="-342900">
              <a:spcAft>
                <a:spcPts val="800"/>
              </a:spcAft>
              <a:buSzPct val="100000"/>
              <a:buChar char="•"/>
            </a:pPr>
            <a:r>
              <a:rPr lang="en-US" sz="1700" dirty="0">
                <a:solidFill>
                  <a:srgbClr val="3B2A2A"/>
                </a:solidFill>
              </a:rPr>
              <a:t>Horas liberadas voltam para o ensino</a:t>
            </a:r>
            <a:endParaRPr lang="en-US" sz="1700" dirty="0"/>
          </a:p>
        </p:txBody>
      </p:sp>
      <p:sp>
        <p:nvSpPr>
          <p:cNvPr id="8" name="Shape 5"/>
          <p:cNvSpPr/>
          <p:nvPr/>
        </p:nvSpPr>
        <p:spPr>
          <a:xfrm>
            <a:off x="6263640" y="1463040"/>
            <a:ext cx="5394960" cy="4572000"/>
          </a:xfrm>
          <a:prstGeom prst="roundRect">
            <a:avLst>
              <a:gd name="adj" fmla="val 3000"/>
            </a:avLst>
          </a:prstGeom>
          <a:solidFill>
            <a:srgbClr val="F7EFE6"/>
          </a:solidFill>
          <a:ln w="12700">
            <a:solidFill>
              <a:srgbClr val="F7EFE6"/>
            </a:solidFill>
            <a:prstDash val="solid"/>
          </a:ln>
        </p:spPr>
      </p:sp>
      <p:sp>
        <p:nvSpPr>
          <p:cNvPr id="9" name="Shape 6"/>
          <p:cNvSpPr/>
          <p:nvPr/>
        </p:nvSpPr>
        <p:spPr>
          <a:xfrm>
            <a:off x="6263640" y="1463040"/>
            <a:ext cx="5394960" cy="731520"/>
          </a:xfrm>
          <a:prstGeom prst="roundRect">
            <a:avLst>
              <a:gd name="adj" fmla="val 18750"/>
            </a:avLst>
          </a:prstGeom>
          <a:solidFill>
            <a:srgbClr val="D95D7F"/>
          </a:solidFill>
          <a:ln w="12700">
            <a:solidFill>
              <a:srgbClr val="D95D7F"/>
            </a:solidFill>
            <a:prstDash val="solid"/>
          </a:ln>
        </p:spPr>
      </p:sp>
      <p:sp>
        <p:nvSpPr>
          <p:cNvPr id="10" name="Text 7"/>
          <p:cNvSpPr txBox="1"/>
          <p:nvPr/>
        </p:nvSpPr>
        <p:spPr>
          <a:xfrm>
            <a:off x="6492240" y="1463040"/>
            <a:ext cx="4937760" cy="73152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Dispense a IA</a:t>
            </a:r>
            <a:endParaRPr lang="en-US" sz="2200" dirty="0"/>
          </a:p>
        </p:txBody>
      </p:sp>
      <p:sp>
        <p:nvSpPr>
          <p:cNvPr id="11" name="Text 8"/>
          <p:cNvSpPr txBox="1"/>
          <p:nvPr/>
        </p:nvSpPr>
        <p:spPr>
          <a:xfrm>
            <a:off x="6537960" y="2377440"/>
            <a:ext cx="4846320" cy="35661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3B2A2A"/>
                </a:solidFill>
              </a:rPr>
              <a:t>Notícia difícil ou acolhimento a uma família</a:t>
            </a:r>
            <a:endParaRPr lang="en-US" sz="1700" dirty="0"/>
          </a:p>
          <a:p>
            <a:pPr marL="342900" indent="-342900">
              <a:spcAft>
                <a:spcPts val="800"/>
              </a:spcAft>
              <a:buSzPct val="100000"/>
              <a:buChar char="•"/>
            </a:pPr>
            <a:r>
              <a:rPr lang="en-US" sz="1700" dirty="0">
                <a:solidFill>
                  <a:srgbClr val="3B2A2A"/>
                </a:solidFill>
              </a:rPr>
              <a:t>Você perdeu a confiança para começar sozinho</a:t>
            </a:r>
            <a:endParaRPr lang="en-US" sz="1700" dirty="0"/>
          </a:p>
          <a:p>
            <a:pPr marL="342900" indent="-342900">
              <a:spcAft>
                <a:spcPts val="800"/>
              </a:spcAft>
              <a:buSzPct val="100000"/>
              <a:buChar char="•"/>
            </a:pPr>
            <a:r>
              <a:rPr lang="en-US" sz="1700" dirty="0">
                <a:solidFill>
                  <a:srgbClr val="3B2A2A"/>
                </a:solidFill>
              </a:rPr>
              <a:t>Uso imposto, sem tempo de verificar</a:t>
            </a:r>
            <a:endParaRPr lang="en-US" sz="1700" dirty="0"/>
          </a:p>
          <a:p>
            <a:pPr marL="342900" indent="-342900">
              <a:spcAft>
                <a:spcPts val="800"/>
              </a:spcAft>
              <a:buSzPct val="100000"/>
              <a:buChar char="•"/>
            </a:pPr>
            <a:r>
              <a:rPr lang="en-US" sz="1700" dirty="0">
                <a:solidFill>
                  <a:srgbClr val="3B2A2A"/>
                </a:solidFill>
              </a:rPr>
              <a:t>Exige dados pessoais sem base legal</a:t>
            </a:r>
            <a:endParaRPr lang="en-US" sz="1700" dirty="0"/>
          </a:p>
        </p:txBody>
      </p:sp>
      <p:sp>
        <p:nvSpPr>
          <p:cNvPr id="12" name="Text 9"/>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30</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D95D7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O que vale a pena lembrar</a:t>
            </a:r>
            <a:endParaRPr lang="en-US" sz="3400" dirty="0"/>
          </a:p>
        </p:txBody>
      </p:sp>
      <p:sp>
        <p:nvSpPr>
          <p:cNvPr id="4" name="Shape 1"/>
          <p:cNvSpPr/>
          <p:nvPr/>
        </p:nvSpPr>
        <p:spPr>
          <a:xfrm>
            <a:off x="548640" y="1417320"/>
            <a:ext cx="11064240" cy="762000"/>
          </a:xfrm>
          <a:prstGeom prst="roundRect">
            <a:avLst>
              <a:gd name="adj" fmla="val 14400"/>
            </a:avLst>
          </a:prstGeom>
          <a:solidFill>
            <a:srgbClr val="FFFFFF">
              <a:alpha val="88000"/>
            </a:srgbClr>
          </a:solidFill>
          <a:ln w="12700">
            <a:solidFill>
              <a:srgbClr val="FFFFFF">
                <a:alpha val="88000"/>
              </a:srgbClr>
            </a:solidFill>
            <a:prstDash val="solid"/>
          </a:ln>
        </p:spPr>
      </p:sp>
      <p:sp>
        <p:nvSpPr>
          <p:cNvPr id="5" name="Text 2"/>
          <p:cNvSpPr txBox="1"/>
          <p:nvPr/>
        </p:nvSpPr>
        <p:spPr>
          <a:xfrm>
            <a:off x="731520" y="1417320"/>
            <a:ext cx="548640" cy="762000"/>
          </a:xfrm>
          <a:prstGeom prst="rect">
            <a:avLst/>
          </a:prstGeom>
          <a:noFill/>
          <a:ln/>
        </p:spPr>
        <p:txBody>
          <a:bodyPr wrap="square" lIns="0" tIns="0" rIns="0" bIns="0" rtlCol="0" anchor="ctr"/>
          <a:lstStyle/>
          <a:p>
            <a:pPr algn="ctr" indent="0" marL="0">
              <a:buNone/>
            </a:pPr>
            <a:r>
              <a:rPr lang="en-US" sz="2400" b="1" dirty="0">
                <a:solidFill>
                  <a:srgbClr val="D95D7F"/>
                </a:solidFill>
              </a:rPr>
              <a:t>✓</a:t>
            </a:r>
            <a:endParaRPr lang="en-US" sz="2400" dirty="0"/>
          </a:p>
        </p:txBody>
      </p:sp>
      <p:sp>
        <p:nvSpPr>
          <p:cNvPr id="6" name="Text 3"/>
          <p:cNvSpPr txBox="1"/>
          <p:nvPr/>
        </p:nvSpPr>
        <p:spPr>
          <a:xfrm>
            <a:off x="1463040" y="1417320"/>
            <a:ext cx="9966960" cy="762000"/>
          </a:xfrm>
          <a:prstGeom prst="rect">
            <a:avLst/>
          </a:prstGeom>
          <a:noFill/>
          <a:ln/>
        </p:spPr>
        <p:txBody>
          <a:bodyPr wrap="square" lIns="0" tIns="0" rIns="0" bIns="0" rtlCol="0" anchor="ctr"/>
          <a:lstStyle/>
          <a:p>
            <a:pPr indent="0" marL="0">
              <a:buNone/>
            </a:pPr>
            <a:r>
              <a:rPr lang="en-US" sz="1800" b="1" dirty="0">
                <a:solidFill>
                  <a:srgbClr val="3B2A2A"/>
                </a:solidFill>
              </a:rPr>
              <a:t>Uso, hábito e dependência são diferentes</a:t>
            </a:r>
            <a:endParaRPr lang="en-US" sz="1800" dirty="0"/>
          </a:p>
        </p:txBody>
      </p:sp>
      <p:sp>
        <p:nvSpPr>
          <p:cNvPr id="7" name="Shape 4"/>
          <p:cNvSpPr/>
          <p:nvPr/>
        </p:nvSpPr>
        <p:spPr>
          <a:xfrm>
            <a:off x="548640" y="2289048"/>
            <a:ext cx="11064240" cy="762000"/>
          </a:xfrm>
          <a:prstGeom prst="roundRect">
            <a:avLst>
              <a:gd name="adj" fmla="val 14400"/>
            </a:avLst>
          </a:prstGeom>
          <a:solidFill>
            <a:srgbClr val="FFFFFF">
              <a:alpha val="88000"/>
            </a:srgbClr>
          </a:solidFill>
          <a:ln w="12700">
            <a:solidFill>
              <a:srgbClr val="FFFFFF">
                <a:alpha val="88000"/>
              </a:srgbClr>
            </a:solidFill>
            <a:prstDash val="solid"/>
          </a:ln>
        </p:spPr>
      </p:sp>
      <p:sp>
        <p:nvSpPr>
          <p:cNvPr id="8" name="Text 5"/>
          <p:cNvSpPr txBox="1"/>
          <p:nvPr/>
        </p:nvSpPr>
        <p:spPr>
          <a:xfrm>
            <a:off x="731520" y="2289048"/>
            <a:ext cx="548640" cy="762000"/>
          </a:xfrm>
          <a:prstGeom prst="rect">
            <a:avLst/>
          </a:prstGeom>
          <a:noFill/>
          <a:ln/>
        </p:spPr>
        <p:txBody>
          <a:bodyPr wrap="square" lIns="0" tIns="0" rIns="0" bIns="0" rtlCol="0" anchor="ctr"/>
          <a:lstStyle/>
          <a:p>
            <a:pPr algn="ctr" indent="0" marL="0">
              <a:buNone/>
            </a:pPr>
            <a:r>
              <a:rPr lang="en-US" sz="2400" b="1" dirty="0">
                <a:solidFill>
                  <a:srgbClr val="D95D7F"/>
                </a:solidFill>
              </a:rPr>
              <a:t>✓</a:t>
            </a:r>
            <a:endParaRPr lang="en-US" sz="2400" dirty="0"/>
          </a:p>
        </p:txBody>
      </p:sp>
      <p:sp>
        <p:nvSpPr>
          <p:cNvPr id="9" name="Text 6"/>
          <p:cNvSpPr txBox="1"/>
          <p:nvPr/>
        </p:nvSpPr>
        <p:spPr>
          <a:xfrm>
            <a:off x="1463040" y="2289048"/>
            <a:ext cx="9966960" cy="762000"/>
          </a:xfrm>
          <a:prstGeom prst="rect">
            <a:avLst/>
          </a:prstGeom>
          <a:noFill/>
          <a:ln/>
        </p:spPr>
        <p:txBody>
          <a:bodyPr wrap="square" lIns="0" tIns="0" rIns="0" bIns="0" rtlCol="0" anchor="ctr"/>
          <a:lstStyle/>
          <a:p>
            <a:pPr indent="0" marL="0">
              <a:buNone/>
            </a:pPr>
            <a:r>
              <a:rPr lang="en-US" sz="1800" b="1" dirty="0">
                <a:solidFill>
                  <a:srgbClr val="3B2A2A"/>
                </a:solidFill>
              </a:rPr>
              <a:t>Sinais de alerta pedem conversa e apoio, não culpa</a:t>
            </a:r>
            <a:endParaRPr lang="en-US" sz="1800" dirty="0"/>
          </a:p>
        </p:txBody>
      </p:sp>
      <p:sp>
        <p:nvSpPr>
          <p:cNvPr id="10" name="Shape 7"/>
          <p:cNvSpPr/>
          <p:nvPr/>
        </p:nvSpPr>
        <p:spPr>
          <a:xfrm>
            <a:off x="548640" y="3160776"/>
            <a:ext cx="11064240" cy="762000"/>
          </a:xfrm>
          <a:prstGeom prst="roundRect">
            <a:avLst>
              <a:gd name="adj" fmla="val 14400"/>
            </a:avLst>
          </a:prstGeom>
          <a:solidFill>
            <a:srgbClr val="FFFFFF">
              <a:alpha val="88000"/>
            </a:srgbClr>
          </a:solidFill>
          <a:ln w="12700">
            <a:solidFill>
              <a:srgbClr val="FFFFFF">
                <a:alpha val="88000"/>
              </a:srgbClr>
            </a:solidFill>
            <a:prstDash val="solid"/>
          </a:ln>
        </p:spPr>
      </p:sp>
      <p:sp>
        <p:nvSpPr>
          <p:cNvPr id="11" name="Text 8"/>
          <p:cNvSpPr txBox="1"/>
          <p:nvPr/>
        </p:nvSpPr>
        <p:spPr>
          <a:xfrm>
            <a:off x="731520" y="3160776"/>
            <a:ext cx="548640" cy="762000"/>
          </a:xfrm>
          <a:prstGeom prst="rect">
            <a:avLst/>
          </a:prstGeom>
          <a:noFill/>
          <a:ln/>
        </p:spPr>
        <p:txBody>
          <a:bodyPr wrap="square" lIns="0" tIns="0" rIns="0" bIns="0" rtlCol="0" anchor="ctr"/>
          <a:lstStyle/>
          <a:p>
            <a:pPr algn="ctr" indent="0" marL="0">
              <a:buNone/>
            </a:pPr>
            <a:r>
              <a:rPr lang="en-US" sz="2400" b="1" dirty="0">
                <a:solidFill>
                  <a:srgbClr val="D95D7F"/>
                </a:solidFill>
              </a:rPr>
              <a:t>✓</a:t>
            </a:r>
            <a:endParaRPr lang="en-US" sz="2400" dirty="0"/>
          </a:p>
        </p:txBody>
      </p:sp>
      <p:sp>
        <p:nvSpPr>
          <p:cNvPr id="12" name="Text 9"/>
          <p:cNvSpPr txBox="1"/>
          <p:nvPr/>
        </p:nvSpPr>
        <p:spPr>
          <a:xfrm>
            <a:off x="1463040" y="3160776"/>
            <a:ext cx="9966960" cy="762000"/>
          </a:xfrm>
          <a:prstGeom prst="rect">
            <a:avLst/>
          </a:prstGeom>
          <a:noFill/>
          <a:ln/>
        </p:spPr>
        <p:txBody>
          <a:bodyPr wrap="square" lIns="0" tIns="0" rIns="0" bIns="0" rtlCol="0" anchor="ctr"/>
          <a:lstStyle/>
          <a:p>
            <a:pPr indent="0" marL="0">
              <a:buNone/>
            </a:pPr>
            <a:r>
              <a:rPr lang="en-US" sz="1800" b="1" dirty="0">
                <a:solidFill>
                  <a:srgbClr val="3B2A2A"/>
                </a:solidFill>
              </a:rPr>
              <a:t>Apoio sem salvaguardas pode melhorar o desempenho sem melhorar a aprendizagem</a:t>
            </a:r>
            <a:endParaRPr lang="en-US" sz="1800" dirty="0"/>
          </a:p>
        </p:txBody>
      </p:sp>
      <p:sp>
        <p:nvSpPr>
          <p:cNvPr id="13" name="Shape 10"/>
          <p:cNvSpPr/>
          <p:nvPr/>
        </p:nvSpPr>
        <p:spPr>
          <a:xfrm>
            <a:off x="548640" y="4032504"/>
            <a:ext cx="11064240" cy="762000"/>
          </a:xfrm>
          <a:prstGeom prst="roundRect">
            <a:avLst>
              <a:gd name="adj" fmla="val 14400"/>
            </a:avLst>
          </a:prstGeom>
          <a:solidFill>
            <a:srgbClr val="FFFFFF">
              <a:alpha val="88000"/>
            </a:srgbClr>
          </a:solidFill>
          <a:ln w="12700">
            <a:solidFill>
              <a:srgbClr val="FFFFFF">
                <a:alpha val="88000"/>
              </a:srgbClr>
            </a:solidFill>
            <a:prstDash val="solid"/>
          </a:ln>
        </p:spPr>
      </p:sp>
      <p:sp>
        <p:nvSpPr>
          <p:cNvPr id="14" name="Text 11"/>
          <p:cNvSpPr txBox="1"/>
          <p:nvPr/>
        </p:nvSpPr>
        <p:spPr>
          <a:xfrm>
            <a:off x="731520" y="4032504"/>
            <a:ext cx="548640" cy="762000"/>
          </a:xfrm>
          <a:prstGeom prst="rect">
            <a:avLst/>
          </a:prstGeom>
          <a:noFill/>
          <a:ln/>
        </p:spPr>
        <p:txBody>
          <a:bodyPr wrap="square" lIns="0" tIns="0" rIns="0" bIns="0" rtlCol="0" anchor="ctr"/>
          <a:lstStyle/>
          <a:p>
            <a:pPr algn="ctr" indent="0" marL="0">
              <a:buNone/>
            </a:pPr>
            <a:r>
              <a:rPr lang="en-US" sz="2400" b="1" dirty="0">
                <a:solidFill>
                  <a:srgbClr val="D95D7F"/>
                </a:solidFill>
              </a:rPr>
              <a:t>✓</a:t>
            </a:r>
            <a:endParaRPr lang="en-US" sz="2400" dirty="0"/>
          </a:p>
        </p:txBody>
      </p:sp>
      <p:sp>
        <p:nvSpPr>
          <p:cNvPr id="15" name="Text 12"/>
          <p:cNvSpPr txBox="1"/>
          <p:nvPr/>
        </p:nvSpPr>
        <p:spPr>
          <a:xfrm>
            <a:off x="1463040" y="4032504"/>
            <a:ext cx="9966960" cy="762000"/>
          </a:xfrm>
          <a:prstGeom prst="rect">
            <a:avLst/>
          </a:prstGeom>
          <a:noFill/>
          <a:ln/>
        </p:spPr>
        <p:txBody>
          <a:bodyPr wrap="square" lIns="0" tIns="0" rIns="0" bIns="0" rtlCol="0" anchor="ctr"/>
          <a:lstStyle/>
          <a:p>
            <a:pPr indent="0" marL="0">
              <a:buNone/>
            </a:pPr>
            <a:r>
              <a:rPr lang="en-US" sz="1800" b="1" dirty="0">
                <a:solidFill>
                  <a:srgbClr val="3B2A2A"/>
                </a:solidFill>
              </a:rPr>
              <a:t>Tempo economizado não é automaticamente tempo livre</a:t>
            </a:r>
            <a:endParaRPr lang="en-US" sz="1800" dirty="0"/>
          </a:p>
        </p:txBody>
      </p:sp>
      <p:sp>
        <p:nvSpPr>
          <p:cNvPr id="16" name="Shape 13"/>
          <p:cNvSpPr/>
          <p:nvPr/>
        </p:nvSpPr>
        <p:spPr>
          <a:xfrm>
            <a:off x="548640" y="4904232"/>
            <a:ext cx="11064240" cy="762000"/>
          </a:xfrm>
          <a:prstGeom prst="roundRect">
            <a:avLst>
              <a:gd name="adj" fmla="val 14400"/>
            </a:avLst>
          </a:prstGeom>
          <a:solidFill>
            <a:srgbClr val="FFFFFF">
              <a:alpha val="88000"/>
            </a:srgbClr>
          </a:solidFill>
          <a:ln w="12700">
            <a:solidFill>
              <a:srgbClr val="FFFFFF">
                <a:alpha val="88000"/>
              </a:srgbClr>
            </a:solidFill>
            <a:prstDash val="solid"/>
          </a:ln>
        </p:spPr>
      </p:sp>
      <p:sp>
        <p:nvSpPr>
          <p:cNvPr id="17" name="Text 14"/>
          <p:cNvSpPr txBox="1"/>
          <p:nvPr/>
        </p:nvSpPr>
        <p:spPr>
          <a:xfrm>
            <a:off x="731520" y="4904232"/>
            <a:ext cx="548640" cy="762000"/>
          </a:xfrm>
          <a:prstGeom prst="rect">
            <a:avLst/>
          </a:prstGeom>
          <a:noFill/>
          <a:ln/>
        </p:spPr>
        <p:txBody>
          <a:bodyPr wrap="square" lIns="0" tIns="0" rIns="0" bIns="0" rtlCol="0" anchor="ctr"/>
          <a:lstStyle/>
          <a:p>
            <a:pPr algn="ctr" indent="0" marL="0">
              <a:buNone/>
            </a:pPr>
            <a:r>
              <a:rPr lang="en-US" sz="2400" b="1" dirty="0">
                <a:solidFill>
                  <a:srgbClr val="D95D7F"/>
                </a:solidFill>
              </a:rPr>
              <a:t>✓</a:t>
            </a:r>
            <a:endParaRPr lang="en-US" sz="2400" dirty="0"/>
          </a:p>
        </p:txBody>
      </p:sp>
      <p:sp>
        <p:nvSpPr>
          <p:cNvPr id="18" name="Text 15"/>
          <p:cNvSpPr txBox="1"/>
          <p:nvPr/>
        </p:nvSpPr>
        <p:spPr>
          <a:xfrm>
            <a:off x="1463040" y="4904232"/>
            <a:ext cx="9966960" cy="762000"/>
          </a:xfrm>
          <a:prstGeom prst="rect">
            <a:avLst/>
          </a:prstGeom>
          <a:noFill/>
          <a:ln/>
        </p:spPr>
        <p:txBody>
          <a:bodyPr wrap="square" lIns="0" tIns="0" rIns="0" bIns="0" rtlCol="0" anchor="ctr"/>
          <a:lstStyle/>
          <a:p>
            <a:pPr indent="0" marL="0">
              <a:buNone/>
            </a:pPr>
            <a:r>
              <a:rPr lang="en-US" sz="1800" b="1" dirty="0">
                <a:solidFill>
                  <a:srgbClr val="3B2A2A"/>
                </a:solidFill>
              </a:rPr>
              <a:t>O direito de não usar exige condições reais</a:t>
            </a:r>
            <a:endParaRPr lang="en-US" sz="1800" dirty="0"/>
          </a:p>
        </p:txBody>
      </p:sp>
      <p:sp>
        <p:nvSpPr>
          <p:cNvPr id="19" name="Shape 16"/>
          <p:cNvSpPr/>
          <p:nvPr/>
        </p:nvSpPr>
        <p:spPr>
          <a:xfrm>
            <a:off x="548640" y="5775960"/>
            <a:ext cx="11064240" cy="762000"/>
          </a:xfrm>
          <a:prstGeom prst="roundRect">
            <a:avLst>
              <a:gd name="adj" fmla="val 14400"/>
            </a:avLst>
          </a:prstGeom>
          <a:solidFill>
            <a:srgbClr val="FFFFFF">
              <a:alpha val="88000"/>
            </a:srgbClr>
          </a:solidFill>
          <a:ln w="12700">
            <a:solidFill>
              <a:srgbClr val="FFFFFF">
                <a:alpha val="88000"/>
              </a:srgbClr>
            </a:solidFill>
            <a:prstDash val="solid"/>
          </a:ln>
        </p:spPr>
      </p:sp>
      <p:sp>
        <p:nvSpPr>
          <p:cNvPr id="20" name="Text 17"/>
          <p:cNvSpPr txBox="1"/>
          <p:nvPr/>
        </p:nvSpPr>
        <p:spPr>
          <a:xfrm>
            <a:off x="731520" y="5775960"/>
            <a:ext cx="548640" cy="762000"/>
          </a:xfrm>
          <a:prstGeom prst="rect">
            <a:avLst/>
          </a:prstGeom>
          <a:noFill/>
          <a:ln/>
        </p:spPr>
        <p:txBody>
          <a:bodyPr wrap="square" lIns="0" tIns="0" rIns="0" bIns="0" rtlCol="0" anchor="ctr"/>
          <a:lstStyle/>
          <a:p>
            <a:pPr algn="ctr" indent="0" marL="0">
              <a:buNone/>
            </a:pPr>
            <a:r>
              <a:rPr lang="en-US" sz="2400" b="1" dirty="0">
                <a:solidFill>
                  <a:srgbClr val="D95D7F"/>
                </a:solidFill>
              </a:rPr>
              <a:t>✓</a:t>
            </a:r>
            <a:endParaRPr lang="en-US" sz="2400" dirty="0"/>
          </a:p>
        </p:txBody>
      </p:sp>
      <p:sp>
        <p:nvSpPr>
          <p:cNvPr id="21" name="Text 18"/>
          <p:cNvSpPr txBox="1"/>
          <p:nvPr/>
        </p:nvSpPr>
        <p:spPr>
          <a:xfrm>
            <a:off x="1463040" y="5775960"/>
            <a:ext cx="9966960" cy="762000"/>
          </a:xfrm>
          <a:prstGeom prst="rect">
            <a:avLst/>
          </a:prstGeom>
          <a:noFill/>
          <a:ln/>
        </p:spPr>
        <p:txBody>
          <a:bodyPr wrap="square" lIns="0" tIns="0" rIns="0" bIns="0" rtlCol="0" anchor="ctr"/>
          <a:lstStyle/>
          <a:p>
            <a:pPr indent="0" marL="0">
              <a:buNone/>
            </a:pPr>
            <a:r>
              <a:rPr lang="en-US" sz="1800" b="1" dirty="0">
                <a:solidFill>
                  <a:srgbClr val="3B2A2A"/>
                </a:solidFill>
              </a:rPr>
              <a:t>Política boa é curta, participativa e revisada</a:t>
            </a:r>
            <a:endParaRPr lang="en-US" sz="1800" dirty="0"/>
          </a:p>
        </p:txBody>
      </p:sp>
      <p:sp>
        <p:nvSpPr>
          <p:cNvPr id="22" name="Text 19"/>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E9D9C8"/>
                </a:solidFill>
                <a:latin typeface="Calibri" pitchFamily="34" charset="0"/>
                <a:ea typeface="Calibri" pitchFamily="34" charset="-122"/>
                <a:cs typeface="Calibri" pitchFamily="34" charset="-120"/>
              </a:rPr>
              <a:t>IA aplicada à Educação · Cap. 30</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3" name="Text 0"/>
          <p:cNvSpPr txBox="1"/>
          <p:nvPr/>
        </p:nvSpPr>
        <p:spPr>
          <a:xfrm>
            <a:off x="548640" y="365760"/>
            <a:ext cx="11064240" cy="822960"/>
          </a:xfrm>
          <a:prstGeom prst="rect">
            <a:avLst/>
          </a:prstGeom>
          <a:noFill/>
          <a:ln/>
        </p:spPr>
        <p:txBody>
          <a:bodyPr wrap="square" lIns="0" tIns="0" rIns="0" bIns="0" rtlCol="0" anchor="t"/>
          <a:lstStyle/>
          <a:p>
            <a:pPr indent="0" marL="0">
              <a:buNone/>
            </a:pPr>
            <a:r>
              <a:rPr lang="en-US" sz="3400" b="1" dirty="0">
                <a:solidFill>
                  <a:srgbClr val="5A2E2A"/>
                </a:solidFill>
                <a:latin typeface="Cambria" pitchFamily="34" charset="0"/>
                <a:ea typeface="Cambria" pitchFamily="34" charset="-122"/>
                <a:cs typeface="Cambria" pitchFamily="34" charset="-120"/>
              </a:rPr>
              <a:t>Para pensar na sua prática</a:t>
            </a:r>
            <a:endParaRPr lang="en-US" sz="3400" dirty="0"/>
          </a:p>
        </p:txBody>
      </p:sp>
      <p:sp>
        <p:nvSpPr>
          <p:cNvPr id="4" name="Shape 1"/>
          <p:cNvSpPr/>
          <p:nvPr/>
        </p:nvSpPr>
        <p:spPr>
          <a:xfrm>
            <a:off x="548640" y="1463040"/>
            <a:ext cx="11064240" cy="1097280"/>
          </a:xfrm>
          <a:prstGeom prst="roundRect">
            <a:avLst>
              <a:gd name="adj" fmla="val 10000"/>
            </a:avLst>
          </a:prstGeom>
          <a:solidFill>
            <a:srgbClr val="F7EFE6"/>
          </a:solidFill>
          <a:ln w="12700">
            <a:solidFill>
              <a:srgbClr val="F7EFE6"/>
            </a:solidFill>
            <a:prstDash val="solid"/>
          </a:ln>
        </p:spPr>
      </p:sp>
      <p:sp>
        <p:nvSpPr>
          <p:cNvPr id="5" name="Shape 2"/>
          <p:cNvSpPr/>
          <p:nvPr/>
        </p:nvSpPr>
        <p:spPr>
          <a:xfrm>
            <a:off x="777240" y="1737360"/>
            <a:ext cx="548640" cy="548640"/>
          </a:xfrm>
          <a:prstGeom prst="ellipse">
            <a:avLst/>
          </a:prstGeom>
          <a:solidFill>
            <a:srgbClr val="6D3B6E"/>
          </a:solidFill>
          <a:ln w="12700">
            <a:solidFill>
              <a:srgbClr val="6D3B6E"/>
            </a:solidFill>
            <a:prstDash val="solid"/>
          </a:ln>
        </p:spPr>
      </p:sp>
      <p:sp>
        <p:nvSpPr>
          <p:cNvPr id="6" name="Text 3"/>
          <p:cNvSpPr txBox="1"/>
          <p:nvPr/>
        </p:nvSpPr>
        <p:spPr>
          <a:xfrm>
            <a:off x="777240" y="17373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7" name="Text 4"/>
          <p:cNvSpPr txBox="1"/>
          <p:nvPr/>
        </p:nvSpPr>
        <p:spPr>
          <a:xfrm>
            <a:off x="1600200" y="1463040"/>
            <a:ext cx="9784080" cy="1097280"/>
          </a:xfrm>
          <a:prstGeom prst="rect">
            <a:avLst/>
          </a:prstGeom>
          <a:noFill/>
          <a:ln/>
        </p:spPr>
        <p:txBody>
          <a:bodyPr wrap="square" lIns="0" tIns="0" rIns="0" bIns="0" rtlCol="0" anchor="ctr"/>
          <a:lstStyle/>
          <a:p>
            <a:pPr indent="0" marL="0">
              <a:buNone/>
            </a:pPr>
            <a:r>
              <a:rPr lang="en-US" sz="2000" dirty="0">
                <a:solidFill>
                  <a:srgbClr val="3B2A2A"/>
                </a:solidFill>
              </a:rPr>
              <a:t>Em que tarefas a IA apoia sua autonomia e em quais a reduz?</a:t>
            </a:r>
            <a:endParaRPr lang="en-US" sz="2000" dirty="0"/>
          </a:p>
        </p:txBody>
      </p:sp>
      <p:sp>
        <p:nvSpPr>
          <p:cNvPr id="8" name="Shape 5"/>
          <p:cNvSpPr/>
          <p:nvPr/>
        </p:nvSpPr>
        <p:spPr>
          <a:xfrm>
            <a:off x="548640" y="2697480"/>
            <a:ext cx="11064240" cy="1097280"/>
          </a:xfrm>
          <a:prstGeom prst="roundRect">
            <a:avLst>
              <a:gd name="adj" fmla="val 10000"/>
            </a:avLst>
          </a:prstGeom>
          <a:solidFill>
            <a:srgbClr val="F7EFE6"/>
          </a:solidFill>
          <a:ln w="12700">
            <a:solidFill>
              <a:srgbClr val="F7EFE6"/>
            </a:solidFill>
            <a:prstDash val="solid"/>
          </a:ln>
        </p:spPr>
      </p:sp>
      <p:sp>
        <p:nvSpPr>
          <p:cNvPr id="9" name="Shape 6"/>
          <p:cNvSpPr/>
          <p:nvPr/>
        </p:nvSpPr>
        <p:spPr>
          <a:xfrm>
            <a:off x="777240" y="2971800"/>
            <a:ext cx="548640" cy="548640"/>
          </a:xfrm>
          <a:prstGeom prst="ellipse">
            <a:avLst/>
          </a:prstGeom>
          <a:solidFill>
            <a:srgbClr val="6D3B6E"/>
          </a:solidFill>
          <a:ln w="12700">
            <a:solidFill>
              <a:srgbClr val="6D3B6E"/>
            </a:solidFill>
            <a:prstDash val="solid"/>
          </a:ln>
        </p:spPr>
      </p:sp>
      <p:sp>
        <p:nvSpPr>
          <p:cNvPr id="10" name="Text 7"/>
          <p:cNvSpPr txBox="1"/>
          <p:nvPr/>
        </p:nvSpPr>
        <p:spPr>
          <a:xfrm>
            <a:off x="777240" y="29718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1" name="Text 8"/>
          <p:cNvSpPr txBox="1"/>
          <p:nvPr/>
        </p:nvSpPr>
        <p:spPr>
          <a:xfrm>
            <a:off x="1600200" y="2697480"/>
            <a:ext cx="9784080" cy="1097280"/>
          </a:xfrm>
          <a:prstGeom prst="rect">
            <a:avLst/>
          </a:prstGeom>
          <a:noFill/>
          <a:ln/>
        </p:spPr>
        <p:txBody>
          <a:bodyPr wrap="square" lIns="0" tIns="0" rIns="0" bIns="0" rtlCol="0" anchor="ctr"/>
          <a:lstStyle/>
          <a:p>
            <a:pPr indent="0" marL="0">
              <a:buNone/>
            </a:pPr>
            <a:r>
              <a:rPr lang="en-US" sz="2000" dirty="0">
                <a:solidFill>
                  <a:srgbClr val="3B2A2A"/>
                </a:solidFill>
              </a:rPr>
              <a:t>Que habilidade profissional sua você quer manter viva?</a:t>
            </a:r>
            <a:endParaRPr lang="en-US" sz="2000" dirty="0"/>
          </a:p>
        </p:txBody>
      </p:sp>
      <p:sp>
        <p:nvSpPr>
          <p:cNvPr id="12" name="Shape 9"/>
          <p:cNvSpPr/>
          <p:nvPr/>
        </p:nvSpPr>
        <p:spPr>
          <a:xfrm>
            <a:off x="548640" y="3931920"/>
            <a:ext cx="11064240" cy="1097280"/>
          </a:xfrm>
          <a:prstGeom prst="roundRect">
            <a:avLst>
              <a:gd name="adj" fmla="val 10000"/>
            </a:avLst>
          </a:prstGeom>
          <a:solidFill>
            <a:srgbClr val="F7EFE6"/>
          </a:solidFill>
          <a:ln w="12700">
            <a:solidFill>
              <a:srgbClr val="F7EFE6"/>
            </a:solidFill>
            <a:prstDash val="solid"/>
          </a:ln>
        </p:spPr>
      </p:sp>
      <p:sp>
        <p:nvSpPr>
          <p:cNvPr id="13" name="Shape 10"/>
          <p:cNvSpPr/>
          <p:nvPr/>
        </p:nvSpPr>
        <p:spPr>
          <a:xfrm>
            <a:off x="777240" y="4206240"/>
            <a:ext cx="548640" cy="548640"/>
          </a:xfrm>
          <a:prstGeom prst="ellipse">
            <a:avLst/>
          </a:prstGeom>
          <a:solidFill>
            <a:srgbClr val="6D3B6E"/>
          </a:solidFill>
          <a:ln w="12700">
            <a:solidFill>
              <a:srgbClr val="6D3B6E"/>
            </a:solidFill>
            <a:prstDash val="solid"/>
          </a:ln>
        </p:spPr>
      </p:sp>
      <p:sp>
        <p:nvSpPr>
          <p:cNvPr id="14" name="Text 11"/>
          <p:cNvSpPr txBox="1"/>
          <p:nvPr/>
        </p:nvSpPr>
        <p:spPr>
          <a:xfrm>
            <a:off x="777240" y="420624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5" name="Text 12"/>
          <p:cNvSpPr txBox="1"/>
          <p:nvPr/>
        </p:nvSpPr>
        <p:spPr>
          <a:xfrm>
            <a:off x="1600200" y="3931920"/>
            <a:ext cx="9784080" cy="1097280"/>
          </a:xfrm>
          <a:prstGeom prst="rect">
            <a:avLst/>
          </a:prstGeom>
          <a:noFill/>
          <a:ln/>
        </p:spPr>
        <p:txBody>
          <a:bodyPr wrap="square" lIns="0" tIns="0" rIns="0" bIns="0" rtlCol="0" anchor="ctr"/>
          <a:lstStyle/>
          <a:p>
            <a:pPr indent="0" marL="0">
              <a:buNone/>
            </a:pPr>
            <a:r>
              <a:rPr lang="en-US" sz="2000" dirty="0">
                <a:solidFill>
                  <a:srgbClr val="3B2A2A"/>
                </a:solidFill>
              </a:rPr>
              <a:t>O tempo economizado volta ao pedagógico, ao descanso ou a novas demandas?</a:t>
            </a:r>
            <a:endParaRPr lang="en-US" sz="2000" dirty="0"/>
          </a:p>
        </p:txBody>
      </p:sp>
      <p:sp>
        <p:nvSpPr>
          <p:cNvPr id="16" name="Shape 13"/>
          <p:cNvSpPr/>
          <p:nvPr/>
        </p:nvSpPr>
        <p:spPr>
          <a:xfrm>
            <a:off x="548640" y="5166360"/>
            <a:ext cx="11064240" cy="1097280"/>
          </a:xfrm>
          <a:prstGeom prst="roundRect">
            <a:avLst>
              <a:gd name="adj" fmla="val 10000"/>
            </a:avLst>
          </a:prstGeom>
          <a:solidFill>
            <a:srgbClr val="F7EFE6"/>
          </a:solidFill>
          <a:ln w="12700">
            <a:solidFill>
              <a:srgbClr val="F7EFE6"/>
            </a:solidFill>
            <a:prstDash val="solid"/>
          </a:ln>
        </p:spPr>
      </p:sp>
      <p:sp>
        <p:nvSpPr>
          <p:cNvPr id="17" name="Shape 14"/>
          <p:cNvSpPr/>
          <p:nvPr/>
        </p:nvSpPr>
        <p:spPr>
          <a:xfrm>
            <a:off x="777240" y="5440680"/>
            <a:ext cx="548640" cy="548640"/>
          </a:xfrm>
          <a:prstGeom prst="ellipse">
            <a:avLst/>
          </a:prstGeom>
          <a:solidFill>
            <a:srgbClr val="6D3B6E"/>
          </a:solidFill>
          <a:ln w="12700">
            <a:solidFill>
              <a:srgbClr val="6D3B6E"/>
            </a:solidFill>
            <a:prstDash val="solid"/>
          </a:ln>
        </p:spPr>
      </p:sp>
      <p:sp>
        <p:nvSpPr>
          <p:cNvPr id="18" name="Text 15"/>
          <p:cNvSpPr txBox="1"/>
          <p:nvPr/>
        </p:nvSpPr>
        <p:spPr>
          <a:xfrm>
            <a:off x="777240" y="54406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9" name="Text 16"/>
          <p:cNvSpPr txBox="1"/>
          <p:nvPr/>
        </p:nvSpPr>
        <p:spPr>
          <a:xfrm>
            <a:off x="1600200" y="5166360"/>
            <a:ext cx="9784080" cy="1097280"/>
          </a:xfrm>
          <a:prstGeom prst="rect">
            <a:avLst/>
          </a:prstGeom>
          <a:noFill/>
          <a:ln/>
        </p:spPr>
        <p:txBody>
          <a:bodyPr wrap="square" lIns="0" tIns="0" rIns="0" bIns="0" rtlCol="0" anchor="ctr"/>
          <a:lstStyle/>
          <a:p>
            <a:pPr indent="0" marL="0">
              <a:buNone/>
            </a:pPr>
            <a:r>
              <a:rPr lang="en-US" sz="2000" dirty="0">
                <a:solidFill>
                  <a:srgbClr val="3B2A2A"/>
                </a:solidFill>
              </a:rPr>
              <a:t>Como sua instituição trataria quem decide não usar IA?</a:t>
            </a:r>
            <a:endParaRPr lang="en-US" sz="2000" dirty="0"/>
          </a:p>
        </p:txBody>
      </p:sp>
      <p:sp>
        <p:nvSpPr>
          <p:cNvPr id="20" name="Text 17"/>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6B5F59"/>
                </a:solidFill>
                <a:latin typeface="Calibri" pitchFamily="34" charset="0"/>
                <a:ea typeface="Calibri" pitchFamily="34" charset="-122"/>
                <a:cs typeface="Calibri" pitchFamily="34" charset="-120"/>
              </a:rPr>
              <a:t>IA aplicada à Educação · Cap. 30</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5A2E2A"/>
        </a:solidFill>
      </p:bgPr>
    </p:bg>
    <p:spTree>
      <p:nvGrpSpPr>
        <p:cNvPr id="1" name=""/>
        <p:cNvGrpSpPr/>
        <p:nvPr/>
      </p:nvGrpSpPr>
      <p:grpSpPr>
        <a:xfrm>
          <a:off x="0" y="0"/>
          <a:ext cx="0" cy="0"/>
          <a:chOff x="0" y="0"/>
          <a:chExt cx="0" cy="0"/>
        </a:xfrm>
      </p:grpSpPr>
      <p:sp>
        <p:nvSpPr>
          <p:cNvPr id="3" name="Shape 0"/>
          <p:cNvSpPr/>
          <p:nvPr/>
        </p:nvSpPr>
        <p:spPr>
          <a:xfrm>
            <a:off x="-1371600" y="3840480"/>
            <a:ext cx="4572000" cy="4572000"/>
          </a:xfrm>
          <a:prstGeom prst="ellipse">
            <a:avLst/>
          </a:prstGeom>
          <a:solidFill>
            <a:srgbClr val="D95D7F">
              <a:alpha val="70000"/>
            </a:srgbClr>
          </a:solidFill>
          <a:ln w="12700">
            <a:solidFill>
              <a:srgbClr val="D95D7F">
                <a:alpha val="70000"/>
              </a:srgbClr>
            </a:solidFill>
            <a:prstDash val="solid"/>
          </a:ln>
        </p:spPr>
      </p:sp>
      <p:sp>
        <p:nvSpPr>
          <p:cNvPr id="4" name="Text 1"/>
          <p:cNvSpPr txBox="1"/>
          <p:nvPr/>
        </p:nvSpPr>
        <p:spPr>
          <a:xfrm>
            <a:off x="1097280" y="1828800"/>
            <a:ext cx="10058400" cy="201168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Regras boas nascem de quem está na sala de aula.</a:t>
            </a:r>
            <a:endParaRPr lang="en-US" sz="4400" dirty="0"/>
          </a:p>
        </p:txBody>
      </p:sp>
      <p:sp>
        <p:nvSpPr>
          <p:cNvPr id="5" name="Text 2"/>
          <p:cNvSpPr txBox="1"/>
          <p:nvPr/>
        </p:nvSpPr>
        <p:spPr>
          <a:xfrm>
            <a:off x="1097280" y="4114800"/>
            <a:ext cx="10058400" cy="640080"/>
          </a:xfrm>
          <a:prstGeom prst="rect">
            <a:avLst/>
          </a:prstGeom>
          <a:noFill/>
          <a:ln/>
        </p:spPr>
        <p:txBody>
          <a:bodyPr wrap="square" lIns="0" tIns="0" rIns="0" bIns="0" rtlCol="0" anchor="ctr"/>
          <a:lstStyle/>
          <a:p>
            <a:pPr algn="ctr" indent="0" marL="0">
              <a:buNone/>
            </a:pPr>
            <a:r>
              <a:rPr lang="en-US" sz="2200" i="1" dirty="0">
                <a:solidFill>
                  <a:srgbClr val="F4B860"/>
                </a:solidFill>
              </a:rPr>
              <a:t>A docência é insubstituível.</a:t>
            </a:r>
            <a:endParaRPr lang="en-US" sz="2200" dirty="0"/>
          </a:p>
        </p:txBody>
      </p:sp>
      <p:sp>
        <p:nvSpPr>
          <p:cNvPr id="6" name="Text 3"/>
          <p:cNvSpPr txBox="1"/>
          <p:nvPr/>
        </p:nvSpPr>
        <p:spPr>
          <a:xfrm>
            <a:off x="1097280" y="5029200"/>
            <a:ext cx="10058400" cy="548640"/>
          </a:xfrm>
          <a:prstGeom prst="rect">
            <a:avLst/>
          </a:prstGeom>
          <a:noFill/>
          <a:ln/>
        </p:spPr>
        <p:txBody>
          <a:bodyPr wrap="square" lIns="0" tIns="0" rIns="0" bIns="0" rtlCol="0" anchor="ctr"/>
          <a:lstStyle/>
          <a:p>
            <a:pPr algn="ctr" indent="0" marL="0">
              <a:buNone/>
            </a:pPr>
            <a:r>
              <a:rPr lang="en-US" sz="1800" dirty="0">
                <a:solidFill>
                  <a:srgbClr val="E9D9C8"/>
                </a:solidFill>
              </a:rPr>
              <a:t>Obrigado(a)!</a:t>
            </a:r>
            <a:endParaRPr lang="en-US" sz="1800" dirty="0"/>
          </a:p>
        </p:txBody>
      </p:sp>
    </p:spTree>
  </p:cSld>
  <p:clrMapOvr>
    <a:masterClrMapping/>
  </p:clrMapOvr>
</p:sld>
</file>

<file path=ppt/theme/theme1.xml><?xml version="1.0" encoding="utf-8"?>
<a:theme xmlns:a="http://schemas.openxmlformats.org/drawingml/2006/main" name="IA na Educação">
  <a:themeElements>
    <a:clrScheme name="IA na Educação">
      <a:dk1>
        <a:srgbClr val="3B2A2A"/>
      </a:dk1>
      <a:lt1>
        <a:srgbClr val="FFFFFF"/>
      </a:lt1>
      <a:dk2>
        <a:srgbClr val="5A2E2A"/>
      </a:dk2>
      <a:lt2>
        <a:srgbClr val="F7EFE6"/>
      </a:lt2>
      <a:accent1>
        <a:srgbClr val="D9653B"/>
      </a:accent1>
      <a:accent2>
        <a:srgbClr val="2A9D8F"/>
      </a:accent2>
      <a:accent3>
        <a:srgbClr val="E9A23B"/>
      </a:accent3>
      <a:accent4>
        <a:srgbClr val="6D3B6E"/>
      </a:accent4>
      <a:accent5>
        <a:srgbClr val="3D7EA6"/>
      </a:accent5>
      <a:accent6>
        <a:srgbClr val="6E9A4F"/>
      </a:accent6>
      <a:hlink>
        <a:srgbClr val="3D7EA6"/>
      </a:hlink>
      <a:folHlink>
        <a:srgbClr val="6D3B6E"/>
      </a:folHlink>
    </a:clrScheme>
    <a:fontScheme name="IA na Educaçã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Capítulo 30 — Dependência, trabalho docente e políticas institucionais</dc:title>
  <dc:subject>PptxGenJS Presentation</dc:subject>
  <dc:creator>Araken de Medeiros Santos</dc:creator>
  <cp:lastModifiedBy>Araken de Medeiros Santos</cp:lastModifiedBy>
  <cp:revision>1</cp:revision>
  <dcterms:created xsi:type="dcterms:W3CDTF">2026-10-26T18:55:47Z</dcterms:created>
  <dcterms:modified xsi:type="dcterms:W3CDTF">2026-10-26T18:55:47Z</dcterms:modified>
</cp:coreProperties>
</file>