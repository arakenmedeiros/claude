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7. Apresente o tema e peça que a turma pense em uma situação do dia a dia relacionada.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os objetivos. O capítulo traz a ciência da aprendizagem para qualquer decisão sobre IA. Avise que haverá uma atividade de prever, investigar e explicar.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 a cena: Beatriz já domina velocidade e avança; Camila tem a ideia de que se há movimento, há força na mesma direção, recebe a explicação correta, concorda, copia e segue. Na prova, Beatriz vai bem e Camila repete o erro. Cena fictícia. Pergunte à turma o que faltou a Camila.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como roteiro: conhecimentos prévios, desenvolvimento e mediação, carga cognitiva, esforço produtivo, aprendizagem ativa e diferenças individuais.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Ausubel: o fator isolado mais importante é o que o aprendiz já sabe. Sem âncora, decora-se sem compreender. Concepções alternativas são resistentes: ouvir a explicação correta não basta, é preciso perceber o conflito. Use o exemplo do verão: ficar mais perto do Sol. Peça outra concepção comum na disciplina da turma.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isso significa para a IA: uma explicação correta e clara não garante mudança conceitual. Atividades em que o estudante expõe suas ideias antes e depois confronta com evidências tendem a ser mais promissoras. Mostre a sequência, que será usada na atividade.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Piaget foi questionado e refinado, e hoje serve como lente, não como regra rígida. Crianças pequenas aprendem com objetos concretos, brincadeira e interação. Por isso não generalize resultados de um nível de ensino para outro sem justificativa e evidência. Algo que funciona com universitários pode ser inadequado a crianças.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Vygotsky: a ZDP é a distância entre o que a pessoa faz sozinha e o que faz com ajuda de alguém mais experiente. A ajuda adequada se ajusta ao estudante e se retira aos poucos. Peça um exemplo de mediação em aula.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Andaime: apoio temporário que permite realizar uma tarefa além do que se faria sozinho, e que é retirado. Um assistente pode ser andaime, com dicas graduais, ou muleta, com resposta pronta. Peça à turma que dê exemplo de cada um.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Dois estudos, lidos com cuidado. No experimento com cerca de mil estudantes de ensino médio em Matemática, houve melhora enquanto o acesso existia, e piora sem salvaguardas depois que foi retirado; com dicas em vez de respostas, o efeito negativo foi atenuado. No ensaio com universitários, um tutor desenhado com princípios pedagógicos ensinou mais em menos tempo, em um conteúdo específico e com teste logo após. Não se contradizem: o desenho do apoio é decisivo.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Memória de trabalho é limitada. Há carga intrínseca (do conteúdo), extrínseca (do mau desenho) e relevante (do esforço de construir). A IA pode reduzir a extrínseca, o que é benefício, mas corre o risco de eliminar também a relevante, quando faz a organização, a síntese e a resolução. Peça um exemplo de cada carga.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Dificuldades desejáveis: espaçar o estudo, intercalar problemas, tentar lembrar antes de consultar e explicar com as próprias palavras prejudicam o desempenho imediato, mas melhoram a retenção a longo prazo. O efeito do teste: recuperar da memória fortalece mais que reler. Peça que a turma escolha uma estratégia para propor aos estudantes.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Escala: tarefa fácil demais ou resolvida por outro, pouco esforço; esforço produtivo no meio, desafio possível com apoio; tarefa impossível ou confusa, esforço improdutivo. A IA pode deslocar o estudante para qualquer ponto. Pergunte onde a turma quer que os estudantes estejam.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para a frase de impacto. Um experimento de laboratório com 117 estudantes sugeriu possível preguiça metacognitiva: o texto melhorou, mas sem ganhos significativos de conhecimento e transferência. A palavra possível importa. Pergunte à turma: quem está pensando na tarefa? Tempo: 2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Aprendizagem ativa se associa a melhor desempenho e menor reprovação em meta-análise de 225 estudos no ensino superior de STEM. Mas instrução com pouca orientação tende a ser menos eficaz para iniciantes. Ativo não significa sem orientação. Um ensaio isolado de Macroeconomia sugere combinar IA e trabalho em grupo. Tempo: 4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Estilos de aprendizagem: uma revisão rigorosa concluiu que faltam evidências para ajustar o ensino a eles. Isso não torna inútil variar a forma de apresentação, que ajuda a todos. O que não tem sustentação é rotular estudantes. Rótulos podem virar profecias autorrealizáveis, e sistemas de IA que perfilam estudantes podem agravar isso.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Prever, investigar, explicar e comparar. A IA é interlocutor opcional e deve pedir perguntas em vez de dar a resposta. Para menores de 13 anos, a etapa com IA só como demonstração do professor. A sequência importa mais que a ferramenta. Duas aulas de 50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Riscos do capítulo. A ilusão de compreensão: texto bem explicado dá a sensação de entender. Resultados de universitários não valem automaticamente para crianças. Explicações incorretas do sistema podem reforçar concepções alternativas. Pergunte à turma qual desses riscos mais a preocupa.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o objetivo é construir a explicação, o raciocínio ou a memória por conta própria, dispense a IA: primeira tentativa, ideias prévias, recuperação da memória, avaliação individual. Use-a depois, para revisão e comparação. Mostre o contraste com o que tende a ajudar.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do capítulo em dois painéis. A figura é ilustração conceitual com base nos princípios, não em dados. Peça que a turma proponha uma tarefa sua e a localize no painel. Tempo: 3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Releia os itens e peça que a turma escolha o que mudaria em uma atividade já planejada. Volte a Camila: que andaime teria ajudado?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Duas perguntas para duplas, 5 minutos. A previsão antes da explicação é um hábito simples para levar já à próxima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Encerramento. Convide a turma a escolher uma ideia para experimentar nesta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2A9D8F">
              <a:alpha val="75000"/>
            </a:srgbClr>
          </a:solidFill>
          <a:ln w="12700">
            <a:solidFill>
              <a:srgbClr val="2A9D8F">
                <a:alpha val="7500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692640" y="3840480"/>
            <a:ext cx="3840480" cy="3840480"/>
          </a:xfrm>
          <a:prstGeom prst="ellipse">
            <a:avLst/>
          </a:prstGeom>
          <a:solidFill>
            <a:srgbClr val="E9A23B">
              <a:alpha val="65000"/>
            </a:srgbClr>
          </a:solidFill>
          <a:ln w="12700">
            <a:solidFill>
              <a:srgbClr val="E9A23B">
                <a:alpha val="65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4B860"/>
                </a:solidFill>
              </a:rPr>
              <a:t>CAPÍTULO 7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737360"/>
            <a:ext cx="8412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 aprende: conhecimentos prévios, esforço e aprendizagem ativa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4297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7EFE6"/>
                </a:solidFill>
              </a:rPr>
              <a:t>Parte II — Fundamentos pedagógicos e planejamento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D9C8"/>
                </a:solidFill>
              </a:rPr>
              <a:t>Inteligência Artificial Aplicada à Educação · Araken de Medeiros Santos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vamos aprender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31520" y="164592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4630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Explicar por que os conhecimentos prévios importam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4688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65176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651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554480" y="24688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Relacionar mediação e andaimes ao uso de IA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747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54480" y="347472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Distinguir esforço produtivo de improdutivo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4805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466344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4663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44805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Descrever a aprendizagem ativa com orientação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31520" y="5669280"/>
            <a:ext cx="548640" cy="54864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5669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554480" y="54864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Planejar uma atividade de ideias prévias e investigação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22960" y="914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FFFF"/>
                </a:solidFill>
              </a:rPr>
              <a:t>DUAS ESTUDANTES, O MESMO ASSISTENTE</a:t>
            </a:r>
            <a:endParaRPr lang="en-US" sz="18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1645920"/>
            <a:ext cx="10515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mesmo recurso funciona para uma estudante e não para outra?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3E6"/>
                </a:solidFill>
              </a:rPr>
              <a:t>Cena fictícia: depende do que o estudante já sabe e de como interage com a ferramenta.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do capítulo</a:t>
            </a:r>
            <a:endParaRPr lang="en-US" sz="3400" dirty="0"/>
          </a:p>
        </p:txBody>
      </p:sp>
      <p:pic>
        <p:nvPicPr>
          <p:cNvPr id="4" name="Image 0" descr="Figura 7.1 — Mapa dos conceitos principais do capítul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30290" y="1325880"/>
            <a:ext cx="6300940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Figura 7.1 — Mapa dos conceitos principais do capítulo.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Conhecimentos prévios: o ponto de partida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Aprender é conectar o novo ao que já se sabe. Ideias prévias erradas resistem: só mudam quando o estudante percebe o conflito.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pregar um quadro na parede: sem um ponto de apoio, ele cai.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“Ouvir a explicação certa não apaga a ideia errada.”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mudar uma ideia prévia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43584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243584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Expor: prever, explicar ou desenhar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2807208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502152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02152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2944368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Compartilhar e discutir divergências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18888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065776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760720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760720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202936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Investigar com evidências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077456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19" name="Shape 16"/>
          <p:cNvSpPr/>
          <p:nvPr/>
        </p:nvSpPr>
        <p:spPr>
          <a:xfrm>
            <a:off x="7324344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019288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19288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461504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Reescrever a explicação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336024" y="3200400"/>
            <a:ext cx="2651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</a:rPr>
              <a:t>›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9582912" y="1920240"/>
            <a:ext cx="2029968" cy="3291840"/>
          </a:xfrm>
          <a:prstGeom prst="roundRect">
            <a:avLst>
              <a:gd name="adj" fmla="val 67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277856" y="160020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0277856" y="1600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9720072" y="2377440"/>
            <a:ext cx="175564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Comparar antes e depois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A2E2A"/>
                </a:solidFill>
              </a:rPr>
              <a:t>Só ler e concordar deixa as ideias antigas intactas.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Desenvolvimento e idade: lentes, não regras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Crianças pequenas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Objetos concretos, movimento, brincadeira e interação.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32816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5676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567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55676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Pré-adolescentes e jovens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55676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Lidam melhor com abstrações, mas ainda precisam de exemplos.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8107680" y="1463040"/>
            <a:ext cx="3505200" cy="4480560"/>
          </a:xfrm>
          <a:prstGeom prst="roundRect">
            <a:avLst>
              <a:gd name="adj" fmla="val 3913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33628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362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336280" y="2468880"/>
            <a:ext cx="304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Cuidado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336280" y="3337560"/>
            <a:ext cx="3048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B2A2A"/>
                </a:solidFill>
              </a:rPr>
              <a:t>Não generalize resultados de um nível para outro sem evidência.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Zona de Desenvolvimento Proximal</a:t>
            </a:r>
            <a:endParaRPr lang="en-US" sz="3400" dirty="0"/>
          </a:p>
        </p:txBody>
      </p:sp>
      <p:pic>
        <p:nvPicPr>
          <p:cNvPr id="4" name="Image 0" descr="A ajuda adequada se ajusta ao estudante e é retirada gradualmen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2933" y="1325880"/>
            <a:ext cx="7555653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 ajuda adequada se ajusta ao estudante e é retirada gradualmente.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Andaime ou muleta?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3B2A2A"/>
                </a:solidFill>
              </a:rPr>
              <a:t>Andaime é um apoio temporário que orienta sem fazer pelo aprendiz e é retirado aos poucos. Muleta é a resposta pronta.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rodinhas de bicicleta: ajudam a aprender e saem quando não são mais necessárias.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“Um bom apoio orienta sem fazer pelo aluno.”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Dois estudos, uma lição: o desenho do apoio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Ensino médio, Matemática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Com resposta pronta, piora quando o acesso é retirado.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dicas pedagógicas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 efeito negativo ficou bastante atenuado.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Tutor desenhado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Mais aprendizagem em menos tempo, num conteúdo e teste imediato.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Limites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Populações, conteúdos e prazos diferentes: não generalize.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cognitiva: reduzir o ruído, manter o esforço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A memória de trabalho é limitada. A IA pode tirar a carga desnecessária, mas não deve tirar o esforço de construir o conhecimento.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arrumar a mesa para estudar: tirar a bagunça ajuda, mas fazer a lição por você não.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“Tire o ruído, preserve o esforço.”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Dificuldades desejáveis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6675120" cy="2926080"/>
          </a:xfrm>
          <a:prstGeom prst="roundRect">
            <a:avLst>
              <a:gd name="adj" fmla="val 4688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O QUE É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011680"/>
            <a:ext cx="6126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Espaçar, intercalar, tentar lembrar antes de consultar: parecem mais difíceis agora, mas melhoram a retenção a longo prazo.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498080" y="1463040"/>
            <a:ext cx="4114800" cy="2926080"/>
          </a:xfrm>
          <a:prstGeom prst="roundRect">
            <a:avLst>
              <a:gd name="adj" fmla="val 4688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77240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É COMO…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011680"/>
            <a:ext cx="36118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a academia: o peso pesado cansa na hora e fortalece o músculo depois.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5488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i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“Recuperar da memória ensina mais do que reler.”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Esforço produtivo e improdutivo</a:t>
            </a:r>
            <a:endParaRPr lang="en-US" sz="3400" dirty="0"/>
          </a:p>
        </p:txBody>
      </p:sp>
      <p:pic>
        <p:nvPicPr>
          <p:cNvPr id="4" name="Image 0" descr="A IA pode deslocar o estudante para qualquer ponto da escal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11064240" cy="432635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A IA pode deslocar o estudante para qualquer ponto da escala.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914400" y="1188720"/>
            <a:ext cx="103327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“Quem está fazendo o esforço de pensar: o estudante ou a ferramenta?”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52120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4B860"/>
                </a:solidFill>
              </a:rPr>
              <a:t>Se for a ferramenta, o estudante provavelmente não está aprendendo.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Aprendizagem ativa, mas com orientação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777240" y="1691640"/>
            <a:ext cx="640080" cy="64008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Os estudantes fazem mais do que ouvir: resolvem, discutem, explicam, investigam.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38328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11880" y="1691640"/>
            <a:ext cx="640080" cy="640080"/>
          </a:xfrm>
          <a:prstGeom prst="ellipse">
            <a:avLst/>
          </a:prstGeom>
          <a:solidFill>
            <a:srgbClr val="3D7EA6"/>
          </a:solidFill>
          <a:ln w="12700">
            <a:solidFill>
              <a:srgbClr val="3D7EA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188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1188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61188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Meta-análise de 225 estudos no ensino superior: mais desempenho e menos reprovação.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21792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4652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652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Ressalva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44652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Pouca orientação sobrecarrega iniciantes. Ativo não é sem orientação.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9052560" y="1463040"/>
            <a:ext cx="2560320" cy="4480560"/>
          </a:xfrm>
          <a:prstGeom prst="roundRect">
            <a:avLst>
              <a:gd name="adj" fmla="val 5357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281160" y="1691640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81160" y="1691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81160" y="246888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9281160" y="333756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B2A2A"/>
                </a:solidFill>
              </a:rPr>
              <a:t>Um estudo isolado sugere combinar IA com trabalho em grupo.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Diferenças individuais sem rótulos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Vale a pena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Reconhecer conhecimentos prévios e interesses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Variar as formas de apresentar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Ajustar apoios às necessidades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Evite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Rotular por estilo visual, auditivo ou cinestésico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Perfis opacos ou enviesados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Expectativas moldadas pelo rótulo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Atividade: preveja, investigue e explique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6949440" cy="4663440"/>
          </a:xfrm>
          <a:prstGeom prst="roundRect">
            <a:avLst>
              <a:gd name="adj" fmla="val 2941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A9D8F"/>
                </a:solidFill>
              </a:rPr>
              <a:t>PASSO A PASSO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Prever: cada um escreve o que acontece ao soltar dois objetos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Compartilhar em pares e anotar as ideias prévias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Investigar com variações e registrar observações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Reescrever a explicação, indicando o que mudou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Opcional: tutor de IA que só faz perguntas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3B2A2A"/>
                </a:solidFill>
              </a:rPr>
              <a:t>Fechar: "Antes eu achava... Agora eu penso... porque..."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7772400" y="1417320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15270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TEMPO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874520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2 aulas de 50 minutos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772400" y="3026664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13639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PRODUTO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483864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Folha com previsão, observações, explicação reescrita e frase antes e depois.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772400" y="4636008"/>
            <a:ext cx="3840480" cy="1444752"/>
          </a:xfrm>
          <a:prstGeom prst="roundRect">
            <a:avLst>
              <a:gd name="adj" fmla="val 9494"/>
            </a:avLst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001000" y="47457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FFFF"/>
                </a:solidFill>
              </a:rPr>
              <a:t>POUCOS RECURSOS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001000" y="5093208"/>
            <a:ext cx="33832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Sem tecnologia: o interlocutor é um colega ou roteiro impresso de cinco perguntas.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 e verifique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1450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145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O estudante termina a tarefa, mas a ferramenta fez o esforço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032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032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5176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Texto bem explicado dá ilusão de compreensão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384048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0919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0919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84048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Estudos com universitários não valem automaticamente para crianças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DECE4"/>
          </a:solidFill>
          <a:ln w="12700">
            <a:solidFill>
              <a:srgbClr val="F2B8A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28066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2806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!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029200"/>
            <a:ext cx="9784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2A2A"/>
                </a:solidFill>
              </a:rPr>
              <a:t>Explicações incorretas podem reforçar concepções alternativas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IA tende a ajudar ou a atrapalhar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 a ajudar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Dicas graduais e perguntas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Exemplos extras e reformulação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Feedback depois da tentativa do estudante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94960" cy="4572000"/>
          </a:xfrm>
          <a:prstGeom prst="roundRect">
            <a:avLst>
              <a:gd name="adj" fmla="val 3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63640" y="1463040"/>
            <a:ext cx="5394960" cy="731520"/>
          </a:xfrm>
          <a:prstGeom prst="roundRect">
            <a:avLst>
              <a:gd name="adj" fmla="val 1875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2240" y="14630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 a atrapalhar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6537960" y="237744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Resposta pronta antes da tentativa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Substituir o raciocínio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Explicações não verificadas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3B2A2A"/>
                </a:solidFill>
              </a:rPr>
              <a:t>Rótulos sobre estudantes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Síntese: ajudar ou atrapalhar a aprendizagem</a:t>
            </a:r>
            <a:endParaRPr lang="en-US" sz="3400" dirty="0"/>
          </a:p>
        </p:txBody>
      </p:sp>
      <p:pic>
        <p:nvPicPr>
          <p:cNvPr id="4" name="Image 0" descr="Ilustração conceitual com base nos princípios do capítulo, não em dad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495" y="1325880"/>
            <a:ext cx="9584529" cy="4434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5F59"/>
                </a:solidFill>
              </a:rPr>
              <a:t>Ilustração conceitual com base nos princípios do capítulo, não em dados.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A9D8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vale a pena lembrar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173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4173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14173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Conhecimentos prévios e concepções alternativas são o ponto de partida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220980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0980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20980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Mediação e andaimes são retirados aos poucos: IA é andaime ou muleta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0228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00228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1463040" y="300228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Esforço produtivo é necessário; facilitar tudo pode eliminá-lo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79476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379476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Resultados com IA dependem do desenho do apoio e da população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458724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58724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458724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Aprendizagem ativa funciona melhor com orientação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5379720"/>
            <a:ext cx="11064240" cy="682752"/>
          </a:xfrm>
          <a:prstGeom prst="roundRect">
            <a:avLst>
              <a:gd name="adj" fmla="val 16071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1520" y="5379720"/>
            <a:ext cx="54864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A9D8F"/>
                </a:solidFill>
              </a:rPr>
              <a:t>✓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463040" y="5379720"/>
            <a:ext cx="9966960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2A2A"/>
                </a:solidFill>
              </a:rPr>
              <a:t>Estilos de aprendizagem não sustentam ajuste do ensino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9D9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5A2E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pensar na sua prática</a:t>
            </a:r>
            <a:endParaRPr lang="en-US" sz="3400" dirty="0"/>
          </a:p>
        </p:txBody>
      </p:sp>
      <p:sp>
        <p:nvSpPr>
          <p:cNvPr id="4" name="Shape 1"/>
          <p:cNvSpPr/>
          <p:nvPr/>
        </p:nvSpPr>
        <p:spPr>
          <a:xfrm>
            <a:off x="548640" y="1463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77240" y="173736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46304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concepções alternativas você encontra? Como as faz aparecer?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6974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97180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69748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Quando um estudante parecia entender, mas não soube aplicar?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9319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77240" y="420624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42062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600200" y="393192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Que andaimes você oferece e quando os retira?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5166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7EFE6"/>
          </a:solidFill>
          <a:ln w="12700">
            <a:solidFill>
              <a:srgbClr val="F7EFE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7240" y="5440680"/>
            <a:ext cx="548640" cy="548640"/>
          </a:xfrm>
          <a:prstGeom prst="ellipse">
            <a:avLst/>
          </a:prstGeom>
          <a:solidFill>
            <a:srgbClr val="6D3B6E"/>
          </a:solidFill>
          <a:ln w="12700">
            <a:solidFill>
              <a:srgbClr val="6D3B6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440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600200" y="516636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3B2A2A"/>
                </a:solidFill>
              </a:rPr>
              <a:t>Em que tarefas o esforço de pensar é insubstituível?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aplicada à Educação · Cap. 7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A2E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2A9D8F">
              <a:alpha val="70000"/>
            </a:srgbClr>
          </a:solidFill>
          <a:ln w="12700">
            <a:solidFill>
              <a:srgbClr val="2A9D8F">
                <a:alpha val="70000"/>
              </a:srgb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faz o esforço de pensar é quem aprende.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1148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4B860"/>
                </a:solidFill>
              </a:rPr>
              <a:t>A docência é insubstituível.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5029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D9C8"/>
                </a:solidFill>
              </a:rPr>
              <a:t>Obrigado(a)!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A na Educação">
  <a:themeElements>
    <a:clrScheme name="IA na Educação">
      <a:dk1>
        <a:srgbClr val="3B2A2A"/>
      </a:dk1>
      <a:lt1>
        <a:srgbClr val="FFFFFF"/>
      </a:lt1>
      <a:dk2>
        <a:srgbClr val="5A2E2A"/>
      </a:dk2>
      <a:lt2>
        <a:srgbClr val="F7EFE6"/>
      </a:lt2>
      <a:accent1>
        <a:srgbClr val="D9653B"/>
      </a:accent1>
      <a:accent2>
        <a:srgbClr val="2A9D8F"/>
      </a:accent2>
      <a:accent3>
        <a:srgbClr val="E9A23B"/>
      </a:accent3>
      <a:accent4>
        <a:srgbClr val="6D3B6E"/>
      </a:accent4>
      <a:accent5>
        <a:srgbClr val="3D7EA6"/>
      </a:accent5>
      <a:accent6>
        <a:srgbClr val="6E9A4F"/>
      </a:accent6>
      <a:hlink>
        <a:srgbClr val="3D7EA6"/>
      </a:hlink>
      <a:folHlink>
        <a:srgbClr val="6D3B6E"/>
      </a:folHlink>
    </a:clrScheme>
    <a:fontScheme name="IA na Educ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Capítulo 7 — Como se aprende: conhecimentos prévios, esforço e aprendizagem ativa</dc:title>
  <dc:subject>PptxGenJS Presentation</dc:subject>
  <dc:creator>Araken de Medeiros Santos</dc:creator>
  <cp:lastModifiedBy>Araken de Medeiros Santos</cp:lastModifiedBy>
  <cp:revision>1</cp:revision>
  <dcterms:created xsi:type="dcterms:W3CDTF">2026-10-26T23:34:33Z</dcterms:created>
  <dcterms:modified xsi:type="dcterms:W3CDTF">2026-10-26T23:34:33Z</dcterms:modified>
</cp:coreProperties>
</file>