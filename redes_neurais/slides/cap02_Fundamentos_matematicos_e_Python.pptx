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Capítulo 2: Fundamentos matemáticos e Python. Apresente o objetivo da aula e o que os estudantes serão capazes de fazer ao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 roteiro e o tempo estimado de cada bloco (cerca de 2 minutos por slide).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pré-requisitos: tudo é explicado aqui. Quem já sabe pode usar o capítulo como revisão.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Analogia: a derivada é o velocímetro; a função é o hodômetro.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figura do gradiente descendente para mostrar o zigue-zague de passos grandes.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regra é o coração do backpropagation. Se alguém está inseguro, resolva um exemplo com sen(x²).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soma sobre k é a que aparece quando um neurônio alimenta vários neurônios.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Analogia: numa montanha com neblina, você sente a inclinação sob os pés e anda no sentido da descida.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do livro: em ½(x²+10y²), η &lt; 0,2 é necessário; η* = 2/11; η = 0,205 diverge.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número de condição κ = λ_max/λ_min mede a dificuldade: o fator de contração é (κ−1)/(κ+1).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Anuncie que o Capítulo 7 retoma Newton e o transforma em Levenberg–Marquardt.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Observação importante: resolver o sistema, nunca inverter AᵀA.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requirements.txt do livro. Reprodutibilidade começa pelo registro de versões e sementes.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Conecte com o Capítulo 7: Newton usa a Hessiana; LM aproxima-a por JᵀJ.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A) 0,2. η &lt; 2/λmax = 2/10 = 0,2. Dê um minuto para votação antes de revelar.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A) Regra da cadeia. O backpropagation é a regra da cadeia aplicada de trás para frente. Dê um minuto para votação antes de revelar.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η* = 2/11 ≈ 0,182; ρ = 9/11 ≈ 0,818. Com 0,205 a componente y diverge.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Próximo capítulo: o perceptron, o primeiro neurônio que aprende.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com a frase e peça que os estudantes a expliquem com as próprias palavras.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Backpropagation e Redes Neurais · Cap. 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59E0B"/>
                </a:solidFill>
              </a:rPr>
              <a:t>CAPÍTULO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Fundamentos matemáticos e Python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43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7D2FE"/>
                </a:solidFill>
              </a:rPr>
              <a:t>Derivadas, gradiente, Newton, mínimos quadrados e scikit-learn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3749040"/>
            <a:ext cx="14630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B4FC"/>
                </a:solidFill>
              </a:rPr>
              <a:t>Backpropagation e Redes Neurais — Araken de Medeiros Santos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da aula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88720"/>
            <a:ext cx="7680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</a:rPr>
              <a:t>Situação inicial e objetivos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</a:rPr>
              <a:t>Analogia do dia a dia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</a:rPr>
              <a:t>Conceitos, demonstrações e figuras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</a:rPr>
              <a:t>Exemplos e resultados do livro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</a:rPr>
              <a:t>Quiz relâmpago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</a:rPr>
              <a:t>Atividade mão na massa e síntese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inicial: a caixa de ferramentas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Treinar uma rede é um problema de otimização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Precisamos de derivadas, gradiente e curvatura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Python + NumPy + scikit-learn para experimentar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Derivada: a inclinação</a:t>
            </a:r>
            <a:endParaRPr lang="en-US" sz="2600" dirty="0"/>
          </a:p>
        </p:txBody>
      </p:sp>
      <p:pic>
        <p:nvPicPr>
          <p:cNvPr id="3" name="Image 0" descr="A derivada é o limite da razão incremental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424" y="1005840"/>
            <a:ext cx="7189151" cy="3154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B5563"/>
                </a:solidFill>
              </a:rPr>
              <a:t>A derivada é o limite da razão incremental.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descer a montanha na neblina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3108960"/>
          </a:xfrm>
          <a:prstGeom prst="roundRect">
            <a:avLst>
              <a:gd name="adj" fmla="val 3529"/>
            </a:avLst>
          </a:prstGeom>
          <a:solidFill>
            <a:srgbClr val="ECFEFF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E7490"/>
                </a:solidFill>
              </a:rPr>
              <a:t>NO SEU DIA A DIA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F2937"/>
                </a:solidFill>
              </a:rPr>
              <a:t>Você está numa montanha com neblina e só sente a inclinação sob os pés: esse é o gradiente. Descer é andar no sentido contrário. A taxa de aprendizagem é o tamanho do passo: curto demais, você demora; longo demais, pula o vale. A Hessiana é o mapa de curvaturas: diz se o vale é estreito ou largo.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da cadeia</a:t>
            </a:r>
            <a:endParaRPr lang="en-US" sz="2600" dirty="0"/>
          </a:p>
        </p:txBody>
      </p:sp>
      <p:pic>
        <p:nvPicPr>
          <p:cNvPr id="3" name="Image 0" descr="Derivar uma composição multiplica as derivadas dos elo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296" y="1005840"/>
            <a:ext cx="7837408" cy="3154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B5563"/>
                </a:solidFill>
              </a:rPr>
              <a:t>Derivar uma composição multiplica as derivadas dos elos.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da cadeia em etapas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0E7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972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1. Composição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109728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f(g(x))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039112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03911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2. Derivada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039112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dy/dx = f′(g(x)) · g′(x)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2980944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0E7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980944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3. Várias variáveis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980944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∂y/∂xⱼ = Σₖ (∂y/∂uₖ)(∂uₖ/∂xⱼ)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Gradiente e curvas de nível</a:t>
            </a:r>
            <a:endParaRPr lang="en-US" sz="2600" dirty="0"/>
          </a:p>
        </p:txBody>
      </p:sp>
      <p:pic>
        <p:nvPicPr>
          <p:cNvPr id="3" name="Image 0" descr="O gradiente aponta para a subida mais íngreme; descemos no sentido opost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663" y="1005840"/>
            <a:ext cx="7206673" cy="3154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B5563"/>
                </a:solidFill>
              </a:rPr>
              <a:t>O gradiente aponta para a subida mais íngreme; descemos no sentido oposto.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Gradiente descendente e a taxa</a:t>
            </a:r>
            <a:endParaRPr lang="en-US" sz="2600" dirty="0"/>
          </a:p>
        </p:txBody>
      </p:sp>
      <p:pic>
        <p:nvPicPr>
          <p:cNvPr id="3" name="Image 0" descr="Passo pequeno demais: lento. Passo grande demais: diverg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663" y="1005840"/>
            <a:ext cx="7206673" cy="3154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B5563"/>
                </a:solidFill>
              </a:rPr>
              <a:t>Passo pequeno demais: lento. Passo grande demais: diverge.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existe um limite para a taxa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0E7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972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1. Iteração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109728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xₖ₊₁ = (I − ηA) xₖ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039112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03911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2. Cada direção própria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039112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erro × (1 − ηλᵢ)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2980944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0E7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980944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3. Convergência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980944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|1 − ηλᵢ| &lt; 1  ⇒  η &lt; 2/λ_max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3922776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92277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4. Melhor passo único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3922776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η* = 2/(λ_min + λ_max)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e curvatura</a:t>
            </a:r>
            <a:endParaRPr lang="en-US" sz="2600" dirty="0"/>
          </a:p>
        </p:txBody>
      </p:sp>
      <p:pic>
        <p:nvPicPr>
          <p:cNvPr id="3" name="Image 0" descr="A Hessiana descreve a curvatura; Newton usa um modelo quadrátic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501" y="1005840"/>
            <a:ext cx="7330998" cy="3154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B5563"/>
                </a:solidFill>
              </a:rPr>
              <a:t>A Hessiana descreve a curvatura; Newton usa um modelo quadrático.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Mínimos quadrados</a:t>
            </a:r>
            <a:endParaRPr lang="en-US" sz="2600" dirty="0"/>
          </a:p>
        </p:txBody>
      </p:sp>
      <p:pic>
        <p:nvPicPr>
          <p:cNvPr id="3" name="Image 0" descr="Equações normais: AᵀA x = Aᵀb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361" y="1005840"/>
            <a:ext cx="7457278" cy="3154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B5563"/>
                </a:solidFill>
              </a:rPr>
              <a:t>Equações normais: AᵀA x = Aᵀb.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na prática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NumPy: vetores e matrizes (amostras nas linhas)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scikit-learn: MLPClassifier, train_test_split, StandardScaler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Sementes explícitas e versões registradas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Escalonador ajustado só no treino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Hessiana e curvatura em uma frase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Gradiente: para onde o erro cresce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Hessiana: quão rápido a inclinação muda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Autovalores grandes = direção íngreme; pequenos = plana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Número de condição κ = λmax/λmin: dificuldade do problema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 1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12E81"/>
                </a:solidFill>
              </a:rPr>
              <a:t>Para ½(x² + 10y²), o gradiente descendente com passo fixo converge se η for menor que: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A)  0,2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606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B)  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2461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C)  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886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D)  10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 2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12E81"/>
                </a:solidFill>
              </a:rPr>
              <a:t>Qual é a regra que sustenta o backpropagation?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A)  Regra da cadeia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606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B)  Regra de L'Hôpital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2461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C)  Teorema de Pitágoras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886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D)  Regra de Cramer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3108960"/>
          </a:xfrm>
          <a:prstGeom prst="roundRect">
            <a:avLst>
              <a:gd name="adj" fmla="val 3529"/>
            </a:avLst>
          </a:prstGeom>
          <a:solidFill>
            <a:srgbClr val="FFFBE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45309"/>
                </a:solidFill>
              </a:rPr>
              <a:t>MÃO NA MASSA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F2937"/>
                </a:solidFill>
              </a:rPr>
              <a:t>Para f = ½(x² + 10y²), calcule η* e o fator de contração. Depois rode o gradiente descendente com η = 0,18 e com η = 0,205 e compare.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Síntese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7498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E0E7FF"/>
                </a:solidFill>
              </a:rPr>
              <a:t>Derivada, cadeia, gradiente, Hessiana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E0E7FF"/>
                </a:solidFill>
              </a:rPr>
              <a:t>GD converge se η &lt; 2/λ_max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E0E7FF"/>
                </a:solidFill>
              </a:rPr>
              <a:t>Newton usa curvatura; mínimos quadrados têm solução linear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E0E7FF"/>
                </a:solidFill>
              </a:rPr>
              <a:t>Código reprodutível: sementes e versões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188720"/>
            <a:ext cx="109728" cy="2194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109728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“Cada passo do treino é uma derivada em ação.”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B4FC"/>
                </a:solidFill>
              </a:rPr>
              <a:t>Backpropagation e Redes Neurais · Capítulo 2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desNeurais">
  <a:themeElements>
    <a:clrScheme name="RedesNeurais">
      <a:dk1>
        <a:srgbClr val="1F2937"/>
      </a:dk1>
      <a:lt1>
        <a:srgbClr val="FFFFFF"/>
      </a:lt1>
      <a:dk2>
        <a:srgbClr val="1E1B4B"/>
      </a:dk2>
      <a:lt2>
        <a:srgbClr val="EEF2FF"/>
      </a:lt2>
      <a:accent1>
        <a:srgbClr val="4F46E5"/>
      </a:accent1>
      <a:accent2>
        <a:srgbClr val="F59E0B"/>
      </a:accent2>
      <a:accent3>
        <a:srgbClr val="10B981"/>
      </a:accent3>
      <a:accent4>
        <a:srgbClr val="06B6D4"/>
      </a:accent4>
      <a:accent5>
        <a:srgbClr val="EF4444"/>
      </a:accent5>
      <a:accent6>
        <a:srgbClr val="8B5CF6"/>
      </a:accent6>
      <a:hlink>
        <a:srgbClr val="4F46E5"/>
      </a:hlink>
      <a:folHlink>
        <a:srgbClr val="8B5CF6"/>
      </a:folHlink>
    </a:clrScheme>
    <a:fontScheme name="RedesNeurai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Backpropagation e Redes Neurais — Capítulo 2</dc:title>
  <dc:subject>PptxGenJS Presentation</dc:subject>
  <dc:creator>Araken de Medeiros Santos</dc:creator>
  <cp:lastModifiedBy>Araken de Medeiros Santos</cp:lastModifiedBy>
  <cp:revision>1</cp:revision>
  <dcterms:created xsi:type="dcterms:W3CDTF">2026-10-26T13:16:51Z</dcterms:created>
  <dcterms:modified xsi:type="dcterms:W3CDTF">2026-10-26T13:16:51Z</dcterms:modified>
</cp:coreProperties>
</file>