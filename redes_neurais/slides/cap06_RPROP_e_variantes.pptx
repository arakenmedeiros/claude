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do Capítulo 6: RPROP e variantes. Apresente o objetivo da aula e o que os estudantes serão capazes de fazer ao final.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Analogia: um motorista que só pergunta 'continuo no mesmo sentido?' e ajusta a marcha.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vetor de passo tem módulo comandado pelos Δᵢ, não pelo gradiente.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Constantes de Riedmiller e Braun: η⁺ = 1,2 e η⁻ = 0,5; Δmax = 50 e Δmin = 1e-6 em muitas implementações. Confira o trainrp do MATLAB (delt_inc 1,2; delt_dec 0,5; delta0 0,07; deltamax 50).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RPROP+: retrocesso do peso sempre; RPROP−: sem retrocesso; iRPROP+: retrocesso só se o erro aumentou; iRPROP−: sem retrocesso, gradiente zerado.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que, quando o sinal muda, o passo cai pela metade; quando não muda, cresce 20%.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Diferenças entre variantes são pequenas e dependem do problema. Não concluir que uma variante é a melhor.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 do livro (rede 1–100–1, 30 pontos): RMSE de teste 0,437 com parada antecipada contra 0,528 sem 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RPROP foi projetado para treinamento em lote.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Resposta: w = 2,5 (g=2; sem sinal anterior); Δ=0,6 e w=1,9; Δ=0,72 e w=1,18; Δ=0,864 e w=0,316; na 5ª iteração o sinal troca (g&lt;0): Δ=0,432, g é zerado e w permanece 0,316 (confirmado com o pacote rnbook).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Próximo: o método de segunda ordem mais usado em redes pequenas, o LM.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E1B4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48463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</a:rPr>
              <a:t>Backpropagation e Redes Neurais · Cap. 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F59E0B"/>
                </a:solidFill>
              </a:rPr>
              <a:t>CAPÍTULO 6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RPROP e variantes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2FE"/>
                </a:solidFill>
              </a:rPr>
              <a:t>Só o sinal do gradiente importa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3749040"/>
            <a:ext cx="14630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0233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5B4FC"/>
                </a:solidFill>
              </a:rPr>
              <a:t>Backpropagation e Redes Neurais — Araken de Medeiros Santos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Situação inicial: o gradiente mente sobre o tamanho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Em regiões planas o gradiente é minúsculo; em íngremes, enorme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RPROP ignora o tamanho e usa só o sinal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Cada peso tem o seu próprio passo Δᵢ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Manhattan</a:t>
            </a:r>
            <a:endParaRPr lang="en-US" sz="2600" dirty="0"/>
          </a:p>
        </p:txBody>
      </p:sp>
      <p:pic>
        <p:nvPicPr>
          <p:cNvPr id="3" name="Image 0" descr="Movimentos paralelos aos eixos, como quarteirõ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8663" y="1005840"/>
            <a:ext cx="7206673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Movimentos paralelos aos eixos, como quarteirões.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do RPROP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09728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1. Mesmo sinal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383280" y="1097280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Δᵢ ← min(η⁺ Δᵢ, Δmax)    (η⁺ = 1,2)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039112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EF2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203911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2. Sinal trocado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2039112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Δᵢ ← max(η⁻ Δᵢ, Δmin)    (η⁻ = 0,5)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457200" y="2980944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E0E7FF"/>
          </a:solidFill>
          <a:ln w="9525">
            <a:solidFill>
              <a:srgbClr val="C7D2F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2980944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312E81"/>
                </a:solidFill>
              </a:rPr>
              <a:t>3. Passo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383280" y="2980944"/>
            <a:ext cx="5212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F2937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wᵢ ← wᵢ − sinal(gᵢ) · Δᵢ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variantes</a:t>
            </a:r>
            <a:endParaRPr lang="en-US" sz="2600" dirty="0"/>
          </a:p>
        </p:txBody>
      </p:sp>
      <p:pic>
        <p:nvPicPr>
          <p:cNvPr id="3" name="Image 0" descr="RPROP+, RPROP−, iRPROP+ e iRPROP−: o que cada uma faz na troca de sinal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4235" y="1005840"/>
            <a:ext cx="7595531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RPROP+, RPROP−, iRPROP+ e iRPROP−: o que cada uma faz na troca de sinal.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Regras em ação</a:t>
            </a:r>
            <a:endParaRPr lang="en-US" sz="2600" dirty="0"/>
          </a:p>
        </p:txBody>
      </p:sp>
      <p:pic>
        <p:nvPicPr>
          <p:cNvPr id="3" name="Image 0" descr="Evolução dos passos Δᵢ ao longo das época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670" y="1005840"/>
            <a:ext cx="8024660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Evolução dos passos Δᵢ ao longo das épocas.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livro mediu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iRPROP− e iRPROP+ cruzam 0,03 em ≈132–137 épocas; as outras, em ≈223–237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iRPROP+: 161 de 1776 retrocessos foram efetivos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Breast Cancer: acurácias de teste 0,947 a 0,953 nas quatro variantes e no lbfgs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Parada antecipada</a:t>
            </a:r>
            <a:endParaRPr lang="en-US" sz="2600" dirty="0"/>
          </a:p>
        </p:txBody>
      </p:sp>
      <p:pic>
        <p:nvPicPr>
          <p:cNvPr id="3" name="Image 0" descr="Paramos quando a validação deixa de melhorar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0593" y="1005840"/>
            <a:ext cx="7402815" cy="31546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4B5563"/>
                </a:solidFill>
              </a:rPr>
              <a:t>Paramos quando a validação deixa de melhorar.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 frequentes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Confundir as variantes (cada uma é uma regra separada)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Usar RPROP em minilotes ruidosos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Esquecer os limites Δmin e Δmax</a:t>
            </a:r>
            <a:endParaRPr lang="en-US" sz="24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2400" dirty="0">
                <a:solidFill>
                  <a:srgbClr val="1F2937"/>
                </a:solidFill>
              </a:rPr>
              <a:t>Reportar a melhor semente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109728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8046720" cy="3108960"/>
          </a:xfrm>
          <a:prstGeom prst="roundRect">
            <a:avLst>
              <a:gd name="adj" fmla="val 3529"/>
            </a:avLst>
          </a:prstGeom>
          <a:solidFill>
            <a:srgbClr val="FFFBEB"/>
          </a:solidFill>
          <a:ln w="25400">
            <a:solidFill>
              <a:srgbClr val="F59E0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B45309"/>
                </a:solidFill>
              </a:rPr>
              <a:t>MÃO NA MASSA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783080"/>
            <a:ext cx="74980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100" dirty="0">
                <a:solidFill>
                  <a:srgbClr val="1F2937"/>
                </a:solidFill>
              </a:rPr>
              <a:t>Simule 5 iterações do iRPROP− em E(w) = ½(w−1)² com w(0) = 3 e Δ(0) = 0,5 (g = w−1). Anote w, Δ e o sinal do gradiente em cada iteração.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Síntese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371600"/>
            <a:ext cx="7498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Sinal em vez de magnitude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Passo por peso: ×1,2 ou ×0,5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Quatro variantes distintas</a:t>
            </a:r>
            <a:endParaRPr lang="en-US" sz="22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200" dirty="0">
                <a:solidFill>
                  <a:srgbClr val="E0E7FF"/>
                </a:solidFill>
              </a:rPr>
              <a:t>Parada antecipada com validação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desNeurais">
  <a:themeElements>
    <a:clrScheme name="RedesNeurais">
      <a:dk1>
        <a:srgbClr val="1F2937"/>
      </a:dk1>
      <a:lt1>
        <a:srgbClr val="FFFFFF"/>
      </a:lt1>
      <a:dk2>
        <a:srgbClr val="1E1B4B"/>
      </a:dk2>
      <a:lt2>
        <a:srgbClr val="EEF2FF"/>
      </a:lt2>
      <a:accent1>
        <a:srgbClr val="4F46E5"/>
      </a:accent1>
      <a:accent2>
        <a:srgbClr val="F59E0B"/>
      </a:accent2>
      <a:accent3>
        <a:srgbClr val="10B981"/>
      </a:accent3>
      <a:accent4>
        <a:srgbClr val="06B6D4"/>
      </a:accent4>
      <a:accent5>
        <a:srgbClr val="EF4444"/>
      </a:accent5>
      <a:accent6>
        <a:srgbClr val="8B5CF6"/>
      </a:accent6>
      <a:hlink>
        <a:srgbClr val="4F46E5"/>
      </a:hlink>
      <a:folHlink>
        <a:srgbClr val="8B5CF6"/>
      </a:folHlink>
    </a:clrScheme>
    <a:fontScheme name="RedesNeura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Backpropagation e Redes Neurais — Capítulo 6</dc:title>
  <dc:subject>PptxGenJS Presentation</dc:subject>
  <dc:creator>Araken de Medeiros Santos</dc:creator>
  <cp:lastModifiedBy>Araken de Medeiros Santos</cp:lastModifiedBy>
  <cp:revision>1</cp:revision>
  <dcterms:created xsi:type="dcterms:W3CDTF">2026-10-18T07:00:05Z</dcterms:created>
  <dcterms:modified xsi:type="dcterms:W3CDTF">2026-10-18T07:00:05Z</dcterms:modified>
</cp:coreProperties>
</file>