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4: Backpropagation e MLP. Apresente o objetivo da aula e o que os estudantes serão capazes de fazer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um erro numa linha de montagem; cada estação pergunta quanto contribuiu para o defeito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Passe primeiro a passagem direta (forward) e só depois a reversa.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Amostras nas linhas; confira as dimensões em cada 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δ = ∂E/∂z. Em classificação com entropia cruzada e saída sigmoide, δ da saída é simplesmente y − 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Hábito profissional: sempre comparar o gradiente analítico com o numérico antes de treinar.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 do livro: 28 de 30 sementes resolveram o XOR na configuração testada. Não generalize.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teorema afirma a existência de uma rede; não diz como achá-la nem quantos neurônios são necessários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Neste livro, os algoritmos dos capítulos 5 a 8 são de lote.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do livro: rótulos aleatórios com seleção de atributos feita antes da divisão deram 0,950 de acurácia; o correto, 0,483 (acaso).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scikit-learn, loss_ equivale a E_sse/(N·m) neste livro: confira as convenções antes de comparar.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20 minutos. Peça que cada grupo explique um 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Próximo: como acelerar o treinamento? Quickprop, RPROP, LM e DBD.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Backpropagation e Redes Neurais · Cap. 4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59E0B"/>
                </a:solidFill>
              </a:rPr>
              <a:t>CAPÍTULO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Backpropagation e MLP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Como o erro volta pela rede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14630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— Araken de Medeiros Santos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inicial: culpa compartilhada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Quem errou, na camada oculta?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A regra da cadeia distribui a responsabilidade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O erro volta da saída para a entrada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 de computação</a:t>
            </a:r>
            <a:endParaRPr lang="en-US" sz="2600" dirty="0"/>
          </a:p>
        </p:txBody>
      </p:sp>
      <p:pic>
        <p:nvPicPr>
          <p:cNvPr id="3" name="Image 0" descr="A rede 2–2–1 como grafo: cada nó calcula e guarda seu valo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0179" y="1005840"/>
            <a:ext cx="6563642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A rede 2–2–1 como grafo: cada nó calcula e guarda seu valor.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Passagem direta em lote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Pré-ativação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Z⁽ˡ⁾ = A⁽ˡ⁻¹⁾ W⁽ˡ⁾ᵀ + 1 b⁽ˡ⁾ᵀ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Ativação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A⁽ˡ⁾ = f(Z⁽ˡ⁾)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Erro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 = ½ Σ (A⁽ᴸ⁾ − T)²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quatro equações do backpropagation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BP1 — saída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δ⁽ᴸ⁾ = (A⁽ᴸ⁾ − T) ⊙ f′(Z⁽ᴸ⁾)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BP2 — retropropagação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δ⁽ˡ⁾ = (δ⁽ˡ⁺¹⁾ W⁽ˡ⁺¹⁾) ⊙ f′(Z⁽ˡ⁾)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BP3 — pesos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∂E/∂W⁽ˡ⁾ = δ⁽ˡ⁾ᵀ A⁽ˡ⁻¹⁾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922776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922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4. BP4 — vieses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22776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∂E/∂b⁽ˡ⁾ = Σ das linhas de δ⁽ˡ⁾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Verificando o gradiente</a:t>
            </a:r>
            <a:endParaRPr lang="en-US" sz="2600" dirty="0"/>
          </a:p>
        </p:txBody>
      </p:sp>
      <p:pic>
        <p:nvPicPr>
          <p:cNvPr id="3" name="Image 0" descr="Diferenças finitas: o erro relativo fica em torno de 1e-1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3620" y="1005840"/>
            <a:ext cx="4556760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Diferenças finitas: o erro relativo fica em torno de 1e-10.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com backpropagation</a:t>
            </a:r>
            <a:endParaRPr lang="en-US" sz="2600" dirty="0"/>
          </a:p>
        </p:txBody>
      </p:sp>
      <p:pic>
        <p:nvPicPr>
          <p:cNvPr id="3" name="Image 0" descr="Uma camada oculta resolve o XOR; nem toda inicialização converg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30978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195099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Uma camada oculta resolve o XOR; nem toda inicialização converge.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Aproximação universal</a:t>
            </a:r>
            <a:endParaRPr lang="en-US" sz="2600" dirty="0"/>
          </a:p>
        </p:txBody>
      </p:sp>
      <p:pic>
        <p:nvPicPr>
          <p:cNvPr id="3" name="Image 0" descr="Mais neurônios ocultos, melhor ajuste de uma função contínu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0594" y="1005840"/>
            <a:ext cx="5702811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Mais neurônios ocultos, melhor ajuste de uma função contínua.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Lote, minilote, padrão a padrão</a:t>
            </a:r>
            <a:endParaRPr lang="en-US" sz="2600" dirty="0"/>
          </a:p>
        </p:txBody>
      </p:sp>
      <p:pic>
        <p:nvPicPr>
          <p:cNvPr id="3" name="Image 0" descr="Compromisso entre ruído e custo por atualizaçã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361" y="1005840"/>
            <a:ext cx="7553279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Compromisso entre ruído e custo por atualização.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da amostra e vazamento</a:t>
            </a:r>
            <a:endParaRPr lang="en-US" sz="2600" dirty="0"/>
          </a:p>
        </p:txBody>
      </p:sp>
      <p:pic>
        <p:nvPicPr>
          <p:cNvPr id="3" name="Image 0" descr="Treino, validação e teste: o teste só no fi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140" y="1005840"/>
            <a:ext cx="7201720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Treino, validação e teste: o teste só no fim.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frequentes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Trocar a ordem das dimensões em W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Esquecer f′(Z) na retropropagação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Não verificar o gradiente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Comparar perdas com fatores diferentes (½, 1/N)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45309"/>
                </a:solidFill>
              </a:rPr>
              <a:t>MÃO NA MASSA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Calcule à mão uma passagem direta e uma reversa para a rede 2–2–1 do capítulo. Depois confira com o código e com o gradiente numérico.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Backpropagation = regra da cadeia organizada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δ = ∂E/∂z propaga-se de trás para frente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Verifique com diferenças finitas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Separe treino, validação e teste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sNeurais">
  <a:themeElements>
    <a:clrScheme name="RedesNeurais">
      <a:dk1>
        <a:srgbClr val="1F2937"/>
      </a:dk1>
      <a:lt1>
        <a:srgbClr val="FFFFFF"/>
      </a:lt1>
      <a:dk2>
        <a:srgbClr val="1E1B4B"/>
      </a:dk2>
      <a:lt2>
        <a:srgbClr val="EEF2FF"/>
      </a:lt2>
      <a:accent1>
        <a:srgbClr val="4F46E5"/>
      </a:accent1>
      <a:accent2>
        <a:srgbClr val="F59E0B"/>
      </a:accent2>
      <a:accent3>
        <a:srgbClr val="10B981"/>
      </a:accent3>
      <a:accent4>
        <a:srgbClr val="06B6D4"/>
      </a:accent4>
      <a:accent5>
        <a:srgbClr val="EF4444"/>
      </a:accent5>
      <a:accent6>
        <a:srgbClr val="8B5CF6"/>
      </a:accent6>
      <a:hlink>
        <a:srgbClr val="4F46E5"/>
      </a:hlink>
      <a:folHlink>
        <a:srgbClr val="8B5CF6"/>
      </a:folHlink>
    </a:clrScheme>
    <a:fontScheme name="RedesNeura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Backpropagation e Redes Neurais — Capítulo 4</dc:title>
  <dc:subject>PptxGenJS Presentation</dc:subject>
  <dc:creator>Araken de Medeiros Santos</dc:creator>
  <cp:lastModifiedBy>Araken de Medeiros Santos</cp:lastModifiedBy>
  <cp:revision>1</cp:revision>
  <dcterms:created xsi:type="dcterms:W3CDTF">2026-10-18T07:00:04Z</dcterms:created>
  <dcterms:modified xsi:type="dcterms:W3CDTF">2026-10-18T07:00:04Z</dcterms:modified>
</cp:coreProperties>
</file>