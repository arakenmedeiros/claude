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f4eee8c-5e88-d343-bd13-ee4763f7cd3b}">
          <p14:sldIdLst>
            <p14:sldId id="256"/>
          </p14:sldIdLst>
        </p14:section>
        <p14:section name="Início" id="{5a973453-8002-b187-404d-390f8e5cda1a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Mão na massa" id="{e9ee5568-1d75-4938-7b48-4942f8e42d4d}">
          <p14:sldIdLst>
            <p14:sldId id="282"/>
            <p14:sldId id="283"/>
          </p14:sldIdLst>
        </p14:section>
        <p14:section name="Projeto do capítulo" id="{69cdc6f9-af7f-27f6-6bd1-3a78919ee3a3}">
          <p14:sldIdLst>
            <p14:sldId id="284"/>
            <p14:sldId id="285"/>
          </p14:sldIdLst>
        </p14:section>
        <p14:section name="Resumo" id="{4634975a-eaf1-1a71-810b-425dae66e87c}">
          <p14:sldIdLst>
            <p14:sldId id="286"/>
          </p14:sldIdLst>
        </p14:section>
        <p14:section name="Quiz relâmpago" id="{be1d7017-6b07-b027-9784-919f62c9baaf}">
          <p14:sldIdLst>
            <p14:sldId id="287"/>
          </p14:sldIdLst>
        </p14:section>
        <p14:section name="Quiz" id="{fc987315-02e2-b9a1-6c68-e4f39345d7db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Encerramento" id="{f96eff90-21c5-2111-b28d-08aa3683a10f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5.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No Capítulo 4, a programação dinâmica exigia o mapa completo do mundo. Mas e se não tivermos o mapa? E se só pudermos jogar e ver o que acontece? Pense em um jogador de cartas que quer saber: "se eu pedir carta com 15 pontos contra um 10 do crupiê, quanto vou ganhar, em média?". Ele não precisa calcular probabilidades de cartas. Basta jogar muitas mãos e anotar o resultado. Depois de milhares de partidas, a média é uma boa estimativa. Essa é a ideia dos métodos de Monte Carlo (MC). O nome vem do cassino de Monte Carlo e foi popularizado por cientistas que usavam sorteios para resolver problemas matemáticos (METROPOLIS; ULAM, 1949).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repita a frase em voz alta e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Lembre-se de que o valor de um estado é o retorno esperado ao partir dele. Se o retorno esperado é uma média, podemos estimá-lo com uma média amostral: jogue muitos episódios, calcule o retorno de cada um e tire a média. Duas características definem os métodos MC: Uma vantagem útil do MC: ele pode focar nos estados que importam, pois só atualiza o que visita. E o custo de estimar um estado não depende do tamanho do espaço de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5.1 — Monte Carlo: jogam-se vários episódios a partir de um estado e tiram-se as médias dos retornos.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5.2 — A PD olha um passo à frente, usando estimativas (bootstrapping). O MC percorre o episódio inteiro e usa o retorno real, sem bootstrapping.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linha a linha; peça que a turma justifique cada "cuidado".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Tarefa: dada uma política π, estimar vπ. Para cada episódio gerado por π, percorremos os passos de trás para frente, acumulando o retorno G. Para cada estado visitado, guardamos o retorno. Existem duas variantes: Ambas convergem para vπ conforme o número de episódios cresce (SINGH; SUTTON, 1996). A de primeira visita é a mais estudada, e é a que usaremos. O Blackjack (vinte-e-um) é o exemplo clássico. O jogador recebe cartas tentando chegar o mais perto possível de 21, sem estourar. O estado é descrito por três números: As ações são parar (0) ou pedir carta (1). A recompensa vem ao final: +1 (vitória), 0 (empate) ou −1 (derrota). Calcular as probabilidades exatas é trabalhoso, mas simular é fácil. Vamos avaliar uma política ingênua: parar só com 20 ou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5.3 — O estado B aparece duas vezes. Primeira visita conta só a primeira; toda visita conta as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5.4 — Valores estimados pela política "parar com 20 ou 21". Com poucos episódios (esquerda) a estimativa é ruidosa; com muitos (centro e direita) ela se estabiliza. Somas 20 e 21 têm valor alto; as demais,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Tarefa: encontrar a política ótima. Com o modelo, bastava usar v e olhar um passo à frente. Sem modelo, v não basta: para escolher uma ação precisamos saber o valor de cada ação em cada estado. Por isso o MC estima qπ(s, a) (função valor de ação). O esquema é o da GPI (Capítulo 4): Para estimar q(s, a), é preciso visitar todos os pares estado-ação. Se a política é gulosa e determinística, ela só visita os pares "preferidos". A solução teórica clássica, o início exploratório (exploring starts), sorteia o par inicial de cada episódio. Mas isso é raro no mundo real: você não escolhe a primeira carta do baralho. A alternativa prática é usar uma política ε-gulosa (Capítulo 2): quase sempre escolhe a ação de maior q, mas com probabilidade ε sorteia ao acaso. Assim, todos os pares continuam sendo visitados. É um método on-policy: aprende o valor da mesma política que usa para jogar. Na versão mais simples, ε diminui ao longo do treino. A política aprendida lembra a "estratégia básica" que jogadores profissionais memorizam: com somas baixas, pedir carta; entre 12 e 16, pedir só se o crupiê mostra uma carta forte (de 7 a ás), pois ele provavelmente chegará a uma boa soma, e parar se mostra uma carta fraca (2 a 6), pois o crupiê tende a estourar; com 17 ou mais, parar. Com um ás usável o agente arrisca mais, pois não estoura ao pedir. O agente descobriu isso sozinho, apenas jogando.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5.5 — À esquerda, o retorno médio da política gulosa durante o treino, bem acima da regra ingênua. À direita, a política aprendida: o agente aprende a pedir carta com somas baixas e a parar com somas altas.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Em vez de guardar todos os retornos, atualizamos a média incrementalmente, como no Capítulo 2: Com passo constante α no lugar de 1/N, o método se adapta a ambientes que mudam.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Há uma ideia poderosa: aprender sobre uma política observando outra. Isso é aprendizado off-policy ("fora da política"). É útil para aprender a partir de dados já existentes, de outros agentes ou de humanos. Para corrigir a diferença entre as políticas, usa-se a amostragem por importância: cada episódio é ponderado pela razão entre a probabilidade de a trajetória ocorrer sob π e sob b: Em palavras: "quanto mais provável a trajetória seria sob a política que me interessa, mais peso ela ganha". Se π nunca faria uma das ações do episódio, ρ = 0 e o episódio é descartado. Há duas versões: Por isso a versão ponderada costuma ser preferida (PRECUP; SUTTON; SINGH, 2000).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5.6 — Estimando o valor de "parar com 20 ou 21" a partir de episódios de uma política aleatória. A estimativa ponderada tende a ser mais estável que a ordinária.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Vantagens Limitações Os métodos de diferença temporal (Capítulo 6) combinam o melhor de MC (sem modelo) e de PD (bootstrapping), atualizando a cada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No Capítulo 3, estimamos com a base Online Retail (UCI) uma cadeia de Markov de clientes e calculamos o valor de vida de cada segmento analiticamente (álgebra linear). Agora vamos obter os mesmos valores por simulação de Monte Carlo e comparar. Tarefas: Ponto de partida: Entrega: notebook com tabela de convergência (nº de trajetórias × erro), a comparação entre variantes e 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 retorno só é conhecido ao fim do episódio.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Pedir carta com somas altas leva a estourar muitas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Pondera cada episódio pela plausibilidade sob a política-alvo.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 política ε-gulosa ainda sorteia ações; o teste usa a gulosa.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Monte Carlo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3397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como estimar valores por amostragem de episódios, sem conhecer o modelo.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54724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79998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54724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Diferenciar Monte Carlo de primeira visita e de toda visita.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20729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365987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20729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a predição e o controle por Monte Carlo com políticas ε-gulosas.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886733"/>
            <a:ext cx="8229600" cy="666865"/>
          </a:xfrm>
          <a:prstGeom prst="roundRect">
            <a:avLst>
              <a:gd name="adj" fmla="val 164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03728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886733"/>
            <a:ext cx="7452360" cy="666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dilema do "início exploratório" e a ideia das políticas on-policy e off-policy.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663327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708585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663327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Aplicar amostragem por importância para aprender sobre uma política observando outra.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4229331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4274589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4229331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Interpretar uma política aprendida com uma árvore de decisão do scikit-learn.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Aprendendo jogando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ideia básica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Predição: estimando vπ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Controle: aprendendo a jogar bem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Implementação incremental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off-policy e amostragem por importância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Vantagens e limitações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simulando o valor de vida do cliente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Aprendendo jogando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Capítulo 4, a programação dinâmica exigia o mapa completo do mundo.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Pense em um jogador de cartas que quer saber: "se eu pedir carta com 15 pontos contra um 10 do crupiê, quanto vou ganhar, em média?".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Essa é a ideia dos métodos de Monte Carlo (MC).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iqueta"/>
          <p:cNvSpPr/>
          <p:nvPr/>
        </p:nvSpPr>
        <p:spPr>
          <a:xfrm>
            <a:off x="548640" y="6400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MEMORIZE</a:t>
            </a:r>
            <a:endParaRPr lang="en-US" sz="1300" dirty="0"/>
          </a:p>
        </p:txBody>
      </p:sp>
      <p:sp>
        <p:nvSpPr>
          <p:cNvPr id="4" name="Frase"/>
          <p:cNvSpPr txBox="1"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estima o valor de um estado pela média dos retornos reais obtidos nos episódios que passaram por ele.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básica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Lembre-se de que o valor de um estado é o retorno esperado ao partir dele.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Duas características definem os métodos MC: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 modelo: só usam experiência (amostras de episódios).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Só episódios completos: o retorno só é conhecido quando o episódio termina.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5295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69417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52958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MC versus programação dinâmica: Uma vantagem útil do MC: ele pode focar nos estados que importam, pois só atualiza o que visita.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básica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Monte Carlo: jogam-se vários episódios a partir de um estado e tiram-se as médias dos retorn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058" y="1143000"/>
            <a:ext cx="7349884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Monte Carlo: jogam-se vários episódios a partir de um estado e tiram-se as médias dos retornos.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básica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 PD olha um passo à frente, usando estimativas (bootstrapping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0385" y="1143000"/>
            <a:ext cx="5203231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 PD olha um passo à frente, usando estimativas (bootstrapping).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básica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Quadro</a:t>
            </a:r>
            <a:endParaRPr lang="en-US" sz="1200" dirty="0"/>
          </a:p>
        </p:txBody>
      </p:sp>
      <p:graphicFrame>
        <p:nvGraphicFramePr>
          <p:cNvPr id="1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Aspecto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Programação dinâmica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Monte Carlo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Precisa do modelo?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Bootstrapping?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Atualiza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Todos os estados, por varredura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Só os estados visitados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Tipo de tarefa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Qualquer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Episódica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Predição: estimando vπ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Tarefa: dada uma política π, estimar vπ.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cada episódio gerado por π, percorremos os passos de trás para frente, acumulando o retorno G: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8712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Primeira visita (first-visit): usa só o retorno a partir da primeira vez que o estado aparece no episódio.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38328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5661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38328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Toda visita (every-visit): usa o retorno de todas as visitas.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96849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96849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Ambas convergem para vπ conforme o número de episódios cresce (SINGH; SUTTON, 1996).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Predição: estimando vπ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5.3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caso do Blackjack: O Blackjack (vinte-e-um) é o exemplo clássico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soma das cartas do jogador;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carta visível do crupiê;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o jogador tem um ás "usável" (que pode valer 11 sem estourar).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Predição: estimando vπ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estado B aparece duas vez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9798"/>
            <a:ext cx="8229600" cy="2806764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estado B aparece duas vezes.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Calculando um retorno de trás para frente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Exemplo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episódio de Blackjack: três jogadas com recompensas 0, 0 e +1 (vitória no final), γ = 1.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Retorno do passo 3: G₃ = +1.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Retorno do passo 2: G₂ = 0 + 1 = +1.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1868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Retorno do passo 1: G₁ = 0 + 1 = +1.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74904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8039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74904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Todos os estados desse episódio receberão +1.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Predição: estimando vπ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Valores estimados pela política &quot;parar com 20 ou 21&quot;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934" y="1143000"/>
            <a:ext cx="8112132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Valores estimados pela política "parar com 20 ou 21".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Controle: aprendendo a jogar bem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Tarefa: encontrar a política ótima.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esquema é o da GPI (Capítulo 4):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Avaliação: estimar q com a média dos retornos.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Controle: aprendendo a jogar bem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5.4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Melhoria: tornar a política gulosa em relação a q.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problema do início exploratório: Para estimar q(s, a), é preciso visitar todos os pares estado-ação.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Política ε-gulosa (on-policy): A alternativa prática é usar uma política ε-gulosa (Capítulo 2): quase sempre escolhe a ação de maior q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política final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Atenção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Treinando com ε-gulosa, o agente aprende a melhor política ε-gulosa, que é um pouco pior que a ótima (pois ainda sorteia ações).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Controle: aprendendo a jogar bem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À esquerda, o retorno médio da política gulosa durante o treino, bem acima da regra ingênu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99" y="1143000"/>
            <a:ext cx="7260202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À esquerda, o retorno médio da política gulosa durante o treino, bem acima da regra ingênua.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 incremental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 passo constante α no lugar de 1/N, o método se adapta a ambientes que mudam.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off-policy e amostragem por importância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Há uma ideia poderosa: aprender sobre uma política observando outra.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Política-alvo (π): aquela cujo valor queremos estimar (por exemplo, a ótima).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6517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Política de comportamento (b): aquela que de fato gera os dados (por exemplo, aleatória ou exploratória).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1868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Há duas versões: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off-policy e amostragem por importância (cont.)</a:t>
            </a:r>
            <a:endParaRPr lang="en-US" sz="24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5.6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Ordinária: média de ρ × G.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Ponderada: Σ ρ G / Σ ρ.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Por isso a versão ponderada costuma ser preferida (PRECUP; SUTTON; SINGH, 2000).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off-policy e amostragem por importância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Πₜ [ π(Aₜ | Sₜ) / b(Aₜ | Sₜ) ]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"quanto mais provável a trajetória seria sob a política que me interessa, mais peso ela ganha". Se π nunca faria uma das ações do episódio, ρ = 0 e o episódio é descartado.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off-policy e amostragem por importância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Estimando o valor de &quot;parar com 20 ou 21&quot; a partir de episódios de uma política aleatór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709" y="1143000"/>
            <a:ext cx="5566583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Estimando o valor de "parar com 20 ou 21" a partir de episódios de uma política aleatória.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Off-policy no dia a dia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Você pode aprender como seria dirigir bem assistindo a vídeos de motoristas (a política de comportamento) e depois julgando o que você faria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limitações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Aprende sem modelo, direto da experiência.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Pode aprender em simuladores, mesmo que a dinâmica seja complexa.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Não sofre de erros de bootstrapping: usa retornos reais.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Atualiza apenas o que visita.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limitações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5.7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Só funciona em tarefas episódicas (precisa do fim do episódio).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206654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Variância alta: o retorno depende de muitas jogadas aleatórias; são necessários muitos episódios.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Aprende só no fim: não aproveita informação parcial durante o episódio.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316382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316382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Os métodos de diferença temporal (Capítulo 6) combinam o melhor de MC (sem modelo) e de PD (bootstrapping), atualizando a cada passo.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299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Predição no Blackjack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258318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8897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76606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Controle por Monte Carlo com ε-gulosa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70916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1495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Entendendo a política aprendida com uma árvore (scikit-learn)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683514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40930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01802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Amostragem por importância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simulando o valor de vida do cliente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tabela de convergência (nº de trajetórias × erro), a comparação entre variantes e a conclusão.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Carregue P_clientes.npy e r_clientes.npy (salvos no Capítulo 3).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1868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cada estado inicial s, simule N trajetórias de 200 passos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7490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91363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74904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Estime v(s) como a média dos retornos e calcule um intervalo de confiança de 95% por bootstrap (sklearn.utils.resample).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5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Monte Carlo estima valores pela média dos retornos reais de episódios completos, sem modelo.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Primeira visita e toda visita são as duas variantes de predição; ambas convergem.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controle estimamos q(s, a) e tornamos a política gulosa (GPI).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316382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316382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On-policy aprende sobre a política que joga; off-policy aprende sobre uma política jogando outra</a:t>
            </a:r>
            <a:endParaRPr lang="en-US" sz="1600" dirty="0"/>
          </a:p>
        </p:txBody>
      </p:sp>
      <p:sp>
        <p:nvSpPr>
          <p:cNvPr id="16" name="Cartão"/>
          <p:cNvSpPr/>
          <p:nvPr/>
        </p:nvSpPr>
        <p:spPr>
          <a:xfrm>
            <a:off x="457200" y="396849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úmero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o"/>
          <p:cNvSpPr txBox="1"/>
          <p:nvPr/>
        </p:nvSpPr>
        <p:spPr>
          <a:xfrm>
            <a:off x="1097280" y="396849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Limitações: só episódios completos e alta variância.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Os métodos MC básicos exigem que a tarefa seja: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contínua.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episódica.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determinística.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uma só 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política "parar só com 20 ou 21" é ruim porque: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jogador quase nunca pede carta.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jogador pede carta com somas como 16 ou 19, estourando com frequência.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crupiê sempre vence.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ela é estocástica.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razão de importância ρ = Π π(A_t|S_t)/b(A_t|S_t) serve para: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comparar a duração de episódios.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corrigir a diferença entre as probabilidades das trajetórias sob π e sob b.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calcular o desconto.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escolher 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 prática com ε-gulosa decrescente, a política final é testada com ε = 0 porque: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queremos medir o desempenho da política gulosa, sem sorteios.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ε = 0 aumenta a exploração.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Gymnasium exige.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eliminar o desconto.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b  —  O retorno só é conhecido ao fim do episódio.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b  —  Pedir carta com somas altas leva a estourar muitas vezes.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b  —  Pondera cada episódio pela plausibilidade sob a política-alvo.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a  —  A política ε-gulosa ainda sorteia ações; o teste usa a gulosa.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Explique, com suas palavras, por que a média dos retornos de muitos episódios estima o valor de um estado.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 a amostragem por importância e por que a versão ponderada costuma ser preferida.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Interprete a Figura de valores do Blackjack: por que somas 20 e 21 têm valores altos na política "parar em 20"?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5: Métodos de Monte Carlo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5</dc:title>
  <dc:subject>PptxGenJS Presentation</dc:subject>
  <dc:creator>Araken de Medeiros Santos</dc:creator>
  <cp:lastModifiedBy>Araken de Medeiros Santos</cp:lastModifiedBy>
  <cp:revision>1</cp:revision>
  <dcterms:created xsi:type="dcterms:W3CDTF">2026-10-26T13:18:08Z</dcterms:created>
  <dcterms:modified xsi:type="dcterms:W3CDTF">2026-10-26T13:18:08Z</dcterms:modified>
</cp:coreProperties>
</file>