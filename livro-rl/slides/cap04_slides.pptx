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34fec84-2953-0a0c-3d3f-88e75a021144}">
          <p14:sldIdLst>
            <p14:sldId id="256"/>
          </p14:sldIdLst>
        </p14:section>
        <p14:section name="Início" id="{89918b07-dace-f2dc-95b7-1a2b166915f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Mão na massa" id="{4cfb7531-3c8b-9784-28a4-60e80daf8026}">
          <p14:sldIdLst>
            <p14:sldId id="275"/>
            <p14:sldId id="276"/>
            <p14:sldId id="277"/>
          </p14:sldIdLst>
        </p14:section>
        <p14:section name="Projeto do capítulo" id="{17952a05-524b-9417-4f73-9336446a2859}">
          <p14:sldIdLst>
            <p14:sldId id="278"/>
            <p14:sldId id="279"/>
          </p14:sldIdLst>
        </p14:section>
        <p14:section name="Resumo" id="{4292875f-c9b1-08a6-126b-d8f4914876ac}">
          <p14:sldIdLst>
            <p14:sldId id="280"/>
            <p14:sldId id="281"/>
          </p14:sldIdLst>
        </p14:section>
        <p14:section name="Quiz relâmpago" id="{15212019-acc4-a499-a227-6786a2d81457}">
          <p14:sldIdLst>
            <p14:sldId id="282"/>
          </p14:sldIdLst>
        </p14:section>
        <p14:section name="Quiz" id="{aabe2fa2-aa2a-8837-c977-0d7e5f9ad2c4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Encerramento" id="{16d719c3-7560-4765-e1e5-ccd73d93b78f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4.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Imagine que você tem um mapa perfeito de uma cidade, com todas as ruas, distâncias e semáforos. Sem sair de casa, você pode calcular a melhor rota até qualquer lugar. Isso é planejar. Em AR, quando conhecemos completamente o MDP (a tabela p do Capítulo 3), podemos calcular a política ótima apenas com contas, sem nenhuma interação com o mundo. O conjunto de métodos que faz isso se chama programação dinâmica (PD). É uma pergunta justa. Há três razões para estudar a PD: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Pergunta: dada uma política π, qual o valor vπ(s) de cada estado? Do Capítulo 3, sabemos que vπ satisfaz a equação de Bellman. A PD a transforma numa regra de atualização: começamos com um palpite qualquer (por exemplo, zeros) e repetimos: Em palavras: "o novo valor de s é a média de [recompensa + γ × valor antigo do próximo estado]". Cada passada por todos os estados é uma varredura (sweep). Com varreduras suficientes, Vₖ converge para vπ. Num tabuleiro 4×4, um agente precisa chegar a uma das duas casas ★ (cantos opostos). Cada passo custa −1. Ele pode ir para cima, baixo, esquerda e direita; se bater na parede, fica onde está. A política é aleatória: cada direção com 25%. Vamos calcular a mão a casa ao lado da ★ no canto superior esquerdo (chame-a de s): Note que a informação sobre onde está o destino se propaga a cada varredura, como uma onda saindo dos cantos.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4.1 — Avaliação iterativa da política aleatória. Em k = ∞ os valores indicam quantos passos, em média, o agente leva para chegar a uma ★; as setas mostram a política gulosa em relação a esses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Sabendo vπ, podemos melhorar a política? Sim! Em cada estado, olhamos o valor q de cada ação e escolhemos a melhor. Essa nova política se chama gulosa em relação a vπ: O teorema da melhoria de política garante que π′ é melhor ou igual a π em todos os estados (SUTTON; BARTO, 2018). Em palavras: se em cada estado eu escolhesse a melhor ação uma vez e depois seguisse a política antiga, já ficaria melhor; então passar a escolher essa ação sempre só pode ajudar. No gridworld, uma única melhoria a partir da política aleatória já gera a política ótima (as setas da Figura 4.1).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Combinando as duas ideias, obtemos o algoritmo de iteração de política (policy iteration), cuja origem remonta a Howard (1960): Como o número de políticas é finito e cada passo melhora (ou mantém) a política, o algoritmo termina na política ótima. Costuma convergir em poucas iterações externas, mesmo que cada avaliação exija várias varreduras.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Há um padrão por trás de tudo: duas forças em ciclo. Elas "puxam" em direções opostas, mas convergem a um ponto onde ambas concordam: v* e π*. Sutton e Barto (2018) chamam isso de iteração de política generalizada (GPI). Quase todos os métodos de AR, de Monte Carlo ao PPO, seguem esse esquema.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4.2 — GPI: a avaliação aproxima v de vπ; a melhoria torna π gulosa em relação a v. O processo termina quando ambas coincidem.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Note que a atualização usa estimativas (Vₖ(s′)) para melhorar estimativas (Vₖ₊₁(s)). Isso é o bootstrapping: "levantar-se puxando os próprios cadarços". Parece circular, mas funciona porque cada atualização introduz informação real (a recompensa r e a dinâmica p). A convergência é garantida: cada varredura reduz o erro máximo por um fator de pelo menos γ (a atualização é uma contração) (PUTERMAN, 1994; BERTSEKAS; TSITSIKLIS, 1996). Por isso, quanto mais perto de 1 for o γ, mais lenta é a convergência.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4.3 — O erro cai geometricamente a cada varredura (escala logarítmica). À direita, com γ maior, são necessárias mais varreduras.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 PD é eficiente em comparação com a busca direta entre políticas: cada varredura custa tempo proporcional ao número de pares estado-ação vezes o número de próximos estados possíveis, e o número de varreduras necessário é razoável. Mas ela esbarra em duas barreiras. Os capítulos seguintes respondem a essas duas barreiras: aprender sem o modelo (Capítulos 5 e 6) e aproximar a função valor (Capítulos 7 a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4.4 — Número de estados cresce exponencialmente com as variáveis do estado. Acima de 1 bilhão, a tabela de valores não cabe na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4.5 — Valores ótimos e política ótima do FrozenLake. Note que o agente às vezes "se afasta" da meta para evitar escorregar para um buraco.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No Capítulo 3, estimamos, com a base Online Retail (UCI), uma cadeia de Markov de cinco estados de clientes e o gasto médio de cada um. Agora vamos acrescentar uma decisão e usar a iteração de valor para escolher a melhor política. Atenção: os dados não registram ações da empresa. O efeito do "cupom" será uma hipótese sua, e as conclusões valem condicionadas a ela. O objetivo é aprender o método e a análise de sensibilidade. Tarefas: Ponto de partida: Entrega: notebook com a tabela de sensibilidade e o texto de conclusão, destacando a diferença entre o que vem dos dados e o que vem das hipóteses.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Os métodos sem modelo aproximam o que a PD calcula exatamente.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π′(s) = argmax_a Σ p [r + γ v(s′)].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atualização usa V_k(s′) para calcular V_(k+1)(s).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Nenhum plano elimina o acaso das transições.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392794"/>
          </a:xfrm>
          <a:prstGeom prst="roundRect">
            <a:avLst>
              <a:gd name="adj" fmla="val 27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02237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39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que é programação dinâmica e quando ela pode ser usada.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691242"/>
            <a:ext cx="8229600" cy="392794"/>
          </a:xfrm>
          <a:prstGeom prst="roundRect">
            <a:avLst>
              <a:gd name="adj" fmla="val 27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04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691242"/>
            <a:ext cx="7452360" cy="39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a avaliação iterativa de uma política (predição).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193765"/>
            <a:ext cx="8229600" cy="392794"/>
          </a:xfrm>
          <a:prstGeom prst="roundRect">
            <a:avLst>
              <a:gd name="adj" fmla="val 27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20728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193765"/>
            <a:ext cx="7452360" cy="39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Aplicar o teorema da melhoria de política e a política gulosa.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696287"/>
            <a:ext cx="8229600" cy="392794"/>
          </a:xfrm>
          <a:prstGeom prst="roundRect">
            <a:avLst>
              <a:gd name="adj" fmla="val 27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709805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696287"/>
            <a:ext cx="7452360" cy="39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iteração de política e iteração de valor.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198810"/>
            <a:ext cx="8229600" cy="392794"/>
          </a:xfrm>
          <a:prstGeom prst="roundRect">
            <a:avLst>
              <a:gd name="adj" fmla="val 27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212327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198810"/>
            <a:ext cx="7452360" cy="39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a ideia de iteração de política generalizada e de bootstrapping.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3701332"/>
            <a:ext cx="8229600" cy="392794"/>
          </a:xfrm>
          <a:prstGeom prst="roundRect">
            <a:avLst>
              <a:gd name="adj" fmla="val 27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371484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3701332"/>
            <a:ext cx="7452360" cy="39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Reconhecer os limites da programação dinâmica e a maldição da dimensionalidade.</a:t>
            </a:r>
            <a:endParaRPr lang="en-US" sz="1600" dirty="0"/>
          </a:p>
        </p:txBody>
      </p:sp>
      <p:sp>
        <p:nvSpPr>
          <p:cNvPr id="23" name="Cartão"/>
          <p:cNvSpPr/>
          <p:nvPr/>
        </p:nvSpPr>
        <p:spPr>
          <a:xfrm>
            <a:off x="457200" y="4203855"/>
            <a:ext cx="8229600" cy="574084"/>
          </a:xfrm>
          <a:prstGeom prst="roundRect">
            <a:avLst>
              <a:gd name="adj" fmla="val 191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úmero"/>
          <p:cNvSpPr/>
          <p:nvPr/>
        </p:nvSpPr>
        <p:spPr>
          <a:xfrm>
            <a:off x="594360" y="4308017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o"/>
          <p:cNvSpPr txBox="1"/>
          <p:nvPr/>
        </p:nvSpPr>
        <p:spPr>
          <a:xfrm>
            <a:off x="1097280" y="4203855"/>
            <a:ext cx="7452360" cy="57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Resolver o CartPole com um modelo estimado a partir de dados e discretizado com scikit-learn.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Planejando com o mapa na mão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Avaliação de política (predição)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Melhoria de política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Iteração de política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Iteração de valor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Iteração de política generalizada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Bootstrapping e convergência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Limites da programação dinâmica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a melhor ação para reter clientes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Planejando com o mapa na mão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Imagine que você tem um mapa perfeito de uma cidade, com todas as ruas, distâncias e semáforos.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Em AR, quando conhecemos completamente o MDP (a tabela p do Capítulo 3), podemos calcular a política ótima apenas com contas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que serve se quase nunca temos o MDP?: É uma pergunta justa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Planejando com o mapa na mão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4.1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Fundamento: todos os algoritmos de AR podem ser vistos como aproximações da PD, que funcionam sem o modelo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99339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2860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99339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Uso direto: em problemas com modelo conhecido (logística, estoques, jogos pequenos)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868680" y="279806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30906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79806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Modelos aprendidos: podemos estimar o modelo a partir de dados e depois aplicar a PD, como faremos com o CartPole.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nome engana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matemático Richard Bellman batizou "programação dinâmica" nos anos 1950.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política (predição)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Pergunta: dada uma política π, qual o valor vπ(s) de cada estado?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exemplo do gridworld: Num tabuleiro 4×4, um agente precisa chegar a uma das duas casas ★ (cantos opostos).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política (predição)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Vₖ₊₁(s) = Σₐ π(a | s) Σ(s′, r) p(s′, r | s, a) [ r + γ Vₖ(s′) ]</a:t>
            </a:r>
            <a:endParaRPr lang="en-US" sz="22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"o novo valor de s é a média de [recompensa + γ × valor antigo do próximo estado]". Cada passada por todos os estados é uma varredura (sweep). Com varreduras suficientes, Vₖ converge para vπ.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política (predição)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valiação iterativa da política aleatór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9976" y="1143000"/>
            <a:ext cx="4404047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Avaliação iterativa da política aleatória.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 de política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teorema da melhoria de política garante que π′ é melhor ou igual a π em todos os estados (SUTTON; BARTO, 2018).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gridworld, uma única melhoria a partir da política aleatória já gera a política ótima (as setas da Figura 4.1).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Iteração de política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Combinando as duas ideias, obtemos o algoritmo de iteração de política (policy iteration):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Inicialize uma política qualquer.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Avalie a política: calcule vπ.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Iteração de política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Melhore a política: torne-a gulosa em relação a vπ.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Repita 2 e 3 até a política parar de mudar.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Como o número de políticas é finito e cada passo melhora (ou mantém) a política, o algoritmo termina na política ótima.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Iteração de valor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Vₖ₊₁(s) = maxₐ Σ(s′, r) p(s′, r | s, a) [ r + γ Vₖ(s′) ]</a:t>
            </a:r>
            <a:endParaRPr lang="en-US" sz="22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"o novo valor de s é o valor da melhor ação, calculado com os valores antigos". Quando as mudanças ficam abaixo de um limite pequeno θ, paramos e extraímos a política gulosa.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Iteração de política generalizada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Há um padrão por trás de tudo: duas forças em ciclo.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Avaliação: deixa os valores consistentes com a política.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Melhoria: deixa a política gulosa em relação aos valores.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Elas "puxam" em direções opostas, mas convergem a um ponto onde ambas concordam: v* e π*.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Iteração de política generalizada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GPI: a avaliação aproxima v de vπ; a melhoria torna π gulosa em relação a v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254" y="1143000"/>
            <a:ext cx="656949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GPI: a avaliação aproxima v de vπ; a melhoria torna π gulosa em relação a 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Bootstrapping e convergência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Note que a atualização usa estimativas (Vₖ(s′)) para melhorar estimativas (Vₖ₊₁(s)).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convergência é garantida: cada varredura reduz o erro máximo por um fator de pelo menos γ (a atualização é uma contração)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Variantes: PD assíncrona: não precisa varrer todos os estados na mesma ordem.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Bootstrapping e convergência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erro cai geometricamente a cada varredura (escala logarítmica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42" y="1143000"/>
            <a:ext cx="7864715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erro cai geometricamente a cada varredura (escala logarítmica).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programação dinâmica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4.8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PD é eficiente em comparação com a busca direta entre políticas: cada varredura custa tempo proporcional ao número de pares estado-ação vezes o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Exige o modelo p.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Maldição da dimensionalidade (BELLMAN, 1957): o número de estados cresce exponencialmente com o número de variáveis do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5478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 capítulos seguintes respondem a essas duas barreiras: aprender sem o modelo (Capítulos 5 e 6) e aproximar a função valor (Capítulos 7 a 10).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programação dinâmica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Número de estados cresce exponencialmente com as variáveis do estad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995" y="1143000"/>
            <a:ext cx="527401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Número de estados cresce exponencialmente com as variáveis do estado.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Gridworld: avaliação, iteração de política e de valor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FrozenLake: o plano ótimo no gelo escorregadio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CartPole: discretizar, estimar um modelo e planejar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Valores ótimos e política ótima do FrozenL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9246" y="1143000"/>
            <a:ext cx="3765508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Valores ótimos e política ótima do FrozenLake.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 melhor ação para reter clientes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Atenção: os dados não registram ações da empresa.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a tabela de sensibilidade e o texto de conclusão, destacando a diferença entre o que vem dos dados e o que vem das hipóteses.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Carregue as matrizes salvas no Capítulo 3 (P_clientes.npy e r_clientes.npy).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8039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904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Crie o MDP com 2 ações por estado: sem cupom (a dinâmica estimada) e cupom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Programação dinâmica calcula políticas ótimas quando o MDP é conhecido.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Avaliação de política: repetir a equação de Bellman de expectativa até convergir.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Melhoria de política: tornar a política gulosa em relação aos valores; nunca piora.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Iteração de política alterna avaliação e melhoria; iteração de valor usa a equação de otimalidade como regra de atualização.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GPI: avaliação e melhoria "puxam" em sentidos opostos até concordarem em v* e π*.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Bootstrapping: atualizar estimativas a partir de estimativas; a convergência é garantida por contração.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Limites: exige o modelo e sofre da maldição da dimensionalidade.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que estudamos a PD mesmo quando raramente conhecemos o modelo?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ela é a única técnica de AR.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os algoritmos de AR podem ser vistos como aproximações da PD.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ela dispensa recompensas.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funciona em qualquer escala.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política gulosa em relação a v é aquela 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 sempre uma ação aleatória.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 em cada estado a ação de maior valor esperado segundo v.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nunca muda.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 a ação de menor valor.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Bootstrapping, em AR, significa: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reamostrar dados para calcular intervalos de confiança.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atualizar uma estimativa usando outra estimativa.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 o programa.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ações ao acaso.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FrozenLake escorregadio, a política ótima não vence em 100% dos casos porque: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algoritmo está errado.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ambiente é estocástico e o gelo faz o agente escorregar.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existe política ótima.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desconto é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b  —  Os métodos sem modelo aproximam o que a PD calcula exatamente.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b  —  π′(s) = argmaxₐ Σ p [r + γ v(s′)].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b  —  A atualização usa Vₖ(s′) para calcular Vₖ₊₁(s).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b  —  Nenhum plano elimina o acaso das transições.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o que é programação dinâmica e em que condição ela pode ser usada em AR.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2768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Mostre que, se a atualização reduz o erro máximo por um fator γ a cada varredura, o número de varreduras para atingir erro ε é aproximadamente log(ε/e₀)/log γ.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30358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309067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30358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Quais as limitações de estimar o modelo apenas com dados aleatórios?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4: Programação Dinâmica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4</dc:title>
  <dc:subject>PptxGenJS Presentation</dc:subject>
  <dc:creator>Araken de Medeiros Santos</dc:creator>
  <cp:lastModifiedBy>Araken de Medeiros Santos</cp:lastModifiedBy>
  <cp:revision>1</cp:revision>
  <dcterms:created xsi:type="dcterms:W3CDTF">2026-10-26T13:18:08Z</dcterms:created>
  <dcterms:modified xsi:type="dcterms:W3CDTF">2026-10-26T13:18:08Z</dcterms:modified>
</cp:coreProperties>
</file>