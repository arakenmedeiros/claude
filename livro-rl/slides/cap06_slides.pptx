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e8e91e9-3068-7e83-85a6-7d9d636daed3}">
          <p14:sldIdLst>
            <p14:sldId id="256"/>
          </p14:sldIdLst>
        </p14:section>
        <p14:section name="Início" id="{62123042-820a-50bd-34ec-1f35c6c375ac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Mão na massa" id="{1c3853ad-3e7b-b821-e797-849777c92ab3}">
          <p14:sldIdLst>
            <p14:sldId id="278"/>
            <p14:sldId id="279"/>
            <p14:sldId id="280"/>
            <p14:sldId id="281"/>
          </p14:sldIdLst>
        </p14:section>
        <p14:section name="Projeto do capítulo" id="{f19bd44f-9175-2d93-5527-1a2590b2f957}">
          <p14:sldIdLst>
            <p14:sldId id="282"/>
            <p14:sldId id="283"/>
          </p14:sldIdLst>
        </p14:section>
        <p14:section name="Resumo" id="{2ec58c9e-0d85-d170-2083-cc97a6d8bf26}">
          <p14:sldIdLst>
            <p14:sldId id="284"/>
            <p14:sldId id="285"/>
          </p14:sldIdLst>
        </p14:section>
        <p14:section name="Quiz relâmpago" id="{87878cd6-9c20-4ebc-b777-b4f725eb31ab}">
          <p14:sldIdLst>
            <p14:sldId id="286"/>
          </p14:sldIdLst>
        </p14:section>
        <p14:section name="Quiz" id="{309c7778-1938-e091-0a57-2b55c862e6e9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Encerramento" id="{49151db6-1773-1bf3-b176-accb129426f9}">
          <p14:sldIdLst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6. Apresente a pergunta central do capítulo e o roteiro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com a turma e pergunte quem já conhece algum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da aula: cada item é uma estação da viagem.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Você está voltando para casa e prevê: "levo 30 minutos". Ao pegar a avenida, você vê o trânsito parado e corrige: "agora serão 40". Você não esperou chegar em casa para ajustar a previsão. Cada novo fato melhorou a estimativa anterior. Essa é a essência da aprendizagem por diferença temporal (temporal-difference learning, TD). Segundo Sutton e Barto (2018), ela é a ideia mais original e central do AR: combina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6.1 — Num trajeto de volta para casa, o TD corrige a previsão a cada trecho, enquanto o MC só aprende na chegada.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Queremos estimar vπ. No MC, o alvo da atualização era o retorno completo Gₜ. No TD, o alvo é a recompensa imediata mais a estimativa do próximo estado: Em palavras: "nova estimativa = velha + passo × (alvo − velha)", em que o alvo é R + γV(S′). A diferença entre alvo e estimativa velha é o erro TD, representado por δ (delta): O erro TD é a "surpresa": se a previsão foi mais otimista ou pessimista do que o que ocorreu no passo seguinte. O erro TD tem um paralelo famoso: neurônios dopaminérgicos do cérebro de macacos disparam de modo parecido com o δ, sinalizando "melhor ou pior que o esperado" (SCHULTZ; DAYAN; MONTAGUE, 1997). Isso reforça a ideia de que a TD captura um princípio geral de aprendizagem. Na prática, o TD costuma aprender mais rápido que o MC, especialmente em ambientes estocásticos. Veja o exemplo do passeio aleatório.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fórmula em voz alta, termo a termo, e traduza com a frase "em palavras".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6.2 — A atualização TD: o alvo mistura uma recompensa real com uma estimativa do próximo estado; o erro corrige a estimativa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linha a linha; peça que a turma justifique cada "cuidado".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6.3 — Passeio aleatório de 5 estados: o erro do TD(0) cai bem mais rápido que o do MC com passos comparáveis.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Para controlar, usamos q(s, a). A regra é a mesma, com pares estado-ação: O nome SARSA vem da sequência de cinco elementos usados: S, A, R, S′, A′ (RUMMERY; NIRANJAN, 1994). Note que A′ é a ação que o agente de fato vai escolher no próximo estado (por exemplo, por ε-gulosa). Por isso o SARSA é on-policy: aprende o valor da política que está seguindo, incluindo sua exploração. SARSA converge para a política ótima se todos os pares forem visitados indefinidamente e a política tender à gulosa (SINGH et al., 2000).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O Q-learning troca A′ pelo máximo: O alvo supõe que, no próximo estado, o agente fará a melhor ação, mesmo que ele não a escolha (por exploração). Por isso o Q-learning é off-policy: a política que gera os dados (ε-gulosa) difere da política que está sendo aprendida (a gulosa). Ele foi proposto por Watkins (1989) e analisado por Watkins e Dayan (1992), com provas de convergência por Jaakkola, Jordan e Singh (1994) e Tsitsiklis (1994). O Expected SARSA usa a média sobre as ações do próximo estado, ponderada pela política, no lugar de A′ ou do máximo (VAN SEIJEN et al., 2009): Elimina a variância causada pela escolha aleatória de A′ e costuma ter desempenho melhor que o SARSA com o mesmo custo. Se π for gulosa, vira o Q-learning.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6.4 — Três atualizações: SARSA usa a ação escolhida A′; Q-learning usa o máximo; Expected SARSA usa a média ponderada pela política.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O exemplo clássico que mostra a diferença é o CliffWalking (SUTTON; BARTO, 2018). Numa grade 4×12, o agente vai do início (canto inferior esquerdo) à meta (canto inferior direito). A fileira inferior entre eles é um penhasco: cair dá −100 e volta ao início. Cada passo normal dá −1. O resultado ilustra a diferença: o Q-learning encontra a política ótima, mas durante o treino cai no penhasco com frequência. O SARSA aprende a política ótima para uma agente que explora, mais segura. Se ε → 0, ambos chegam ao mesmo caminho.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6.5 — O Q-learning aprende o caminho rente ao penhasco (ótimo, mas arriscado durante o treino); o SARSA, que "sabe" que explora, aprende o caminho seguro e obtém melhor retorno durante o treino.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O Q-learning usa o máximo das estimativas. Mas estimativas são ruidosas: o máximo de números ruidosos tende a ser otimista demais. Exemplo: se todos os 8 dados de uma sala têm média 3,5, o máximo de um lançamento de cada um é, em geral, bem maior que 3,5. Esse é o viés de maximização. O Double Q-learning (VAN HASSELT, 2010) usa duas tabelas, QA e QB. Uma escolhe a melhor ação; a outra avalia o valor dessa ação: A cada passo, sorteia-se qual tabela atualizar. A separação entre "escolher" e "avaliar" remove o viés. Esta ideia reaparecerá no Double DQN (Capítulo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6.6 — Um MDP de teste: ir à esquerda é ruim em média, mas o Q-learning, enganado por máximos otimistas, escolhe "esquerda" muito mais vezes no início que o Double Q-learning.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TD(0) olha 1 passo à frente; MC olha até o fim. Entre eles há um espectro: A forma eficiente de implementar TD(λ) usa traços de elegibilidade: cada estado visitado guarda um "traço" que decai com o tempo; quando ocorre um erro TD, todos os estados com traço positivo são atualizados, proporcionalmente ao traço. É como "distribuir o crédito" entre os passos recentes, atacando o problema da atribuição de crédito (SUTTON, 1988; SINGH; SUTTON, 1996). Valores intermediários de λ costumam ser melhores que os extremos.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6.7 — O espectro entre TD(0) e Monte Carlo. Mais passos reais reduzem o viés, mas aumentam 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Dois ajustes práticos: A escolha dos hiperparâmetros (α, ε, γ) afeta muito o resultado. Por isso vamos testar combinações de modo sistemático, com ParameterGrid do scikit-learn, e repetir cada configuração com várias sementes.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citem outro exemplo do próprio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Execute os códigos do capítulo ao vivo ou peça que os alunos rodem em duplas.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6.8 — Q-learning no Taxi, com 5 sementes: o retorno sobe de cerca de −700 para perto de +8.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Descreva a figura: Figura 6.9 — Q-learning tabular no CartPole, com 3 sementes. O desempenho oscila entre execuções: um lembrete de repetir os experimentos.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do professor: Contexto. Uma loja vende um produto perecível: o estoque da semana (20 unidades, já pagas) é reposto toda segunda e o que sobrar no domingo é descartado. O preço pode ser escolhido a cada dia entre 5 níveis, e a recompensa é a receita do dia. Queremos que o agente aprenda quando baixar ou aumentar o preço, conforme o estoque que resta e o dia da semana. Para tornar o problema realista, vamos estimar a sensibilidade da demanda ao preço com a base Online Retail (UCI), para o produto mais vendido, usando uma regressão de Poisson do scikit-learn. Tarefas: Ponto de partida: Entrega: notebook com a estimativa da elasticidade (e sua crítica), a comparação de receitas, o mapa da política e a análise de sensibilidade.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Recompensa imediata mais estimativa descontada do próximo 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São os cinco elementos usados em cada atualização.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Cair custa −100 e o agente volta ao início.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A variabilidade entre execuções é grande (Henderson et al., 2018).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Divida a turma em grupos de 3 a 4 pessoas; 5 minutos de discussão e depois compartilhamento.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retomando a pergunta central e antecipando o próximo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 · Araken de Medeiros Santos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nner" descr="/home/user/claude/livro-rl/figs/banner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0040"/>
            <a:ext cx="9144000" cy="1721877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548640" y="2331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Diferença Temporal: SARSA e Q-learning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Aprendizado por Reforço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Araken de Medeiros Santos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6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14416"/>
          </a:xfrm>
          <a:prstGeom prst="roundRect">
            <a:avLst>
              <a:gd name="adj" fmla="val 26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1304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1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a ideia do aprendizado por diferença temporal e do erro TD.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12864"/>
            <a:ext cx="8229600" cy="414416"/>
          </a:xfrm>
          <a:prstGeom prst="roundRect">
            <a:avLst>
              <a:gd name="adj" fmla="val 26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73719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12864"/>
            <a:ext cx="7452360" cy="41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Comparar TD, Monte Carlo e programação dinâmica.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237008"/>
            <a:ext cx="8229600" cy="414416"/>
          </a:xfrm>
          <a:prstGeom prst="roundRect">
            <a:avLst>
              <a:gd name="adj" fmla="val 26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26133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237008"/>
            <a:ext cx="7452360" cy="41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Implementar TD(0), SARSA, Q-learning e Expected SARSA.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761152"/>
            <a:ext cx="8229600" cy="414416"/>
          </a:xfrm>
          <a:prstGeom prst="roundRect">
            <a:avLst>
              <a:gd name="adj" fmla="val 26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2785481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761152"/>
            <a:ext cx="7452360" cy="41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Diferenciar métodos on-policy e off-policy pelo exemplo do penhasco.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285297"/>
            <a:ext cx="8229600" cy="414416"/>
          </a:xfrm>
          <a:prstGeom prst="roundRect">
            <a:avLst>
              <a:gd name="adj" fmla="val 26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309625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285297"/>
            <a:ext cx="7452360" cy="41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o viés de maximização e o Double Q-learning.</a:t>
            </a:r>
            <a:endParaRPr lang="en-US" sz="1600" dirty="0"/>
          </a:p>
        </p:txBody>
      </p:sp>
      <p:sp>
        <p:nvSpPr>
          <p:cNvPr id="20" name="Cartão"/>
          <p:cNvSpPr/>
          <p:nvPr/>
        </p:nvSpPr>
        <p:spPr>
          <a:xfrm>
            <a:off x="457200" y="3809441"/>
            <a:ext cx="8229600" cy="414416"/>
          </a:xfrm>
          <a:prstGeom prst="roundRect">
            <a:avLst>
              <a:gd name="adj" fmla="val 26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úmero"/>
          <p:cNvSpPr/>
          <p:nvPr/>
        </p:nvSpPr>
        <p:spPr>
          <a:xfrm>
            <a:off x="594360" y="3833769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o"/>
          <p:cNvSpPr txBox="1"/>
          <p:nvPr/>
        </p:nvSpPr>
        <p:spPr>
          <a:xfrm>
            <a:off x="1097280" y="3809441"/>
            <a:ext cx="7452360" cy="41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Descrever n-step TD e o papel dos traços de elegibilidade.</a:t>
            </a:r>
            <a:endParaRPr lang="en-US" sz="1600" dirty="0"/>
          </a:p>
        </p:txBody>
      </p:sp>
      <p:sp>
        <p:nvSpPr>
          <p:cNvPr id="23" name="Cartão"/>
          <p:cNvSpPr/>
          <p:nvPr/>
        </p:nvSpPr>
        <p:spPr>
          <a:xfrm>
            <a:off x="457200" y="4333585"/>
            <a:ext cx="8229600" cy="414416"/>
          </a:xfrm>
          <a:prstGeom prst="roundRect">
            <a:avLst>
              <a:gd name="adj" fmla="val 26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úmero"/>
          <p:cNvSpPr/>
          <p:nvPr/>
        </p:nvSpPr>
        <p:spPr>
          <a:xfrm>
            <a:off x="594360" y="4357913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5" name="Texto"/>
          <p:cNvSpPr txBox="1"/>
          <p:nvPr/>
        </p:nvSpPr>
        <p:spPr>
          <a:xfrm>
            <a:off x="1097280" y="4333585"/>
            <a:ext cx="7452360" cy="41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Resolver Taxi e CartPole com Q-learning tabular e hiperparâmetros testados.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6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307592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Aprender a cada passo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4663440" y="123444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3075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12344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predição TD(0)</a:t>
            </a:r>
            <a:endParaRPr lang="en-US" sz="1400" dirty="0"/>
          </a:p>
        </p:txBody>
      </p:sp>
      <p:sp>
        <p:nvSpPr>
          <p:cNvPr id="11" name="Cartão"/>
          <p:cNvSpPr/>
          <p:nvPr/>
        </p:nvSpPr>
        <p:spPr>
          <a:xfrm>
            <a:off x="45720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SARSA: controle TD on-policy</a:t>
            </a:r>
            <a:endParaRPr lang="en-US" sz="1400" dirty="0"/>
          </a:p>
        </p:txBody>
      </p:sp>
      <p:sp>
        <p:nvSpPr>
          <p:cNvPr id="14" name="Cartão"/>
          <p:cNvSpPr/>
          <p:nvPr/>
        </p:nvSpPr>
        <p:spPr>
          <a:xfrm>
            <a:off x="4663440" y="1801368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874520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18013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Q-learning: controle TD off-policy</a:t>
            </a:r>
            <a:endParaRPr lang="en-US" sz="1400" dirty="0"/>
          </a:p>
        </p:txBody>
      </p:sp>
      <p:sp>
        <p:nvSpPr>
          <p:cNvPr id="17" name="Cartão"/>
          <p:cNvSpPr/>
          <p:nvPr/>
        </p:nvSpPr>
        <p:spPr>
          <a:xfrm>
            <a:off x="45720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441448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caminho do penhasco</a:t>
            </a:r>
            <a:endParaRPr lang="en-US" sz="1400" dirty="0"/>
          </a:p>
        </p:txBody>
      </p:sp>
      <p:sp>
        <p:nvSpPr>
          <p:cNvPr id="20" name="Cartão"/>
          <p:cNvSpPr/>
          <p:nvPr/>
        </p:nvSpPr>
        <p:spPr>
          <a:xfrm>
            <a:off x="4663440" y="2368296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2441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236829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viés de maximização e o Double Q-learning</a:t>
            </a:r>
            <a:endParaRPr lang="en-US" sz="1400" dirty="0"/>
          </a:p>
        </p:txBody>
      </p:sp>
      <p:sp>
        <p:nvSpPr>
          <p:cNvPr id="23" name="Cartão"/>
          <p:cNvSpPr/>
          <p:nvPr/>
        </p:nvSpPr>
        <p:spPr>
          <a:xfrm>
            <a:off x="45720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0083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0584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Entre TD e Monte Carlo: n-step e traços de elegibilidade</a:t>
            </a:r>
            <a:endParaRPr lang="en-US" sz="1400" dirty="0"/>
          </a:p>
        </p:txBody>
      </p:sp>
      <p:sp>
        <p:nvSpPr>
          <p:cNvPr id="26" name="Cartão"/>
          <p:cNvSpPr/>
          <p:nvPr/>
        </p:nvSpPr>
        <p:spPr>
          <a:xfrm>
            <a:off x="4663440" y="2935224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3008376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212080" y="293522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Explorando: ε e passos</a:t>
            </a:r>
            <a:endParaRPr lang="en-US" sz="1400" dirty="0"/>
          </a:p>
        </p:txBody>
      </p:sp>
      <p:sp>
        <p:nvSpPr>
          <p:cNvPr id="29" name="Cartão"/>
          <p:cNvSpPr/>
          <p:nvPr/>
        </p:nvSpPr>
        <p:spPr>
          <a:xfrm>
            <a:off x="45720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575304"/>
            <a:ext cx="329184" cy="32918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32" name="Cartão"/>
          <p:cNvSpPr/>
          <p:nvPr/>
        </p:nvSpPr>
        <p:spPr>
          <a:xfrm>
            <a:off x="4663440" y="3502152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5753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212080" y="350215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Projeto do capítulo: preços dinâmicos de uma loja</a:t>
            </a:r>
            <a:endParaRPr lang="en-US" sz="1400" dirty="0"/>
          </a:p>
        </p:txBody>
      </p:sp>
      <p:sp>
        <p:nvSpPr>
          <p:cNvPr id="35" name="Cartão"/>
          <p:cNvSpPr/>
          <p:nvPr/>
        </p:nvSpPr>
        <p:spPr>
          <a:xfrm>
            <a:off x="457200" y="4069080"/>
            <a:ext cx="4023360" cy="475488"/>
          </a:xfrm>
          <a:prstGeom prst="roundRect">
            <a:avLst>
              <a:gd name="adj" fmla="val 1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414223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05840" y="40690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Resumo do capítulo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a cada passo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6.1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Você está voltando para casa e prevê: "levo 30 minutos".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Essa é a essência da aprendizagem por diferença temporal (temporal-difference learning, TD).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57860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76148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57860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 Monte Carlo, a capacidade de aprender da experiência, sem modelo;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868680" y="3163824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Marcador"/>
          <p:cNvSpPr/>
          <p:nvPr/>
        </p:nvSpPr>
        <p:spPr>
          <a:xfrm>
            <a:off x="1051560" y="34564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o"/>
          <p:cNvSpPr txBox="1"/>
          <p:nvPr/>
        </p:nvSpPr>
        <p:spPr>
          <a:xfrm>
            <a:off x="1508760" y="3163824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 programação dinâmica, o bootstrapping: atualizar uma estimativa usando outra estimativa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a cada passo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Num trajeto de volta para casa, o TD corrige a previsão a cada trecho, enquanto o MC só aprende na chegad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767" y="1143000"/>
            <a:ext cx="5856466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Num trajeto de volta para casa, o TD corrige a previsão a cada trecho, enquanto o MC só aprende na chegada.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predição TD(0)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6.2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erro TD é a "surpresa": se a previsão foi mais otimista ou pessimista do que o que ocorreu no passo seguinte.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Interpretação neurocientífica: O erro TD tem um paralelo famoso: neurônios dopaminérgicos do cérebro de macacos disparam de modo parecido com o δ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79806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96265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79806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TD, MC e DP lado a lado: Na prática, o TD costuma aprender mais rápido que o MC, especialmente em ambientes estocásticos.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predição TD(0)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Fórmula</a:t>
            </a:r>
            <a:endParaRPr lang="en-US" sz="1200" dirty="0"/>
          </a:p>
        </p:txBody>
      </p:sp>
      <p:sp>
        <p:nvSpPr>
          <p:cNvPr id="5" name="Fórmula"/>
          <p:cNvSpPr/>
          <p:nvPr/>
        </p:nvSpPr>
        <p:spPr>
          <a:xfrm>
            <a:off x="731520" y="1325880"/>
            <a:ext cx="7680960" cy="128016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1905" tIns="1905" rIns="1905" bIns="1905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V(Sₜ) ← V(Sₜ) + α [ Rₜ₊₁ + γ V(Sₜ₊₁) − V(Sₜ) ]</a:t>
            </a:r>
            <a:endParaRPr lang="en-US" sz="3000" dirty="0"/>
          </a:p>
        </p:txBody>
      </p:sp>
      <p:sp>
        <p:nvSpPr>
          <p:cNvPr id="6" name="Etiqueta"/>
          <p:cNvSpPr/>
          <p:nvPr/>
        </p:nvSpPr>
        <p:spPr>
          <a:xfrm>
            <a:off x="731520" y="283464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EM PALAVRAS</a:t>
            </a:r>
            <a:endParaRPr lang="en-US" sz="1100" dirty="0"/>
          </a:p>
        </p:txBody>
      </p:sp>
      <p:sp>
        <p:nvSpPr>
          <p:cNvPr id="7" name="Texto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"nova estimativa = velha + passo × (alvo − velha)", em que o alvo é R + γV(S′). A diferença entre alvo e estimativa velha é o erro TD, representado por δ (delta):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predição TD(0)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A atualização TD: o alvo mistura uma recompensa real com uma estimativa do próximo estado; o erro corrige a estimativa atu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248" y="1143000"/>
            <a:ext cx="7987504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 atualização TD: o alvo mistura uma recompensa real com uma estimativa do próximo estado; o erro corrige a estimativa atual.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passo de TD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Exemplo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Estados A e B, γ = 1, α = 0,5.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Alvo: R + γ V(B) = 1 + 6 = 7.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Erro TD: δ = 7 − V(A) = 7 − 2 = 5.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94436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299923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94436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Nova estimativa: V(A) = 2 + 0,5 × 5 = 4,5.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52958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358444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52958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estimativa de A subiu porque B é um bom estado e a transição deu recompensa.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predição TD(0)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Quadro</a:t>
            </a:r>
            <a:endParaRPr lang="en-US" sz="1200" dirty="0"/>
          </a:p>
        </p:txBody>
      </p:sp>
      <p:graphicFrame>
        <p:nvGraphicFramePr>
          <p:cNvPr id="11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Aspecto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PD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MC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TD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Usa o modelo?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Não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Não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Bootstrapping?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Não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Espera o fim do episódio?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Não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Não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Variância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Nenhuma (calcula)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Menor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Viés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Nenhum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Nenhum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Existe, mas diminui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predição TD(0)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Passeio aleatório de 5 estados: o erro do TD(0) cai bem mais rápido que o do MC com passos comparávei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83" y="1143000"/>
            <a:ext cx="7645235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Passeio aleatório de 5 estados: o erro do TD(0) cai bem mais rápido que o do MC com passos comparáveis.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SARSA: controle TD on-policy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6.3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nome SARSA vem da sequência de cinco elementos usados: S, A, R, S′, A′ (RUMMERY; NIRANJAN, 1994).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SARSA converge para a política ótima se todos os pares forem visitados indefinidamente e a política tender à gulosa (SINGH et al., 2000).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Q-learning: controle TD off-policy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6.4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alvo supõe que, no próximo estado, o agente fará a melhor ação, mesmo que ele não a escolha (por exploração).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Expected SARSA: Elimina a variância causada pela escolha aleatória de A′ e costuma ter desempenho melhor que o SARSA com o mesmo custo.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Q-learning: controle TD off-policy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Três atualizações: SARSA usa a ação escolhida A′; Q-learning usa o máximo; Expected SARSA usa a média ponderada pela polític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95575"/>
            <a:ext cx="8229600" cy="2775209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Três atualizações: SARSA usa a ação escolhida A′; Q-learning usa o máximo; Expected SARSA usa a média ponderada pela política.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do penhasco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6.5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exemplo clássico que mostra a diferença é o CliffWalking (SUTTON; BARTO, 2018).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caminho ótimo é rente ao penhasco: o mais curto.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542032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Mas, com ε-gulosa, uma escorregada aleatória custa −100.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294436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1089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294436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resultado ilustra a diferença: o Q-learning encontra a política ótima, mas durante o treino cai no penhasco com frequência.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do penhasco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O Q-learning aprende o caminho rente ao penhasco (ótimo, mas arriscado durante o treino); o SARSA, que &quot;sabe&quot; que explo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708" y="1143000"/>
            <a:ext cx="7268585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 Q-learning aprende o caminho rente ao penhasco (ótimo, mas arriscado durante o treino); o SARSA, que "sabe" que explora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viés de maximização e o Double Q-learning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6.6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Q-learning usa o máximo das estimativas.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cada passo, sorteia-se qual tabela atualizar.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viés de maximização e o Double Q-learning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Um MDP de teste: ir à esquerda é ruim em média, mas o Q-learning, enganado por máximos otimistas, escolhe &quot;esquerda&quot; muito mais vezes no início que o Double Q-learnin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780" y="1143000"/>
            <a:ext cx="7618441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Um MDP de teste: ir à esquerda é ruim em média, mas o Q-learning, enganado por máximos otimistas, escolhe "esquerda" muito mais vezes no início que o Double Q-learning.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TD e Monte Carlo: n-step e traços de elegibilidade</a:t>
            </a:r>
            <a:endParaRPr lang="en-US" sz="24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6.7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TD(0) olha 1 passo à frente; MC olha até o fim: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2066544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TD de n passos: o alvo usa n recompensas reais e depois a estimativa: G(t:t+n) = Rₜ₊₁ + γRₜ₊₂ + … + γ^(n−1) Rₜ₊ₙ + γ^n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578608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761488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578608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TD(λ): média ponderada de todos os n, com peso decaindo por λ (entre 0 e 1).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16382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3284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16382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forma eficiente de implementar TD(λ) usa traços de elegibilidade: cada estado visitado guarda um "traço" que decai com o tempo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TD e Monte Carlo: n-step e traços de elegibilidade</a:t>
            </a:r>
            <a:endParaRPr lang="en-US" sz="24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O espectro entre TD(0) e Monte Car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452" y="1143000"/>
            <a:ext cx="7769096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 espectro entre TD(0) e Monte Carlo.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Explorando: ε e passos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Seção 6.8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Dois ajustes práticos: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868680" y="1773936"/>
            <a:ext cx="7818120" cy="475488"/>
          </a:xfrm>
          <a:prstGeom prst="roundRect">
            <a:avLst>
              <a:gd name="adj" fmla="val 230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arcador"/>
          <p:cNvSpPr/>
          <p:nvPr/>
        </p:nvSpPr>
        <p:spPr>
          <a:xfrm>
            <a:off x="1051560" y="1956816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o"/>
          <p:cNvSpPr txBox="1"/>
          <p:nvPr/>
        </p:nvSpPr>
        <p:spPr>
          <a:xfrm>
            <a:off x="1508760" y="1773936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ε decrescente: começar explorando bastante (ε alto) e reduzir.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868680" y="2359152"/>
            <a:ext cx="7818120" cy="694944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arcador"/>
          <p:cNvSpPr/>
          <p:nvPr/>
        </p:nvSpPr>
        <p:spPr>
          <a:xfrm>
            <a:off x="1051560" y="2651760"/>
            <a:ext cx="109728" cy="1097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"/>
          <p:cNvSpPr txBox="1"/>
          <p:nvPr/>
        </p:nvSpPr>
        <p:spPr>
          <a:xfrm>
            <a:off x="1508760" y="2359152"/>
            <a:ext cx="7040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Passo α: valores entre 0,05 e 0,5 são comuns em problemas tabulares; α decrescente garante convergência teórica.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16382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21868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16382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escolha dos hiperparâmetros (α, ε, γ) afeta muito o resultado.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 prática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Atenção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Reporte médias e variações sobre várias sementes (HENDERSON et al., 2018).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Hora de programar com Python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programar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6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371600"/>
            <a:ext cx="1426464" cy="2926080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1060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TD(0) × MC no passeio aleatório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2157984" y="1371600"/>
            <a:ext cx="1426464" cy="2926080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51176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340864" y="2423160"/>
            <a:ext cx="1060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SARSA, Q-learning e Expected SARSA no penhasco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3858768" y="1371600"/>
            <a:ext cx="1426464" cy="2926080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041648" y="2423160"/>
            <a:ext cx="1060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Viés de maximização e Double Q-learning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5559552" y="1371600"/>
            <a:ext cx="1426464" cy="2926080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52744" y="16002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5742432" y="2423160"/>
            <a:ext cx="1060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Taxi: Q-learning com busca de hiperparâmetros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7260336" y="1371600"/>
            <a:ext cx="1426464" cy="2926080"/>
          </a:xfrm>
          <a:prstGeom prst="roundRect">
            <a:avLst>
              <a:gd name="adj" fmla="val 9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53528" y="16002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443216" y="2423160"/>
            <a:ext cx="1060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CartPole tabular com faixas aprendidas pelo scikit-learn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Q-learning no Taxi, com 5 sementes: o retorno sobe de cerca de −700 para perto de +8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3677" y="1143000"/>
            <a:ext cx="5756646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Q-learning no Taxi, com 5 sementes: o retorno sobe de cerca de −700 para perto de +8.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Figura</a:t>
            </a:r>
            <a:endParaRPr lang="en-US" sz="1200" dirty="0"/>
          </a:p>
        </p:txBody>
      </p:sp>
      <p:pic>
        <p:nvPicPr>
          <p:cNvPr id="5" name="Figura" descr="Q-learning tabular no CartPole, com 3 sement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8245" y="1143000"/>
            <a:ext cx="5827511" cy="2880360"/>
          </a:xfrm>
          <a:prstGeom prst="rect">
            <a:avLst/>
          </a:prstGeom>
        </p:spPr>
      </p:pic>
      <p:sp>
        <p:nvSpPr>
          <p:cNvPr id="6" name="Legenda"/>
          <p:cNvSpPr txBox="1"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Q-learning tabular no CartPole, com 3 sementes.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do capítulo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preços dinâmicos de uma loja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6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Contexto.</a:t>
            </a:r>
            <a:endParaRPr lang="en-US" sz="1600" dirty="0"/>
          </a:p>
        </p:txBody>
      </p:sp>
      <p:sp>
        <p:nvSpPr>
          <p:cNvPr id="8" name="Cartão"/>
          <p:cNvSpPr/>
          <p:nvPr/>
        </p:nvSpPr>
        <p:spPr>
          <a:xfrm>
            <a:off x="457200" y="1773936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19385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773936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Para tornar o problema realista, vamos estimar a sensibilidade da demanda ao preço com a base Online Retail (UCI), para o produto mais vendido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457200" y="25786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5786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Entrega: notebook com a estimativa da elasticidade (e sua crítica), a comparação de receitas, o mapa da política e a análise de sensibilidade.</a:t>
            </a:r>
            <a:endParaRPr lang="en-US" sz="1600" dirty="0"/>
          </a:p>
        </p:txBody>
      </p:sp>
      <p:sp>
        <p:nvSpPr>
          <p:cNvPr id="14" name="Cartão"/>
          <p:cNvSpPr/>
          <p:nvPr/>
        </p:nvSpPr>
        <p:spPr>
          <a:xfrm>
            <a:off x="457200" y="338328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"/>
          <p:cNvSpPr/>
          <p:nvPr/>
        </p:nvSpPr>
        <p:spPr>
          <a:xfrm>
            <a:off x="594360" y="3438144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1097280" y="338328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Estime a elasticidade e discuta se é confiável.</a:t>
            </a:r>
            <a:endParaRPr lang="en-US" sz="1600" dirty="0"/>
          </a:p>
        </p:txBody>
      </p:sp>
      <p:sp>
        <p:nvSpPr>
          <p:cNvPr id="17" name="Cartão"/>
          <p:cNvSpPr/>
          <p:nvPr/>
        </p:nvSpPr>
        <p:spPr>
          <a:xfrm>
            <a:off x="457200" y="396849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úmero"/>
          <p:cNvSpPr/>
          <p:nvPr/>
        </p:nvSpPr>
        <p:spPr>
          <a:xfrm>
            <a:off x="594360" y="40233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o"/>
          <p:cNvSpPr txBox="1"/>
          <p:nvPr/>
        </p:nvSpPr>
        <p:spPr>
          <a:xfrm>
            <a:off x="1097280" y="396849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Construa o ambiente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6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TD aprende a cada passo, sem modelo e com bootstrapping: V(S) ← V(S) + α[R + γV(S′) − V(S)].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0482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Erro TD: δ = R + γV(S′) − V(S); é a "surpresa".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578608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7432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578608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SARSA (on-policy) usa a ação escolhida A′; Q-learning (off-policy) usa o máximo; Expected SARSA usa a média ponderada.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338328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343814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338328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penhasco, o Q-learning aprende o caminho ótimo e arriscado; o SARSA, o seguro.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capítulo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Cap. 6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Viés de maximização: máximos de estimativas ruidosas são otimistas; o Double Q-learning separa escolha e avaliação.</a:t>
            </a:r>
            <a:endParaRPr lang="en-US" sz="1800" dirty="0"/>
          </a:p>
        </p:txBody>
      </p:sp>
      <p:sp>
        <p:nvSpPr>
          <p:cNvPr id="7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n-step e TD(λ) interpolam entre TD(0) e MC; os traços de elegibilidade distribuem o crédito.</a:t>
            </a:r>
            <a:endParaRPr lang="en-US" sz="1800" dirty="0"/>
          </a:p>
        </p:txBody>
      </p:sp>
      <p:sp>
        <p:nvSpPr>
          <p:cNvPr id="10" name="Cartão"/>
          <p:cNvSpPr/>
          <p:nvPr/>
        </p:nvSpPr>
        <p:spPr>
          <a:xfrm>
            <a:off x="457200" y="2798064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85292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798064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Teste vários hiperparâmetros e várias sementes.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"/>
          <p:cNvSpPr/>
          <p:nvPr/>
        </p:nvSpPr>
        <p:spPr>
          <a:xfrm>
            <a:off x="6583680" y="822960"/>
            <a:ext cx="2377440" cy="2377440"/>
          </a:xfrm>
          <a:prstGeom prst="ellipse">
            <a:avLst/>
          </a:prstGeom>
          <a:solidFill>
            <a:schemeClr val="accent3">
              <a:alpha val="7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Círculo"/>
          <p:cNvSpPr/>
          <p:nvPr/>
        </p:nvSpPr>
        <p:spPr>
          <a:xfrm>
            <a:off x="5943600" y="2377440"/>
            <a:ext cx="1280160" cy="1280160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relâmpago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Teste o que você aprendeu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1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alvo do TD(0) para V(S_t) é: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G_t.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R_(t+1) + γ V(S_(t+1)).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max_a Q(S, a).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apenas R_(t+1).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2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nome SARSA vem de: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doença.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sequência S, A, R, S′, A′.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autor.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biblioteca.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3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penhasco, a recompensa por cair é: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−1.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−100.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+100.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4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5" name="Pergunta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Uma boa prática ao reportar resultados de AR é:</a:t>
            </a:r>
            <a:endParaRPr lang="en-US" sz="1800" dirty="0"/>
          </a:p>
        </p:txBody>
      </p:sp>
      <p:sp>
        <p:nvSpPr>
          <p:cNvPr id="6" name="Cartão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10312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965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mostrar só a melhor execução.</a:t>
            </a:r>
            <a:endParaRPr lang="en-US" sz="1400" dirty="0"/>
          </a:p>
        </p:txBody>
      </p:sp>
      <p:sp>
        <p:nvSpPr>
          <p:cNvPr id="9" name="Cartão"/>
          <p:cNvSpPr/>
          <p:nvPr/>
        </p:nvSpPr>
        <p:spPr>
          <a:xfrm>
            <a:off x="457200" y="2679192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791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mostrar média e variação sobre várias sementes.</a:t>
            </a:r>
            <a:endParaRPr lang="en-US" sz="1400" dirty="0"/>
          </a:p>
        </p:txBody>
      </p:sp>
      <p:sp>
        <p:nvSpPr>
          <p:cNvPr id="12" name="Cartão"/>
          <p:cNvSpPr/>
          <p:nvPr/>
        </p:nvSpPr>
        <p:spPr>
          <a:xfrm>
            <a:off x="457200" y="3392424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39242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usar sempre a mesma semente.</a:t>
            </a:r>
            <a:endParaRPr lang="en-US" sz="1400" dirty="0"/>
          </a:p>
        </p:txBody>
      </p:sp>
      <p:sp>
        <p:nvSpPr>
          <p:cNvPr id="15" name="Cartão"/>
          <p:cNvSpPr/>
          <p:nvPr/>
        </p:nvSpPr>
        <p:spPr>
          <a:xfrm>
            <a:off x="457200" y="4105656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2428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10565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não reportar variação.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Respostas do quiz</a:t>
            </a:r>
            <a:endParaRPr lang="en-US" sz="3000" dirty="0"/>
          </a:p>
        </p:txBody>
      </p:sp>
      <p:sp>
        <p:nvSpPr>
          <p:cNvPr id="3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Quiz</a:t>
            </a:r>
            <a:endParaRPr lang="en-US" sz="1200" dirty="0"/>
          </a:p>
        </p:txBody>
      </p:sp>
      <p:sp>
        <p:nvSpPr>
          <p:cNvPr id="4" name="Cartão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o"/>
          <p:cNvSpPr txBox="1"/>
          <p:nvPr/>
        </p:nvSpPr>
        <p:spPr>
          <a:xfrm>
            <a:off x="1097280" y="118872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1) b  —  Recompensa imediata mais estimativa descontada do próximo estado.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457200" y="1773936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o"/>
          <p:cNvSpPr txBox="1"/>
          <p:nvPr/>
        </p:nvSpPr>
        <p:spPr>
          <a:xfrm>
            <a:off x="1097280" y="1773936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2) b  —  São os cinco elementos usados em cada atualização.</a:t>
            </a:r>
            <a:endParaRPr lang="en-US" sz="1600" dirty="0"/>
          </a:p>
        </p:txBody>
      </p:sp>
      <p:sp>
        <p:nvSpPr>
          <p:cNvPr id="10" name="Cartão"/>
          <p:cNvSpPr/>
          <p:nvPr/>
        </p:nvSpPr>
        <p:spPr>
          <a:xfrm>
            <a:off x="457200" y="2359152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"/>
          <p:cNvSpPr/>
          <p:nvPr/>
        </p:nvSpPr>
        <p:spPr>
          <a:xfrm>
            <a:off x="594360" y="2414016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o"/>
          <p:cNvSpPr txBox="1"/>
          <p:nvPr/>
        </p:nvSpPr>
        <p:spPr>
          <a:xfrm>
            <a:off x="1097280" y="2359152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3) b  —  Cair custa −100 e o agente volta ao início.</a:t>
            </a:r>
            <a:endParaRPr lang="en-US" sz="1600" dirty="0"/>
          </a:p>
        </p:txBody>
      </p:sp>
      <p:sp>
        <p:nvSpPr>
          <p:cNvPr id="13" name="Cartão"/>
          <p:cNvSpPr/>
          <p:nvPr/>
        </p:nvSpPr>
        <p:spPr>
          <a:xfrm>
            <a:off x="457200" y="2944368"/>
            <a:ext cx="8229600" cy="475488"/>
          </a:xfrm>
          <a:prstGeom prst="roundRect">
            <a:avLst>
              <a:gd name="adj" fmla="val 2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"/>
          <p:cNvSpPr/>
          <p:nvPr/>
        </p:nvSpPr>
        <p:spPr>
          <a:xfrm>
            <a:off x="594360" y="2999232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o"/>
          <p:cNvSpPr txBox="1"/>
          <p:nvPr/>
        </p:nvSpPr>
        <p:spPr>
          <a:xfrm>
            <a:off x="1097280" y="2944368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4) b  —  A variabilidade entre execuções é grande (Henderson et al., 2018).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27432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discutir em grupo</a:t>
            </a:r>
            <a:endParaRPr lang="en-US" sz="3000" dirty="0"/>
          </a:p>
        </p:txBody>
      </p:sp>
      <p:sp>
        <p:nvSpPr>
          <p:cNvPr id="4" name="Etiqueta"/>
          <p:cNvSpPr/>
          <p:nvPr/>
        </p:nvSpPr>
        <p:spPr>
          <a:xfrm>
            <a:off x="7223760" y="411480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Debate</a:t>
            </a:r>
            <a:endParaRPr lang="en-US" sz="1200" dirty="0"/>
          </a:p>
        </p:txBody>
      </p:sp>
      <p:sp>
        <p:nvSpPr>
          <p:cNvPr id="5" name="Cartão"/>
          <p:cNvSpPr/>
          <p:nvPr/>
        </p:nvSpPr>
        <p:spPr>
          <a:xfrm>
            <a:off x="457200" y="1188720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o"/>
          <p:cNvSpPr txBox="1"/>
          <p:nvPr/>
        </p:nvSpPr>
        <p:spPr>
          <a:xfrm>
            <a:off x="1097280" y="1188720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Explique o TD(0) com uma analogia do cotidiano e destaque a diferença para o Monte Carlo.</a:t>
            </a:r>
            <a:endParaRPr lang="en-US" sz="1800" dirty="0"/>
          </a:p>
        </p:txBody>
      </p:sp>
      <p:sp>
        <p:nvSpPr>
          <p:cNvPr id="8" name="Cartão"/>
          <p:cNvSpPr/>
          <p:nvPr/>
        </p:nvSpPr>
        <p:spPr>
          <a:xfrm>
            <a:off x="457200" y="1993392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"/>
          <p:cNvSpPr/>
          <p:nvPr/>
        </p:nvSpPr>
        <p:spPr>
          <a:xfrm>
            <a:off x="594360" y="215798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1097280" y="1993392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Explique o Expected SARSA e por que ele pode ter melhor desempenho que o SARSA.</a:t>
            </a:r>
            <a:endParaRPr lang="en-US" sz="1800" dirty="0"/>
          </a:p>
        </p:txBody>
      </p:sp>
      <p:sp>
        <p:nvSpPr>
          <p:cNvPr id="11" name="Cartão"/>
          <p:cNvSpPr/>
          <p:nvPr/>
        </p:nvSpPr>
        <p:spPr>
          <a:xfrm>
            <a:off x="457200" y="2798064"/>
            <a:ext cx="822960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"/>
          <p:cNvSpPr/>
          <p:nvPr/>
        </p:nvSpPr>
        <p:spPr>
          <a:xfrm>
            <a:off x="594360" y="296265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o"/>
          <p:cNvSpPr txBox="1"/>
          <p:nvPr/>
        </p:nvSpPr>
        <p:spPr>
          <a:xfrm>
            <a:off x="1097280" y="2798064"/>
            <a:ext cx="7452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Descreva como o Q-learning resolve o Taxi e por que a tabela Q é viável nesse ambiente.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rculo"/>
          <p:cNvSpPr/>
          <p:nvPr/>
        </p:nvSpPr>
        <p:spPr>
          <a:xfrm>
            <a:off x="6217920" y="548640"/>
            <a:ext cx="2743200" cy="2743200"/>
          </a:xfrm>
          <a:prstGeom prst="ellipse">
            <a:avLst/>
          </a:prstGeom>
          <a:solidFill>
            <a:schemeClr val="accent3">
              <a:alpha val="6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2801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a próxima!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Capítulo 6: Diferença Temporal: SARSA e Q-learning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Pratique: refaça os códigos, resolva as questões e faça o projeto do capítulo.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por Reforço">
  <a:themeElements>
    <a:clrScheme name="Aprendizado por Reforço">
      <a:dk1>
        <a:srgbClr val="1B1F3B"/>
      </a:dk1>
      <a:lt1>
        <a:srgbClr val="FFFFFF"/>
      </a:lt1>
      <a:dk2>
        <a:srgbClr val="14173F"/>
      </a:dk2>
      <a:lt2>
        <a:srgbClr val="F2F3FB"/>
      </a:lt2>
      <a:accent1>
        <a:srgbClr val="F59E0B"/>
      </a:accent1>
      <a:accent2>
        <a:srgbClr val="12A89A"/>
      </a:accent2>
      <a:accent3>
        <a:srgbClr val="6C5CE7"/>
      </a:accent3>
      <a:accent4>
        <a:srgbClr val="E84A8A"/>
      </a:accent4>
      <a:accent5>
        <a:srgbClr val="3B82F6"/>
      </a:accent5>
      <a:accent6>
        <a:srgbClr val="94A3B8"/>
      </a:accent6>
      <a:hlink>
        <a:srgbClr val="3B82F6"/>
      </a:hlink>
      <a:folHlink>
        <a:srgbClr val="6C5CE7"/>
      </a:folHlink>
    </a:clrScheme>
    <a:fontScheme name="Aprendizado por Reforç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por Reforço — Capítulo 6</dc:title>
  <dc:subject>PptxGenJS Presentation</dc:subject>
  <dc:creator>Araken de Medeiros Santos</dc:creator>
  <cp:lastModifiedBy>Araken de Medeiros Santos</cp:lastModifiedBy>
  <cp:revision>1</cp:revision>
  <dcterms:created xsi:type="dcterms:W3CDTF">2026-10-26T13:18:08Z</dcterms:created>
  <dcterms:modified xsi:type="dcterms:W3CDTF">2026-10-26T13:18:08Z</dcterms:modified>
</cp:coreProperties>
</file>