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bertura" id="{bbf79967-4ca6-9f5b-b7a1-8c8768571ad4}">
          <p14:sldIdLst>
            <p14:sldId id="256"/>
          </p14:sldIdLst>
        </p14:section>
        <p14:section name="Início" id="{0d4bd2fe-4648-23eb-6204-0f74af13135d}">
          <p14:sldIdLst>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Lst>
        </p14:section>
        <p14:section name="Mão na massa" id="{6a7d625d-2461-4af9-d723-c4e9e80c8cc5}">
          <p14:sldIdLst>
            <p14:sldId id="281"/>
            <p14:sldId id="282"/>
            <p14:sldId id="283"/>
          </p14:sldIdLst>
        </p14:section>
        <p14:section name="Projeto do capítulo" id="{5fed2e8d-6d28-373c-6bc9-6b85f07957ce}">
          <p14:sldIdLst>
            <p14:sldId id="284"/>
            <p14:sldId id="285"/>
          </p14:sldIdLst>
        </p14:section>
        <p14:section name="Resumo" id="{34cb7ac0-b5f1-635d-5c75-b9b48e9e52ca}">
          <p14:sldIdLst>
            <p14:sldId id="286"/>
            <p14:sldId id="287"/>
          </p14:sldIdLst>
        </p14:section>
        <p14:section name="Quiz relâmpago" id="{8e30edf4-f028-7564-0ebb-4b487169d447}">
          <p14:sldIdLst>
            <p14:sldId id="288"/>
          </p14:sldIdLst>
        </p14:section>
        <p14:section name="Quiz" id="{eb2f0182-1f11-866b-163a-024b71abe4d4}">
          <p14:sldIdLst>
            <p14:sldId id="289"/>
            <p14:sldId id="290"/>
            <p14:sldId id="291"/>
            <p14:sldId id="292"/>
            <p14:sldId id="293"/>
            <p14:sldId id="294"/>
          </p14:sldIdLst>
        </p14:section>
        <p14:section name="Encerramento" id="{47b6372e-3c8f-dde0-3081-2005ea2f7507}">
          <p14:sldIdLst>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do Capítulo 8. Apresente a pergunta central do capítulo e o roteiro da aula.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Leia os objetivos com a turma e pergunte quem já conhece algum deles.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Mostre o mapa da aula: cada item é uma estação da viagem.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No Capítulo 7, vimos que tabelas não escalam e que a aproximação de funções permite generalizar. Agora damos o passo decisivo: usar redes neurais como aproximador de q(s, a). O resultado é o Deep Q-Network (DQN), de Mnih e colegas (2015), considerado o marco inicial do aprendizado por reforço profundo (deep reinforcement learning). A ideia é simples: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Descreva a figura: Figura 8.1 — Rede Q para o CartPole: 4 números entram; dois valores Q (um por ação) saem.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Um neurônio artificial faz três coisas: A ativação mais comum hoje é a ReLU: devolve o número se for positivo e zero caso contrário, ou seja, max(0, x). Juntando muitos neurônios em camadas, obtemos uma rede neural. A saída de uma camada é a entrada da seguinte. Redes com várias camadas ocultas são profundas. Cada camada aprende a combinar o que a anterior descobriu, de características simples a conceitos complexos (LECUN; BENGIO; HINTON, 2015). Uma rede com camadas suficientes pode aproximar praticamente qualquer função contínua. É por isso que redes neurais são aproximadores tão poderosos (GOODFELLOW; BENGIO; COURVILLE, 2016). O treinamento repete quatro ideias que você já conhece: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Descreva a figura: Figura 8.2 — À esquerda, o neurônio artificial. À direita, três funções de ativação populares.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Peça aos alunos que citem outro exemplo do próprio cotidiano.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Se treinássemos a rede Q com o Q-learning "ingênuo", encontraríamos dois problemas principais, que se somam ao triângulo mortal do Capítulo 7. O DQN propõe dois remédios engenhosos.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Em vez de aprender com a transição que acabou de acontecer, o agente a guarda numa memória de experiências (replay buffer) e, a cada passo, sorteia um lote aleatório de transições antigas para treinar (LIN, 1992). Vantagens: Em compensação, só funciona com métodos off-policy (o Q-learning é), pois os dados antigos vêm de políticas passadas.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Descreva a figura: Figura 8.3 — A memória de experiências embaralha o passado: o lote usado no treino é quase independente em vez de uma sequência correlacionada.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O DQN mantém duas redes com a mesma arquitetura: Com o alvo parado por um tempo, o problema vira um aprendizado supervisionado temporariamente estável. Em vez de perseguir o próprio rabo, a rede persegue um alvo que muda devagar.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Descreva a figura: Figura 8.4 — Visão geral do DQN: o agente age, guarda as transições, sorteia lotes da memória, calcula o alvo com a rede-alvo e atualiza a rede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Dois detalhes práticos importantes: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Peça aos alunos que citem outro exemplo do próprio cotidiano.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O DQN original aprendeu a jogar dezenas de jogos de Atari a partir apenas dos pixels e da pontuação, usando o mesmo algoritmo e os mesmos hiperparâmetros em todos os jogos (MNIH et al., 2015). Os jogos vêm do Arcade Learning Environment (BELLEMARE et al., 2013). Em 29 dos 49 jogos testados, o DQN atingiu ao menos 75% do escore de um testador humano profissional. Detalhes de pré-processamento (resumidos): As camadas convolucionais são o tipo de camada usado em imagens: filtros pequenos "deslizam" sobre a imagem detectando padrões (bordas, formas) e compartilham pesos, o que reduz muito o número de parâmetros.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Descreva a figura: Figura 8.5 — A rede do DQN para Atari: uma pilha de 4 imagens passa por 3 camadas convolucionais e uma camada totalmente conectada, produzindo um valor Q por 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Depois de 2015, vieram várias melhorias, quase todas combináveis. O viés de maximização (Capítulo 6) também afeta o DQN, que superestima valores. O Double DQN usa a rede online para escolher a melhor ação em s′ e a rede-alvo para avaliá-la (VAN HASSELT; GUEZ; SILVER, 2016): É uma mudança de uma linha de código, com ganho consistente. Nem toda transição ensina o mesmo. A repetição priorizada sorteia com maior probabilidade as transições com maior erro TD (as mais "surpreendentes"), aprendendo mais rápido (SCHAUL et al., 2016). Um fator de correção (peso de importância) evita viés. A arquitetura dueling separa a rede em dois ramos: o valor do estado V(s) e a vantagem A(s, a), quanto cada ação supera a média. Os dois se combinam em Q (WANG et al., 2016). Isso ajuda quando em muitos estados a escolha da ação importa pouco. Em vez de olhar um passo à frente, usa-se o n-step (Capítulo 6): somam-se n recompensas reais antes de estimar com a rede-alvo. Propaga recompensas mais rápido. Em vez de aprender só a média do retorno, aprende-se a distribuição inteira (BELLEMARE; DABNEY; MUNOS, 2017). Isso fornece mais informação ao aprendizado, mesmo que a decisão use a média. Em vez da exploração ε-gulosa, acrescenta-se ruído aprendido aos pesos da rede. A rede aprende a quanto explorar em cada situação (FORTUNATO et al., 2018). O Rainbow combina seis dessas ideias num só agente e supera cada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Descreva a figura: Figura 8.6 — Arquitetura dueling: um ramo estima o valor do estado, outro a vantagem de cada ação; a soma dá os valores 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Descreva a figura: Figura 8.7 — O Rainbow reúne o DQN e seis extensões.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Dicas de depuração: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linha a linha; peça que a turma justifique cada "cuidado".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Execute os códigos do capítulo ao vivo ou peça que os alunos rodem em duplas.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Descreva a figura: Figura 8.8 — Ablação no CartPole (3 sementes por configuração, 300 episódios): a configuração completa chega a retornos de centenas de passos, enquanto, sem memória ou sem rede-alvo, o agente fica estagnado em retornos em torno de 10 (pior que o agente aleatório, ≈ 22). O Double DQN tem desempenho semelhante ao do DQN completo neste problema. As faixas mostram o mínimo e o máximo entre sementes.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Contexto. Uma loja precisa decidir, a cada dia, quanto repor de um produto. Se pedir demais, paga estoque parado; se pedir de menos, perde vendas. Vamos construir um ambiente próprio (no padrão do Gymnasium, Apêndice F) usando a demanda diária real do produto mais vendido da base Online Retail (UCI), e treinar um DQN com o Stable-Baselines3. Tarefas: Ponto de partida: O que observar: com poucos passos de treino (15.000), é comum o DQN ficar atrás de uma política (s, S) bem ajustada, que é um baseline forte para estoques. Aumente o treino, ajuste os hiperparâmetros e compare com várias sementes antes de concluir. Saber que um baseline simples é difícil de bater é parte da lição. Entrega: notebook com a análise da série, a curva de aprendizado, a comparação com (s, S) e a conclusão sobre as limitações do simulador.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Resposta: a. Devolve x se positivo e zero caso contrário.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Resposta: a. O lote sorteado é quase independente e cada experiência é usada várias vezes.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Resposta: a. Impede passos gigantes.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Resposta: a. Os dois ramos se combinam para formar 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Divida a turma em grupos de 3 a 4 pessoas; 5 minutos de discussão e depois compartilhamento.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Encerre retomando a pergunta central e antecipando o próximo capítulo.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LARO">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800600"/>
            <a:ext cx="5486400" cy="274320"/>
          </a:xfrm>
          <a:prstGeom prst="rect">
            <a:avLst/>
          </a:prstGeom>
          <a:noFill/>
          <a:ln/>
        </p:spPr>
        <p:txBody>
          <a:bodyPr wrap="square" lIns="0" tIns="0" rIns="0" bIns="0" rtlCol="0" anchor="ctr"/>
          <a:lstStyle/>
          <a:p>
            <a:pPr indent="0" marL="0">
              <a:buNone/>
            </a:pPr>
            <a:r>
              <a:rPr lang="en-US" sz="1000" dirty="0">
                <a:solidFill>
                  <a:schemeClr val="accent6"/>
                </a:solidFill>
                <a:latin typeface="Calibri" pitchFamily="34" charset="0"/>
                <a:ea typeface="Calibri" pitchFamily="34" charset="-122"/>
                <a:cs typeface="Calibri" pitchFamily="34" charset="-120"/>
              </a:rPr>
              <a:t>Aprendizado por Reforço · Araken de Medeiros Santos</a:t>
            </a:r>
            <a:endParaRPr lang="en-US" sz="10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SCURO">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457200" y="4800600"/>
            <a:ext cx="5486400" cy="274320"/>
          </a:xfrm>
          <a:prstGeom prst="rect">
            <a:avLst/>
          </a:prstGeom>
          <a:noFill/>
          <a:ln/>
        </p:spPr>
        <p:txBody>
          <a:bodyPr wrap="square" lIns="0" tIns="0" rIns="0" bIns="0" rtlCol="0" anchor="ctr"/>
          <a:lstStyle/>
          <a:p>
            <a:pPr indent="0" marL="0">
              <a:buNone/>
            </a:pPr>
            <a:r>
              <a:rPr lang="en-US" sz="1000" dirty="0">
                <a:solidFill>
                  <a:schemeClr val="accent6"/>
                </a:solidFill>
                <a:latin typeface="Calibri" pitchFamily="34" charset="0"/>
                <a:ea typeface="Calibri" pitchFamily="34" charset="-122"/>
                <a:cs typeface="Calibri" pitchFamily="34" charset="-120"/>
              </a:rPr>
              <a:t>Aprendizado por Reforço · Araken de Medeiros Santos</a:t>
            </a:r>
            <a:endParaRPr lang="en-US" sz="10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Banner" descr="/home/user/claude/livro-rl/figs/banner8.png">    </p:cNvPr>
          <p:cNvPicPr>
            <a:picLocks noChangeAspect="1"/>
          </p:cNvPicPr>
          <p:nvPr/>
        </p:nvPicPr>
        <p:blipFill>
          <a:blip r:embed="rId1"/>
          <a:stretch>
            <a:fillRect/>
          </a:stretch>
        </p:blipFill>
        <p:spPr>
          <a:xfrm>
            <a:off x="0" y="320040"/>
            <a:ext cx="9144000" cy="1721877"/>
          </a:xfrm>
          <a:prstGeom prst="rect">
            <a:avLst/>
          </a:prstGeom>
        </p:spPr>
      </p:pic>
      <p:sp>
        <p:nvSpPr>
          <p:cNvPr id="4" name="Título"/>
          <p:cNvSpPr txBox="1"/>
          <p:nvPr/>
        </p:nvSpPr>
        <p:spPr>
          <a:xfrm>
            <a:off x="548640" y="2331720"/>
            <a:ext cx="8046720" cy="1371600"/>
          </a:xfrm>
          <a:prstGeom prst="rect">
            <a:avLst/>
          </a:prstGeom>
          <a:noFill/>
          <a:ln/>
        </p:spPr>
        <p:txBody>
          <a:bodyPr wrap="square" lIns="0" tIns="0" rIns="0" bIns="0" rtlCol="0" anchor="ctr">
            <a:normAutofit/>
          </a:bodyPr>
          <a:lstStyle/>
          <a:p>
            <a:pPr indent="0" marL="0">
              <a:buNone/>
            </a:pPr>
            <a:r>
              <a:rPr lang="en-US" sz="3800" b="1" dirty="0">
                <a:solidFill>
                  <a:schemeClr val="bg1"/>
                </a:solidFill>
                <a:latin typeface="Cambria" pitchFamily="34" charset="0"/>
                <a:ea typeface="Cambria" pitchFamily="34" charset="-122"/>
                <a:cs typeface="Cambria" pitchFamily="34" charset="-120"/>
              </a:rPr>
              <a:t>Deep Q-Networks e suas Extensões</a:t>
            </a:r>
            <a:endParaRPr lang="en-US" sz="3800" dirty="0"/>
          </a:p>
        </p:txBody>
      </p:sp>
      <p:sp>
        <p:nvSpPr>
          <p:cNvPr id="5" name="Text 1"/>
          <p:cNvSpPr txBox="1"/>
          <p:nvPr/>
        </p:nvSpPr>
        <p:spPr>
          <a:xfrm>
            <a:off x="548640" y="3794760"/>
            <a:ext cx="5486400" cy="365760"/>
          </a:xfrm>
          <a:prstGeom prst="rect">
            <a:avLst/>
          </a:prstGeom>
          <a:noFill/>
          <a:ln/>
        </p:spPr>
        <p:txBody>
          <a:bodyPr wrap="square" lIns="0" tIns="0" rIns="0" bIns="0" rtlCol="0" anchor="ctr"/>
          <a:lstStyle/>
          <a:p>
            <a:pPr indent="0" marL="0">
              <a:buNone/>
            </a:pPr>
            <a:r>
              <a:rPr lang="en-US" sz="1800" b="1" dirty="0">
                <a:solidFill>
                  <a:schemeClr val="accent1"/>
                </a:solidFill>
              </a:rPr>
              <a:t>Aprendizado por Reforço</a:t>
            </a:r>
            <a:endParaRPr lang="en-US" sz="1800" dirty="0"/>
          </a:p>
        </p:txBody>
      </p:sp>
      <p:sp>
        <p:nvSpPr>
          <p:cNvPr id="6" name="Text 2"/>
          <p:cNvSpPr txBox="1"/>
          <p:nvPr/>
        </p:nvSpPr>
        <p:spPr>
          <a:xfrm>
            <a:off x="548640" y="4160520"/>
            <a:ext cx="5486400" cy="365760"/>
          </a:xfrm>
          <a:prstGeom prst="rect">
            <a:avLst/>
          </a:prstGeom>
          <a:noFill/>
          <a:ln/>
        </p:spPr>
        <p:txBody>
          <a:bodyPr wrap="square" lIns="0" tIns="0" rIns="0" bIns="0" rtlCol="0" anchor="ctr"/>
          <a:lstStyle/>
          <a:p>
            <a:pPr indent="0" marL="0">
              <a:buNone/>
            </a:pPr>
            <a:r>
              <a:rPr lang="en-US" sz="1600" dirty="0">
                <a:solidFill>
                  <a:schemeClr val="accent6"/>
                </a:solidFill>
              </a:rPr>
              <a:t>Araken de Medeiros Santos</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 que você vai aprender</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Cap. 8</a:t>
            </a:r>
            <a:endParaRPr lang="en-US" sz="1200" dirty="0"/>
          </a:p>
        </p:txBody>
      </p:sp>
      <p:sp>
        <p:nvSpPr>
          <p:cNvPr id="5" name="Cartão"/>
          <p:cNvSpPr/>
          <p:nvPr/>
        </p:nvSpPr>
        <p:spPr>
          <a:xfrm>
            <a:off x="457200" y="1188720"/>
            <a:ext cx="8229600" cy="456276"/>
          </a:xfrm>
          <a:prstGeom prst="roundRect">
            <a:avLst>
              <a:gd name="adj" fmla="val 24049"/>
            </a:avLst>
          </a:prstGeom>
          <a:solidFill>
            <a:schemeClr val="bg2"/>
          </a:solidFill>
          <a:ln w="12700">
            <a:solidFill>
              <a:schemeClr val="bg2"/>
            </a:solidFill>
            <a:prstDash val="solid"/>
          </a:ln>
        </p:spPr>
      </p:sp>
      <p:sp>
        <p:nvSpPr>
          <p:cNvPr id="6" name="Número"/>
          <p:cNvSpPr/>
          <p:nvPr/>
        </p:nvSpPr>
        <p:spPr>
          <a:xfrm>
            <a:off x="594360" y="1233978"/>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56276"/>
          </a:xfrm>
          <a:prstGeom prst="rect">
            <a:avLst/>
          </a:prstGeom>
          <a:noFill/>
          <a:ln/>
        </p:spPr>
        <p:txBody>
          <a:bodyPr wrap="square" lIns="0" tIns="0" rIns="0" bIns="0" rtlCol="0" anchor="ctr">
            <a:normAutofit/>
          </a:bodyPr>
          <a:lstStyle/>
          <a:p>
            <a:pPr indent="0" marL="0">
              <a:buNone/>
            </a:pPr>
            <a:r>
              <a:rPr lang="en-US" sz="1600" dirty="0">
                <a:solidFill>
                  <a:schemeClr val="tx1"/>
                </a:solidFill>
              </a:rPr>
              <a:t>Explicar, em linguagem simples, o que é uma rede neural e como ela é treinada.</a:t>
            </a:r>
            <a:endParaRPr lang="en-US" sz="1600" dirty="0"/>
          </a:p>
        </p:txBody>
      </p:sp>
      <p:sp>
        <p:nvSpPr>
          <p:cNvPr id="8" name="Cartão"/>
          <p:cNvSpPr/>
          <p:nvPr/>
        </p:nvSpPr>
        <p:spPr>
          <a:xfrm>
            <a:off x="457200" y="1754724"/>
            <a:ext cx="8229600" cy="456276"/>
          </a:xfrm>
          <a:prstGeom prst="roundRect">
            <a:avLst>
              <a:gd name="adj" fmla="val 24049"/>
            </a:avLst>
          </a:prstGeom>
          <a:solidFill>
            <a:schemeClr val="bg2"/>
          </a:solidFill>
          <a:ln w="12700">
            <a:solidFill>
              <a:schemeClr val="bg2"/>
            </a:solidFill>
            <a:prstDash val="solid"/>
          </a:ln>
        </p:spPr>
      </p:sp>
      <p:sp>
        <p:nvSpPr>
          <p:cNvPr id="9" name="Número"/>
          <p:cNvSpPr/>
          <p:nvPr/>
        </p:nvSpPr>
        <p:spPr>
          <a:xfrm>
            <a:off x="594360" y="1799983"/>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cNvSpPr txBox="1"/>
          <p:nvPr/>
        </p:nvSpPr>
        <p:spPr>
          <a:xfrm>
            <a:off x="1097280" y="1754724"/>
            <a:ext cx="7452360" cy="456276"/>
          </a:xfrm>
          <a:prstGeom prst="rect">
            <a:avLst/>
          </a:prstGeom>
          <a:noFill/>
          <a:ln/>
        </p:spPr>
        <p:txBody>
          <a:bodyPr wrap="square" lIns="0" tIns="0" rIns="0" bIns="0" rtlCol="0" anchor="ctr">
            <a:normAutofit/>
          </a:bodyPr>
          <a:lstStyle/>
          <a:p>
            <a:pPr indent="0" marL="0">
              <a:buNone/>
            </a:pPr>
            <a:r>
              <a:rPr lang="en-US" sz="1600" dirty="0">
                <a:solidFill>
                  <a:schemeClr val="tx1"/>
                </a:solidFill>
              </a:rPr>
              <a:t>Descrever por que combinar redes neurais com Q-learning é instável.</a:t>
            </a:r>
            <a:endParaRPr lang="en-US" sz="1600" dirty="0"/>
          </a:p>
        </p:txBody>
      </p:sp>
      <p:sp>
        <p:nvSpPr>
          <p:cNvPr id="11" name="Cartão"/>
          <p:cNvSpPr/>
          <p:nvPr/>
        </p:nvSpPr>
        <p:spPr>
          <a:xfrm>
            <a:off x="457200" y="2320729"/>
            <a:ext cx="8229600" cy="456276"/>
          </a:xfrm>
          <a:prstGeom prst="roundRect">
            <a:avLst>
              <a:gd name="adj" fmla="val 24049"/>
            </a:avLst>
          </a:prstGeom>
          <a:solidFill>
            <a:schemeClr val="bg2"/>
          </a:solidFill>
          <a:ln w="12700">
            <a:solidFill>
              <a:schemeClr val="bg2"/>
            </a:solidFill>
            <a:prstDash val="solid"/>
          </a:ln>
        </p:spPr>
      </p:sp>
      <p:sp>
        <p:nvSpPr>
          <p:cNvPr id="12" name="Número"/>
          <p:cNvSpPr/>
          <p:nvPr/>
        </p:nvSpPr>
        <p:spPr>
          <a:xfrm>
            <a:off x="594360" y="2365987"/>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o"/>
          <p:cNvSpPr txBox="1"/>
          <p:nvPr/>
        </p:nvSpPr>
        <p:spPr>
          <a:xfrm>
            <a:off x="1097280" y="2320729"/>
            <a:ext cx="7452360" cy="456276"/>
          </a:xfrm>
          <a:prstGeom prst="rect">
            <a:avLst/>
          </a:prstGeom>
          <a:noFill/>
          <a:ln/>
        </p:spPr>
        <p:txBody>
          <a:bodyPr wrap="square" lIns="0" tIns="0" rIns="0" bIns="0" rtlCol="0" anchor="ctr">
            <a:normAutofit/>
          </a:bodyPr>
          <a:lstStyle/>
          <a:p>
            <a:pPr indent="0" marL="0">
              <a:buNone/>
            </a:pPr>
            <a:r>
              <a:rPr lang="en-US" sz="1600" dirty="0">
                <a:solidFill>
                  <a:schemeClr val="tx1"/>
                </a:solidFill>
              </a:rPr>
              <a:t>Explicar a repetição de experiência e a rede-alvo e o papel de cada uma.</a:t>
            </a:r>
            <a:endParaRPr lang="en-US" sz="1600" dirty="0"/>
          </a:p>
        </p:txBody>
      </p:sp>
      <p:sp>
        <p:nvSpPr>
          <p:cNvPr id="14" name="Cartão"/>
          <p:cNvSpPr/>
          <p:nvPr/>
        </p:nvSpPr>
        <p:spPr>
          <a:xfrm>
            <a:off x="457200" y="2886733"/>
            <a:ext cx="8229600" cy="456276"/>
          </a:xfrm>
          <a:prstGeom prst="roundRect">
            <a:avLst>
              <a:gd name="adj" fmla="val 24049"/>
            </a:avLst>
          </a:prstGeom>
          <a:solidFill>
            <a:schemeClr val="bg2"/>
          </a:solidFill>
          <a:ln w="12700">
            <a:solidFill>
              <a:schemeClr val="bg2"/>
            </a:solidFill>
            <a:prstDash val="solid"/>
          </a:ln>
        </p:spPr>
      </p:sp>
      <p:sp>
        <p:nvSpPr>
          <p:cNvPr id="15" name="Número"/>
          <p:cNvSpPr/>
          <p:nvPr/>
        </p:nvSpPr>
        <p:spPr>
          <a:xfrm>
            <a:off x="594360" y="2931991"/>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Texto"/>
          <p:cNvSpPr txBox="1"/>
          <p:nvPr/>
        </p:nvSpPr>
        <p:spPr>
          <a:xfrm>
            <a:off x="1097280" y="2886733"/>
            <a:ext cx="7452360" cy="456276"/>
          </a:xfrm>
          <a:prstGeom prst="rect">
            <a:avLst/>
          </a:prstGeom>
          <a:noFill/>
          <a:ln/>
        </p:spPr>
        <p:txBody>
          <a:bodyPr wrap="square" lIns="0" tIns="0" rIns="0" bIns="0" rtlCol="0" anchor="ctr">
            <a:normAutofit/>
          </a:bodyPr>
          <a:lstStyle/>
          <a:p>
            <a:pPr indent="0" marL="0">
              <a:buNone/>
            </a:pPr>
            <a:r>
              <a:rPr lang="en-US" sz="1600" dirty="0">
                <a:solidFill>
                  <a:schemeClr val="tx1"/>
                </a:solidFill>
              </a:rPr>
              <a:t>Implementar um DQN em PyTorch e usá-lo no CartPole.</a:t>
            </a:r>
            <a:endParaRPr lang="en-US" sz="1600" dirty="0"/>
          </a:p>
        </p:txBody>
      </p:sp>
      <p:sp>
        <p:nvSpPr>
          <p:cNvPr id="17" name="Cartão"/>
          <p:cNvSpPr/>
          <p:nvPr/>
        </p:nvSpPr>
        <p:spPr>
          <a:xfrm>
            <a:off x="457200" y="3452737"/>
            <a:ext cx="8229600" cy="666865"/>
          </a:xfrm>
          <a:prstGeom prst="roundRect">
            <a:avLst>
              <a:gd name="adj" fmla="val 16454"/>
            </a:avLst>
          </a:prstGeom>
          <a:solidFill>
            <a:schemeClr val="bg2"/>
          </a:solidFill>
          <a:ln w="12700">
            <a:solidFill>
              <a:schemeClr val="bg2"/>
            </a:solidFill>
            <a:prstDash val="solid"/>
          </a:ln>
        </p:spPr>
      </p:sp>
      <p:sp>
        <p:nvSpPr>
          <p:cNvPr id="18" name="Número"/>
          <p:cNvSpPr/>
          <p:nvPr/>
        </p:nvSpPr>
        <p:spPr>
          <a:xfrm>
            <a:off x="594360" y="3603290"/>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9" name="Texto"/>
          <p:cNvSpPr txBox="1"/>
          <p:nvPr/>
        </p:nvSpPr>
        <p:spPr>
          <a:xfrm>
            <a:off x="1097280" y="3452737"/>
            <a:ext cx="7452360" cy="666865"/>
          </a:xfrm>
          <a:prstGeom prst="rect">
            <a:avLst/>
          </a:prstGeom>
          <a:noFill/>
          <a:ln/>
        </p:spPr>
        <p:txBody>
          <a:bodyPr wrap="square" lIns="0" tIns="0" rIns="0" bIns="0" rtlCol="0" anchor="ctr">
            <a:normAutofit/>
          </a:bodyPr>
          <a:lstStyle/>
          <a:p>
            <a:pPr indent="0" marL="0">
              <a:buNone/>
            </a:pPr>
            <a:r>
              <a:rPr lang="en-US" sz="1600" dirty="0">
                <a:solidFill>
                  <a:schemeClr val="tx1"/>
                </a:solidFill>
              </a:rPr>
              <a:t>Descrever as extensões Double DQN, repetição priorizada, dueling, multi-step, distribucional, ruído e Rainbow.</a:t>
            </a:r>
            <a:endParaRPr lang="en-US" sz="1600" dirty="0"/>
          </a:p>
        </p:txBody>
      </p:sp>
      <p:sp>
        <p:nvSpPr>
          <p:cNvPr id="20" name="Cartão"/>
          <p:cNvSpPr/>
          <p:nvPr/>
        </p:nvSpPr>
        <p:spPr>
          <a:xfrm>
            <a:off x="457200" y="4229331"/>
            <a:ext cx="8229600" cy="456276"/>
          </a:xfrm>
          <a:prstGeom prst="roundRect">
            <a:avLst>
              <a:gd name="adj" fmla="val 24049"/>
            </a:avLst>
          </a:prstGeom>
          <a:solidFill>
            <a:schemeClr val="bg2"/>
          </a:solidFill>
          <a:ln w="12700">
            <a:solidFill>
              <a:schemeClr val="bg2"/>
            </a:solidFill>
            <a:prstDash val="solid"/>
          </a:ln>
        </p:spPr>
      </p:sp>
      <p:sp>
        <p:nvSpPr>
          <p:cNvPr id="21" name="Número"/>
          <p:cNvSpPr/>
          <p:nvPr/>
        </p:nvSpPr>
        <p:spPr>
          <a:xfrm>
            <a:off x="594360" y="4274589"/>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2" name="Texto"/>
          <p:cNvSpPr txBox="1"/>
          <p:nvPr/>
        </p:nvSpPr>
        <p:spPr>
          <a:xfrm>
            <a:off x="1097280" y="4229331"/>
            <a:ext cx="7452360" cy="456276"/>
          </a:xfrm>
          <a:prstGeom prst="rect">
            <a:avLst/>
          </a:prstGeom>
          <a:noFill/>
          <a:ln/>
        </p:spPr>
        <p:txBody>
          <a:bodyPr wrap="square" lIns="0" tIns="0" rIns="0" bIns="0" rtlCol="0" anchor="ctr">
            <a:normAutofit/>
          </a:bodyPr>
          <a:lstStyle/>
          <a:p>
            <a:pPr indent="0" marL="0">
              <a:buNone/>
            </a:pPr>
            <a:r>
              <a:rPr lang="en-US" sz="1600" dirty="0">
                <a:solidFill>
                  <a:schemeClr val="tx1"/>
                </a:solidFill>
              </a:rPr>
              <a:t>Usar o Stable-Baselines3 para treinar e avaliar um DQN em um ambiente próprio.</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Roteiro da aula</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Cap. 8</a:t>
            </a:r>
            <a:endParaRPr lang="en-US" sz="1200" dirty="0"/>
          </a:p>
        </p:txBody>
      </p:sp>
      <p:sp>
        <p:nvSpPr>
          <p:cNvPr id="5" name="Cartão"/>
          <p:cNvSpPr/>
          <p:nvPr/>
        </p:nvSpPr>
        <p:spPr>
          <a:xfrm>
            <a:off x="457200" y="1234440"/>
            <a:ext cx="4023360" cy="475488"/>
          </a:xfrm>
          <a:prstGeom prst="roundRect">
            <a:avLst>
              <a:gd name="adj" fmla="val 19231"/>
            </a:avLst>
          </a:prstGeom>
          <a:solidFill>
            <a:schemeClr val="bg2"/>
          </a:solidFill>
          <a:ln w="12700">
            <a:solidFill>
              <a:schemeClr val="bg2"/>
            </a:solidFill>
            <a:prstDash val="solid"/>
          </a:ln>
        </p:spPr>
      </p:sp>
      <p:sp>
        <p:nvSpPr>
          <p:cNvPr id="6" name="Text 3"/>
          <p:cNvSpPr/>
          <p:nvPr/>
        </p:nvSpPr>
        <p:spPr>
          <a:xfrm>
            <a:off x="548640" y="1307592"/>
            <a:ext cx="329184" cy="329184"/>
          </a:xfrm>
          <a:prstGeom prst="ellipse">
            <a:avLst/>
          </a:prstGeom>
          <a:solidFill>
            <a:schemeClr val="accent3"/>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7" name="Text 4"/>
          <p:cNvSpPr txBox="1"/>
          <p:nvPr/>
        </p:nvSpPr>
        <p:spPr>
          <a:xfrm>
            <a:off x="1005840" y="1234440"/>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Do Q-learning à rede Q</a:t>
            </a:r>
            <a:endParaRPr lang="en-US" sz="1400" dirty="0"/>
          </a:p>
        </p:txBody>
      </p:sp>
      <p:sp>
        <p:nvSpPr>
          <p:cNvPr id="8" name="Cartão"/>
          <p:cNvSpPr/>
          <p:nvPr/>
        </p:nvSpPr>
        <p:spPr>
          <a:xfrm>
            <a:off x="4663440" y="1234440"/>
            <a:ext cx="4023360" cy="475488"/>
          </a:xfrm>
          <a:prstGeom prst="roundRect">
            <a:avLst>
              <a:gd name="adj" fmla="val 19231"/>
            </a:avLst>
          </a:prstGeom>
          <a:solidFill>
            <a:schemeClr val="bg2"/>
          </a:solidFill>
          <a:ln w="12700">
            <a:solidFill>
              <a:schemeClr val="bg2"/>
            </a:solidFill>
            <a:prstDash val="solid"/>
          </a:ln>
        </p:spPr>
      </p:sp>
      <p:sp>
        <p:nvSpPr>
          <p:cNvPr id="9" name="Text 6"/>
          <p:cNvSpPr/>
          <p:nvPr/>
        </p:nvSpPr>
        <p:spPr>
          <a:xfrm>
            <a:off x="4754880" y="1307592"/>
            <a:ext cx="329184" cy="329184"/>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0" name="Text 7"/>
          <p:cNvSpPr txBox="1"/>
          <p:nvPr/>
        </p:nvSpPr>
        <p:spPr>
          <a:xfrm>
            <a:off x="5212080" y="1234440"/>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Redes neurais em dez minutos</a:t>
            </a:r>
            <a:endParaRPr lang="en-US" sz="1400" dirty="0"/>
          </a:p>
        </p:txBody>
      </p:sp>
      <p:sp>
        <p:nvSpPr>
          <p:cNvPr id="11" name="Cartão"/>
          <p:cNvSpPr/>
          <p:nvPr/>
        </p:nvSpPr>
        <p:spPr>
          <a:xfrm>
            <a:off x="457200" y="1801368"/>
            <a:ext cx="4023360" cy="475488"/>
          </a:xfrm>
          <a:prstGeom prst="roundRect">
            <a:avLst>
              <a:gd name="adj" fmla="val 19231"/>
            </a:avLst>
          </a:prstGeom>
          <a:solidFill>
            <a:schemeClr val="bg2"/>
          </a:solidFill>
          <a:ln w="12700">
            <a:solidFill>
              <a:schemeClr val="bg2"/>
            </a:solidFill>
            <a:prstDash val="solid"/>
          </a:ln>
        </p:spPr>
      </p:sp>
      <p:sp>
        <p:nvSpPr>
          <p:cNvPr id="12" name="Text 9"/>
          <p:cNvSpPr/>
          <p:nvPr/>
        </p:nvSpPr>
        <p:spPr>
          <a:xfrm>
            <a:off x="548640" y="1874520"/>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3" name="Text 10"/>
          <p:cNvSpPr txBox="1"/>
          <p:nvPr/>
        </p:nvSpPr>
        <p:spPr>
          <a:xfrm>
            <a:off x="1005840" y="1801368"/>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Por que redes + Q-learning dão problema</a:t>
            </a:r>
            <a:endParaRPr lang="en-US" sz="1400" dirty="0"/>
          </a:p>
        </p:txBody>
      </p:sp>
      <p:sp>
        <p:nvSpPr>
          <p:cNvPr id="14" name="Cartão"/>
          <p:cNvSpPr/>
          <p:nvPr/>
        </p:nvSpPr>
        <p:spPr>
          <a:xfrm>
            <a:off x="4663440" y="1801368"/>
            <a:ext cx="4023360" cy="475488"/>
          </a:xfrm>
          <a:prstGeom prst="roundRect">
            <a:avLst>
              <a:gd name="adj" fmla="val 19231"/>
            </a:avLst>
          </a:prstGeom>
          <a:solidFill>
            <a:schemeClr val="bg2"/>
          </a:solidFill>
          <a:ln w="12700">
            <a:solidFill>
              <a:schemeClr val="bg2"/>
            </a:solidFill>
            <a:prstDash val="solid"/>
          </a:ln>
        </p:spPr>
      </p:sp>
      <p:sp>
        <p:nvSpPr>
          <p:cNvPr id="15" name="Text 12"/>
          <p:cNvSpPr/>
          <p:nvPr/>
        </p:nvSpPr>
        <p:spPr>
          <a:xfrm>
            <a:off x="4754880" y="1874520"/>
            <a:ext cx="329184" cy="329184"/>
          </a:xfrm>
          <a:prstGeom prst="ellipse">
            <a:avLst/>
          </a:prstGeom>
          <a:solidFill>
            <a:schemeClr val="accent4"/>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6" name="Text 13"/>
          <p:cNvSpPr txBox="1"/>
          <p:nvPr/>
        </p:nvSpPr>
        <p:spPr>
          <a:xfrm>
            <a:off x="5212080" y="1801368"/>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Truque 1: repetição de experiência</a:t>
            </a:r>
            <a:endParaRPr lang="en-US" sz="1400" dirty="0"/>
          </a:p>
        </p:txBody>
      </p:sp>
      <p:sp>
        <p:nvSpPr>
          <p:cNvPr id="17" name="Cartão"/>
          <p:cNvSpPr/>
          <p:nvPr/>
        </p:nvSpPr>
        <p:spPr>
          <a:xfrm>
            <a:off x="457200" y="2368296"/>
            <a:ext cx="4023360" cy="475488"/>
          </a:xfrm>
          <a:prstGeom prst="roundRect">
            <a:avLst>
              <a:gd name="adj" fmla="val 19231"/>
            </a:avLst>
          </a:prstGeom>
          <a:solidFill>
            <a:schemeClr val="bg2"/>
          </a:solidFill>
          <a:ln w="12700">
            <a:solidFill>
              <a:schemeClr val="bg2"/>
            </a:solidFill>
            <a:prstDash val="solid"/>
          </a:ln>
        </p:spPr>
      </p:sp>
      <p:sp>
        <p:nvSpPr>
          <p:cNvPr id="18" name="Text 15"/>
          <p:cNvSpPr/>
          <p:nvPr/>
        </p:nvSpPr>
        <p:spPr>
          <a:xfrm>
            <a:off x="548640" y="2441448"/>
            <a:ext cx="329184" cy="329184"/>
          </a:xfrm>
          <a:prstGeom prst="ellipse">
            <a:avLst/>
          </a:prstGeom>
          <a:solidFill>
            <a:schemeClr val="accent3"/>
          </a:solid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9" name="Text 16"/>
          <p:cNvSpPr txBox="1"/>
          <p:nvPr/>
        </p:nvSpPr>
        <p:spPr>
          <a:xfrm>
            <a:off x="1005840" y="2368296"/>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Truque 2: a rede-alvo</a:t>
            </a:r>
            <a:endParaRPr lang="en-US" sz="1400" dirty="0"/>
          </a:p>
        </p:txBody>
      </p:sp>
      <p:sp>
        <p:nvSpPr>
          <p:cNvPr id="20" name="Cartão"/>
          <p:cNvSpPr/>
          <p:nvPr/>
        </p:nvSpPr>
        <p:spPr>
          <a:xfrm>
            <a:off x="4663440" y="2368296"/>
            <a:ext cx="4023360" cy="475488"/>
          </a:xfrm>
          <a:prstGeom prst="roundRect">
            <a:avLst>
              <a:gd name="adj" fmla="val 19231"/>
            </a:avLst>
          </a:prstGeom>
          <a:solidFill>
            <a:schemeClr val="bg2"/>
          </a:solidFill>
          <a:ln w="12700">
            <a:solidFill>
              <a:schemeClr val="bg2"/>
            </a:solidFill>
            <a:prstDash val="solid"/>
          </a:ln>
        </p:spPr>
      </p:sp>
      <p:sp>
        <p:nvSpPr>
          <p:cNvPr id="21" name="Text 18"/>
          <p:cNvSpPr/>
          <p:nvPr/>
        </p:nvSpPr>
        <p:spPr>
          <a:xfrm>
            <a:off x="4754880" y="2441448"/>
            <a:ext cx="329184" cy="329184"/>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22" name="Text 19"/>
          <p:cNvSpPr txBox="1"/>
          <p:nvPr/>
        </p:nvSpPr>
        <p:spPr>
          <a:xfrm>
            <a:off x="5212080" y="2368296"/>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O algoritmo DQN, passo a passo</a:t>
            </a:r>
            <a:endParaRPr lang="en-US" sz="1400" dirty="0"/>
          </a:p>
        </p:txBody>
      </p:sp>
      <p:sp>
        <p:nvSpPr>
          <p:cNvPr id="23" name="Cartão"/>
          <p:cNvSpPr/>
          <p:nvPr/>
        </p:nvSpPr>
        <p:spPr>
          <a:xfrm>
            <a:off x="457200" y="2935224"/>
            <a:ext cx="4023360" cy="475488"/>
          </a:xfrm>
          <a:prstGeom prst="roundRect">
            <a:avLst>
              <a:gd name="adj" fmla="val 19231"/>
            </a:avLst>
          </a:prstGeom>
          <a:solidFill>
            <a:schemeClr val="bg2"/>
          </a:solidFill>
          <a:ln w="12700">
            <a:solidFill>
              <a:schemeClr val="bg2"/>
            </a:solidFill>
            <a:prstDash val="solid"/>
          </a:ln>
        </p:spPr>
      </p:sp>
      <p:sp>
        <p:nvSpPr>
          <p:cNvPr id="24" name="Text 21"/>
          <p:cNvSpPr/>
          <p:nvPr/>
        </p:nvSpPr>
        <p:spPr>
          <a:xfrm>
            <a:off x="548640" y="3008376"/>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25" name="Text 22"/>
          <p:cNvSpPr txBox="1"/>
          <p:nvPr/>
        </p:nvSpPr>
        <p:spPr>
          <a:xfrm>
            <a:off x="1005840" y="2935224"/>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O DQN que jogou Atari</a:t>
            </a:r>
            <a:endParaRPr lang="en-US" sz="1400" dirty="0"/>
          </a:p>
        </p:txBody>
      </p:sp>
      <p:sp>
        <p:nvSpPr>
          <p:cNvPr id="26" name="Cartão"/>
          <p:cNvSpPr/>
          <p:nvPr/>
        </p:nvSpPr>
        <p:spPr>
          <a:xfrm>
            <a:off x="4663440" y="2935224"/>
            <a:ext cx="4023360" cy="475488"/>
          </a:xfrm>
          <a:prstGeom prst="roundRect">
            <a:avLst>
              <a:gd name="adj" fmla="val 19231"/>
            </a:avLst>
          </a:prstGeom>
          <a:solidFill>
            <a:schemeClr val="bg2"/>
          </a:solidFill>
          <a:ln w="12700">
            <a:solidFill>
              <a:schemeClr val="bg2"/>
            </a:solidFill>
            <a:prstDash val="solid"/>
          </a:ln>
        </p:spPr>
      </p:sp>
      <p:sp>
        <p:nvSpPr>
          <p:cNvPr id="27" name="Text 24"/>
          <p:cNvSpPr/>
          <p:nvPr/>
        </p:nvSpPr>
        <p:spPr>
          <a:xfrm>
            <a:off x="4754880" y="3008376"/>
            <a:ext cx="329184" cy="329184"/>
          </a:xfrm>
          <a:prstGeom prst="ellipse">
            <a:avLst/>
          </a:prstGeom>
          <a:solidFill>
            <a:schemeClr val="accent4"/>
          </a:solid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28" name="Text 25"/>
          <p:cNvSpPr txBox="1"/>
          <p:nvPr/>
        </p:nvSpPr>
        <p:spPr>
          <a:xfrm>
            <a:off x="5212080" y="2935224"/>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Extensões do DQN</a:t>
            </a:r>
            <a:endParaRPr lang="en-US" sz="1400" dirty="0"/>
          </a:p>
        </p:txBody>
      </p:sp>
      <p:sp>
        <p:nvSpPr>
          <p:cNvPr id="29" name="Cartão"/>
          <p:cNvSpPr/>
          <p:nvPr/>
        </p:nvSpPr>
        <p:spPr>
          <a:xfrm>
            <a:off x="457200" y="3502152"/>
            <a:ext cx="4023360" cy="475488"/>
          </a:xfrm>
          <a:prstGeom prst="roundRect">
            <a:avLst>
              <a:gd name="adj" fmla="val 19231"/>
            </a:avLst>
          </a:prstGeom>
          <a:solidFill>
            <a:schemeClr val="bg2"/>
          </a:solidFill>
          <a:ln w="12700">
            <a:solidFill>
              <a:schemeClr val="bg2"/>
            </a:solidFill>
            <a:prstDash val="solid"/>
          </a:ln>
        </p:spPr>
      </p:sp>
      <p:sp>
        <p:nvSpPr>
          <p:cNvPr id="30" name="Text 27"/>
          <p:cNvSpPr/>
          <p:nvPr/>
        </p:nvSpPr>
        <p:spPr>
          <a:xfrm>
            <a:off x="548640" y="3575304"/>
            <a:ext cx="329184" cy="329184"/>
          </a:xfrm>
          <a:prstGeom prst="ellipse">
            <a:avLst/>
          </a:prstGeom>
          <a:solidFill>
            <a:schemeClr val="accent3"/>
          </a:solidFill>
          <a:ln/>
        </p:spPr>
        <p:txBody>
          <a:bodyPr wrap="square" lIns="0" tIns="0" rIns="0" bIns="0" rtlCol="0" anchor="ctr"/>
          <a:lstStyle/>
          <a:p>
            <a:pPr algn="ctr" indent="0" marL="0">
              <a:buNone/>
            </a:pPr>
            <a:r>
              <a:rPr lang="en-US" sz="1200" b="1" dirty="0">
                <a:solidFill>
                  <a:schemeClr val="bg1"/>
                </a:solidFill>
              </a:rPr>
              <a:t>9</a:t>
            </a:r>
            <a:endParaRPr lang="en-US" sz="1200" dirty="0"/>
          </a:p>
        </p:txBody>
      </p:sp>
      <p:sp>
        <p:nvSpPr>
          <p:cNvPr id="31" name="Text 28"/>
          <p:cNvSpPr txBox="1"/>
          <p:nvPr/>
        </p:nvSpPr>
        <p:spPr>
          <a:xfrm>
            <a:off x="1005840" y="3502152"/>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Hiperparâmetros e depuração</a:t>
            </a:r>
            <a:endParaRPr lang="en-US" sz="1400" dirty="0"/>
          </a:p>
        </p:txBody>
      </p:sp>
      <p:sp>
        <p:nvSpPr>
          <p:cNvPr id="32" name="Cartão"/>
          <p:cNvSpPr/>
          <p:nvPr/>
        </p:nvSpPr>
        <p:spPr>
          <a:xfrm>
            <a:off x="4663440" y="3502152"/>
            <a:ext cx="4023360" cy="475488"/>
          </a:xfrm>
          <a:prstGeom prst="roundRect">
            <a:avLst>
              <a:gd name="adj" fmla="val 19231"/>
            </a:avLst>
          </a:prstGeom>
          <a:solidFill>
            <a:schemeClr val="bg2"/>
          </a:solidFill>
          <a:ln w="12700">
            <a:solidFill>
              <a:schemeClr val="bg2"/>
            </a:solidFill>
            <a:prstDash val="solid"/>
          </a:ln>
        </p:spPr>
      </p:sp>
      <p:sp>
        <p:nvSpPr>
          <p:cNvPr id="33" name="Text 30"/>
          <p:cNvSpPr/>
          <p:nvPr/>
        </p:nvSpPr>
        <p:spPr>
          <a:xfrm>
            <a:off x="4754880" y="3575304"/>
            <a:ext cx="329184" cy="329184"/>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10</a:t>
            </a:r>
            <a:endParaRPr lang="en-US" sz="1200" dirty="0"/>
          </a:p>
        </p:txBody>
      </p:sp>
      <p:sp>
        <p:nvSpPr>
          <p:cNvPr id="34" name="Text 31"/>
          <p:cNvSpPr txBox="1"/>
          <p:nvPr/>
        </p:nvSpPr>
        <p:spPr>
          <a:xfrm>
            <a:off x="5212080" y="3502152"/>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Mão na massa</a:t>
            </a:r>
            <a:endParaRPr lang="en-US" sz="1400" dirty="0"/>
          </a:p>
        </p:txBody>
      </p:sp>
      <p:sp>
        <p:nvSpPr>
          <p:cNvPr id="35" name="Cartão"/>
          <p:cNvSpPr/>
          <p:nvPr/>
        </p:nvSpPr>
        <p:spPr>
          <a:xfrm>
            <a:off x="457200" y="4069080"/>
            <a:ext cx="4023360" cy="475488"/>
          </a:xfrm>
          <a:prstGeom prst="roundRect">
            <a:avLst>
              <a:gd name="adj" fmla="val 19231"/>
            </a:avLst>
          </a:prstGeom>
          <a:solidFill>
            <a:schemeClr val="bg2"/>
          </a:solidFill>
          <a:ln w="12700">
            <a:solidFill>
              <a:schemeClr val="bg2"/>
            </a:solidFill>
            <a:prstDash val="solid"/>
          </a:ln>
        </p:spPr>
      </p:sp>
      <p:sp>
        <p:nvSpPr>
          <p:cNvPr id="36" name="Text 33"/>
          <p:cNvSpPr/>
          <p:nvPr/>
        </p:nvSpPr>
        <p:spPr>
          <a:xfrm>
            <a:off x="548640" y="4142232"/>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11</a:t>
            </a:r>
            <a:endParaRPr lang="en-US" sz="1200" dirty="0"/>
          </a:p>
        </p:txBody>
      </p:sp>
      <p:sp>
        <p:nvSpPr>
          <p:cNvPr id="37" name="Text 34"/>
          <p:cNvSpPr txBox="1"/>
          <p:nvPr/>
        </p:nvSpPr>
        <p:spPr>
          <a:xfrm>
            <a:off x="1005840" y="4069080"/>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Projeto do capítulo: um DQN para o estoque de uma loja</a:t>
            </a:r>
            <a:endParaRPr lang="en-US" sz="1400" dirty="0"/>
          </a:p>
        </p:txBody>
      </p:sp>
      <p:sp>
        <p:nvSpPr>
          <p:cNvPr id="38" name="Cartão"/>
          <p:cNvSpPr/>
          <p:nvPr/>
        </p:nvSpPr>
        <p:spPr>
          <a:xfrm>
            <a:off x="4663440" y="4069080"/>
            <a:ext cx="4023360" cy="475488"/>
          </a:xfrm>
          <a:prstGeom prst="roundRect">
            <a:avLst>
              <a:gd name="adj" fmla="val 19231"/>
            </a:avLst>
          </a:prstGeom>
          <a:solidFill>
            <a:schemeClr val="bg2"/>
          </a:solidFill>
          <a:ln w="12700">
            <a:solidFill>
              <a:schemeClr val="bg2"/>
            </a:solidFill>
            <a:prstDash val="solid"/>
          </a:ln>
        </p:spPr>
      </p:sp>
      <p:sp>
        <p:nvSpPr>
          <p:cNvPr id="39" name="Text 36"/>
          <p:cNvSpPr/>
          <p:nvPr/>
        </p:nvSpPr>
        <p:spPr>
          <a:xfrm>
            <a:off x="4754880" y="4142232"/>
            <a:ext cx="329184" cy="329184"/>
          </a:xfrm>
          <a:prstGeom prst="ellipse">
            <a:avLst/>
          </a:prstGeom>
          <a:solidFill>
            <a:schemeClr val="accent4"/>
          </a:solidFill>
          <a:ln/>
        </p:spPr>
        <p:txBody>
          <a:bodyPr wrap="square" lIns="0" tIns="0" rIns="0" bIns="0" rtlCol="0" anchor="ctr"/>
          <a:lstStyle/>
          <a:p>
            <a:pPr algn="ctr" indent="0" marL="0">
              <a:buNone/>
            </a:pPr>
            <a:r>
              <a:rPr lang="en-US" sz="1200" b="1" dirty="0">
                <a:solidFill>
                  <a:schemeClr val="bg1"/>
                </a:solidFill>
              </a:rPr>
              <a:t>12</a:t>
            </a:r>
            <a:endParaRPr lang="en-US" sz="1200" dirty="0"/>
          </a:p>
        </p:txBody>
      </p:sp>
      <p:sp>
        <p:nvSpPr>
          <p:cNvPr id="40" name="Text 37"/>
          <p:cNvSpPr txBox="1"/>
          <p:nvPr/>
        </p:nvSpPr>
        <p:spPr>
          <a:xfrm>
            <a:off x="5212080" y="4069080"/>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Resumo do capítulo</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Do Q-learning à rede Q</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8.1</a:t>
            </a:r>
            <a:endParaRPr lang="en-US" sz="1200" dirty="0"/>
          </a:p>
        </p:txBody>
      </p:sp>
      <p:sp>
        <p:nvSpPr>
          <p:cNvPr id="5" name="Cartão"/>
          <p:cNvSpPr/>
          <p:nvPr/>
        </p:nvSpPr>
        <p:spPr>
          <a:xfrm>
            <a:off x="457200" y="1188720"/>
            <a:ext cx="8229600" cy="694944"/>
          </a:xfrm>
          <a:prstGeom prst="roundRect">
            <a:avLst>
              <a:gd name="adj" fmla="val 15789"/>
            </a:avLst>
          </a:prstGeom>
          <a:solidFill>
            <a:schemeClr val="bg2"/>
          </a:solidFill>
          <a:ln w="12700">
            <a:solidFill>
              <a:schemeClr val="bg2"/>
            </a:solidFill>
            <a:prstDash val="solid"/>
          </a:ln>
        </p:spPr>
      </p:sp>
      <p:sp>
        <p:nvSpPr>
          <p:cNvPr id="6" name="Número"/>
          <p:cNvSpPr/>
          <p:nvPr/>
        </p:nvSpPr>
        <p:spPr>
          <a:xfrm>
            <a:off x="594360" y="1353312"/>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No Capítulo 7, vimos que tabelas não escalam e que a aproximação de funções permite generalizar.</a:t>
            </a:r>
            <a:endParaRPr lang="en-US" sz="1600" dirty="0"/>
          </a:p>
        </p:txBody>
      </p:sp>
      <p:sp>
        <p:nvSpPr>
          <p:cNvPr id="8" name="Cartão"/>
          <p:cNvSpPr/>
          <p:nvPr/>
        </p:nvSpPr>
        <p:spPr>
          <a:xfrm>
            <a:off x="457200" y="1993392"/>
            <a:ext cx="8229600" cy="475488"/>
          </a:xfrm>
          <a:prstGeom prst="roundRect">
            <a:avLst>
              <a:gd name="adj" fmla="val 23077"/>
            </a:avLst>
          </a:prstGeom>
          <a:solidFill>
            <a:schemeClr val="bg2"/>
          </a:solidFill>
          <a:ln w="12700">
            <a:solidFill>
              <a:schemeClr val="bg2"/>
            </a:solidFill>
            <a:prstDash val="solid"/>
          </a:ln>
        </p:spPr>
      </p:sp>
      <p:sp>
        <p:nvSpPr>
          <p:cNvPr id="9" name="Número"/>
          <p:cNvSpPr/>
          <p:nvPr/>
        </p:nvSpPr>
        <p:spPr>
          <a:xfrm>
            <a:off x="594360" y="2048256"/>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cNvSpPr txBox="1"/>
          <p:nvPr/>
        </p:nvSpPr>
        <p:spPr>
          <a:xfrm>
            <a:off x="1097280" y="1993392"/>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A ideia é simples:</a:t>
            </a:r>
            <a:endParaRPr lang="en-US" sz="1600" dirty="0"/>
          </a:p>
        </p:txBody>
      </p:sp>
      <p:sp>
        <p:nvSpPr>
          <p:cNvPr id="11" name="Cartão"/>
          <p:cNvSpPr/>
          <p:nvPr/>
        </p:nvSpPr>
        <p:spPr>
          <a:xfrm>
            <a:off x="868680" y="2578608"/>
            <a:ext cx="7818120" cy="694944"/>
          </a:xfrm>
          <a:prstGeom prst="roundRect">
            <a:avLst>
              <a:gd name="adj" fmla="val 15789"/>
            </a:avLst>
          </a:prstGeom>
          <a:solidFill>
            <a:schemeClr val="bg1"/>
          </a:solidFill>
          <a:ln w="12700">
            <a:solidFill>
              <a:schemeClr val="bg2"/>
            </a:solidFill>
            <a:prstDash val="solid"/>
          </a:ln>
        </p:spPr>
      </p:sp>
      <p:sp>
        <p:nvSpPr>
          <p:cNvPr id="12" name="Marcador"/>
          <p:cNvSpPr/>
          <p:nvPr/>
        </p:nvSpPr>
        <p:spPr>
          <a:xfrm>
            <a:off x="1051560" y="2871216"/>
            <a:ext cx="109728" cy="109728"/>
          </a:xfrm>
          <a:prstGeom prst="ellipse">
            <a:avLst/>
          </a:prstGeom>
          <a:solidFill>
            <a:schemeClr val="accent3"/>
          </a:solidFill>
          <a:ln w="12700">
            <a:solidFill>
              <a:schemeClr val="accent3"/>
            </a:solidFill>
            <a:prstDash val="solid"/>
          </a:ln>
        </p:spPr>
      </p:sp>
      <p:sp>
        <p:nvSpPr>
          <p:cNvPr id="13" name="Texto"/>
          <p:cNvSpPr txBox="1"/>
          <p:nvPr/>
        </p:nvSpPr>
        <p:spPr>
          <a:xfrm>
            <a:off x="1508760" y="2578608"/>
            <a:ext cx="704088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A entrada da rede é o estado (por exemplo, os 4 números do CartPole ou os pixels de um jogo).</a:t>
            </a:r>
            <a:endParaRPr lang="en-US" sz="1600" dirty="0"/>
          </a:p>
        </p:txBody>
      </p:sp>
      <p:sp>
        <p:nvSpPr>
          <p:cNvPr id="14" name="Cartão"/>
          <p:cNvSpPr/>
          <p:nvPr/>
        </p:nvSpPr>
        <p:spPr>
          <a:xfrm>
            <a:off x="868680" y="3383280"/>
            <a:ext cx="7818120" cy="475488"/>
          </a:xfrm>
          <a:prstGeom prst="roundRect">
            <a:avLst>
              <a:gd name="adj" fmla="val 23077"/>
            </a:avLst>
          </a:prstGeom>
          <a:solidFill>
            <a:schemeClr val="bg1"/>
          </a:solidFill>
          <a:ln w="12700">
            <a:solidFill>
              <a:schemeClr val="bg2"/>
            </a:solidFill>
            <a:prstDash val="solid"/>
          </a:ln>
        </p:spPr>
      </p:sp>
      <p:sp>
        <p:nvSpPr>
          <p:cNvPr id="15" name="Marcador"/>
          <p:cNvSpPr/>
          <p:nvPr/>
        </p:nvSpPr>
        <p:spPr>
          <a:xfrm>
            <a:off x="1051560" y="3566160"/>
            <a:ext cx="109728" cy="109728"/>
          </a:xfrm>
          <a:prstGeom prst="ellipse">
            <a:avLst/>
          </a:prstGeom>
          <a:solidFill>
            <a:schemeClr val="accent3"/>
          </a:solidFill>
          <a:ln w="12700">
            <a:solidFill>
              <a:schemeClr val="accent3"/>
            </a:solidFill>
            <a:prstDash val="solid"/>
          </a:ln>
        </p:spPr>
      </p:sp>
      <p:sp>
        <p:nvSpPr>
          <p:cNvPr id="16" name="Texto"/>
          <p:cNvSpPr txBox="1"/>
          <p:nvPr/>
        </p:nvSpPr>
        <p:spPr>
          <a:xfrm>
            <a:off x="1508760" y="3383280"/>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A saída é um valor Q para cada ação.</a:t>
            </a:r>
            <a:endParaRPr lang="en-US" sz="1600" dirty="0"/>
          </a:p>
        </p:txBody>
      </p:sp>
      <p:sp>
        <p:nvSpPr>
          <p:cNvPr id="17" name="Cartão"/>
          <p:cNvSpPr/>
          <p:nvPr/>
        </p:nvSpPr>
        <p:spPr>
          <a:xfrm>
            <a:off x="868680" y="3968496"/>
            <a:ext cx="7818120" cy="475488"/>
          </a:xfrm>
          <a:prstGeom prst="roundRect">
            <a:avLst>
              <a:gd name="adj" fmla="val 23077"/>
            </a:avLst>
          </a:prstGeom>
          <a:solidFill>
            <a:schemeClr val="bg1"/>
          </a:solidFill>
          <a:ln w="12700">
            <a:solidFill>
              <a:schemeClr val="bg2"/>
            </a:solidFill>
            <a:prstDash val="solid"/>
          </a:ln>
        </p:spPr>
      </p:sp>
      <p:sp>
        <p:nvSpPr>
          <p:cNvPr id="18" name="Marcador"/>
          <p:cNvSpPr/>
          <p:nvPr/>
        </p:nvSpPr>
        <p:spPr>
          <a:xfrm>
            <a:off x="1051560" y="4151376"/>
            <a:ext cx="109728" cy="109728"/>
          </a:xfrm>
          <a:prstGeom prst="ellipse">
            <a:avLst/>
          </a:prstGeom>
          <a:solidFill>
            <a:schemeClr val="accent3"/>
          </a:solidFill>
          <a:ln w="12700">
            <a:solidFill>
              <a:schemeClr val="accent3"/>
            </a:solidFill>
            <a:prstDash val="solid"/>
          </a:ln>
        </p:spPr>
      </p:sp>
      <p:sp>
        <p:nvSpPr>
          <p:cNvPr id="19" name="Texto"/>
          <p:cNvSpPr txBox="1"/>
          <p:nvPr/>
        </p:nvSpPr>
        <p:spPr>
          <a:xfrm>
            <a:off x="1508760" y="3968496"/>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A ação escolhida é a de maior Q (com um pouco de exploração).</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Do Q-learning à rede Q</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Figura</a:t>
            </a:r>
            <a:endParaRPr lang="en-US" sz="1200" dirty="0"/>
          </a:p>
        </p:txBody>
      </p:sp>
      <p:pic>
        <p:nvPicPr>
          <p:cNvPr id="5" name="Figura" descr="Rede Q para o CartPole: 4 números entram; dois valores Q (um por ação) saem.">    </p:cNvPr>
          <p:cNvPicPr>
            <a:picLocks noChangeAspect="1"/>
          </p:cNvPicPr>
          <p:nvPr/>
        </p:nvPicPr>
        <p:blipFill>
          <a:blip r:embed="rId1"/>
          <a:stretch>
            <a:fillRect/>
          </a:stretch>
        </p:blipFill>
        <p:spPr>
          <a:xfrm>
            <a:off x="1424528" y="1143000"/>
            <a:ext cx="6294944" cy="2880360"/>
          </a:xfrm>
          <a:prstGeom prst="rect">
            <a:avLst/>
          </a:prstGeom>
        </p:spPr>
      </p:pic>
      <p:sp>
        <p:nvSpPr>
          <p:cNvPr id="6" name="Legenda"/>
          <p:cNvSpPr txBox="1"/>
          <p:nvPr/>
        </p:nvSpPr>
        <p:spPr>
          <a:xfrm>
            <a:off x="457200" y="4114800"/>
            <a:ext cx="8229600" cy="594360"/>
          </a:xfrm>
          <a:prstGeom prst="rect">
            <a:avLst/>
          </a:prstGeom>
          <a:noFill/>
          <a:ln/>
        </p:spPr>
        <p:txBody>
          <a:bodyPr wrap="square" lIns="0" tIns="0" rIns="0" bIns="0" rtlCol="0" anchor="ctr">
            <a:normAutofit/>
          </a:bodyPr>
          <a:lstStyle/>
          <a:p>
            <a:pPr algn="ctr" indent="0" marL="0">
              <a:buNone/>
            </a:pPr>
            <a:r>
              <a:rPr lang="en-US" sz="1400" i="1" dirty="0">
                <a:solidFill>
                  <a:schemeClr val="tx1"/>
                </a:solidFill>
              </a:rPr>
              <a:t>Rede Q para o CartPole: 4 números entram; dois valores Q (um por ação) saem.</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Redes neurais em dez minutos</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8.2</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O neurônio artificial: Um neurônio artificial faz três coisas</a:t>
            </a:r>
            <a:endParaRPr lang="en-US" sz="1600" dirty="0"/>
          </a:p>
        </p:txBody>
      </p:sp>
      <p:sp>
        <p:nvSpPr>
          <p:cNvPr id="8" name="Cartão"/>
          <p:cNvSpPr/>
          <p:nvPr/>
        </p:nvSpPr>
        <p:spPr>
          <a:xfrm>
            <a:off x="868680" y="1773936"/>
            <a:ext cx="7818120" cy="475488"/>
          </a:xfrm>
          <a:prstGeom prst="roundRect">
            <a:avLst>
              <a:gd name="adj" fmla="val 23077"/>
            </a:avLst>
          </a:prstGeom>
          <a:solidFill>
            <a:schemeClr val="bg1"/>
          </a:solidFill>
          <a:ln w="12700">
            <a:solidFill>
              <a:schemeClr val="bg2"/>
            </a:solidFill>
            <a:prstDash val="solid"/>
          </a:ln>
        </p:spPr>
      </p:sp>
      <p:sp>
        <p:nvSpPr>
          <p:cNvPr id="9" name="Marcador"/>
          <p:cNvSpPr/>
          <p:nvPr/>
        </p:nvSpPr>
        <p:spPr>
          <a:xfrm>
            <a:off x="1051560" y="1956816"/>
            <a:ext cx="109728" cy="109728"/>
          </a:xfrm>
          <a:prstGeom prst="ellipse">
            <a:avLst/>
          </a:prstGeom>
          <a:solidFill>
            <a:schemeClr val="accent3"/>
          </a:solidFill>
          <a:ln w="12700">
            <a:solidFill>
              <a:schemeClr val="accent3"/>
            </a:solidFill>
            <a:prstDash val="solid"/>
          </a:ln>
        </p:spPr>
      </p:sp>
      <p:sp>
        <p:nvSpPr>
          <p:cNvPr id="10" name="Texto"/>
          <p:cNvSpPr txBox="1"/>
          <p:nvPr/>
        </p:nvSpPr>
        <p:spPr>
          <a:xfrm>
            <a:off x="1508760" y="1773936"/>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Multiplica cada entrada por um peso (w).</a:t>
            </a:r>
            <a:endParaRPr lang="en-US" sz="1600" dirty="0"/>
          </a:p>
        </p:txBody>
      </p:sp>
      <p:sp>
        <p:nvSpPr>
          <p:cNvPr id="11" name="Cartão"/>
          <p:cNvSpPr/>
          <p:nvPr/>
        </p:nvSpPr>
        <p:spPr>
          <a:xfrm>
            <a:off x="868680" y="2359152"/>
            <a:ext cx="7818120" cy="475488"/>
          </a:xfrm>
          <a:prstGeom prst="roundRect">
            <a:avLst>
              <a:gd name="adj" fmla="val 23077"/>
            </a:avLst>
          </a:prstGeom>
          <a:solidFill>
            <a:schemeClr val="bg1"/>
          </a:solidFill>
          <a:ln w="12700">
            <a:solidFill>
              <a:schemeClr val="bg2"/>
            </a:solidFill>
            <a:prstDash val="solid"/>
          </a:ln>
        </p:spPr>
      </p:sp>
      <p:sp>
        <p:nvSpPr>
          <p:cNvPr id="12" name="Marcador"/>
          <p:cNvSpPr/>
          <p:nvPr/>
        </p:nvSpPr>
        <p:spPr>
          <a:xfrm>
            <a:off x="1051560" y="2542032"/>
            <a:ext cx="109728" cy="109728"/>
          </a:xfrm>
          <a:prstGeom prst="ellipse">
            <a:avLst/>
          </a:prstGeom>
          <a:solidFill>
            <a:schemeClr val="accent3"/>
          </a:solidFill>
          <a:ln w="12700">
            <a:solidFill>
              <a:schemeClr val="accent3"/>
            </a:solidFill>
            <a:prstDash val="solid"/>
          </a:ln>
        </p:spPr>
      </p:sp>
      <p:sp>
        <p:nvSpPr>
          <p:cNvPr id="13" name="Texto"/>
          <p:cNvSpPr txBox="1"/>
          <p:nvPr/>
        </p:nvSpPr>
        <p:spPr>
          <a:xfrm>
            <a:off x="1508760" y="2359152"/>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Soma tudo e acrescenta um número chamado viés (b).</a:t>
            </a:r>
            <a:endParaRPr lang="en-US" sz="1600" dirty="0"/>
          </a:p>
        </p:txBody>
      </p:sp>
      <p:sp>
        <p:nvSpPr>
          <p:cNvPr id="14" name="Cartão"/>
          <p:cNvSpPr/>
          <p:nvPr/>
        </p:nvSpPr>
        <p:spPr>
          <a:xfrm>
            <a:off x="868680" y="2944368"/>
            <a:ext cx="7818120" cy="475488"/>
          </a:xfrm>
          <a:prstGeom prst="roundRect">
            <a:avLst>
              <a:gd name="adj" fmla="val 23077"/>
            </a:avLst>
          </a:prstGeom>
          <a:solidFill>
            <a:schemeClr val="bg1"/>
          </a:solidFill>
          <a:ln w="12700">
            <a:solidFill>
              <a:schemeClr val="bg2"/>
            </a:solidFill>
            <a:prstDash val="solid"/>
          </a:ln>
        </p:spPr>
      </p:sp>
      <p:sp>
        <p:nvSpPr>
          <p:cNvPr id="15" name="Marcador"/>
          <p:cNvSpPr/>
          <p:nvPr/>
        </p:nvSpPr>
        <p:spPr>
          <a:xfrm>
            <a:off x="1051560" y="3127248"/>
            <a:ext cx="109728" cy="109728"/>
          </a:xfrm>
          <a:prstGeom prst="ellipse">
            <a:avLst/>
          </a:prstGeom>
          <a:solidFill>
            <a:schemeClr val="accent3"/>
          </a:solidFill>
          <a:ln w="12700">
            <a:solidFill>
              <a:schemeClr val="accent3"/>
            </a:solidFill>
            <a:prstDash val="solid"/>
          </a:ln>
        </p:spPr>
      </p:sp>
      <p:sp>
        <p:nvSpPr>
          <p:cNvPr id="16" name="Texto"/>
          <p:cNvSpPr txBox="1"/>
          <p:nvPr/>
        </p:nvSpPr>
        <p:spPr>
          <a:xfrm>
            <a:off x="1508760" y="2944368"/>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Passa o resultado por uma função de ativação f, que acrescenta curvas ao cálculo.</a:t>
            </a:r>
            <a:endParaRPr lang="en-US" sz="1600" dirty="0"/>
          </a:p>
        </p:txBody>
      </p:sp>
      <p:sp>
        <p:nvSpPr>
          <p:cNvPr id="17" name="Cartão"/>
          <p:cNvSpPr/>
          <p:nvPr/>
        </p:nvSpPr>
        <p:spPr>
          <a:xfrm>
            <a:off x="457200" y="3529584"/>
            <a:ext cx="8229600" cy="475488"/>
          </a:xfrm>
          <a:prstGeom prst="roundRect">
            <a:avLst>
              <a:gd name="adj" fmla="val 23077"/>
            </a:avLst>
          </a:prstGeom>
          <a:solidFill>
            <a:schemeClr val="bg2"/>
          </a:solidFill>
          <a:ln w="12700">
            <a:solidFill>
              <a:schemeClr val="bg2"/>
            </a:solidFill>
            <a:prstDash val="solid"/>
          </a:ln>
        </p:spPr>
      </p:sp>
      <p:sp>
        <p:nvSpPr>
          <p:cNvPr id="18" name="Número"/>
          <p:cNvSpPr/>
          <p:nvPr/>
        </p:nvSpPr>
        <p:spPr>
          <a:xfrm>
            <a:off x="594360" y="3584448"/>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9" name="Texto"/>
          <p:cNvSpPr txBox="1"/>
          <p:nvPr/>
        </p:nvSpPr>
        <p:spPr>
          <a:xfrm>
            <a:off x="1097280" y="3529584"/>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Camadas e profundidade: Juntando muitos neurônios em camadas, obtemos uma rede neural.</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Redes neurais em dez minutos (cont.)</a:t>
            </a:r>
            <a:endParaRPr lang="en-US" sz="3000" dirty="0"/>
          </a:p>
        </p:txBody>
      </p:sp>
      <p:sp>
        <p:nvSpPr>
          <p:cNvPr id="3"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8.2</a:t>
            </a:r>
            <a:endParaRPr lang="en-US" sz="1200" dirty="0"/>
          </a:p>
        </p:txBody>
      </p:sp>
      <p:sp>
        <p:nvSpPr>
          <p:cNvPr id="4"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5" name="Número"/>
          <p:cNvSpPr/>
          <p:nvPr/>
        </p:nvSpPr>
        <p:spPr>
          <a:xfrm>
            <a:off x="594360" y="124358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Como a rede aprende: O treinamento repete quatro ideias que você já conhece</a:t>
            </a:r>
            <a:endParaRPr lang="en-US" sz="1600" dirty="0"/>
          </a:p>
        </p:txBody>
      </p:sp>
      <p:sp>
        <p:nvSpPr>
          <p:cNvPr id="7" name="Cartão"/>
          <p:cNvSpPr/>
          <p:nvPr/>
        </p:nvSpPr>
        <p:spPr>
          <a:xfrm>
            <a:off x="868680" y="1773936"/>
            <a:ext cx="7818120" cy="475488"/>
          </a:xfrm>
          <a:prstGeom prst="roundRect">
            <a:avLst>
              <a:gd name="adj" fmla="val 23077"/>
            </a:avLst>
          </a:prstGeom>
          <a:solidFill>
            <a:schemeClr val="bg1"/>
          </a:solidFill>
          <a:ln w="12700">
            <a:solidFill>
              <a:schemeClr val="bg2"/>
            </a:solidFill>
            <a:prstDash val="solid"/>
          </a:ln>
        </p:spPr>
      </p:sp>
      <p:sp>
        <p:nvSpPr>
          <p:cNvPr id="8" name="Marcador"/>
          <p:cNvSpPr/>
          <p:nvPr/>
        </p:nvSpPr>
        <p:spPr>
          <a:xfrm>
            <a:off x="1051560" y="1956816"/>
            <a:ext cx="109728" cy="109728"/>
          </a:xfrm>
          <a:prstGeom prst="ellipse">
            <a:avLst/>
          </a:prstGeom>
          <a:solidFill>
            <a:schemeClr val="accent3"/>
          </a:solidFill>
          <a:ln w="12700">
            <a:solidFill>
              <a:schemeClr val="accent3"/>
            </a:solidFill>
            <a:prstDash val="solid"/>
          </a:ln>
        </p:spPr>
      </p:sp>
      <p:sp>
        <p:nvSpPr>
          <p:cNvPr id="9" name="Texto"/>
          <p:cNvSpPr txBox="1"/>
          <p:nvPr/>
        </p:nvSpPr>
        <p:spPr>
          <a:xfrm>
            <a:off x="1508760" y="1773936"/>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Prever com os pesos atuais.</a:t>
            </a:r>
            <a:endParaRPr lang="en-US" sz="1600" dirty="0"/>
          </a:p>
        </p:txBody>
      </p:sp>
      <p:sp>
        <p:nvSpPr>
          <p:cNvPr id="10" name="Cartão"/>
          <p:cNvSpPr/>
          <p:nvPr/>
        </p:nvSpPr>
        <p:spPr>
          <a:xfrm>
            <a:off x="868680" y="2359152"/>
            <a:ext cx="7818120" cy="475488"/>
          </a:xfrm>
          <a:prstGeom prst="roundRect">
            <a:avLst>
              <a:gd name="adj" fmla="val 23077"/>
            </a:avLst>
          </a:prstGeom>
          <a:solidFill>
            <a:schemeClr val="bg1"/>
          </a:solidFill>
          <a:ln w="12700">
            <a:solidFill>
              <a:schemeClr val="bg2"/>
            </a:solidFill>
            <a:prstDash val="solid"/>
          </a:ln>
        </p:spPr>
      </p:sp>
      <p:sp>
        <p:nvSpPr>
          <p:cNvPr id="11" name="Marcador"/>
          <p:cNvSpPr/>
          <p:nvPr/>
        </p:nvSpPr>
        <p:spPr>
          <a:xfrm>
            <a:off x="1051560" y="2542032"/>
            <a:ext cx="109728" cy="109728"/>
          </a:xfrm>
          <a:prstGeom prst="ellipse">
            <a:avLst/>
          </a:prstGeom>
          <a:solidFill>
            <a:schemeClr val="accent3"/>
          </a:solidFill>
          <a:ln w="12700">
            <a:solidFill>
              <a:schemeClr val="accent3"/>
            </a:solidFill>
            <a:prstDash val="solid"/>
          </a:ln>
        </p:spPr>
      </p:sp>
      <p:sp>
        <p:nvSpPr>
          <p:cNvPr id="12" name="Texto"/>
          <p:cNvSpPr txBox="1"/>
          <p:nvPr/>
        </p:nvSpPr>
        <p:spPr>
          <a:xfrm>
            <a:off x="1508760" y="2359152"/>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Medir o erro (a perda): por exemplo, (alvo − previsão)².</a:t>
            </a:r>
            <a:endParaRPr lang="en-US" sz="1600" dirty="0"/>
          </a:p>
        </p:txBody>
      </p:sp>
      <p:sp>
        <p:nvSpPr>
          <p:cNvPr id="13" name="Cartão"/>
          <p:cNvSpPr/>
          <p:nvPr/>
        </p:nvSpPr>
        <p:spPr>
          <a:xfrm>
            <a:off x="868680" y="2944368"/>
            <a:ext cx="7818120" cy="475488"/>
          </a:xfrm>
          <a:prstGeom prst="roundRect">
            <a:avLst>
              <a:gd name="adj" fmla="val 23077"/>
            </a:avLst>
          </a:prstGeom>
          <a:solidFill>
            <a:schemeClr val="bg1"/>
          </a:solidFill>
          <a:ln w="12700">
            <a:solidFill>
              <a:schemeClr val="bg2"/>
            </a:solidFill>
            <a:prstDash val="solid"/>
          </a:ln>
        </p:spPr>
      </p:sp>
      <p:sp>
        <p:nvSpPr>
          <p:cNvPr id="14" name="Marcador"/>
          <p:cNvSpPr/>
          <p:nvPr/>
        </p:nvSpPr>
        <p:spPr>
          <a:xfrm>
            <a:off x="1051560" y="3127248"/>
            <a:ext cx="109728" cy="109728"/>
          </a:xfrm>
          <a:prstGeom prst="ellipse">
            <a:avLst/>
          </a:prstGeom>
          <a:solidFill>
            <a:schemeClr val="accent3"/>
          </a:solidFill>
          <a:ln w="12700">
            <a:solidFill>
              <a:schemeClr val="accent3"/>
            </a:solidFill>
            <a:prstDash val="solid"/>
          </a:ln>
        </p:spPr>
      </p:sp>
      <p:sp>
        <p:nvSpPr>
          <p:cNvPr id="15" name="Texto"/>
          <p:cNvSpPr txBox="1"/>
          <p:nvPr/>
        </p:nvSpPr>
        <p:spPr>
          <a:xfrm>
            <a:off x="1508760" y="2944368"/>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Calcular o gradiente do erro em relação a cada peso.</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Redes neurais em dez minutos</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Figura</a:t>
            </a:r>
            <a:endParaRPr lang="en-US" sz="1200" dirty="0"/>
          </a:p>
        </p:txBody>
      </p:sp>
      <p:pic>
        <p:nvPicPr>
          <p:cNvPr id="5" name="Figura" descr="À esquerda, o neurônio artificial.">    </p:cNvPr>
          <p:cNvPicPr>
            <a:picLocks noChangeAspect="1"/>
          </p:cNvPicPr>
          <p:nvPr/>
        </p:nvPicPr>
        <p:blipFill>
          <a:blip r:embed="rId1"/>
          <a:stretch>
            <a:fillRect/>
          </a:stretch>
        </p:blipFill>
        <p:spPr>
          <a:xfrm>
            <a:off x="545135" y="1143000"/>
            <a:ext cx="8053731" cy="2880360"/>
          </a:xfrm>
          <a:prstGeom prst="rect">
            <a:avLst/>
          </a:prstGeom>
        </p:spPr>
      </p:pic>
      <p:sp>
        <p:nvSpPr>
          <p:cNvPr id="6" name="Legenda"/>
          <p:cNvSpPr txBox="1"/>
          <p:nvPr/>
        </p:nvSpPr>
        <p:spPr>
          <a:xfrm>
            <a:off x="457200" y="4114800"/>
            <a:ext cx="8229600" cy="594360"/>
          </a:xfrm>
          <a:prstGeom prst="rect">
            <a:avLst/>
          </a:prstGeom>
          <a:noFill/>
          <a:ln/>
        </p:spPr>
        <p:txBody>
          <a:bodyPr wrap="square" lIns="0" tIns="0" rIns="0" bIns="0" rtlCol="0" anchor="ctr">
            <a:normAutofit/>
          </a:bodyPr>
          <a:lstStyle/>
          <a:p>
            <a:pPr algn="ctr" indent="0" marL="0">
              <a:buNone/>
            </a:pPr>
            <a:r>
              <a:rPr lang="en-US" sz="1400" i="1" dirty="0">
                <a:solidFill>
                  <a:schemeClr val="tx1"/>
                </a:solidFill>
              </a:rPr>
              <a:t>À esquerda, o neurônio artificial.</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Treinar uma rede é como afinar uma orquestra</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No dia a dia</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Cada peso é um botão de afinação.</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Por que redes + Q-learning dão problema</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8.3</a:t>
            </a:r>
            <a:endParaRPr lang="en-US" sz="1200" dirty="0"/>
          </a:p>
        </p:txBody>
      </p:sp>
      <p:sp>
        <p:nvSpPr>
          <p:cNvPr id="5" name="Cartão"/>
          <p:cNvSpPr/>
          <p:nvPr/>
        </p:nvSpPr>
        <p:spPr>
          <a:xfrm>
            <a:off x="457200" y="1188720"/>
            <a:ext cx="8229600" cy="694944"/>
          </a:xfrm>
          <a:prstGeom prst="roundRect">
            <a:avLst>
              <a:gd name="adj" fmla="val 15789"/>
            </a:avLst>
          </a:prstGeom>
          <a:solidFill>
            <a:schemeClr val="bg2"/>
          </a:solidFill>
          <a:ln w="12700">
            <a:solidFill>
              <a:schemeClr val="bg2"/>
            </a:solidFill>
            <a:prstDash val="solid"/>
          </a:ln>
        </p:spPr>
      </p:sp>
      <p:sp>
        <p:nvSpPr>
          <p:cNvPr id="6" name="Número"/>
          <p:cNvSpPr/>
          <p:nvPr/>
        </p:nvSpPr>
        <p:spPr>
          <a:xfrm>
            <a:off x="594360" y="1353312"/>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Se treinássemos a rede Q com o Q-learning "ingênuo", encontraríamos dois problemas principais, que se somam ao triângulo mortal do Capítulo 7.</a:t>
            </a:r>
            <a:endParaRPr lang="en-US" sz="1800" dirty="0"/>
          </a:p>
        </p:txBody>
      </p:sp>
      <p:sp>
        <p:nvSpPr>
          <p:cNvPr id="8" name="Cartão"/>
          <p:cNvSpPr/>
          <p:nvPr/>
        </p:nvSpPr>
        <p:spPr>
          <a:xfrm>
            <a:off x="868680" y="1993392"/>
            <a:ext cx="7818120" cy="475488"/>
          </a:xfrm>
          <a:prstGeom prst="roundRect">
            <a:avLst>
              <a:gd name="adj" fmla="val 23077"/>
            </a:avLst>
          </a:prstGeom>
          <a:solidFill>
            <a:schemeClr val="bg1"/>
          </a:solidFill>
          <a:ln w="12700">
            <a:solidFill>
              <a:schemeClr val="bg2"/>
            </a:solidFill>
            <a:prstDash val="solid"/>
          </a:ln>
        </p:spPr>
      </p:sp>
      <p:sp>
        <p:nvSpPr>
          <p:cNvPr id="9" name="Marcador"/>
          <p:cNvSpPr/>
          <p:nvPr/>
        </p:nvSpPr>
        <p:spPr>
          <a:xfrm>
            <a:off x="1051560" y="2176272"/>
            <a:ext cx="109728" cy="109728"/>
          </a:xfrm>
          <a:prstGeom prst="ellipse">
            <a:avLst/>
          </a:prstGeom>
          <a:solidFill>
            <a:schemeClr val="accent3"/>
          </a:solidFill>
          <a:ln w="12700">
            <a:solidFill>
              <a:schemeClr val="accent3"/>
            </a:solidFill>
            <a:prstDash val="solid"/>
          </a:ln>
        </p:spPr>
      </p:sp>
      <p:sp>
        <p:nvSpPr>
          <p:cNvPr id="10" name="Texto"/>
          <p:cNvSpPr txBox="1"/>
          <p:nvPr/>
        </p:nvSpPr>
        <p:spPr>
          <a:xfrm>
            <a:off x="1508760" y="1993392"/>
            <a:ext cx="704088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Dados correlacionados.</a:t>
            </a:r>
            <a:endParaRPr lang="en-US" sz="1800" dirty="0"/>
          </a:p>
        </p:txBody>
      </p:sp>
      <p:sp>
        <p:nvSpPr>
          <p:cNvPr id="11" name="Cartão"/>
          <p:cNvSpPr/>
          <p:nvPr/>
        </p:nvSpPr>
        <p:spPr>
          <a:xfrm>
            <a:off x="457200" y="2578608"/>
            <a:ext cx="8229600" cy="475488"/>
          </a:xfrm>
          <a:prstGeom prst="roundRect">
            <a:avLst>
              <a:gd name="adj" fmla="val 23077"/>
            </a:avLst>
          </a:prstGeom>
          <a:solidFill>
            <a:schemeClr val="bg2"/>
          </a:solidFill>
          <a:ln w="12700">
            <a:solidFill>
              <a:schemeClr val="bg2"/>
            </a:solidFill>
            <a:prstDash val="solid"/>
          </a:ln>
        </p:spPr>
      </p:sp>
      <p:sp>
        <p:nvSpPr>
          <p:cNvPr id="12" name="Número"/>
          <p:cNvSpPr/>
          <p:nvPr/>
        </p:nvSpPr>
        <p:spPr>
          <a:xfrm>
            <a:off x="594360" y="2633472"/>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3" name="Texto"/>
          <p:cNvSpPr txBox="1"/>
          <p:nvPr/>
        </p:nvSpPr>
        <p:spPr>
          <a:xfrm>
            <a:off x="1097280" y="2578608"/>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O DQN propõe dois remédios engenhosos.</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Truque 1: repetição de experiência</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8.4</a:t>
            </a:r>
            <a:endParaRPr lang="en-US" sz="1200" dirty="0"/>
          </a:p>
        </p:txBody>
      </p:sp>
      <p:sp>
        <p:nvSpPr>
          <p:cNvPr id="5" name="Cartão"/>
          <p:cNvSpPr/>
          <p:nvPr/>
        </p:nvSpPr>
        <p:spPr>
          <a:xfrm>
            <a:off x="457200" y="1188720"/>
            <a:ext cx="8229600" cy="694944"/>
          </a:xfrm>
          <a:prstGeom prst="roundRect">
            <a:avLst>
              <a:gd name="adj" fmla="val 15789"/>
            </a:avLst>
          </a:prstGeom>
          <a:solidFill>
            <a:schemeClr val="bg2"/>
          </a:solidFill>
          <a:ln w="12700">
            <a:solidFill>
              <a:schemeClr val="bg2"/>
            </a:solidFill>
            <a:prstDash val="solid"/>
          </a:ln>
        </p:spPr>
      </p:sp>
      <p:sp>
        <p:nvSpPr>
          <p:cNvPr id="6" name="Número"/>
          <p:cNvSpPr/>
          <p:nvPr/>
        </p:nvSpPr>
        <p:spPr>
          <a:xfrm>
            <a:off x="594360" y="1353312"/>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Em vez de aprender com a transição que acabou de acontecer, o agente a guarda numa memória de experiências (replay buffer) e, a cada passo</a:t>
            </a:r>
            <a:endParaRPr lang="en-US" sz="1600" dirty="0"/>
          </a:p>
        </p:txBody>
      </p:sp>
      <p:sp>
        <p:nvSpPr>
          <p:cNvPr id="8" name="Cartão"/>
          <p:cNvSpPr/>
          <p:nvPr/>
        </p:nvSpPr>
        <p:spPr>
          <a:xfrm>
            <a:off x="868680" y="1993392"/>
            <a:ext cx="7818120" cy="475488"/>
          </a:xfrm>
          <a:prstGeom prst="roundRect">
            <a:avLst>
              <a:gd name="adj" fmla="val 23077"/>
            </a:avLst>
          </a:prstGeom>
          <a:solidFill>
            <a:schemeClr val="bg1"/>
          </a:solidFill>
          <a:ln w="12700">
            <a:solidFill>
              <a:schemeClr val="bg2"/>
            </a:solidFill>
            <a:prstDash val="solid"/>
          </a:ln>
        </p:spPr>
      </p:sp>
      <p:sp>
        <p:nvSpPr>
          <p:cNvPr id="9" name="Marcador"/>
          <p:cNvSpPr/>
          <p:nvPr/>
        </p:nvSpPr>
        <p:spPr>
          <a:xfrm>
            <a:off x="1051560" y="2176272"/>
            <a:ext cx="109728" cy="109728"/>
          </a:xfrm>
          <a:prstGeom prst="ellipse">
            <a:avLst/>
          </a:prstGeom>
          <a:solidFill>
            <a:schemeClr val="accent3"/>
          </a:solidFill>
          <a:ln w="12700">
            <a:solidFill>
              <a:schemeClr val="accent3"/>
            </a:solidFill>
            <a:prstDash val="solid"/>
          </a:ln>
        </p:spPr>
      </p:sp>
      <p:sp>
        <p:nvSpPr>
          <p:cNvPr id="10" name="Texto"/>
          <p:cNvSpPr txBox="1"/>
          <p:nvPr/>
        </p:nvSpPr>
        <p:spPr>
          <a:xfrm>
            <a:off x="1508760" y="1993392"/>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Quebra a correlação entre amostras consecutivas.</a:t>
            </a:r>
            <a:endParaRPr lang="en-US" sz="1600" dirty="0"/>
          </a:p>
        </p:txBody>
      </p:sp>
      <p:sp>
        <p:nvSpPr>
          <p:cNvPr id="11" name="Cartão"/>
          <p:cNvSpPr/>
          <p:nvPr/>
        </p:nvSpPr>
        <p:spPr>
          <a:xfrm>
            <a:off x="868680" y="2578608"/>
            <a:ext cx="7818120" cy="475488"/>
          </a:xfrm>
          <a:prstGeom prst="roundRect">
            <a:avLst>
              <a:gd name="adj" fmla="val 23077"/>
            </a:avLst>
          </a:prstGeom>
          <a:solidFill>
            <a:schemeClr val="bg1"/>
          </a:solidFill>
          <a:ln w="12700">
            <a:solidFill>
              <a:schemeClr val="bg2"/>
            </a:solidFill>
            <a:prstDash val="solid"/>
          </a:ln>
        </p:spPr>
      </p:sp>
      <p:sp>
        <p:nvSpPr>
          <p:cNvPr id="12" name="Marcador"/>
          <p:cNvSpPr/>
          <p:nvPr/>
        </p:nvSpPr>
        <p:spPr>
          <a:xfrm>
            <a:off x="1051560" y="2761488"/>
            <a:ext cx="109728" cy="109728"/>
          </a:xfrm>
          <a:prstGeom prst="ellipse">
            <a:avLst/>
          </a:prstGeom>
          <a:solidFill>
            <a:schemeClr val="accent3"/>
          </a:solidFill>
          <a:ln w="12700">
            <a:solidFill>
              <a:schemeClr val="accent3"/>
            </a:solidFill>
            <a:prstDash val="solid"/>
          </a:ln>
        </p:spPr>
      </p:sp>
      <p:sp>
        <p:nvSpPr>
          <p:cNvPr id="13" name="Texto"/>
          <p:cNvSpPr txBox="1"/>
          <p:nvPr/>
        </p:nvSpPr>
        <p:spPr>
          <a:xfrm>
            <a:off x="1508760" y="2578608"/>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Reaproveita cada experiência muitas vezes, aumentando a eficiência dos dados.</a:t>
            </a:r>
            <a:endParaRPr lang="en-US" sz="1600" dirty="0"/>
          </a:p>
        </p:txBody>
      </p:sp>
      <p:sp>
        <p:nvSpPr>
          <p:cNvPr id="14" name="Cartão"/>
          <p:cNvSpPr/>
          <p:nvPr/>
        </p:nvSpPr>
        <p:spPr>
          <a:xfrm>
            <a:off x="868680" y="3163824"/>
            <a:ext cx="7818120" cy="475488"/>
          </a:xfrm>
          <a:prstGeom prst="roundRect">
            <a:avLst>
              <a:gd name="adj" fmla="val 23077"/>
            </a:avLst>
          </a:prstGeom>
          <a:solidFill>
            <a:schemeClr val="bg1"/>
          </a:solidFill>
          <a:ln w="12700">
            <a:solidFill>
              <a:schemeClr val="bg2"/>
            </a:solidFill>
            <a:prstDash val="solid"/>
          </a:ln>
        </p:spPr>
      </p:sp>
      <p:sp>
        <p:nvSpPr>
          <p:cNvPr id="15" name="Marcador"/>
          <p:cNvSpPr/>
          <p:nvPr/>
        </p:nvSpPr>
        <p:spPr>
          <a:xfrm>
            <a:off x="1051560" y="3346704"/>
            <a:ext cx="109728" cy="109728"/>
          </a:xfrm>
          <a:prstGeom prst="ellipse">
            <a:avLst/>
          </a:prstGeom>
          <a:solidFill>
            <a:schemeClr val="accent3"/>
          </a:solidFill>
          <a:ln w="12700">
            <a:solidFill>
              <a:schemeClr val="accent3"/>
            </a:solidFill>
            <a:prstDash val="solid"/>
          </a:ln>
        </p:spPr>
      </p:sp>
      <p:sp>
        <p:nvSpPr>
          <p:cNvPr id="16" name="Texto"/>
          <p:cNvSpPr txBox="1"/>
          <p:nvPr/>
        </p:nvSpPr>
        <p:spPr>
          <a:xfrm>
            <a:off x="1508760" y="3163824"/>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Torna o treino mais estável e parecido com o aprendizado supervisionado.</a:t>
            </a:r>
            <a:endParaRPr lang="en-US" sz="1600" dirty="0"/>
          </a:p>
        </p:txBody>
      </p:sp>
      <p:sp>
        <p:nvSpPr>
          <p:cNvPr id="17" name="Cartão"/>
          <p:cNvSpPr/>
          <p:nvPr/>
        </p:nvSpPr>
        <p:spPr>
          <a:xfrm>
            <a:off x="457200" y="3749040"/>
            <a:ext cx="8229600" cy="694944"/>
          </a:xfrm>
          <a:prstGeom prst="roundRect">
            <a:avLst>
              <a:gd name="adj" fmla="val 15789"/>
            </a:avLst>
          </a:prstGeom>
          <a:solidFill>
            <a:schemeClr val="bg2"/>
          </a:solidFill>
          <a:ln w="12700">
            <a:solidFill>
              <a:schemeClr val="bg2"/>
            </a:solidFill>
            <a:prstDash val="solid"/>
          </a:ln>
        </p:spPr>
      </p:sp>
      <p:sp>
        <p:nvSpPr>
          <p:cNvPr id="18" name="Número"/>
          <p:cNvSpPr/>
          <p:nvPr/>
        </p:nvSpPr>
        <p:spPr>
          <a:xfrm>
            <a:off x="594360" y="3913632"/>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9" name="Texto"/>
          <p:cNvSpPr txBox="1"/>
          <p:nvPr/>
        </p:nvSpPr>
        <p:spPr>
          <a:xfrm>
            <a:off x="1097280" y="3749040"/>
            <a:ext cx="745236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Em compensação, só funciona com métodos off-policy (o Q-learning é), pois os dados antigos vêm de políticas passadas.</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Truque 1: repetição de experiência</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Figura</a:t>
            </a:r>
            <a:endParaRPr lang="en-US" sz="1200" dirty="0"/>
          </a:p>
        </p:txBody>
      </p:sp>
      <p:pic>
        <p:nvPicPr>
          <p:cNvPr id="5" name="Figura" descr="A memória de experiências embaralha o passado: o lote usado no treino é quase independente em vez de uma sequência correlacionada.">    </p:cNvPr>
          <p:cNvPicPr>
            <a:picLocks noChangeAspect="1"/>
          </p:cNvPicPr>
          <p:nvPr/>
        </p:nvPicPr>
        <p:blipFill>
          <a:blip r:embed="rId1"/>
          <a:stretch>
            <a:fillRect/>
          </a:stretch>
        </p:blipFill>
        <p:spPr>
          <a:xfrm>
            <a:off x="457200" y="1179798"/>
            <a:ext cx="8229600" cy="2806764"/>
          </a:xfrm>
          <a:prstGeom prst="rect">
            <a:avLst/>
          </a:prstGeom>
        </p:spPr>
      </p:pic>
      <p:sp>
        <p:nvSpPr>
          <p:cNvPr id="6" name="Legenda"/>
          <p:cNvSpPr txBox="1"/>
          <p:nvPr/>
        </p:nvSpPr>
        <p:spPr>
          <a:xfrm>
            <a:off x="457200" y="4114800"/>
            <a:ext cx="8229600" cy="594360"/>
          </a:xfrm>
          <a:prstGeom prst="rect">
            <a:avLst/>
          </a:prstGeom>
          <a:noFill/>
          <a:ln/>
        </p:spPr>
        <p:txBody>
          <a:bodyPr wrap="square" lIns="0" tIns="0" rIns="0" bIns="0" rtlCol="0" anchor="ctr">
            <a:normAutofit/>
          </a:bodyPr>
          <a:lstStyle/>
          <a:p>
            <a:pPr algn="ctr" indent="0" marL="0">
              <a:buNone/>
            </a:pPr>
            <a:r>
              <a:rPr lang="en-US" sz="1400" i="1" dirty="0">
                <a:solidFill>
                  <a:schemeClr val="tx1"/>
                </a:solidFill>
              </a:rPr>
              <a:t>A memória de experiências embaralha o passado: o lote usado no treino é quase independente em vez de uma sequência correlacionada.</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Truque 2: a rede-alvo</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8.5</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O DQN mantém duas redes com a mesma arquitetura:</a:t>
            </a:r>
            <a:endParaRPr lang="en-US" sz="1600" dirty="0"/>
          </a:p>
        </p:txBody>
      </p:sp>
      <p:sp>
        <p:nvSpPr>
          <p:cNvPr id="8" name="Cartão"/>
          <p:cNvSpPr/>
          <p:nvPr/>
        </p:nvSpPr>
        <p:spPr>
          <a:xfrm>
            <a:off x="868680" y="1773936"/>
            <a:ext cx="7818120" cy="475488"/>
          </a:xfrm>
          <a:prstGeom prst="roundRect">
            <a:avLst>
              <a:gd name="adj" fmla="val 23077"/>
            </a:avLst>
          </a:prstGeom>
          <a:solidFill>
            <a:schemeClr val="bg1"/>
          </a:solidFill>
          <a:ln w="12700">
            <a:solidFill>
              <a:schemeClr val="bg2"/>
            </a:solidFill>
            <a:prstDash val="solid"/>
          </a:ln>
        </p:spPr>
      </p:sp>
      <p:sp>
        <p:nvSpPr>
          <p:cNvPr id="9" name="Marcador"/>
          <p:cNvSpPr/>
          <p:nvPr/>
        </p:nvSpPr>
        <p:spPr>
          <a:xfrm>
            <a:off x="1051560" y="1956816"/>
            <a:ext cx="109728" cy="109728"/>
          </a:xfrm>
          <a:prstGeom prst="ellipse">
            <a:avLst/>
          </a:prstGeom>
          <a:solidFill>
            <a:schemeClr val="accent3"/>
          </a:solidFill>
          <a:ln w="12700">
            <a:solidFill>
              <a:schemeClr val="accent3"/>
            </a:solidFill>
            <a:prstDash val="solid"/>
          </a:ln>
        </p:spPr>
      </p:sp>
      <p:sp>
        <p:nvSpPr>
          <p:cNvPr id="10" name="Texto"/>
          <p:cNvSpPr txBox="1"/>
          <p:nvPr/>
        </p:nvSpPr>
        <p:spPr>
          <a:xfrm>
            <a:off x="1508760" y="1773936"/>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a rede online (parâmetros θ), que é treinada a cada passo e decide as ações;</a:t>
            </a:r>
            <a:endParaRPr lang="en-US" sz="1600" dirty="0"/>
          </a:p>
        </p:txBody>
      </p:sp>
      <p:sp>
        <p:nvSpPr>
          <p:cNvPr id="11" name="Cartão"/>
          <p:cNvSpPr/>
          <p:nvPr/>
        </p:nvSpPr>
        <p:spPr>
          <a:xfrm>
            <a:off x="868680" y="2359152"/>
            <a:ext cx="7818120" cy="694944"/>
          </a:xfrm>
          <a:prstGeom prst="roundRect">
            <a:avLst>
              <a:gd name="adj" fmla="val 15789"/>
            </a:avLst>
          </a:prstGeom>
          <a:solidFill>
            <a:schemeClr val="bg1"/>
          </a:solidFill>
          <a:ln w="12700">
            <a:solidFill>
              <a:schemeClr val="bg2"/>
            </a:solidFill>
            <a:prstDash val="solid"/>
          </a:ln>
        </p:spPr>
      </p:sp>
      <p:sp>
        <p:nvSpPr>
          <p:cNvPr id="12" name="Marcador"/>
          <p:cNvSpPr/>
          <p:nvPr/>
        </p:nvSpPr>
        <p:spPr>
          <a:xfrm>
            <a:off x="1051560" y="2651760"/>
            <a:ext cx="109728" cy="109728"/>
          </a:xfrm>
          <a:prstGeom prst="ellipse">
            <a:avLst/>
          </a:prstGeom>
          <a:solidFill>
            <a:schemeClr val="accent3"/>
          </a:solidFill>
          <a:ln w="12700">
            <a:solidFill>
              <a:schemeClr val="accent3"/>
            </a:solidFill>
            <a:prstDash val="solid"/>
          </a:ln>
        </p:spPr>
      </p:sp>
      <p:sp>
        <p:nvSpPr>
          <p:cNvPr id="13" name="Texto"/>
          <p:cNvSpPr txBox="1"/>
          <p:nvPr/>
        </p:nvSpPr>
        <p:spPr>
          <a:xfrm>
            <a:off x="1508760" y="2359152"/>
            <a:ext cx="704088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a rede-alvo (parâmetros θ⁻), uma cópia congelada da online, usada só para calcular o alvo y.</a:t>
            </a:r>
            <a:endParaRPr lang="en-US" sz="1600" dirty="0"/>
          </a:p>
        </p:txBody>
      </p:sp>
      <p:sp>
        <p:nvSpPr>
          <p:cNvPr id="14" name="Cartão"/>
          <p:cNvSpPr/>
          <p:nvPr/>
        </p:nvSpPr>
        <p:spPr>
          <a:xfrm>
            <a:off x="457200" y="3163824"/>
            <a:ext cx="8229600" cy="694944"/>
          </a:xfrm>
          <a:prstGeom prst="roundRect">
            <a:avLst>
              <a:gd name="adj" fmla="val 15789"/>
            </a:avLst>
          </a:prstGeom>
          <a:solidFill>
            <a:schemeClr val="bg2"/>
          </a:solidFill>
          <a:ln w="12700">
            <a:solidFill>
              <a:schemeClr val="bg2"/>
            </a:solidFill>
            <a:prstDash val="solid"/>
          </a:ln>
        </p:spPr>
      </p:sp>
      <p:sp>
        <p:nvSpPr>
          <p:cNvPr id="15" name="Número"/>
          <p:cNvSpPr/>
          <p:nvPr/>
        </p:nvSpPr>
        <p:spPr>
          <a:xfrm>
            <a:off x="594360" y="3328416"/>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6" name="Texto"/>
          <p:cNvSpPr txBox="1"/>
          <p:nvPr/>
        </p:nvSpPr>
        <p:spPr>
          <a:xfrm>
            <a:off x="1097280" y="3163824"/>
            <a:ext cx="745236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Com o alvo parado por um tempo, o problema vira um aprendizado supervisionado temporariamente estável.</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Truque 2: a rede-alvo</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Figura</a:t>
            </a:r>
            <a:endParaRPr lang="en-US" sz="1200" dirty="0"/>
          </a:p>
        </p:txBody>
      </p:sp>
      <p:pic>
        <p:nvPicPr>
          <p:cNvPr id="5" name="Figura" descr="Visão geral do DQN: o agente age, guarda as transições, sorteia lotes da memória, calcula o alvo com a rede-alvo e atualiza a rede online.">    </p:cNvPr>
          <p:cNvPicPr>
            <a:picLocks noChangeAspect="1"/>
          </p:cNvPicPr>
          <p:nvPr/>
        </p:nvPicPr>
        <p:blipFill>
          <a:blip r:embed="rId1"/>
          <a:stretch>
            <a:fillRect/>
          </a:stretch>
        </p:blipFill>
        <p:spPr>
          <a:xfrm>
            <a:off x="1709794" y="1143000"/>
            <a:ext cx="5724413" cy="2880360"/>
          </a:xfrm>
          <a:prstGeom prst="rect">
            <a:avLst/>
          </a:prstGeom>
        </p:spPr>
      </p:pic>
      <p:sp>
        <p:nvSpPr>
          <p:cNvPr id="6" name="Legenda"/>
          <p:cNvSpPr txBox="1"/>
          <p:nvPr/>
        </p:nvSpPr>
        <p:spPr>
          <a:xfrm>
            <a:off x="457200" y="4114800"/>
            <a:ext cx="8229600" cy="594360"/>
          </a:xfrm>
          <a:prstGeom prst="rect">
            <a:avLst/>
          </a:prstGeom>
          <a:noFill/>
          <a:ln/>
        </p:spPr>
        <p:txBody>
          <a:bodyPr wrap="square" lIns="0" tIns="0" rIns="0" bIns="0" rtlCol="0" anchor="ctr">
            <a:normAutofit/>
          </a:bodyPr>
          <a:lstStyle/>
          <a:p>
            <a:pPr algn="ctr" indent="0" marL="0">
              <a:buNone/>
            </a:pPr>
            <a:r>
              <a:rPr lang="en-US" sz="1400" i="1" dirty="0">
                <a:solidFill>
                  <a:schemeClr val="tx1"/>
                </a:solidFill>
              </a:rPr>
              <a:t>Visão geral do DQN: o agente age, guarda as transições, sorteia lotes da memória, calcula o alvo com a rede-alvo e atualiza a rede online.</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 algoritmo DQN, passo a passo</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8.6</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Dois detalhes práticos importantes:</a:t>
            </a:r>
            <a:endParaRPr lang="en-US" sz="1800" dirty="0"/>
          </a:p>
        </p:txBody>
      </p:sp>
      <p:sp>
        <p:nvSpPr>
          <p:cNvPr id="8" name="Cartão"/>
          <p:cNvSpPr/>
          <p:nvPr/>
        </p:nvSpPr>
        <p:spPr>
          <a:xfrm>
            <a:off x="868680" y="1773936"/>
            <a:ext cx="7818120" cy="694944"/>
          </a:xfrm>
          <a:prstGeom prst="roundRect">
            <a:avLst>
              <a:gd name="adj" fmla="val 15789"/>
            </a:avLst>
          </a:prstGeom>
          <a:solidFill>
            <a:schemeClr val="bg1"/>
          </a:solidFill>
          <a:ln w="12700">
            <a:solidFill>
              <a:schemeClr val="bg2"/>
            </a:solidFill>
            <a:prstDash val="solid"/>
          </a:ln>
        </p:spPr>
      </p:sp>
      <p:sp>
        <p:nvSpPr>
          <p:cNvPr id="9" name="Marcador"/>
          <p:cNvSpPr/>
          <p:nvPr/>
        </p:nvSpPr>
        <p:spPr>
          <a:xfrm>
            <a:off x="1051560" y="2066544"/>
            <a:ext cx="109728" cy="109728"/>
          </a:xfrm>
          <a:prstGeom prst="ellipse">
            <a:avLst/>
          </a:prstGeom>
          <a:solidFill>
            <a:schemeClr val="accent3"/>
          </a:solidFill>
          <a:ln w="12700">
            <a:solidFill>
              <a:schemeClr val="accent3"/>
            </a:solidFill>
            <a:prstDash val="solid"/>
          </a:ln>
        </p:spPr>
      </p:sp>
      <p:sp>
        <p:nvSpPr>
          <p:cNvPr id="10" name="Texto"/>
          <p:cNvSpPr txBox="1"/>
          <p:nvPr/>
        </p:nvSpPr>
        <p:spPr>
          <a:xfrm>
            <a:off x="1508760" y="1773936"/>
            <a:ext cx="704088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Perda de Huber (smooth_l1_loss): quadrática para erros pequenos e linear para grandes.</a:t>
            </a:r>
            <a:endParaRPr lang="en-US" sz="1800" dirty="0"/>
          </a:p>
        </p:txBody>
      </p:sp>
      <p:sp>
        <p:nvSpPr>
          <p:cNvPr id="11" name="Cartão"/>
          <p:cNvSpPr/>
          <p:nvPr/>
        </p:nvSpPr>
        <p:spPr>
          <a:xfrm>
            <a:off x="868680" y="2578608"/>
            <a:ext cx="7818120" cy="694944"/>
          </a:xfrm>
          <a:prstGeom prst="roundRect">
            <a:avLst>
              <a:gd name="adj" fmla="val 15789"/>
            </a:avLst>
          </a:prstGeom>
          <a:solidFill>
            <a:schemeClr val="bg1"/>
          </a:solidFill>
          <a:ln w="12700">
            <a:solidFill>
              <a:schemeClr val="bg2"/>
            </a:solidFill>
            <a:prstDash val="solid"/>
          </a:ln>
        </p:spPr>
      </p:sp>
      <p:sp>
        <p:nvSpPr>
          <p:cNvPr id="12" name="Marcador"/>
          <p:cNvSpPr/>
          <p:nvPr/>
        </p:nvSpPr>
        <p:spPr>
          <a:xfrm>
            <a:off x="1051560" y="2871216"/>
            <a:ext cx="109728" cy="109728"/>
          </a:xfrm>
          <a:prstGeom prst="ellipse">
            <a:avLst/>
          </a:prstGeom>
          <a:solidFill>
            <a:schemeClr val="accent3"/>
          </a:solidFill>
          <a:ln w="12700">
            <a:solidFill>
              <a:schemeClr val="accent3"/>
            </a:solidFill>
            <a:prstDash val="solid"/>
          </a:ln>
        </p:spPr>
      </p:sp>
      <p:sp>
        <p:nvSpPr>
          <p:cNvPr id="13" name="Texto"/>
          <p:cNvSpPr txBox="1"/>
          <p:nvPr/>
        </p:nvSpPr>
        <p:spPr>
          <a:xfrm>
            <a:off x="1508760" y="2578608"/>
            <a:ext cx="704088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Recorte do gradiente (gradient clipping): limita o tamanho do passo, outra proteção contra instabilidade.</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 DQN em oito passos</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Memorize</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1.</a:t>
            </a:r>
            <a:endParaRPr lang="en-US" sz="1600" dirty="0"/>
          </a:p>
        </p:txBody>
      </p:sp>
      <p:sp>
        <p:nvSpPr>
          <p:cNvPr id="8" name="Cartão"/>
          <p:cNvSpPr/>
          <p:nvPr/>
        </p:nvSpPr>
        <p:spPr>
          <a:xfrm>
            <a:off x="457200" y="1773936"/>
            <a:ext cx="8229600" cy="475488"/>
          </a:xfrm>
          <a:prstGeom prst="roundRect">
            <a:avLst>
              <a:gd name="adj" fmla="val 23077"/>
            </a:avLst>
          </a:prstGeom>
          <a:solidFill>
            <a:schemeClr val="bg2"/>
          </a:solidFill>
          <a:ln w="12700">
            <a:solidFill>
              <a:schemeClr val="bg2"/>
            </a:solidFill>
            <a:prstDash val="solid"/>
          </a:ln>
        </p:spPr>
      </p:sp>
      <p:sp>
        <p:nvSpPr>
          <p:cNvPr id="9" name="Número"/>
          <p:cNvSpPr/>
          <p:nvPr/>
        </p:nvSpPr>
        <p:spPr>
          <a:xfrm>
            <a:off x="594360" y="1828800"/>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cNvSpPr txBox="1"/>
          <p:nvPr/>
        </p:nvSpPr>
        <p:spPr>
          <a:xfrm>
            <a:off x="1097280" y="1773936"/>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2.</a:t>
            </a:r>
            <a:endParaRPr lang="en-US" sz="1600" dirty="0"/>
          </a:p>
        </p:txBody>
      </p:sp>
      <p:sp>
        <p:nvSpPr>
          <p:cNvPr id="11" name="Cartão"/>
          <p:cNvSpPr/>
          <p:nvPr/>
        </p:nvSpPr>
        <p:spPr>
          <a:xfrm>
            <a:off x="457200" y="2359152"/>
            <a:ext cx="8229600" cy="475488"/>
          </a:xfrm>
          <a:prstGeom prst="roundRect">
            <a:avLst>
              <a:gd name="adj" fmla="val 23077"/>
            </a:avLst>
          </a:prstGeom>
          <a:solidFill>
            <a:schemeClr val="bg2"/>
          </a:solidFill>
          <a:ln w="12700">
            <a:solidFill>
              <a:schemeClr val="bg2"/>
            </a:solidFill>
            <a:prstDash val="solid"/>
          </a:ln>
        </p:spPr>
      </p:sp>
      <p:sp>
        <p:nvSpPr>
          <p:cNvPr id="12" name="Número"/>
          <p:cNvSpPr/>
          <p:nvPr/>
        </p:nvSpPr>
        <p:spPr>
          <a:xfrm>
            <a:off x="594360" y="2414016"/>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o"/>
          <p:cNvSpPr txBox="1"/>
          <p:nvPr/>
        </p:nvSpPr>
        <p:spPr>
          <a:xfrm>
            <a:off x="1097280" y="2359152"/>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3.</a:t>
            </a:r>
            <a:endParaRPr lang="en-US" sz="1600" dirty="0"/>
          </a:p>
        </p:txBody>
      </p:sp>
      <p:sp>
        <p:nvSpPr>
          <p:cNvPr id="14" name="Cartão"/>
          <p:cNvSpPr/>
          <p:nvPr/>
        </p:nvSpPr>
        <p:spPr>
          <a:xfrm>
            <a:off x="457200" y="2944368"/>
            <a:ext cx="8229600" cy="475488"/>
          </a:xfrm>
          <a:prstGeom prst="roundRect">
            <a:avLst>
              <a:gd name="adj" fmla="val 23077"/>
            </a:avLst>
          </a:prstGeom>
          <a:solidFill>
            <a:schemeClr val="bg2"/>
          </a:solidFill>
          <a:ln w="12700">
            <a:solidFill>
              <a:schemeClr val="bg2"/>
            </a:solidFill>
            <a:prstDash val="solid"/>
          </a:ln>
        </p:spPr>
      </p:sp>
      <p:sp>
        <p:nvSpPr>
          <p:cNvPr id="15" name="Número"/>
          <p:cNvSpPr/>
          <p:nvPr/>
        </p:nvSpPr>
        <p:spPr>
          <a:xfrm>
            <a:off x="594360" y="2999232"/>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Texto"/>
          <p:cNvSpPr txBox="1"/>
          <p:nvPr/>
        </p:nvSpPr>
        <p:spPr>
          <a:xfrm>
            <a:off x="1097280" y="2944368"/>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4.</a:t>
            </a:r>
            <a:endParaRPr lang="en-US" sz="1600" dirty="0"/>
          </a:p>
        </p:txBody>
      </p:sp>
      <p:sp>
        <p:nvSpPr>
          <p:cNvPr id="17" name="Cartão"/>
          <p:cNvSpPr/>
          <p:nvPr/>
        </p:nvSpPr>
        <p:spPr>
          <a:xfrm>
            <a:off x="457200" y="3529584"/>
            <a:ext cx="8229600" cy="475488"/>
          </a:xfrm>
          <a:prstGeom prst="roundRect">
            <a:avLst>
              <a:gd name="adj" fmla="val 23077"/>
            </a:avLst>
          </a:prstGeom>
          <a:solidFill>
            <a:schemeClr val="bg2"/>
          </a:solidFill>
          <a:ln w="12700">
            <a:solidFill>
              <a:schemeClr val="bg2"/>
            </a:solidFill>
            <a:prstDash val="solid"/>
          </a:ln>
        </p:spPr>
      </p:sp>
      <p:sp>
        <p:nvSpPr>
          <p:cNvPr id="18" name="Número"/>
          <p:cNvSpPr/>
          <p:nvPr/>
        </p:nvSpPr>
        <p:spPr>
          <a:xfrm>
            <a:off x="594360" y="3584448"/>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9" name="Texto"/>
          <p:cNvSpPr txBox="1"/>
          <p:nvPr/>
        </p:nvSpPr>
        <p:spPr>
          <a:xfrm>
            <a:off x="1097280" y="3529584"/>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5.</a:t>
            </a:r>
            <a:endParaRPr lang="en-US" sz="1600" dirty="0"/>
          </a:p>
        </p:txBody>
      </p:sp>
      <p:sp>
        <p:nvSpPr>
          <p:cNvPr id="20" name="Cartão"/>
          <p:cNvSpPr/>
          <p:nvPr/>
        </p:nvSpPr>
        <p:spPr>
          <a:xfrm>
            <a:off x="457200" y="4114800"/>
            <a:ext cx="8229600" cy="475488"/>
          </a:xfrm>
          <a:prstGeom prst="roundRect">
            <a:avLst>
              <a:gd name="adj" fmla="val 23077"/>
            </a:avLst>
          </a:prstGeom>
          <a:solidFill>
            <a:schemeClr val="bg2"/>
          </a:solidFill>
          <a:ln w="12700">
            <a:solidFill>
              <a:schemeClr val="bg2"/>
            </a:solidFill>
            <a:prstDash val="solid"/>
          </a:ln>
        </p:spPr>
      </p:sp>
      <p:sp>
        <p:nvSpPr>
          <p:cNvPr id="21" name="Número"/>
          <p:cNvSpPr/>
          <p:nvPr/>
        </p:nvSpPr>
        <p:spPr>
          <a:xfrm>
            <a:off x="594360" y="416966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2" name="Texto"/>
          <p:cNvSpPr txBox="1"/>
          <p:nvPr/>
        </p:nvSpPr>
        <p:spPr>
          <a:xfrm>
            <a:off x="1097280" y="4114800"/>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6.</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 DQN que jogou Atari</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8.7</a:t>
            </a:r>
            <a:endParaRPr lang="en-US" sz="1200" dirty="0"/>
          </a:p>
        </p:txBody>
      </p:sp>
      <p:sp>
        <p:nvSpPr>
          <p:cNvPr id="5" name="Cartão"/>
          <p:cNvSpPr/>
          <p:nvPr/>
        </p:nvSpPr>
        <p:spPr>
          <a:xfrm>
            <a:off x="457200" y="1188720"/>
            <a:ext cx="8229600" cy="694944"/>
          </a:xfrm>
          <a:prstGeom prst="roundRect">
            <a:avLst>
              <a:gd name="adj" fmla="val 15789"/>
            </a:avLst>
          </a:prstGeom>
          <a:solidFill>
            <a:schemeClr val="bg2"/>
          </a:solidFill>
          <a:ln w="12700">
            <a:solidFill>
              <a:schemeClr val="bg2"/>
            </a:solidFill>
            <a:prstDash val="solid"/>
          </a:ln>
        </p:spPr>
      </p:sp>
      <p:sp>
        <p:nvSpPr>
          <p:cNvPr id="6" name="Número"/>
          <p:cNvSpPr/>
          <p:nvPr/>
        </p:nvSpPr>
        <p:spPr>
          <a:xfrm>
            <a:off x="594360" y="1353312"/>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O DQN original aprendeu a jogar dezenas de jogos de Atari a partir apenas dos pixels e da pontuação</a:t>
            </a:r>
            <a:endParaRPr lang="en-US" sz="1600" dirty="0"/>
          </a:p>
        </p:txBody>
      </p:sp>
      <p:sp>
        <p:nvSpPr>
          <p:cNvPr id="8" name="Cartão"/>
          <p:cNvSpPr/>
          <p:nvPr/>
        </p:nvSpPr>
        <p:spPr>
          <a:xfrm>
            <a:off x="457200" y="1993392"/>
            <a:ext cx="8229600" cy="475488"/>
          </a:xfrm>
          <a:prstGeom prst="roundRect">
            <a:avLst>
              <a:gd name="adj" fmla="val 23077"/>
            </a:avLst>
          </a:prstGeom>
          <a:solidFill>
            <a:schemeClr val="bg2"/>
          </a:solidFill>
          <a:ln w="12700">
            <a:solidFill>
              <a:schemeClr val="bg2"/>
            </a:solidFill>
            <a:prstDash val="solid"/>
          </a:ln>
        </p:spPr>
      </p:sp>
      <p:sp>
        <p:nvSpPr>
          <p:cNvPr id="9" name="Número"/>
          <p:cNvSpPr/>
          <p:nvPr/>
        </p:nvSpPr>
        <p:spPr>
          <a:xfrm>
            <a:off x="594360" y="2048256"/>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cNvSpPr txBox="1"/>
          <p:nvPr/>
        </p:nvSpPr>
        <p:spPr>
          <a:xfrm>
            <a:off x="1097280" y="1993392"/>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Detalhes de pré-processamento (resumidos):</a:t>
            </a:r>
            <a:endParaRPr lang="en-US" sz="1600" dirty="0"/>
          </a:p>
        </p:txBody>
      </p:sp>
      <p:sp>
        <p:nvSpPr>
          <p:cNvPr id="11" name="Cartão"/>
          <p:cNvSpPr/>
          <p:nvPr/>
        </p:nvSpPr>
        <p:spPr>
          <a:xfrm>
            <a:off x="868680" y="2578608"/>
            <a:ext cx="7818120" cy="475488"/>
          </a:xfrm>
          <a:prstGeom prst="roundRect">
            <a:avLst>
              <a:gd name="adj" fmla="val 23077"/>
            </a:avLst>
          </a:prstGeom>
          <a:solidFill>
            <a:schemeClr val="bg1"/>
          </a:solidFill>
          <a:ln w="12700">
            <a:solidFill>
              <a:schemeClr val="bg2"/>
            </a:solidFill>
            <a:prstDash val="solid"/>
          </a:ln>
        </p:spPr>
      </p:sp>
      <p:sp>
        <p:nvSpPr>
          <p:cNvPr id="12" name="Marcador"/>
          <p:cNvSpPr/>
          <p:nvPr/>
        </p:nvSpPr>
        <p:spPr>
          <a:xfrm>
            <a:off x="1051560" y="2761488"/>
            <a:ext cx="109728" cy="109728"/>
          </a:xfrm>
          <a:prstGeom prst="ellipse">
            <a:avLst/>
          </a:prstGeom>
          <a:solidFill>
            <a:schemeClr val="accent3"/>
          </a:solidFill>
          <a:ln w="12700">
            <a:solidFill>
              <a:schemeClr val="accent3"/>
            </a:solidFill>
            <a:prstDash val="solid"/>
          </a:ln>
        </p:spPr>
      </p:sp>
      <p:sp>
        <p:nvSpPr>
          <p:cNvPr id="13" name="Texto"/>
          <p:cNvSpPr txBox="1"/>
          <p:nvPr/>
        </p:nvSpPr>
        <p:spPr>
          <a:xfrm>
            <a:off x="1508760" y="2578608"/>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A imagem é convertida para tons de cinza e reduzida para 84 × 84.</a:t>
            </a:r>
            <a:endParaRPr lang="en-US" sz="1600" dirty="0"/>
          </a:p>
        </p:txBody>
      </p:sp>
      <p:sp>
        <p:nvSpPr>
          <p:cNvPr id="14" name="Cartão"/>
          <p:cNvSpPr/>
          <p:nvPr/>
        </p:nvSpPr>
        <p:spPr>
          <a:xfrm>
            <a:off x="868680" y="3163824"/>
            <a:ext cx="7818120" cy="694944"/>
          </a:xfrm>
          <a:prstGeom prst="roundRect">
            <a:avLst>
              <a:gd name="adj" fmla="val 15789"/>
            </a:avLst>
          </a:prstGeom>
          <a:solidFill>
            <a:schemeClr val="bg1"/>
          </a:solidFill>
          <a:ln w="12700">
            <a:solidFill>
              <a:schemeClr val="bg2"/>
            </a:solidFill>
            <a:prstDash val="solid"/>
          </a:ln>
        </p:spPr>
      </p:sp>
      <p:sp>
        <p:nvSpPr>
          <p:cNvPr id="15" name="Marcador"/>
          <p:cNvSpPr/>
          <p:nvPr/>
        </p:nvSpPr>
        <p:spPr>
          <a:xfrm>
            <a:off x="1051560" y="3456432"/>
            <a:ext cx="109728" cy="109728"/>
          </a:xfrm>
          <a:prstGeom prst="ellipse">
            <a:avLst/>
          </a:prstGeom>
          <a:solidFill>
            <a:schemeClr val="accent3"/>
          </a:solidFill>
          <a:ln w="12700">
            <a:solidFill>
              <a:schemeClr val="accent3"/>
            </a:solidFill>
            <a:prstDash val="solid"/>
          </a:ln>
        </p:spPr>
      </p:sp>
      <p:sp>
        <p:nvSpPr>
          <p:cNvPr id="16" name="Texto"/>
          <p:cNvSpPr txBox="1"/>
          <p:nvPr/>
        </p:nvSpPr>
        <p:spPr>
          <a:xfrm>
            <a:off x="1508760" y="3163824"/>
            <a:ext cx="704088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Empilham-se 4 quadros consecutivos, para o estado conter movimento (velocidade e direção).</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 DQN que jogou Atari (cont.)</a:t>
            </a:r>
            <a:endParaRPr lang="en-US" sz="3000" dirty="0"/>
          </a:p>
        </p:txBody>
      </p:sp>
      <p:sp>
        <p:nvSpPr>
          <p:cNvPr id="3"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8.7</a:t>
            </a:r>
            <a:endParaRPr lang="en-US" sz="1200" dirty="0"/>
          </a:p>
        </p:txBody>
      </p:sp>
      <p:sp>
        <p:nvSpPr>
          <p:cNvPr id="4" name="Cartão"/>
          <p:cNvSpPr/>
          <p:nvPr/>
        </p:nvSpPr>
        <p:spPr>
          <a:xfrm>
            <a:off x="868680" y="1188720"/>
            <a:ext cx="7818120" cy="475488"/>
          </a:xfrm>
          <a:prstGeom prst="roundRect">
            <a:avLst>
              <a:gd name="adj" fmla="val 23077"/>
            </a:avLst>
          </a:prstGeom>
          <a:solidFill>
            <a:schemeClr val="bg1"/>
          </a:solidFill>
          <a:ln w="12700">
            <a:solidFill>
              <a:schemeClr val="bg2"/>
            </a:solidFill>
            <a:prstDash val="solid"/>
          </a:ln>
        </p:spPr>
      </p:sp>
      <p:sp>
        <p:nvSpPr>
          <p:cNvPr id="5" name="Marcador"/>
          <p:cNvSpPr/>
          <p:nvPr/>
        </p:nvSpPr>
        <p:spPr>
          <a:xfrm>
            <a:off x="1051560" y="1371600"/>
            <a:ext cx="109728" cy="109728"/>
          </a:xfrm>
          <a:prstGeom prst="ellipse">
            <a:avLst/>
          </a:prstGeom>
          <a:solidFill>
            <a:schemeClr val="accent3"/>
          </a:solidFill>
          <a:ln w="12700">
            <a:solidFill>
              <a:schemeClr val="accent3"/>
            </a:solidFill>
            <a:prstDash val="solid"/>
          </a:ln>
        </p:spPr>
      </p:sp>
      <p:sp>
        <p:nvSpPr>
          <p:cNvPr id="6" name="Texto"/>
          <p:cNvSpPr txBox="1"/>
          <p:nvPr/>
        </p:nvSpPr>
        <p:spPr>
          <a:xfrm>
            <a:off x="1508760" y="1188720"/>
            <a:ext cx="704088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A cada ação, repete-se o movimento por 4 quadros (frame skip).</a:t>
            </a:r>
            <a:endParaRPr lang="en-US" sz="1800" dirty="0"/>
          </a:p>
        </p:txBody>
      </p:sp>
      <p:sp>
        <p:nvSpPr>
          <p:cNvPr id="7" name="Cartão"/>
          <p:cNvSpPr/>
          <p:nvPr/>
        </p:nvSpPr>
        <p:spPr>
          <a:xfrm>
            <a:off x="868680" y="1773936"/>
            <a:ext cx="7818120" cy="694944"/>
          </a:xfrm>
          <a:prstGeom prst="roundRect">
            <a:avLst>
              <a:gd name="adj" fmla="val 15789"/>
            </a:avLst>
          </a:prstGeom>
          <a:solidFill>
            <a:schemeClr val="bg1"/>
          </a:solidFill>
          <a:ln w="12700">
            <a:solidFill>
              <a:schemeClr val="bg2"/>
            </a:solidFill>
            <a:prstDash val="solid"/>
          </a:ln>
        </p:spPr>
      </p:sp>
      <p:sp>
        <p:nvSpPr>
          <p:cNvPr id="8" name="Marcador"/>
          <p:cNvSpPr/>
          <p:nvPr/>
        </p:nvSpPr>
        <p:spPr>
          <a:xfrm>
            <a:off x="1051560" y="2066544"/>
            <a:ext cx="109728" cy="109728"/>
          </a:xfrm>
          <a:prstGeom prst="ellipse">
            <a:avLst/>
          </a:prstGeom>
          <a:solidFill>
            <a:schemeClr val="accent3"/>
          </a:solidFill>
          <a:ln w="12700">
            <a:solidFill>
              <a:schemeClr val="accent3"/>
            </a:solidFill>
            <a:prstDash val="solid"/>
          </a:ln>
        </p:spPr>
      </p:sp>
      <p:sp>
        <p:nvSpPr>
          <p:cNvPr id="9" name="Texto"/>
          <p:cNvSpPr txBox="1"/>
          <p:nvPr/>
        </p:nvSpPr>
        <p:spPr>
          <a:xfrm>
            <a:off x="1508760" y="1773936"/>
            <a:ext cx="704088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As recompensas são recortadas para −1, 0 e +1, para padronizar a escala entre jogos.</a:t>
            </a:r>
            <a:endParaRPr lang="en-US" sz="1800" dirty="0"/>
          </a:p>
        </p:txBody>
      </p:sp>
      <p:sp>
        <p:nvSpPr>
          <p:cNvPr id="10" name="Cartão"/>
          <p:cNvSpPr/>
          <p:nvPr/>
        </p:nvSpPr>
        <p:spPr>
          <a:xfrm>
            <a:off x="457200" y="2578608"/>
            <a:ext cx="8229600" cy="694944"/>
          </a:xfrm>
          <a:prstGeom prst="roundRect">
            <a:avLst>
              <a:gd name="adj" fmla="val 15789"/>
            </a:avLst>
          </a:prstGeom>
          <a:solidFill>
            <a:schemeClr val="bg2"/>
          </a:solidFill>
          <a:ln w="12700">
            <a:solidFill>
              <a:schemeClr val="bg2"/>
            </a:solidFill>
            <a:prstDash val="solid"/>
          </a:ln>
        </p:spPr>
      </p:sp>
      <p:sp>
        <p:nvSpPr>
          <p:cNvPr id="11" name="Número"/>
          <p:cNvSpPr/>
          <p:nvPr/>
        </p:nvSpPr>
        <p:spPr>
          <a:xfrm>
            <a:off x="594360" y="2743200"/>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2" name="Texto"/>
          <p:cNvSpPr txBox="1"/>
          <p:nvPr/>
        </p:nvSpPr>
        <p:spPr>
          <a:xfrm>
            <a:off x="1097280" y="2578608"/>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As camadas convolucionais são o tipo de camada usado em imagens: filtros pequenos "deslizam" sobre a imagem detectando padrões</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 DQN que jogou Atari</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Figura</a:t>
            </a:r>
            <a:endParaRPr lang="en-US" sz="1200" dirty="0"/>
          </a:p>
        </p:txBody>
      </p:sp>
      <p:pic>
        <p:nvPicPr>
          <p:cNvPr id="5" name="Figura" descr="A rede do DQN para Atari: uma pilha de 4 imagens passa por 3 camadas convolucionais e uma camada totalmente conectada, produzindo um valor Q por ação.">    </p:cNvPr>
          <p:cNvPicPr>
            <a:picLocks noChangeAspect="1"/>
          </p:cNvPicPr>
          <p:nvPr/>
        </p:nvPicPr>
        <p:blipFill>
          <a:blip r:embed="rId1"/>
          <a:stretch>
            <a:fillRect/>
          </a:stretch>
        </p:blipFill>
        <p:spPr>
          <a:xfrm>
            <a:off x="962402" y="1143000"/>
            <a:ext cx="7219196" cy="2880360"/>
          </a:xfrm>
          <a:prstGeom prst="rect">
            <a:avLst/>
          </a:prstGeom>
        </p:spPr>
      </p:pic>
      <p:sp>
        <p:nvSpPr>
          <p:cNvPr id="6" name="Legenda"/>
          <p:cNvSpPr txBox="1"/>
          <p:nvPr/>
        </p:nvSpPr>
        <p:spPr>
          <a:xfrm>
            <a:off x="457200" y="4114800"/>
            <a:ext cx="8229600" cy="594360"/>
          </a:xfrm>
          <a:prstGeom prst="rect">
            <a:avLst/>
          </a:prstGeom>
          <a:noFill/>
          <a:ln/>
        </p:spPr>
        <p:txBody>
          <a:bodyPr wrap="square" lIns="0" tIns="0" rIns="0" bIns="0" rtlCol="0" anchor="ctr">
            <a:normAutofit/>
          </a:bodyPr>
          <a:lstStyle/>
          <a:p>
            <a:pPr algn="ctr" indent="0" marL="0">
              <a:buNone/>
            </a:pPr>
            <a:r>
              <a:rPr lang="en-US" sz="1400" i="1" dirty="0">
                <a:solidFill>
                  <a:schemeClr val="tx1"/>
                </a:solidFill>
              </a:rPr>
              <a:t>A rede do DQN para Atari: uma pilha de 4 imagens passa por 3 camadas convolucionais e uma camada totalmente conectada, produzindo um valor Q por ação.</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Extensões do DQN</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8.8</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Depois de 2015, vieram várias melhorias, quase todas combináveis.</a:t>
            </a:r>
            <a:endParaRPr lang="en-US" sz="1600" dirty="0"/>
          </a:p>
        </p:txBody>
      </p:sp>
      <p:sp>
        <p:nvSpPr>
          <p:cNvPr id="8" name="Cartão"/>
          <p:cNvSpPr/>
          <p:nvPr/>
        </p:nvSpPr>
        <p:spPr>
          <a:xfrm>
            <a:off x="457200" y="1773936"/>
            <a:ext cx="8229600" cy="475488"/>
          </a:xfrm>
          <a:prstGeom prst="roundRect">
            <a:avLst>
              <a:gd name="adj" fmla="val 23077"/>
            </a:avLst>
          </a:prstGeom>
          <a:solidFill>
            <a:schemeClr val="bg2"/>
          </a:solidFill>
          <a:ln w="12700">
            <a:solidFill>
              <a:schemeClr val="bg2"/>
            </a:solidFill>
            <a:prstDash val="solid"/>
          </a:ln>
        </p:spPr>
      </p:sp>
      <p:sp>
        <p:nvSpPr>
          <p:cNvPr id="9" name="Número"/>
          <p:cNvSpPr/>
          <p:nvPr/>
        </p:nvSpPr>
        <p:spPr>
          <a:xfrm>
            <a:off x="594360" y="1828800"/>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cNvSpPr txBox="1"/>
          <p:nvPr/>
        </p:nvSpPr>
        <p:spPr>
          <a:xfrm>
            <a:off x="1097280" y="1773936"/>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Double DQN: É uma mudança de uma linha de código, com ganho consistente.</a:t>
            </a:r>
            <a:endParaRPr lang="en-US" sz="1600" dirty="0"/>
          </a:p>
        </p:txBody>
      </p:sp>
      <p:sp>
        <p:nvSpPr>
          <p:cNvPr id="11" name="Cartão"/>
          <p:cNvSpPr/>
          <p:nvPr/>
        </p:nvSpPr>
        <p:spPr>
          <a:xfrm>
            <a:off x="457200" y="2359152"/>
            <a:ext cx="8229600" cy="475488"/>
          </a:xfrm>
          <a:prstGeom prst="roundRect">
            <a:avLst>
              <a:gd name="adj" fmla="val 23077"/>
            </a:avLst>
          </a:prstGeom>
          <a:solidFill>
            <a:schemeClr val="bg2"/>
          </a:solidFill>
          <a:ln w="12700">
            <a:solidFill>
              <a:schemeClr val="bg2"/>
            </a:solidFill>
            <a:prstDash val="solid"/>
          </a:ln>
        </p:spPr>
      </p:sp>
      <p:sp>
        <p:nvSpPr>
          <p:cNvPr id="12" name="Número"/>
          <p:cNvSpPr/>
          <p:nvPr/>
        </p:nvSpPr>
        <p:spPr>
          <a:xfrm>
            <a:off x="594360" y="2414016"/>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o"/>
          <p:cNvSpPr txBox="1"/>
          <p:nvPr/>
        </p:nvSpPr>
        <p:spPr>
          <a:xfrm>
            <a:off x="1097280" y="2359152"/>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Repetição de experiência priorizada: Nem toda transição ensina o mesmo.</a:t>
            </a:r>
            <a:endParaRPr lang="en-US" sz="1600" dirty="0"/>
          </a:p>
        </p:txBody>
      </p:sp>
      <p:sp>
        <p:nvSpPr>
          <p:cNvPr id="14" name="Cartão"/>
          <p:cNvSpPr/>
          <p:nvPr/>
        </p:nvSpPr>
        <p:spPr>
          <a:xfrm>
            <a:off x="457200" y="2944368"/>
            <a:ext cx="8229600" cy="694944"/>
          </a:xfrm>
          <a:prstGeom prst="roundRect">
            <a:avLst>
              <a:gd name="adj" fmla="val 15789"/>
            </a:avLst>
          </a:prstGeom>
          <a:solidFill>
            <a:schemeClr val="bg2"/>
          </a:solidFill>
          <a:ln w="12700">
            <a:solidFill>
              <a:schemeClr val="bg2"/>
            </a:solidFill>
            <a:prstDash val="solid"/>
          </a:ln>
        </p:spPr>
      </p:sp>
      <p:sp>
        <p:nvSpPr>
          <p:cNvPr id="15" name="Número"/>
          <p:cNvSpPr/>
          <p:nvPr/>
        </p:nvSpPr>
        <p:spPr>
          <a:xfrm>
            <a:off x="594360" y="3108960"/>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Texto"/>
          <p:cNvSpPr txBox="1"/>
          <p:nvPr/>
        </p:nvSpPr>
        <p:spPr>
          <a:xfrm>
            <a:off x="1097280" y="2944368"/>
            <a:ext cx="745236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Dueling: A arquitetura dueling separa a rede em dois ramos: o valor do estado V(s) e a vantagem A(s, a), quanto cada ação supera a média.</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Extensões do DQN (cont.)</a:t>
            </a:r>
            <a:endParaRPr lang="en-US" sz="3000" dirty="0"/>
          </a:p>
        </p:txBody>
      </p:sp>
      <p:sp>
        <p:nvSpPr>
          <p:cNvPr id="3"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8.8</a:t>
            </a:r>
            <a:endParaRPr lang="en-US" sz="1200" dirty="0"/>
          </a:p>
        </p:txBody>
      </p:sp>
      <p:sp>
        <p:nvSpPr>
          <p:cNvPr id="4" name="Cartão"/>
          <p:cNvSpPr/>
          <p:nvPr/>
        </p:nvSpPr>
        <p:spPr>
          <a:xfrm>
            <a:off x="457200" y="1188720"/>
            <a:ext cx="8229600" cy="694944"/>
          </a:xfrm>
          <a:prstGeom prst="roundRect">
            <a:avLst>
              <a:gd name="adj" fmla="val 15789"/>
            </a:avLst>
          </a:prstGeom>
          <a:solidFill>
            <a:schemeClr val="bg2"/>
          </a:solidFill>
          <a:ln w="12700">
            <a:solidFill>
              <a:schemeClr val="bg2"/>
            </a:solidFill>
            <a:prstDash val="solid"/>
          </a:ln>
        </p:spPr>
      </p:sp>
      <p:sp>
        <p:nvSpPr>
          <p:cNvPr id="5" name="Número"/>
          <p:cNvSpPr/>
          <p:nvPr/>
        </p:nvSpPr>
        <p:spPr>
          <a:xfrm>
            <a:off x="594360" y="1353312"/>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o"/>
          <p:cNvSpPr txBox="1"/>
          <p:nvPr/>
        </p:nvSpPr>
        <p:spPr>
          <a:xfrm>
            <a:off x="1097280" y="1188720"/>
            <a:ext cx="745236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Alvos de múltiplos passos: Em vez de olhar um passo à frente, usa-se o n-step (Capítulo 6): somam-se n recompensas reais antes de estimar com a rede-alvo.</a:t>
            </a:r>
            <a:endParaRPr lang="en-US" sz="1600" dirty="0"/>
          </a:p>
        </p:txBody>
      </p:sp>
      <p:sp>
        <p:nvSpPr>
          <p:cNvPr id="7" name="Cartão"/>
          <p:cNvSpPr/>
          <p:nvPr/>
        </p:nvSpPr>
        <p:spPr>
          <a:xfrm>
            <a:off x="457200" y="1993392"/>
            <a:ext cx="8229600" cy="694944"/>
          </a:xfrm>
          <a:prstGeom prst="roundRect">
            <a:avLst>
              <a:gd name="adj" fmla="val 15789"/>
            </a:avLst>
          </a:prstGeom>
          <a:solidFill>
            <a:schemeClr val="bg2"/>
          </a:solidFill>
          <a:ln w="12700">
            <a:solidFill>
              <a:schemeClr val="bg2"/>
            </a:solidFill>
            <a:prstDash val="solid"/>
          </a:ln>
        </p:spPr>
      </p:sp>
      <p:sp>
        <p:nvSpPr>
          <p:cNvPr id="8" name="Número"/>
          <p:cNvSpPr/>
          <p:nvPr/>
        </p:nvSpPr>
        <p:spPr>
          <a:xfrm>
            <a:off x="594360" y="215798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o"/>
          <p:cNvSpPr txBox="1"/>
          <p:nvPr/>
        </p:nvSpPr>
        <p:spPr>
          <a:xfrm>
            <a:off x="1097280" y="1993392"/>
            <a:ext cx="745236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DQN distribucional: Em vez de aprender só a média do retorno, aprende-se a distribuição inteira (BELLEMARE; DABNEY; MUNOS, 2017).</a:t>
            </a:r>
            <a:endParaRPr lang="en-US" sz="1600" dirty="0"/>
          </a:p>
        </p:txBody>
      </p:sp>
      <p:sp>
        <p:nvSpPr>
          <p:cNvPr id="10" name="Cartão"/>
          <p:cNvSpPr/>
          <p:nvPr/>
        </p:nvSpPr>
        <p:spPr>
          <a:xfrm>
            <a:off x="457200" y="2798064"/>
            <a:ext cx="8229600" cy="694944"/>
          </a:xfrm>
          <a:prstGeom prst="roundRect">
            <a:avLst>
              <a:gd name="adj" fmla="val 15789"/>
            </a:avLst>
          </a:prstGeom>
          <a:solidFill>
            <a:schemeClr val="bg2"/>
          </a:solidFill>
          <a:ln w="12700">
            <a:solidFill>
              <a:schemeClr val="bg2"/>
            </a:solidFill>
            <a:prstDash val="solid"/>
          </a:ln>
        </p:spPr>
      </p:sp>
      <p:sp>
        <p:nvSpPr>
          <p:cNvPr id="11" name="Número"/>
          <p:cNvSpPr/>
          <p:nvPr/>
        </p:nvSpPr>
        <p:spPr>
          <a:xfrm>
            <a:off x="594360" y="2962656"/>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o"/>
          <p:cNvSpPr txBox="1"/>
          <p:nvPr/>
        </p:nvSpPr>
        <p:spPr>
          <a:xfrm>
            <a:off x="1097280" y="2798064"/>
            <a:ext cx="745236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Redes com ruído (Noisy Nets): Em vez da exploração ε-gulosa, acrescenta-se ruído aprendido aos pesos da rede.</a:t>
            </a:r>
            <a:endParaRPr lang="en-US" sz="1600" dirty="0"/>
          </a:p>
        </p:txBody>
      </p:sp>
      <p:sp>
        <p:nvSpPr>
          <p:cNvPr id="13" name="Cartão"/>
          <p:cNvSpPr/>
          <p:nvPr/>
        </p:nvSpPr>
        <p:spPr>
          <a:xfrm>
            <a:off x="457200" y="3602736"/>
            <a:ext cx="8229600" cy="694944"/>
          </a:xfrm>
          <a:prstGeom prst="roundRect">
            <a:avLst>
              <a:gd name="adj" fmla="val 15789"/>
            </a:avLst>
          </a:prstGeom>
          <a:solidFill>
            <a:schemeClr val="bg2"/>
          </a:solidFill>
          <a:ln w="12700">
            <a:solidFill>
              <a:schemeClr val="bg2"/>
            </a:solidFill>
            <a:prstDash val="solid"/>
          </a:ln>
        </p:spPr>
      </p:sp>
      <p:sp>
        <p:nvSpPr>
          <p:cNvPr id="14" name="Número"/>
          <p:cNvSpPr/>
          <p:nvPr/>
        </p:nvSpPr>
        <p:spPr>
          <a:xfrm>
            <a:off x="594360" y="3767328"/>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5" name="Texto"/>
          <p:cNvSpPr txBox="1"/>
          <p:nvPr/>
        </p:nvSpPr>
        <p:spPr>
          <a:xfrm>
            <a:off x="1097280" y="3602736"/>
            <a:ext cx="745236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Rainbow: O Rainbow combina seis dessas ideias num só agente e supera cada uma isolada em Atari (HESSEL et al., 2018).</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Extensões do DQN</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Figura</a:t>
            </a:r>
            <a:endParaRPr lang="en-US" sz="1200" dirty="0"/>
          </a:p>
        </p:txBody>
      </p:sp>
      <p:pic>
        <p:nvPicPr>
          <p:cNvPr id="5" name="Figura" descr="Arquitetura dueling: um ramo estima o valor do estado, outro a vantagem de cada ação; a soma dá os valores Q.">    </p:cNvPr>
          <p:cNvPicPr>
            <a:picLocks noChangeAspect="1"/>
          </p:cNvPicPr>
          <p:nvPr/>
        </p:nvPicPr>
        <p:blipFill>
          <a:blip r:embed="rId1"/>
          <a:stretch>
            <a:fillRect/>
          </a:stretch>
        </p:blipFill>
        <p:spPr>
          <a:xfrm>
            <a:off x="1125053" y="1143000"/>
            <a:ext cx="6893895" cy="2880360"/>
          </a:xfrm>
          <a:prstGeom prst="rect">
            <a:avLst/>
          </a:prstGeom>
        </p:spPr>
      </p:pic>
      <p:sp>
        <p:nvSpPr>
          <p:cNvPr id="6" name="Legenda"/>
          <p:cNvSpPr txBox="1"/>
          <p:nvPr/>
        </p:nvSpPr>
        <p:spPr>
          <a:xfrm>
            <a:off x="457200" y="4114800"/>
            <a:ext cx="8229600" cy="594360"/>
          </a:xfrm>
          <a:prstGeom prst="rect">
            <a:avLst/>
          </a:prstGeom>
          <a:noFill/>
          <a:ln/>
        </p:spPr>
        <p:txBody>
          <a:bodyPr wrap="square" lIns="0" tIns="0" rIns="0" bIns="0" rtlCol="0" anchor="ctr">
            <a:normAutofit/>
          </a:bodyPr>
          <a:lstStyle/>
          <a:p>
            <a:pPr algn="ctr" indent="0" marL="0">
              <a:buNone/>
            </a:pPr>
            <a:r>
              <a:rPr lang="en-US" sz="1400" i="1" dirty="0">
                <a:solidFill>
                  <a:schemeClr val="tx1"/>
                </a:solidFill>
              </a:rPr>
              <a:t>Arquitetura dueling: um ramo estima o valor do estado, outro a vantagem de cada ação; a soma dá os valores Q.</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Extensões do DQN</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Figura</a:t>
            </a:r>
            <a:endParaRPr lang="en-US" sz="1200" dirty="0"/>
          </a:p>
        </p:txBody>
      </p:sp>
      <p:pic>
        <p:nvPicPr>
          <p:cNvPr id="5" name="Figura" descr="O Rainbow reúne o DQN e seis extensões.">    </p:cNvPr>
          <p:cNvPicPr>
            <a:picLocks noChangeAspect="1"/>
          </p:cNvPicPr>
          <p:nvPr/>
        </p:nvPicPr>
        <p:blipFill>
          <a:blip r:embed="rId1"/>
          <a:stretch>
            <a:fillRect/>
          </a:stretch>
        </p:blipFill>
        <p:spPr>
          <a:xfrm>
            <a:off x="962402" y="1143000"/>
            <a:ext cx="7219196" cy="2880360"/>
          </a:xfrm>
          <a:prstGeom prst="rect">
            <a:avLst/>
          </a:prstGeom>
        </p:spPr>
      </p:pic>
      <p:sp>
        <p:nvSpPr>
          <p:cNvPr id="6" name="Legenda"/>
          <p:cNvSpPr txBox="1"/>
          <p:nvPr/>
        </p:nvSpPr>
        <p:spPr>
          <a:xfrm>
            <a:off x="457200" y="4114800"/>
            <a:ext cx="8229600" cy="594360"/>
          </a:xfrm>
          <a:prstGeom prst="rect">
            <a:avLst/>
          </a:prstGeom>
          <a:noFill/>
          <a:ln/>
        </p:spPr>
        <p:txBody>
          <a:bodyPr wrap="square" lIns="0" tIns="0" rIns="0" bIns="0" rtlCol="0" anchor="ctr">
            <a:normAutofit/>
          </a:bodyPr>
          <a:lstStyle/>
          <a:p>
            <a:pPr algn="ctr" indent="0" marL="0">
              <a:buNone/>
            </a:pPr>
            <a:r>
              <a:rPr lang="en-US" sz="1400" i="1" dirty="0">
                <a:solidFill>
                  <a:schemeClr val="tx1"/>
                </a:solidFill>
              </a:rPr>
              <a:t>O Rainbow reúne o DQN e seis extensões.</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Hiperparâmetros e depuração</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8.9</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Dicas de depuração:</a:t>
            </a:r>
            <a:endParaRPr lang="en-US" sz="1600" dirty="0"/>
          </a:p>
        </p:txBody>
      </p:sp>
      <p:sp>
        <p:nvSpPr>
          <p:cNvPr id="8" name="Cartão"/>
          <p:cNvSpPr/>
          <p:nvPr/>
        </p:nvSpPr>
        <p:spPr>
          <a:xfrm>
            <a:off x="868680" y="1773936"/>
            <a:ext cx="7818120" cy="475488"/>
          </a:xfrm>
          <a:prstGeom prst="roundRect">
            <a:avLst>
              <a:gd name="adj" fmla="val 23077"/>
            </a:avLst>
          </a:prstGeom>
          <a:solidFill>
            <a:schemeClr val="bg1"/>
          </a:solidFill>
          <a:ln w="12700">
            <a:solidFill>
              <a:schemeClr val="bg2"/>
            </a:solidFill>
            <a:prstDash val="solid"/>
          </a:ln>
        </p:spPr>
      </p:sp>
      <p:sp>
        <p:nvSpPr>
          <p:cNvPr id="9" name="Marcador"/>
          <p:cNvSpPr/>
          <p:nvPr/>
        </p:nvSpPr>
        <p:spPr>
          <a:xfrm>
            <a:off x="1051560" y="1956816"/>
            <a:ext cx="109728" cy="109728"/>
          </a:xfrm>
          <a:prstGeom prst="ellipse">
            <a:avLst/>
          </a:prstGeom>
          <a:solidFill>
            <a:schemeClr val="accent3"/>
          </a:solidFill>
          <a:ln w="12700">
            <a:solidFill>
              <a:schemeClr val="accent3"/>
            </a:solidFill>
            <a:prstDash val="solid"/>
          </a:ln>
        </p:spPr>
      </p:sp>
      <p:sp>
        <p:nvSpPr>
          <p:cNvPr id="10" name="Texto"/>
          <p:cNvSpPr txBox="1"/>
          <p:nvPr/>
        </p:nvSpPr>
        <p:spPr>
          <a:xfrm>
            <a:off x="1508760" y="1773936"/>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Verifique o ambiente com um agente aleatório e um agente manual.</a:t>
            </a:r>
            <a:endParaRPr lang="en-US" sz="1600" dirty="0"/>
          </a:p>
        </p:txBody>
      </p:sp>
      <p:sp>
        <p:nvSpPr>
          <p:cNvPr id="11" name="Cartão"/>
          <p:cNvSpPr/>
          <p:nvPr/>
        </p:nvSpPr>
        <p:spPr>
          <a:xfrm>
            <a:off x="868680" y="2359152"/>
            <a:ext cx="7818120" cy="694944"/>
          </a:xfrm>
          <a:prstGeom prst="roundRect">
            <a:avLst>
              <a:gd name="adj" fmla="val 15789"/>
            </a:avLst>
          </a:prstGeom>
          <a:solidFill>
            <a:schemeClr val="bg1"/>
          </a:solidFill>
          <a:ln w="12700">
            <a:solidFill>
              <a:schemeClr val="bg2"/>
            </a:solidFill>
            <a:prstDash val="solid"/>
          </a:ln>
        </p:spPr>
      </p:sp>
      <p:sp>
        <p:nvSpPr>
          <p:cNvPr id="12" name="Marcador"/>
          <p:cNvSpPr/>
          <p:nvPr/>
        </p:nvSpPr>
        <p:spPr>
          <a:xfrm>
            <a:off x="1051560" y="2651760"/>
            <a:ext cx="109728" cy="109728"/>
          </a:xfrm>
          <a:prstGeom prst="ellipse">
            <a:avLst/>
          </a:prstGeom>
          <a:solidFill>
            <a:schemeClr val="accent3"/>
          </a:solidFill>
          <a:ln w="12700">
            <a:solidFill>
              <a:schemeClr val="accent3"/>
            </a:solidFill>
            <a:prstDash val="solid"/>
          </a:ln>
        </p:spPr>
      </p:sp>
      <p:sp>
        <p:nvSpPr>
          <p:cNvPr id="13" name="Texto"/>
          <p:cNvSpPr txBox="1"/>
          <p:nvPr/>
        </p:nvSpPr>
        <p:spPr>
          <a:xfrm>
            <a:off x="1508760" y="2359152"/>
            <a:ext cx="704088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Monitore o retorno por episódio, a perda e a média dos valores Q: valores Q explodindo indicam instabilidade.</a:t>
            </a:r>
            <a:endParaRPr lang="en-US" sz="1600" dirty="0"/>
          </a:p>
        </p:txBody>
      </p:sp>
      <p:sp>
        <p:nvSpPr>
          <p:cNvPr id="14" name="Cartão"/>
          <p:cNvSpPr/>
          <p:nvPr/>
        </p:nvSpPr>
        <p:spPr>
          <a:xfrm>
            <a:off x="868680" y="3163824"/>
            <a:ext cx="7818120" cy="475488"/>
          </a:xfrm>
          <a:prstGeom prst="roundRect">
            <a:avLst>
              <a:gd name="adj" fmla="val 23077"/>
            </a:avLst>
          </a:prstGeom>
          <a:solidFill>
            <a:schemeClr val="bg1"/>
          </a:solidFill>
          <a:ln w="12700">
            <a:solidFill>
              <a:schemeClr val="bg2"/>
            </a:solidFill>
            <a:prstDash val="solid"/>
          </a:ln>
        </p:spPr>
      </p:sp>
      <p:sp>
        <p:nvSpPr>
          <p:cNvPr id="15" name="Marcador"/>
          <p:cNvSpPr/>
          <p:nvPr/>
        </p:nvSpPr>
        <p:spPr>
          <a:xfrm>
            <a:off x="1051560" y="3346704"/>
            <a:ext cx="109728" cy="109728"/>
          </a:xfrm>
          <a:prstGeom prst="ellipse">
            <a:avLst/>
          </a:prstGeom>
          <a:solidFill>
            <a:schemeClr val="accent3"/>
          </a:solidFill>
          <a:ln w="12700">
            <a:solidFill>
              <a:schemeClr val="accent3"/>
            </a:solidFill>
            <a:prstDash val="solid"/>
          </a:ln>
        </p:spPr>
      </p:sp>
      <p:sp>
        <p:nvSpPr>
          <p:cNvPr id="16" name="Texto"/>
          <p:cNvSpPr txBox="1"/>
          <p:nvPr/>
        </p:nvSpPr>
        <p:spPr>
          <a:xfrm>
            <a:off x="1508760" y="3163824"/>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Reduza o problema: ache um ambiente mais simples em que o algoritmo funcione.</a:t>
            </a:r>
            <a:endParaRPr lang="en-US" sz="1600" dirty="0"/>
          </a:p>
        </p:txBody>
      </p:sp>
      <p:sp>
        <p:nvSpPr>
          <p:cNvPr id="17" name="Cartão"/>
          <p:cNvSpPr/>
          <p:nvPr/>
        </p:nvSpPr>
        <p:spPr>
          <a:xfrm>
            <a:off x="868680" y="3749040"/>
            <a:ext cx="7818120" cy="475488"/>
          </a:xfrm>
          <a:prstGeom prst="roundRect">
            <a:avLst>
              <a:gd name="adj" fmla="val 23077"/>
            </a:avLst>
          </a:prstGeom>
          <a:solidFill>
            <a:schemeClr val="bg1"/>
          </a:solidFill>
          <a:ln w="12700">
            <a:solidFill>
              <a:schemeClr val="bg2"/>
            </a:solidFill>
            <a:prstDash val="solid"/>
          </a:ln>
        </p:spPr>
      </p:sp>
      <p:sp>
        <p:nvSpPr>
          <p:cNvPr id="18" name="Marcador"/>
          <p:cNvSpPr/>
          <p:nvPr/>
        </p:nvSpPr>
        <p:spPr>
          <a:xfrm>
            <a:off x="1051560" y="3931920"/>
            <a:ext cx="109728" cy="109728"/>
          </a:xfrm>
          <a:prstGeom prst="ellipse">
            <a:avLst/>
          </a:prstGeom>
          <a:solidFill>
            <a:schemeClr val="accent3"/>
          </a:solidFill>
          <a:ln w="12700">
            <a:solidFill>
              <a:schemeClr val="accent3"/>
            </a:solidFill>
            <a:prstDash val="solid"/>
          </a:ln>
        </p:spPr>
      </p:sp>
      <p:sp>
        <p:nvSpPr>
          <p:cNvPr id="19" name="Texto"/>
          <p:cNvSpPr txBox="1"/>
          <p:nvPr/>
        </p:nvSpPr>
        <p:spPr>
          <a:xfrm>
            <a:off x="1508760" y="3749040"/>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Várias sementes: o desempenho varia muito (HENDERSON et al., 2018).</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Hiperparâmetros e depuração</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5"/>
          </a:solidFill>
          <a:ln/>
        </p:spPr>
        <p:txBody>
          <a:bodyPr wrap="square" lIns="0" tIns="0" rIns="0" bIns="0" rtlCol="0" anchor="ctr"/>
          <a:lstStyle/>
          <a:p>
            <a:pPr algn="ctr" indent="0" marL="0">
              <a:buNone/>
            </a:pPr>
            <a:r>
              <a:rPr lang="en-US" sz="1200" b="1" dirty="0">
                <a:solidFill>
                  <a:schemeClr val="bg1"/>
                </a:solidFill>
              </a:rPr>
              <a:t>Quadro</a:t>
            </a:r>
            <a:endParaRPr lang="en-US" sz="1200" dirty="0"/>
          </a:p>
        </p:txBody>
      </p:sp>
      <p:graphicFrame>
        <p:nvGraphicFramePr>
          <p:cNvPr id="26" name="Tabela"/>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743200"/>
                <a:gridCol w="2743200"/>
                <a:gridCol w="2743200"/>
              </a:tblGrid>
              <a:tr h="0">
                <a:tc>
                  <a:txBody>
                    <a:bodyPr/>
                    <a:lstStyle/>
                    <a:p>
                      <a:pPr indent="0" marL="0">
                        <a:buNone/>
                      </a:pPr>
                      <a:r>
                        <a:rPr lang="en-US" sz="1300" b="1" dirty="0">
                          <a:solidFill>
                            <a:schemeClr val="bg1"/>
                          </a:solidFill>
                        </a:rPr>
                        <a:t>Hiperparâmetro</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Valores típicos</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Efeito</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0">
                <a:tc>
                  <a:txBody>
                    <a:bodyPr/>
                    <a:lstStyle/>
                    <a:p>
                      <a:pPr indent="0" marL="0">
                        <a:buNone/>
                      </a:pPr>
                      <a:r>
                        <a:rPr lang="en-US" sz="1300" dirty="0">
                          <a:solidFill>
                            <a:schemeClr val="tx1"/>
                          </a:solidFill>
                        </a:rPr>
                        <a:t>Taxa de aprendizado</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10⁻⁴ a 10⁻³</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Muito alta: instável; muito baixa: lento</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0">
                <a:tc>
                  <a:txBody>
                    <a:bodyPr/>
                    <a:lstStyle/>
                    <a:p>
                      <a:pPr indent="0" marL="0">
                        <a:buNone/>
                      </a:pPr>
                      <a:r>
                        <a:rPr lang="en-US" sz="1300" dirty="0">
                          <a:solidFill>
                            <a:schemeClr val="tx1"/>
                          </a:solidFill>
                        </a:rPr>
                        <a:t>γ</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0,95 a 0,99</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Horizonte de planejamento</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rPr>
                        <a:t>Tamanho da memória</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10⁴ a 10⁶</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Mais memória, mais diversidade</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0">
                <a:tc>
                  <a:txBody>
                    <a:bodyPr/>
                    <a:lstStyle/>
                    <a:p>
                      <a:pPr indent="0" marL="0">
                        <a:buNone/>
                      </a:pPr>
                      <a:r>
                        <a:rPr lang="en-US" sz="1300" dirty="0">
                          <a:solidFill>
                            <a:schemeClr val="tx1"/>
                          </a:solidFill>
                        </a:rPr>
                        <a:t>Lote</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32 a 256</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Estabilidade do gradiente</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rPr>
                        <a:t>Troca da rede-alvo (C)</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250 a 10.000 passos</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Maior: mais estável, mais lento</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0">
                <a:tc>
                  <a:txBody>
                    <a:bodyPr/>
                    <a:lstStyle/>
                    <a:p>
                      <a:pPr indent="0" marL="0">
                        <a:buNone/>
                      </a:pPr>
                      <a:r>
                        <a:rPr lang="en-US" sz="1300" dirty="0">
                          <a:solidFill>
                            <a:schemeClr val="tx1"/>
                          </a:solidFill>
                        </a:rPr>
                        <a:t>ε inicial → final</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 → 0,01 a 0,1</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Exploração</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Círculo"/>
          <p:cNvSpPr/>
          <p:nvPr/>
        </p:nvSpPr>
        <p:spPr>
          <a:xfrm>
            <a:off x="6583680" y="822960"/>
            <a:ext cx="2377440" cy="2377440"/>
          </a:xfrm>
          <a:prstGeom prst="ellipse">
            <a:avLst/>
          </a:prstGeom>
          <a:solidFill>
            <a:schemeClr val="accent3">
              <a:alpha val="70000"/>
            </a:schemeClr>
          </a:solidFill>
          <a:ln w="12700">
            <a:solidFill>
              <a:schemeClr val="accent3"/>
            </a:solidFill>
            <a:prstDash val="solid"/>
          </a:ln>
        </p:spPr>
      </p:sp>
      <p:sp>
        <p:nvSpPr>
          <p:cNvPr id="3" name="Círculo"/>
          <p:cNvSpPr/>
          <p:nvPr/>
        </p:nvSpPr>
        <p:spPr>
          <a:xfrm>
            <a:off x="5943600" y="2377440"/>
            <a:ext cx="1280160" cy="1280160"/>
          </a:xfrm>
          <a:prstGeom prst="ellipse">
            <a:avLst/>
          </a:prstGeom>
          <a:solidFill>
            <a:schemeClr val="accent1">
              <a:alpha val="80000"/>
            </a:schemeClr>
          </a:solidFill>
          <a:ln w="12700">
            <a:solidFill>
              <a:schemeClr val="accent1"/>
            </a:solidFill>
            <a:prstDash val="solid"/>
          </a:ln>
        </p:spPr>
      </p:sp>
      <p:sp>
        <p:nvSpPr>
          <p:cNvPr id="4" name="Título"/>
          <p:cNvSpPr txBox="1"/>
          <p:nvPr/>
        </p:nvSpPr>
        <p:spPr>
          <a:xfrm>
            <a:off x="548640" y="1463040"/>
            <a:ext cx="5669280" cy="1463040"/>
          </a:xfrm>
          <a:prstGeom prst="rect">
            <a:avLst/>
          </a:prstGeom>
          <a:noFill/>
          <a:ln/>
        </p:spPr>
        <p:txBody>
          <a:bodyPr wrap="square" lIns="0" tIns="0" rIns="0" bIns="0" rtlCol="0" anchor="ctr">
            <a:normAutofit/>
          </a:bodyPr>
          <a:lstStyle/>
          <a:p>
            <a:pPr indent="0" marL="0">
              <a:buNone/>
            </a:pPr>
            <a:r>
              <a:rPr lang="en-US" sz="3800" b="1" dirty="0">
                <a:solidFill>
                  <a:schemeClr val="bg1"/>
                </a:solidFill>
                <a:latin typeface="Cambria" pitchFamily="34" charset="0"/>
                <a:ea typeface="Cambria" pitchFamily="34" charset="-122"/>
                <a:cs typeface="Cambria" pitchFamily="34" charset="-120"/>
              </a:rPr>
              <a:t>Mão na massa</a:t>
            </a:r>
            <a:endParaRPr lang="en-US" sz="3800" dirty="0"/>
          </a:p>
        </p:txBody>
      </p:sp>
      <p:sp>
        <p:nvSpPr>
          <p:cNvPr id="5" name="Text 3"/>
          <p:cNvSpPr txBox="1"/>
          <p:nvPr/>
        </p:nvSpPr>
        <p:spPr>
          <a:xfrm>
            <a:off x="548640" y="3017520"/>
            <a:ext cx="5669280" cy="731520"/>
          </a:xfrm>
          <a:prstGeom prst="rect">
            <a:avLst/>
          </a:prstGeom>
          <a:noFill/>
          <a:ln/>
        </p:spPr>
        <p:txBody>
          <a:bodyPr wrap="square" lIns="0" tIns="0" rIns="0" bIns="0" rtlCol="0" anchor="t">
            <a:normAutofit/>
          </a:bodyPr>
          <a:lstStyle/>
          <a:p>
            <a:pPr indent="0" marL="0">
              <a:buNone/>
            </a:pPr>
            <a:r>
              <a:rPr lang="en-US" sz="1800" dirty="0">
                <a:solidFill>
                  <a:schemeClr val="accent1"/>
                </a:solidFill>
              </a:rPr>
              <a:t>Hora de programar com Python</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 que vamos programar</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Cap. 8</a:t>
            </a:r>
            <a:endParaRPr lang="en-US" sz="1200" dirty="0"/>
          </a:p>
        </p:txBody>
      </p:sp>
      <p:sp>
        <p:nvSpPr>
          <p:cNvPr id="5" name="Cartão"/>
          <p:cNvSpPr/>
          <p:nvPr/>
        </p:nvSpPr>
        <p:spPr>
          <a:xfrm>
            <a:off x="457200" y="1371600"/>
            <a:ext cx="1426464" cy="2926080"/>
          </a:xfrm>
          <a:prstGeom prst="roundRect">
            <a:avLst>
              <a:gd name="adj" fmla="val 9615"/>
            </a:avLst>
          </a:prstGeom>
          <a:solidFill>
            <a:schemeClr val="bg2"/>
          </a:solidFill>
          <a:ln w="12700">
            <a:solidFill>
              <a:schemeClr val="bg2"/>
            </a:solidFill>
            <a:prstDash val="solid"/>
          </a:ln>
        </p:spPr>
      </p:sp>
      <p:sp>
        <p:nvSpPr>
          <p:cNvPr id="6" name="Text 3"/>
          <p:cNvSpPr/>
          <p:nvPr/>
        </p:nvSpPr>
        <p:spPr>
          <a:xfrm>
            <a:off x="850392" y="1600200"/>
            <a:ext cx="640080" cy="640080"/>
          </a:xfrm>
          <a:prstGeom prst="ellipse">
            <a:avLst/>
          </a:prstGeom>
          <a:solidFill>
            <a:schemeClr val="accent3"/>
          </a:solid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7" name="Text 4"/>
          <p:cNvSpPr txBox="1"/>
          <p:nvPr/>
        </p:nvSpPr>
        <p:spPr>
          <a:xfrm>
            <a:off x="640080" y="2423160"/>
            <a:ext cx="1060704" cy="1645920"/>
          </a:xfrm>
          <a:prstGeom prst="rect">
            <a:avLst/>
          </a:prstGeom>
          <a:noFill/>
          <a:ln/>
        </p:spPr>
        <p:txBody>
          <a:bodyPr wrap="square" lIns="0" tIns="0" rIns="0" bIns="0" rtlCol="0" anchor="t">
            <a:normAutofit/>
          </a:bodyPr>
          <a:lstStyle/>
          <a:p>
            <a:pPr algn="ctr" indent="0" marL="0">
              <a:buNone/>
            </a:pPr>
            <a:r>
              <a:rPr lang="en-US" sz="1600" dirty="0">
                <a:solidFill>
                  <a:schemeClr val="tx1"/>
                </a:solidFill>
              </a:rPr>
              <a:t>DQN em PyTorch</a:t>
            </a:r>
            <a:endParaRPr lang="en-US" sz="1600" dirty="0"/>
          </a:p>
        </p:txBody>
      </p:sp>
      <p:sp>
        <p:nvSpPr>
          <p:cNvPr id="8" name="Cartão"/>
          <p:cNvSpPr/>
          <p:nvPr/>
        </p:nvSpPr>
        <p:spPr>
          <a:xfrm>
            <a:off x="2157984" y="1371600"/>
            <a:ext cx="1426464" cy="2926080"/>
          </a:xfrm>
          <a:prstGeom prst="roundRect">
            <a:avLst>
              <a:gd name="adj" fmla="val 9615"/>
            </a:avLst>
          </a:prstGeom>
          <a:solidFill>
            <a:schemeClr val="bg2"/>
          </a:solidFill>
          <a:ln w="12700">
            <a:solidFill>
              <a:schemeClr val="bg2"/>
            </a:solidFill>
            <a:prstDash val="solid"/>
          </a:ln>
        </p:spPr>
      </p:sp>
      <p:sp>
        <p:nvSpPr>
          <p:cNvPr id="9" name="Text 6"/>
          <p:cNvSpPr/>
          <p:nvPr/>
        </p:nvSpPr>
        <p:spPr>
          <a:xfrm>
            <a:off x="2551176" y="1600200"/>
            <a:ext cx="640080" cy="640080"/>
          </a:xfrm>
          <a:prstGeom prst="ellipse">
            <a:avLst/>
          </a:prstGeom>
          <a:solidFill>
            <a:schemeClr val="accent2"/>
          </a:solid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0" name="Text 7"/>
          <p:cNvSpPr txBox="1"/>
          <p:nvPr/>
        </p:nvSpPr>
        <p:spPr>
          <a:xfrm>
            <a:off x="2340864" y="2423160"/>
            <a:ext cx="1060704" cy="1645920"/>
          </a:xfrm>
          <a:prstGeom prst="rect">
            <a:avLst/>
          </a:prstGeom>
          <a:noFill/>
          <a:ln/>
        </p:spPr>
        <p:txBody>
          <a:bodyPr wrap="square" lIns="0" tIns="0" rIns="0" bIns="0" rtlCol="0" anchor="t">
            <a:normAutofit/>
          </a:bodyPr>
          <a:lstStyle/>
          <a:p>
            <a:pPr algn="ctr" indent="0" marL="0">
              <a:buNone/>
            </a:pPr>
            <a:r>
              <a:rPr lang="en-US" sz="1600" dirty="0">
                <a:solidFill>
                  <a:schemeClr val="tx1"/>
                </a:solidFill>
              </a:rPr>
              <a:t>Avaliando a política treinada</a:t>
            </a:r>
            <a:endParaRPr lang="en-US" sz="1600" dirty="0"/>
          </a:p>
        </p:txBody>
      </p:sp>
      <p:sp>
        <p:nvSpPr>
          <p:cNvPr id="11" name="Cartão"/>
          <p:cNvSpPr/>
          <p:nvPr/>
        </p:nvSpPr>
        <p:spPr>
          <a:xfrm>
            <a:off x="3858768" y="1371600"/>
            <a:ext cx="1426464" cy="2926080"/>
          </a:xfrm>
          <a:prstGeom prst="roundRect">
            <a:avLst>
              <a:gd name="adj" fmla="val 9615"/>
            </a:avLst>
          </a:prstGeom>
          <a:solidFill>
            <a:schemeClr val="bg2"/>
          </a:solidFill>
          <a:ln w="12700">
            <a:solidFill>
              <a:schemeClr val="bg2"/>
            </a:solidFill>
            <a:prstDash val="solid"/>
          </a:ln>
        </p:spPr>
      </p:sp>
      <p:sp>
        <p:nvSpPr>
          <p:cNvPr id="12" name="Text 9"/>
          <p:cNvSpPr/>
          <p:nvPr/>
        </p:nvSpPr>
        <p:spPr>
          <a:xfrm>
            <a:off x="4251960" y="1600200"/>
            <a:ext cx="640080" cy="640080"/>
          </a:xfrm>
          <a:prstGeom prst="ellipse">
            <a:avLst/>
          </a:prstGeom>
          <a:solidFill>
            <a:schemeClr val="accent1"/>
          </a:solid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3" name="Text 10"/>
          <p:cNvSpPr txBox="1"/>
          <p:nvPr/>
        </p:nvSpPr>
        <p:spPr>
          <a:xfrm>
            <a:off x="4041648" y="2423160"/>
            <a:ext cx="1060704" cy="1645920"/>
          </a:xfrm>
          <a:prstGeom prst="rect">
            <a:avLst/>
          </a:prstGeom>
          <a:noFill/>
          <a:ln/>
        </p:spPr>
        <p:txBody>
          <a:bodyPr wrap="square" lIns="0" tIns="0" rIns="0" bIns="0" rtlCol="0" anchor="t">
            <a:normAutofit/>
          </a:bodyPr>
          <a:lstStyle/>
          <a:p>
            <a:pPr algn="ctr" indent="0" marL="0">
              <a:buNone/>
            </a:pPr>
            <a:r>
              <a:rPr lang="en-US" sz="1600" dirty="0">
                <a:solidFill>
                  <a:schemeClr val="tx1"/>
                </a:solidFill>
              </a:rPr>
              <a:t>Ablação: o que acontece sem memória e sem rede-alvo?</a:t>
            </a:r>
            <a:endParaRPr lang="en-US" sz="1600" dirty="0"/>
          </a:p>
        </p:txBody>
      </p:sp>
      <p:sp>
        <p:nvSpPr>
          <p:cNvPr id="14" name="Cartão"/>
          <p:cNvSpPr/>
          <p:nvPr/>
        </p:nvSpPr>
        <p:spPr>
          <a:xfrm>
            <a:off x="5559552" y="1371600"/>
            <a:ext cx="1426464" cy="2926080"/>
          </a:xfrm>
          <a:prstGeom prst="roundRect">
            <a:avLst>
              <a:gd name="adj" fmla="val 9615"/>
            </a:avLst>
          </a:prstGeom>
          <a:solidFill>
            <a:schemeClr val="bg2"/>
          </a:solidFill>
          <a:ln w="12700">
            <a:solidFill>
              <a:schemeClr val="bg2"/>
            </a:solidFill>
            <a:prstDash val="solid"/>
          </a:ln>
        </p:spPr>
      </p:sp>
      <p:sp>
        <p:nvSpPr>
          <p:cNvPr id="15" name="Text 12"/>
          <p:cNvSpPr/>
          <p:nvPr/>
        </p:nvSpPr>
        <p:spPr>
          <a:xfrm>
            <a:off x="5952744" y="1600200"/>
            <a:ext cx="640080" cy="640080"/>
          </a:xfrm>
          <a:prstGeom prst="ellipse">
            <a:avLst/>
          </a:prstGeom>
          <a:solidFill>
            <a:schemeClr val="accent4"/>
          </a:solid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16" name="Text 13"/>
          <p:cNvSpPr txBox="1"/>
          <p:nvPr/>
        </p:nvSpPr>
        <p:spPr>
          <a:xfrm>
            <a:off x="5742432" y="2423160"/>
            <a:ext cx="1060704" cy="1645920"/>
          </a:xfrm>
          <a:prstGeom prst="rect">
            <a:avLst/>
          </a:prstGeom>
          <a:noFill/>
          <a:ln/>
        </p:spPr>
        <p:txBody>
          <a:bodyPr wrap="square" lIns="0" tIns="0" rIns="0" bIns="0" rtlCol="0" anchor="t">
            <a:normAutofit/>
          </a:bodyPr>
          <a:lstStyle/>
          <a:p>
            <a:pPr algn="ctr" indent="0" marL="0">
              <a:buNone/>
            </a:pPr>
            <a:r>
              <a:rPr lang="en-US" sz="1600" dirty="0">
                <a:solidFill>
                  <a:schemeClr val="tx1"/>
                </a:solidFill>
              </a:rPr>
              <a:t>Double DQN</a:t>
            </a:r>
            <a:endParaRPr lang="en-US" sz="1600" dirty="0"/>
          </a:p>
        </p:txBody>
      </p:sp>
      <p:sp>
        <p:nvSpPr>
          <p:cNvPr id="17" name="Cartão"/>
          <p:cNvSpPr/>
          <p:nvPr/>
        </p:nvSpPr>
        <p:spPr>
          <a:xfrm>
            <a:off x="7260336" y="1371600"/>
            <a:ext cx="1426464" cy="2926080"/>
          </a:xfrm>
          <a:prstGeom prst="roundRect">
            <a:avLst>
              <a:gd name="adj" fmla="val 9615"/>
            </a:avLst>
          </a:prstGeom>
          <a:solidFill>
            <a:schemeClr val="bg2"/>
          </a:solidFill>
          <a:ln w="12700">
            <a:solidFill>
              <a:schemeClr val="bg2"/>
            </a:solidFill>
            <a:prstDash val="solid"/>
          </a:ln>
        </p:spPr>
      </p:sp>
      <p:sp>
        <p:nvSpPr>
          <p:cNvPr id="18" name="Text 15"/>
          <p:cNvSpPr/>
          <p:nvPr/>
        </p:nvSpPr>
        <p:spPr>
          <a:xfrm>
            <a:off x="7653528" y="1600200"/>
            <a:ext cx="640080" cy="640080"/>
          </a:xfrm>
          <a:prstGeom prst="ellipse">
            <a:avLst/>
          </a:prstGeom>
          <a:solidFill>
            <a:schemeClr val="accent3"/>
          </a:solidFill>
          <a:ln/>
        </p:spPr>
        <p:txBody>
          <a:bodyPr wrap="square" lIns="0" tIns="0" rIns="0" bIns="0" rtlCol="0" anchor="ctr"/>
          <a:lstStyle/>
          <a:p>
            <a:pPr algn="ctr" indent="0" marL="0">
              <a:buNone/>
            </a:pPr>
            <a:r>
              <a:rPr lang="en-US" sz="2200" b="1" dirty="0">
                <a:solidFill>
                  <a:schemeClr val="bg1"/>
                </a:solidFill>
              </a:rPr>
              <a:t>5</a:t>
            </a:r>
            <a:endParaRPr lang="en-US" sz="2200" dirty="0"/>
          </a:p>
        </p:txBody>
      </p:sp>
      <p:sp>
        <p:nvSpPr>
          <p:cNvPr id="19" name="Text 16"/>
          <p:cNvSpPr txBox="1"/>
          <p:nvPr/>
        </p:nvSpPr>
        <p:spPr>
          <a:xfrm>
            <a:off x="7443216" y="2423160"/>
            <a:ext cx="1060704" cy="1645920"/>
          </a:xfrm>
          <a:prstGeom prst="rect">
            <a:avLst/>
          </a:prstGeom>
          <a:noFill/>
          <a:ln/>
        </p:spPr>
        <p:txBody>
          <a:bodyPr wrap="square" lIns="0" tIns="0" rIns="0" bIns="0" rtlCol="0" anchor="t">
            <a:normAutofit/>
          </a:bodyPr>
          <a:lstStyle/>
          <a:p>
            <a:pPr algn="ctr" indent="0" marL="0">
              <a:buNone/>
            </a:pPr>
            <a:r>
              <a:rPr lang="en-US" sz="1600" dirty="0">
                <a:solidFill>
                  <a:schemeClr val="tx1"/>
                </a:solidFill>
              </a:rPr>
              <a:t>DQN com o Stable-Baselines3</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Mão na massa</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Figura</a:t>
            </a:r>
            <a:endParaRPr lang="en-US" sz="1200" dirty="0"/>
          </a:p>
        </p:txBody>
      </p:sp>
      <p:pic>
        <p:nvPicPr>
          <p:cNvPr id="5" name="Figura" descr="Ablação no CartPole (3 sementes por configuração, 300 episódios): a configuração completa chega a retornos de centenas de passos, enquanto, sem memória ou sem rede-alvo">    </p:cNvPr>
          <p:cNvPicPr>
            <a:picLocks noChangeAspect="1"/>
          </p:cNvPicPr>
          <p:nvPr/>
        </p:nvPicPr>
        <p:blipFill>
          <a:blip r:embed="rId1"/>
          <a:stretch>
            <a:fillRect/>
          </a:stretch>
        </p:blipFill>
        <p:spPr>
          <a:xfrm>
            <a:off x="1731804" y="1143000"/>
            <a:ext cx="5680391" cy="2880360"/>
          </a:xfrm>
          <a:prstGeom prst="rect">
            <a:avLst/>
          </a:prstGeom>
        </p:spPr>
      </p:pic>
      <p:sp>
        <p:nvSpPr>
          <p:cNvPr id="6" name="Legenda"/>
          <p:cNvSpPr txBox="1"/>
          <p:nvPr/>
        </p:nvSpPr>
        <p:spPr>
          <a:xfrm>
            <a:off x="457200" y="4114800"/>
            <a:ext cx="8229600" cy="594360"/>
          </a:xfrm>
          <a:prstGeom prst="rect">
            <a:avLst/>
          </a:prstGeom>
          <a:noFill/>
          <a:ln/>
        </p:spPr>
        <p:txBody>
          <a:bodyPr wrap="square" lIns="0" tIns="0" rIns="0" bIns="0" rtlCol="0" anchor="ctr">
            <a:normAutofit/>
          </a:bodyPr>
          <a:lstStyle/>
          <a:p>
            <a:pPr algn="ctr" indent="0" marL="0">
              <a:buNone/>
            </a:pPr>
            <a:r>
              <a:rPr lang="en-US" sz="1400" i="1" dirty="0">
                <a:solidFill>
                  <a:schemeClr val="tx1"/>
                </a:solidFill>
              </a:rPr>
              <a:t>Ablação no CartPole (3 sementes por configuração, 300 episódios): a configuração completa chega a retornos de centenas de passos, enquanto, sem memória ou sem rede-alvo</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Círculo"/>
          <p:cNvSpPr/>
          <p:nvPr/>
        </p:nvSpPr>
        <p:spPr>
          <a:xfrm>
            <a:off x="6583680" y="822960"/>
            <a:ext cx="2377440" cy="2377440"/>
          </a:xfrm>
          <a:prstGeom prst="ellipse">
            <a:avLst/>
          </a:prstGeom>
          <a:solidFill>
            <a:schemeClr val="accent3">
              <a:alpha val="70000"/>
            </a:schemeClr>
          </a:solidFill>
          <a:ln w="12700">
            <a:solidFill>
              <a:schemeClr val="accent3"/>
            </a:solidFill>
            <a:prstDash val="solid"/>
          </a:ln>
        </p:spPr>
      </p:sp>
      <p:sp>
        <p:nvSpPr>
          <p:cNvPr id="3" name="Círculo"/>
          <p:cNvSpPr/>
          <p:nvPr/>
        </p:nvSpPr>
        <p:spPr>
          <a:xfrm>
            <a:off x="5943600" y="2377440"/>
            <a:ext cx="1280160" cy="1280160"/>
          </a:xfrm>
          <a:prstGeom prst="ellipse">
            <a:avLst/>
          </a:prstGeom>
          <a:solidFill>
            <a:schemeClr val="accent1">
              <a:alpha val="80000"/>
            </a:schemeClr>
          </a:solidFill>
          <a:ln w="12700">
            <a:solidFill>
              <a:schemeClr val="accent1"/>
            </a:solidFill>
            <a:prstDash val="solid"/>
          </a:ln>
        </p:spPr>
      </p:sp>
      <p:sp>
        <p:nvSpPr>
          <p:cNvPr id="4" name="Título"/>
          <p:cNvSpPr txBox="1"/>
          <p:nvPr/>
        </p:nvSpPr>
        <p:spPr>
          <a:xfrm>
            <a:off x="548640" y="1463040"/>
            <a:ext cx="5669280" cy="1463040"/>
          </a:xfrm>
          <a:prstGeom prst="rect">
            <a:avLst/>
          </a:prstGeom>
          <a:noFill/>
          <a:ln/>
        </p:spPr>
        <p:txBody>
          <a:bodyPr wrap="square" lIns="0" tIns="0" rIns="0" bIns="0" rtlCol="0" anchor="ctr">
            <a:normAutofit/>
          </a:bodyPr>
          <a:lstStyle/>
          <a:p>
            <a:pPr indent="0" marL="0">
              <a:buNone/>
            </a:pPr>
            <a:r>
              <a:rPr lang="en-US" sz="3800" b="1" dirty="0">
                <a:solidFill>
                  <a:schemeClr val="bg1"/>
                </a:solidFill>
                <a:latin typeface="Cambria" pitchFamily="34" charset="0"/>
                <a:ea typeface="Cambria" pitchFamily="34" charset="-122"/>
                <a:cs typeface="Cambria" pitchFamily="34" charset="-120"/>
              </a:rPr>
              <a:t>Projeto do capítulo</a:t>
            </a:r>
            <a:endParaRPr lang="en-US" sz="3800" dirty="0"/>
          </a:p>
        </p:txBody>
      </p:sp>
      <p:sp>
        <p:nvSpPr>
          <p:cNvPr id="5" name="Text 3"/>
          <p:cNvSpPr txBox="1"/>
          <p:nvPr/>
        </p:nvSpPr>
        <p:spPr>
          <a:xfrm>
            <a:off x="548640" y="3017520"/>
            <a:ext cx="5669280" cy="731520"/>
          </a:xfrm>
          <a:prstGeom prst="rect">
            <a:avLst/>
          </a:prstGeom>
          <a:noFill/>
          <a:ln/>
        </p:spPr>
        <p:txBody>
          <a:bodyPr wrap="square" lIns="0" tIns="0" rIns="0" bIns="0" rtlCol="0" anchor="t">
            <a:normAutofit/>
          </a:bodyPr>
          <a:lstStyle/>
          <a:p>
            <a:pPr indent="0" marL="0">
              <a:buNone/>
            </a:pPr>
            <a:r>
              <a:rPr lang="en-US" sz="1800" dirty="0">
                <a:solidFill>
                  <a:schemeClr val="accent1"/>
                </a:solidFill>
              </a:rPr>
              <a:t>um DQN para o estoque de uma loja</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 desafio</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Cap. 8</a:t>
            </a:r>
            <a:endParaRPr lang="en-US" sz="1200" dirty="0"/>
          </a:p>
        </p:txBody>
      </p:sp>
      <p:sp>
        <p:nvSpPr>
          <p:cNvPr id="5" name="Cartão"/>
          <p:cNvSpPr/>
          <p:nvPr/>
        </p:nvSpPr>
        <p:spPr>
          <a:xfrm>
            <a:off x="457200" y="1188720"/>
            <a:ext cx="8229600" cy="447241"/>
          </a:xfrm>
          <a:prstGeom prst="roundRect">
            <a:avLst>
              <a:gd name="adj" fmla="val 24534"/>
            </a:avLst>
          </a:prstGeom>
          <a:solidFill>
            <a:schemeClr val="bg2"/>
          </a:solidFill>
          <a:ln w="12700">
            <a:solidFill>
              <a:schemeClr val="bg2"/>
            </a:solidFill>
            <a:prstDash val="solid"/>
          </a:ln>
        </p:spPr>
      </p:sp>
      <p:sp>
        <p:nvSpPr>
          <p:cNvPr id="6" name="Número"/>
          <p:cNvSpPr/>
          <p:nvPr/>
        </p:nvSpPr>
        <p:spPr>
          <a:xfrm>
            <a:off x="594360" y="1229461"/>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47241"/>
          </a:xfrm>
          <a:prstGeom prst="rect">
            <a:avLst/>
          </a:prstGeom>
          <a:noFill/>
          <a:ln/>
        </p:spPr>
        <p:txBody>
          <a:bodyPr wrap="square" lIns="0" tIns="0" rIns="0" bIns="0" rtlCol="0" anchor="ctr">
            <a:normAutofit/>
          </a:bodyPr>
          <a:lstStyle/>
          <a:p>
            <a:pPr indent="0" marL="0">
              <a:buNone/>
            </a:pPr>
            <a:r>
              <a:rPr lang="en-US" sz="1600" dirty="0">
                <a:solidFill>
                  <a:schemeClr val="tx1"/>
                </a:solidFill>
              </a:rPr>
              <a:t>Contexto.</a:t>
            </a:r>
            <a:endParaRPr lang="en-US" sz="1600" dirty="0"/>
          </a:p>
        </p:txBody>
      </p:sp>
      <p:sp>
        <p:nvSpPr>
          <p:cNvPr id="8" name="Cartão"/>
          <p:cNvSpPr/>
          <p:nvPr/>
        </p:nvSpPr>
        <p:spPr>
          <a:xfrm>
            <a:off x="457200" y="1745689"/>
            <a:ext cx="8229600" cy="653660"/>
          </a:xfrm>
          <a:prstGeom prst="roundRect">
            <a:avLst>
              <a:gd name="adj" fmla="val 16787"/>
            </a:avLst>
          </a:prstGeom>
          <a:solidFill>
            <a:schemeClr val="bg2"/>
          </a:solidFill>
          <a:ln w="12700">
            <a:solidFill>
              <a:schemeClr val="bg2"/>
            </a:solidFill>
            <a:prstDash val="solid"/>
          </a:ln>
        </p:spPr>
      </p:sp>
      <p:sp>
        <p:nvSpPr>
          <p:cNvPr id="9" name="Número"/>
          <p:cNvSpPr/>
          <p:nvPr/>
        </p:nvSpPr>
        <p:spPr>
          <a:xfrm>
            <a:off x="594360" y="1889639"/>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cNvSpPr txBox="1"/>
          <p:nvPr/>
        </p:nvSpPr>
        <p:spPr>
          <a:xfrm>
            <a:off x="1097280" y="1745689"/>
            <a:ext cx="7452360" cy="653660"/>
          </a:xfrm>
          <a:prstGeom prst="rect">
            <a:avLst/>
          </a:prstGeom>
          <a:noFill/>
          <a:ln/>
        </p:spPr>
        <p:txBody>
          <a:bodyPr wrap="square" lIns="0" tIns="0" rIns="0" bIns="0" rtlCol="0" anchor="ctr">
            <a:normAutofit/>
          </a:bodyPr>
          <a:lstStyle/>
          <a:p>
            <a:pPr indent="0" marL="0">
              <a:buNone/>
            </a:pPr>
            <a:r>
              <a:rPr lang="en-US" sz="1600" dirty="0">
                <a:solidFill>
                  <a:schemeClr val="tx1"/>
                </a:solidFill>
              </a:rPr>
              <a:t>O que observar: com poucos passos de treino (15.000), é comum o DQN ficar atrás de uma política (s, S) bem ajustada, que é um baseline forte para estoques.</a:t>
            </a:r>
            <a:endParaRPr lang="en-US" sz="1600" dirty="0"/>
          </a:p>
        </p:txBody>
      </p:sp>
      <p:sp>
        <p:nvSpPr>
          <p:cNvPr id="11" name="Cartão"/>
          <p:cNvSpPr/>
          <p:nvPr/>
        </p:nvSpPr>
        <p:spPr>
          <a:xfrm>
            <a:off x="457200" y="2509077"/>
            <a:ext cx="8229600" cy="653660"/>
          </a:xfrm>
          <a:prstGeom prst="roundRect">
            <a:avLst>
              <a:gd name="adj" fmla="val 16787"/>
            </a:avLst>
          </a:prstGeom>
          <a:solidFill>
            <a:schemeClr val="bg2"/>
          </a:solidFill>
          <a:ln w="12700">
            <a:solidFill>
              <a:schemeClr val="bg2"/>
            </a:solidFill>
            <a:prstDash val="solid"/>
          </a:ln>
        </p:spPr>
      </p:sp>
      <p:sp>
        <p:nvSpPr>
          <p:cNvPr id="12" name="Número"/>
          <p:cNvSpPr/>
          <p:nvPr/>
        </p:nvSpPr>
        <p:spPr>
          <a:xfrm>
            <a:off x="594360" y="2653027"/>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o"/>
          <p:cNvSpPr txBox="1"/>
          <p:nvPr/>
        </p:nvSpPr>
        <p:spPr>
          <a:xfrm>
            <a:off x="1097280" y="2509077"/>
            <a:ext cx="7452360" cy="653660"/>
          </a:xfrm>
          <a:prstGeom prst="rect">
            <a:avLst/>
          </a:prstGeom>
          <a:noFill/>
          <a:ln/>
        </p:spPr>
        <p:txBody>
          <a:bodyPr wrap="square" lIns="0" tIns="0" rIns="0" bIns="0" rtlCol="0" anchor="ctr">
            <a:normAutofit/>
          </a:bodyPr>
          <a:lstStyle/>
          <a:p>
            <a:pPr indent="0" marL="0">
              <a:buNone/>
            </a:pPr>
            <a:r>
              <a:rPr lang="en-US" sz="1600" dirty="0">
                <a:solidFill>
                  <a:schemeClr val="tx1"/>
                </a:solidFill>
              </a:rPr>
              <a:t>Entrega: notebook com a análise da série, a curva de aprendizado, a comparação com (s, S) e a conclusão sobre as limitações do simulador.</a:t>
            </a:r>
            <a:endParaRPr lang="en-US" sz="1600" dirty="0"/>
          </a:p>
        </p:txBody>
      </p:sp>
      <p:sp>
        <p:nvSpPr>
          <p:cNvPr id="14" name="Cartão"/>
          <p:cNvSpPr/>
          <p:nvPr/>
        </p:nvSpPr>
        <p:spPr>
          <a:xfrm>
            <a:off x="457200" y="3272466"/>
            <a:ext cx="8229600" cy="653660"/>
          </a:xfrm>
          <a:prstGeom prst="roundRect">
            <a:avLst>
              <a:gd name="adj" fmla="val 16787"/>
            </a:avLst>
          </a:prstGeom>
          <a:solidFill>
            <a:schemeClr val="bg2"/>
          </a:solidFill>
          <a:ln w="12700">
            <a:solidFill>
              <a:schemeClr val="bg2"/>
            </a:solidFill>
            <a:prstDash val="solid"/>
          </a:ln>
        </p:spPr>
      </p:sp>
      <p:sp>
        <p:nvSpPr>
          <p:cNvPr id="15" name="Número"/>
          <p:cNvSpPr/>
          <p:nvPr/>
        </p:nvSpPr>
        <p:spPr>
          <a:xfrm>
            <a:off x="594360" y="3416416"/>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Texto"/>
          <p:cNvSpPr txBox="1"/>
          <p:nvPr/>
        </p:nvSpPr>
        <p:spPr>
          <a:xfrm>
            <a:off x="1097280" y="3272466"/>
            <a:ext cx="7452360" cy="653660"/>
          </a:xfrm>
          <a:prstGeom prst="rect">
            <a:avLst/>
          </a:prstGeom>
          <a:noFill/>
          <a:ln/>
        </p:spPr>
        <p:txBody>
          <a:bodyPr wrap="square" lIns="0" tIns="0" rIns="0" bIns="0" rtlCol="0" anchor="ctr">
            <a:normAutofit/>
          </a:bodyPr>
          <a:lstStyle/>
          <a:p>
            <a:pPr indent="0" marL="0">
              <a:buNone/>
            </a:pPr>
            <a:r>
              <a:rPr lang="en-US" sz="1600" dirty="0">
                <a:solidFill>
                  <a:schemeClr val="tx1"/>
                </a:solidFill>
              </a:rPr>
              <a:t>Construa a série de demanda diária do produto mais frequente (dias sem venda contam como 0).</a:t>
            </a:r>
            <a:endParaRPr lang="en-US" sz="1600" dirty="0"/>
          </a:p>
        </p:txBody>
      </p:sp>
      <p:sp>
        <p:nvSpPr>
          <p:cNvPr id="17" name="Cartão"/>
          <p:cNvSpPr/>
          <p:nvPr/>
        </p:nvSpPr>
        <p:spPr>
          <a:xfrm>
            <a:off x="457200" y="4035854"/>
            <a:ext cx="8229600" cy="653660"/>
          </a:xfrm>
          <a:prstGeom prst="roundRect">
            <a:avLst>
              <a:gd name="adj" fmla="val 16787"/>
            </a:avLst>
          </a:prstGeom>
          <a:solidFill>
            <a:schemeClr val="bg2"/>
          </a:solidFill>
          <a:ln w="12700">
            <a:solidFill>
              <a:schemeClr val="bg2"/>
            </a:solidFill>
            <a:prstDash val="solid"/>
          </a:ln>
        </p:spPr>
      </p:sp>
      <p:sp>
        <p:nvSpPr>
          <p:cNvPr id="18" name="Número"/>
          <p:cNvSpPr/>
          <p:nvPr/>
        </p:nvSpPr>
        <p:spPr>
          <a:xfrm>
            <a:off x="594360" y="417980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9" name="Texto"/>
          <p:cNvSpPr txBox="1"/>
          <p:nvPr/>
        </p:nvSpPr>
        <p:spPr>
          <a:xfrm>
            <a:off x="1097280" y="4035854"/>
            <a:ext cx="7452360" cy="653660"/>
          </a:xfrm>
          <a:prstGeom prst="rect">
            <a:avLst/>
          </a:prstGeom>
          <a:noFill/>
          <a:ln/>
        </p:spPr>
        <p:txBody>
          <a:bodyPr wrap="square" lIns="0" tIns="0" rIns="0" bIns="0" rtlCol="0" anchor="ctr">
            <a:normAutofit/>
          </a:bodyPr>
          <a:lstStyle/>
          <a:p>
            <a:pPr indent="0" marL="0">
              <a:buNone/>
            </a:pPr>
            <a:r>
              <a:rPr lang="en-US" sz="1600" dirty="0">
                <a:solidFill>
                  <a:schemeClr val="tx1"/>
                </a:solidFill>
              </a:rPr>
              <a:t>Complete o ambiente EstoqueEnv (abaixo), com estado = estoque, demanda do dia anterior, média de 7 dias e dia da semana; ações = quantidade a pedir</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Resumo do capítulo</a:t>
            </a:r>
            <a:endParaRPr lang="en-US" sz="3000" dirty="0"/>
          </a:p>
        </p:txBody>
      </p:sp>
      <p:sp>
        <p:nvSpPr>
          <p:cNvPr id="3" name="Etiqueta"/>
          <p:cNvSpPr/>
          <p:nvPr/>
        </p:nvSpPr>
        <p:spPr>
          <a:xfrm>
            <a:off x="7223760" y="411480"/>
            <a:ext cx="146304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Cap. 8</a:t>
            </a:r>
            <a:endParaRPr lang="en-US" sz="1200" dirty="0"/>
          </a:p>
        </p:txBody>
      </p:sp>
      <p:sp>
        <p:nvSpPr>
          <p:cNvPr id="4" name="Cartão"/>
          <p:cNvSpPr/>
          <p:nvPr/>
        </p:nvSpPr>
        <p:spPr>
          <a:xfrm>
            <a:off x="457200" y="1188720"/>
            <a:ext cx="8229600" cy="694944"/>
          </a:xfrm>
          <a:prstGeom prst="roundRect">
            <a:avLst>
              <a:gd name="adj" fmla="val 15789"/>
            </a:avLst>
          </a:prstGeom>
          <a:solidFill>
            <a:schemeClr val="bg2"/>
          </a:solidFill>
          <a:ln w="12700">
            <a:solidFill>
              <a:schemeClr val="bg2"/>
            </a:solidFill>
            <a:prstDash val="solid"/>
          </a:ln>
        </p:spPr>
      </p:sp>
      <p:sp>
        <p:nvSpPr>
          <p:cNvPr id="5" name="Número"/>
          <p:cNvSpPr/>
          <p:nvPr/>
        </p:nvSpPr>
        <p:spPr>
          <a:xfrm>
            <a:off x="594360" y="1353312"/>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o"/>
          <p:cNvSpPr txBox="1"/>
          <p:nvPr/>
        </p:nvSpPr>
        <p:spPr>
          <a:xfrm>
            <a:off x="1097280" y="1188720"/>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O DQN usa uma rede neural que recebe o estado e devolve um valor Q para cada ação.</a:t>
            </a:r>
            <a:endParaRPr lang="en-US" sz="1800" dirty="0"/>
          </a:p>
        </p:txBody>
      </p:sp>
      <p:sp>
        <p:nvSpPr>
          <p:cNvPr id="7" name="Cartão"/>
          <p:cNvSpPr/>
          <p:nvPr/>
        </p:nvSpPr>
        <p:spPr>
          <a:xfrm>
            <a:off x="457200" y="1993392"/>
            <a:ext cx="8229600" cy="694944"/>
          </a:xfrm>
          <a:prstGeom prst="roundRect">
            <a:avLst>
              <a:gd name="adj" fmla="val 15789"/>
            </a:avLst>
          </a:prstGeom>
          <a:solidFill>
            <a:schemeClr val="bg2"/>
          </a:solidFill>
          <a:ln w="12700">
            <a:solidFill>
              <a:schemeClr val="bg2"/>
            </a:solidFill>
            <a:prstDash val="solid"/>
          </a:ln>
        </p:spPr>
      </p:sp>
      <p:sp>
        <p:nvSpPr>
          <p:cNvPr id="8" name="Número"/>
          <p:cNvSpPr/>
          <p:nvPr/>
        </p:nvSpPr>
        <p:spPr>
          <a:xfrm>
            <a:off x="594360" y="215798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o"/>
          <p:cNvSpPr txBox="1"/>
          <p:nvPr/>
        </p:nvSpPr>
        <p:spPr>
          <a:xfrm>
            <a:off x="1097280" y="1993392"/>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Dois truques estabilizam o treino: a repetição de experiência (quebra correlações) e a rede-alvo (torna o alvo menos móvel).</a:t>
            </a:r>
            <a:endParaRPr lang="en-US" sz="1800" dirty="0"/>
          </a:p>
        </p:txBody>
      </p:sp>
      <p:sp>
        <p:nvSpPr>
          <p:cNvPr id="10" name="Cartão"/>
          <p:cNvSpPr/>
          <p:nvPr/>
        </p:nvSpPr>
        <p:spPr>
          <a:xfrm>
            <a:off x="457200" y="2798064"/>
            <a:ext cx="8229600" cy="475488"/>
          </a:xfrm>
          <a:prstGeom prst="roundRect">
            <a:avLst>
              <a:gd name="adj" fmla="val 23077"/>
            </a:avLst>
          </a:prstGeom>
          <a:solidFill>
            <a:schemeClr val="bg2"/>
          </a:solidFill>
          <a:ln w="12700">
            <a:solidFill>
              <a:schemeClr val="bg2"/>
            </a:solidFill>
            <a:prstDash val="solid"/>
          </a:ln>
        </p:spPr>
      </p:sp>
      <p:sp>
        <p:nvSpPr>
          <p:cNvPr id="11" name="Número"/>
          <p:cNvSpPr/>
          <p:nvPr/>
        </p:nvSpPr>
        <p:spPr>
          <a:xfrm>
            <a:off x="594360" y="2852928"/>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o"/>
          <p:cNvSpPr txBox="1"/>
          <p:nvPr/>
        </p:nvSpPr>
        <p:spPr>
          <a:xfrm>
            <a:off x="1097280" y="2798064"/>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O DQN aprendeu Atari a partir de pixels (Mnih et al., 2015).</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Resumo do capítulo</a:t>
            </a:r>
            <a:endParaRPr lang="en-US" sz="3000" dirty="0"/>
          </a:p>
        </p:txBody>
      </p:sp>
      <p:sp>
        <p:nvSpPr>
          <p:cNvPr id="3" name="Etiqueta"/>
          <p:cNvSpPr/>
          <p:nvPr/>
        </p:nvSpPr>
        <p:spPr>
          <a:xfrm>
            <a:off x="7223760" y="411480"/>
            <a:ext cx="146304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Cap. 8</a:t>
            </a:r>
            <a:endParaRPr lang="en-US" sz="1200" dirty="0"/>
          </a:p>
        </p:txBody>
      </p:sp>
      <p:sp>
        <p:nvSpPr>
          <p:cNvPr id="4" name="Cartão"/>
          <p:cNvSpPr/>
          <p:nvPr/>
        </p:nvSpPr>
        <p:spPr>
          <a:xfrm>
            <a:off x="457200" y="1188720"/>
            <a:ext cx="8229600" cy="694944"/>
          </a:xfrm>
          <a:prstGeom prst="roundRect">
            <a:avLst>
              <a:gd name="adj" fmla="val 15789"/>
            </a:avLst>
          </a:prstGeom>
          <a:solidFill>
            <a:schemeClr val="bg2"/>
          </a:solidFill>
          <a:ln w="12700">
            <a:solidFill>
              <a:schemeClr val="bg2"/>
            </a:solidFill>
            <a:prstDash val="solid"/>
          </a:ln>
        </p:spPr>
      </p:sp>
      <p:sp>
        <p:nvSpPr>
          <p:cNvPr id="5" name="Número"/>
          <p:cNvSpPr/>
          <p:nvPr/>
        </p:nvSpPr>
        <p:spPr>
          <a:xfrm>
            <a:off x="594360" y="1353312"/>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o"/>
          <p:cNvSpPr txBox="1"/>
          <p:nvPr/>
        </p:nvSpPr>
        <p:spPr>
          <a:xfrm>
            <a:off x="1097280" y="1188720"/>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Extensões: Double DQN, repetição priorizada, dueling, n-step, distribucional, ruído e Rainbow.</a:t>
            </a:r>
            <a:endParaRPr lang="en-US" sz="1800" dirty="0"/>
          </a:p>
        </p:txBody>
      </p:sp>
      <p:sp>
        <p:nvSpPr>
          <p:cNvPr id="7" name="Cartão"/>
          <p:cNvSpPr/>
          <p:nvPr/>
        </p:nvSpPr>
        <p:spPr>
          <a:xfrm>
            <a:off x="457200" y="1993392"/>
            <a:ext cx="8229600" cy="475488"/>
          </a:xfrm>
          <a:prstGeom prst="roundRect">
            <a:avLst>
              <a:gd name="adj" fmla="val 23077"/>
            </a:avLst>
          </a:prstGeom>
          <a:solidFill>
            <a:schemeClr val="bg2"/>
          </a:solidFill>
          <a:ln w="12700">
            <a:solidFill>
              <a:schemeClr val="bg2"/>
            </a:solidFill>
            <a:prstDash val="solid"/>
          </a:ln>
        </p:spPr>
      </p:sp>
      <p:sp>
        <p:nvSpPr>
          <p:cNvPr id="8" name="Número"/>
          <p:cNvSpPr/>
          <p:nvPr/>
        </p:nvSpPr>
        <p:spPr>
          <a:xfrm>
            <a:off x="594360" y="2048256"/>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o"/>
          <p:cNvSpPr txBox="1"/>
          <p:nvPr/>
        </p:nvSpPr>
        <p:spPr>
          <a:xfrm>
            <a:off x="1097280" y="1993392"/>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O treino é instável e variável: monitore os valores Q e use várias sementes.</a:t>
            </a:r>
            <a:endParaRPr lang="en-US" sz="1800" dirty="0"/>
          </a:p>
        </p:txBody>
      </p:sp>
      <p:sp>
        <p:nvSpPr>
          <p:cNvPr id="10" name="Cartão"/>
          <p:cNvSpPr/>
          <p:nvPr/>
        </p:nvSpPr>
        <p:spPr>
          <a:xfrm>
            <a:off x="457200" y="2578608"/>
            <a:ext cx="8229600" cy="475488"/>
          </a:xfrm>
          <a:prstGeom prst="roundRect">
            <a:avLst>
              <a:gd name="adj" fmla="val 23077"/>
            </a:avLst>
          </a:prstGeom>
          <a:solidFill>
            <a:schemeClr val="bg2"/>
          </a:solidFill>
          <a:ln w="12700">
            <a:solidFill>
              <a:schemeClr val="bg2"/>
            </a:solidFill>
            <a:prstDash val="solid"/>
          </a:ln>
        </p:spPr>
      </p:sp>
      <p:sp>
        <p:nvSpPr>
          <p:cNvPr id="11" name="Número"/>
          <p:cNvSpPr/>
          <p:nvPr/>
        </p:nvSpPr>
        <p:spPr>
          <a:xfrm>
            <a:off x="594360" y="2633472"/>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o"/>
          <p:cNvSpPr txBox="1"/>
          <p:nvPr/>
        </p:nvSpPr>
        <p:spPr>
          <a:xfrm>
            <a:off x="1097280" y="2578608"/>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O Stable-Baselines3 oferece implementações prontas para aplicações práticas.</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Círculo"/>
          <p:cNvSpPr/>
          <p:nvPr/>
        </p:nvSpPr>
        <p:spPr>
          <a:xfrm>
            <a:off x="6583680" y="822960"/>
            <a:ext cx="2377440" cy="2377440"/>
          </a:xfrm>
          <a:prstGeom prst="ellipse">
            <a:avLst/>
          </a:prstGeom>
          <a:solidFill>
            <a:schemeClr val="accent3">
              <a:alpha val="70000"/>
            </a:schemeClr>
          </a:solidFill>
          <a:ln w="12700">
            <a:solidFill>
              <a:schemeClr val="accent3"/>
            </a:solidFill>
            <a:prstDash val="solid"/>
          </a:ln>
        </p:spPr>
      </p:sp>
      <p:sp>
        <p:nvSpPr>
          <p:cNvPr id="3" name="Círculo"/>
          <p:cNvSpPr/>
          <p:nvPr/>
        </p:nvSpPr>
        <p:spPr>
          <a:xfrm>
            <a:off x="5943600" y="2377440"/>
            <a:ext cx="1280160" cy="1280160"/>
          </a:xfrm>
          <a:prstGeom prst="ellipse">
            <a:avLst/>
          </a:prstGeom>
          <a:solidFill>
            <a:schemeClr val="accent1">
              <a:alpha val="80000"/>
            </a:schemeClr>
          </a:solidFill>
          <a:ln w="12700">
            <a:solidFill>
              <a:schemeClr val="accent1"/>
            </a:solidFill>
            <a:prstDash val="solid"/>
          </a:ln>
        </p:spPr>
      </p:sp>
      <p:sp>
        <p:nvSpPr>
          <p:cNvPr id="4" name="Título"/>
          <p:cNvSpPr txBox="1"/>
          <p:nvPr/>
        </p:nvSpPr>
        <p:spPr>
          <a:xfrm>
            <a:off x="548640" y="1463040"/>
            <a:ext cx="5669280" cy="1463040"/>
          </a:xfrm>
          <a:prstGeom prst="rect">
            <a:avLst/>
          </a:prstGeom>
          <a:noFill/>
          <a:ln/>
        </p:spPr>
        <p:txBody>
          <a:bodyPr wrap="square" lIns="0" tIns="0" rIns="0" bIns="0" rtlCol="0" anchor="ctr">
            <a:normAutofit/>
          </a:bodyPr>
          <a:lstStyle/>
          <a:p>
            <a:pPr indent="0" marL="0">
              <a:buNone/>
            </a:pPr>
            <a:r>
              <a:rPr lang="en-US" sz="3800" b="1" dirty="0">
                <a:solidFill>
                  <a:schemeClr val="bg1"/>
                </a:solidFill>
                <a:latin typeface="Cambria" pitchFamily="34" charset="0"/>
                <a:ea typeface="Cambria" pitchFamily="34" charset="-122"/>
                <a:cs typeface="Cambria" pitchFamily="34" charset="-120"/>
              </a:rPr>
              <a:t>Quiz relâmpago</a:t>
            </a:r>
            <a:endParaRPr lang="en-US" sz="3800" dirty="0"/>
          </a:p>
        </p:txBody>
      </p:sp>
      <p:sp>
        <p:nvSpPr>
          <p:cNvPr id="5" name="Text 3"/>
          <p:cNvSpPr txBox="1"/>
          <p:nvPr/>
        </p:nvSpPr>
        <p:spPr>
          <a:xfrm>
            <a:off x="548640" y="3017520"/>
            <a:ext cx="5669280" cy="731520"/>
          </a:xfrm>
          <a:prstGeom prst="rect">
            <a:avLst/>
          </a:prstGeom>
          <a:noFill/>
          <a:ln/>
        </p:spPr>
        <p:txBody>
          <a:bodyPr wrap="square" lIns="0" tIns="0" rIns="0" bIns="0" rtlCol="0" anchor="t">
            <a:normAutofit/>
          </a:bodyPr>
          <a:lstStyle/>
          <a:p>
            <a:pPr indent="0" marL="0">
              <a:buNone/>
            </a:pPr>
            <a:r>
              <a:rPr lang="en-US" sz="1800" dirty="0">
                <a:solidFill>
                  <a:schemeClr val="accent1"/>
                </a:solidFill>
              </a:rPr>
              <a:t>Teste o que você aprendeu</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Pergunta 1</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Quiz</a:t>
            </a:r>
            <a:endParaRPr lang="en-US" sz="1200" dirty="0"/>
          </a:p>
        </p:txBody>
      </p:sp>
      <p:sp>
        <p:nvSpPr>
          <p:cNvPr id="5" name="Pergunta"/>
          <p:cNvSpPr txBox="1"/>
          <p:nvPr/>
        </p:nvSpPr>
        <p:spPr>
          <a:xfrm>
            <a:off x="457200" y="1051560"/>
            <a:ext cx="8229600" cy="868680"/>
          </a:xfrm>
          <a:prstGeom prst="rect">
            <a:avLst/>
          </a:prstGeom>
          <a:noFill/>
          <a:ln/>
        </p:spPr>
        <p:txBody>
          <a:bodyPr wrap="square" lIns="0" tIns="0" rIns="0" bIns="0" rtlCol="0" anchor="ctr">
            <a:normAutofit/>
          </a:bodyPr>
          <a:lstStyle/>
          <a:p>
            <a:pPr indent="0" marL="0">
              <a:buNone/>
            </a:pPr>
            <a:r>
              <a:rPr lang="en-US" sz="1800" b="1" dirty="0">
                <a:solidFill>
                  <a:schemeClr val="tx2"/>
                </a:solidFill>
              </a:rPr>
              <a:t>A função de ativação ReLU é definida como:</a:t>
            </a:r>
            <a:endParaRPr lang="en-US" sz="1800" dirty="0"/>
          </a:p>
        </p:txBody>
      </p:sp>
      <p:sp>
        <p:nvSpPr>
          <p:cNvPr id="6" name="Cartão"/>
          <p:cNvSpPr/>
          <p:nvPr/>
        </p:nvSpPr>
        <p:spPr>
          <a:xfrm>
            <a:off x="457200" y="1965960"/>
            <a:ext cx="8229600" cy="640080"/>
          </a:xfrm>
          <a:prstGeom prst="roundRect">
            <a:avLst>
              <a:gd name="adj" fmla="val 14286"/>
            </a:avLst>
          </a:prstGeom>
          <a:solidFill>
            <a:schemeClr val="bg2"/>
          </a:solidFill>
          <a:ln w="12700">
            <a:solidFill>
              <a:schemeClr val="bg2"/>
            </a:solidFill>
            <a:prstDash val="solid"/>
          </a:ln>
        </p:spPr>
      </p:sp>
      <p:sp>
        <p:nvSpPr>
          <p:cNvPr id="7" name="Text 4"/>
          <p:cNvSpPr/>
          <p:nvPr/>
        </p:nvSpPr>
        <p:spPr>
          <a:xfrm>
            <a:off x="594360" y="2103120"/>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8" name="Text 5"/>
          <p:cNvSpPr txBox="1"/>
          <p:nvPr/>
        </p:nvSpPr>
        <p:spPr>
          <a:xfrm>
            <a:off x="1097280" y="1965960"/>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max(0, x).</a:t>
            </a:r>
            <a:endParaRPr lang="en-US" sz="1400" dirty="0"/>
          </a:p>
        </p:txBody>
      </p:sp>
      <p:sp>
        <p:nvSpPr>
          <p:cNvPr id="9" name="Cartão"/>
          <p:cNvSpPr/>
          <p:nvPr/>
        </p:nvSpPr>
        <p:spPr>
          <a:xfrm>
            <a:off x="457200" y="2679192"/>
            <a:ext cx="8229600" cy="640080"/>
          </a:xfrm>
          <a:prstGeom prst="roundRect">
            <a:avLst>
              <a:gd name="adj" fmla="val 14286"/>
            </a:avLst>
          </a:prstGeom>
          <a:solidFill>
            <a:schemeClr val="bg2"/>
          </a:solidFill>
          <a:ln w="12700">
            <a:solidFill>
              <a:schemeClr val="bg2"/>
            </a:solidFill>
            <a:prstDash val="solid"/>
          </a:ln>
        </p:spPr>
      </p:sp>
      <p:sp>
        <p:nvSpPr>
          <p:cNvPr id="10" name="Text 7"/>
          <p:cNvSpPr/>
          <p:nvPr/>
        </p:nvSpPr>
        <p:spPr>
          <a:xfrm>
            <a:off x="594360" y="2816352"/>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1" name="Text 8"/>
          <p:cNvSpPr txBox="1"/>
          <p:nvPr/>
        </p:nvSpPr>
        <p:spPr>
          <a:xfrm>
            <a:off x="1097280" y="2679192"/>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1/(1 + e^(−x)).</a:t>
            </a:r>
            <a:endParaRPr lang="en-US" sz="1400" dirty="0"/>
          </a:p>
        </p:txBody>
      </p:sp>
      <p:sp>
        <p:nvSpPr>
          <p:cNvPr id="12" name="Cartão"/>
          <p:cNvSpPr/>
          <p:nvPr/>
        </p:nvSpPr>
        <p:spPr>
          <a:xfrm>
            <a:off x="457200" y="3392424"/>
            <a:ext cx="8229600" cy="640080"/>
          </a:xfrm>
          <a:prstGeom prst="roundRect">
            <a:avLst>
              <a:gd name="adj" fmla="val 14286"/>
            </a:avLst>
          </a:prstGeom>
          <a:solidFill>
            <a:schemeClr val="bg2"/>
          </a:solidFill>
          <a:ln w="12700">
            <a:solidFill>
              <a:schemeClr val="bg2"/>
            </a:solidFill>
            <a:prstDash val="solid"/>
          </a:ln>
        </p:spPr>
      </p:sp>
      <p:sp>
        <p:nvSpPr>
          <p:cNvPr id="13" name="Text 10"/>
          <p:cNvSpPr/>
          <p:nvPr/>
        </p:nvSpPr>
        <p:spPr>
          <a:xfrm>
            <a:off x="594360" y="352958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4" name="Text 11"/>
          <p:cNvSpPr txBox="1"/>
          <p:nvPr/>
        </p:nvSpPr>
        <p:spPr>
          <a:xfrm>
            <a:off x="1097280" y="3392424"/>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x².</a:t>
            </a:r>
            <a:endParaRPr lang="en-US" sz="1400" dirty="0"/>
          </a:p>
        </p:txBody>
      </p:sp>
      <p:sp>
        <p:nvSpPr>
          <p:cNvPr id="15" name="Cartão"/>
          <p:cNvSpPr/>
          <p:nvPr/>
        </p:nvSpPr>
        <p:spPr>
          <a:xfrm>
            <a:off x="457200" y="4105656"/>
            <a:ext cx="8229600" cy="640080"/>
          </a:xfrm>
          <a:prstGeom prst="roundRect">
            <a:avLst>
              <a:gd name="adj" fmla="val 14286"/>
            </a:avLst>
          </a:prstGeom>
          <a:solidFill>
            <a:schemeClr val="bg2"/>
          </a:solidFill>
          <a:ln w="12700">
            <a:solidFill>
              <a:schemeClr val="bg2"/>
            </a:solidFill>
            <a:prstDash val="solid"/>
          </a:ln>
        </p:spPr>
      </p:sp>
      <p:sp>
        <p:nvSpPr>
          <p:cNvPr id="16" name="Text 13"/>
          <p:cNvSpPr/>
          <p:nvPr/>
        </p:nvSpPr>
        <p:spPr>
          <a:xfrm>
            <a:off x="594360" y="4242816"/>
            <a:ext cx="365760" cy="365760"/>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7" name="Text 14"/>
          <p:cNvSpPr txBox="1"/>
          <p:nvPr/>
        </p:nvSpPr>
        <p:spPr>
          <a:xfrm>
            <a:off x="1097280" y="4105656"/>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tanh(x).</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Pergunta 2</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Quiz</a:t>
            </a:r>
            <a:endParaRPr lang="en-US" sz="1200" dirty="0"/>
          </a:p>
        </p:txBody>
      </p:sp>
      <p:sp>
        <p:nvSpPr>
          <p:cNvPr id="5" name="Pergunta"/>
          <p:cNvSpPr txBox="1"/>
          <p:nvPr/>
        </p:nvSpPr>
        <p:spPr>
          <a:xfrm>
            <a:off x="457200" y="1051560"/>
            <a:ext cx="8229600" cy="868680"/>
          </a:xfrm>
          <a:prstGeom prst="rect">
            <a:avLst/>
          </a:prstGeom>
          <a:noFill/>
          <a:ln/>
        </p:spPr>
        <p:txBody>
          <a:bodyPr wrap="square" lIns="0" tIns="0" rIns="0" bIns="0" rtlCol="0" anchor="ctr">
            <a:normAutofit/>
          </a:bodyPr>
          <a:lstStyle/>
          <a:p>
            <a:pPr indent="0" marL="0">
              <a:buNone/>
            </a:pPr>
            <a:r>
              <a:rPr lang="en-US" sz="1800" b="1" dirty="0">
                <a:solidFill>
                  <a:schemeClr val="tx2"/>
                </a:solidFill>
              </a:rPr>
              <a:t>Um benefício da memória de experiências é:</a:t>
            </a:r>
            <a:endParaRPr lang="en-US" sz="1800" dirty="0"/>
          </a:p>
        </p:txBody>
      </p:sp>
      <p:sp>
        <p:nvSpPr>
          <p:cNvPr id="6" name="Cartão"/>
          <p:cNvSpPr/>
          <p:nvPr/>
        </p:nvSpPr>
        <p:spPr>
          <a:xfrm>
            <a:off x="457200" y="1965960"/>
            <a:ext cx="8229600" cy="640080"/>
          </a:xfrm>
          <a:prstGeom prst="roundRect">
            <a:avLst>
              <a:gd name="adj" fmla="val 14286"/>
            </a:avLst>
          </a:prstGeom>
          <a:solidFill>
            <a:schemeClr val="bg2"/>
          </a:solidFill>
          <a:ln w="12700">
            <a:solidFill>
              <a:schemeClr val="bg2"/>
            </a:solidFill>
            <a:prstDash val="solid"/>
          </a:ln>
        </p:spPr>
      </p:sp>
      <p:sp>
        <p:nvSpPr>
          <p:cNvPr id="7" name="Text 4"/>
          <p:cNvSpPr/>
          <p:nvPr/>
        </p:nvSpPr>
        <p:spPr>
          <a:xfrm>
            <a:off x="594360" y="2103120"/>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8" name="Text 5"/>
          <p:cNvSpPr txBox="1"/>
          <p:nvPr/>
        </p:nvSpPr>
        <p:spPr>
          <a:xfrm>
            <a:off x="1097280" y="1965960"/>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quebrar a correlação entre amostras e reaproveitar dados.</a:t>
            </a:r>
            <a:endParaRPr lang="en-US" sz="1400" dirty="0"/>
          </a:p>
        </p:txBody>
      </p:sp>
      <p:sp>
        <p:nvSpPr>
          <p:cNvPr id="9" name="Cartão"/>
          <p:cNvSpPr/>
          <p:nvPr/>
        </p:nvSpPr>
        <p:spPr>
          <a:xfrm>
            <a:off x="457200" y="2679192"/>
            <a:ext cx="8229600" cy="640080"/>
          </a:xfrm>
          <a:prstGeom prst="roundRect">
            <a:avLst>
              <a:gd name="adj" fmla="val 14286"/>
            </a:avLst>
          </a:prstGeom>
          <a:solidFill>
            <a:schemeClr val="bg2"/>
          </a:solidFill>
          <a:ln w="12700">
            <a:solidFill>
              <a:schemeClr val="bg2"/>
            </a:solidFill>
            <a:prstDash val="solid"/>
          </a:ln>
        </p:spPr>
      </p:sp>
      <p:sp>
        <p:nvSpPr>
          <p:cNvPr id="10" name="Text 7"/>
          <p:cNvSpPr/>
          <p:nvPr/>
        </p:nvSpPr>
        <p:spPr>
          <a:xfrm>
            <a:off x="594360" y="2816352"/>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1" name="Text 8"/>
          <p:cNvSpPr txBox="1"/>
          <p:nvPr/>
        </p:nvSpPr>
        <p:spPr>
          <a:xfrm>
            <a:off x="1097280" y="2679192"/>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eliminar a necessidade de exploração.</a:t>
            </a:r>
            <a:endParaRPr lang="en-US" sz="1400" dirty="0"/>
          </a:p>
        </p:txBody>
      </p:sp>
      <p:sp>
        <p:nvSpPr>
          <p:cNvPr id="12" name="Cartão"/>
          <p:cNvSpPr/>
          <p:nvPr/>
        </p:nvSpPr>
        <p:spPr>
          <a:xfrm>
            <a:off x="457200" y="3392424"/>
            <a:ext cx="8229600" cy="640080"/>
          </a:xfrm>
          <a:prstGeom prst="roundRect">
            <a:avLst>
              <a:gd name="adj" fmla="val 14286"/>
            </a:avLst>
          </a:prstGeom>
          <a:solidFill>
            <a:schemeClr val="bg2"/>
          </a:solidFill>
          <a:ln w="12700">
            <a:solidFill>
              <a:schemeClr val="bg2"/>
            </a:solidFill>
            <a:prstDash val="solid"/>
          </a:ln>
        </p:spPr>
      </p:sp>
      <p:sp>
        <p:nvSpPr>
          <p:cNvPr id="13" name="Text 10"/>
          <p:cNvSpPr/>
          <p:nvPr/>
        </p:nvSpPr>
        <p:spPr>
          <a:xfrm>
            <a:off x="594360" y="352958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4" name="Text 11"/>
          <p:cNvSpPr txBox="1"/>
          <p:nvPr/>
        </p:nvSpPr>
        <p:spPr>
          <a:xfrm>
            <a:off x="1097280" y="3392424"/>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tornar o método on-policy.</a:t>
            </a:r>
            <a:endParaRPr lang="en-US" sz="1400" dirty="0"/>
          </a:p>
        </p:txBody>
      </p:sp>
      <p:sp>
        <p:nvSpPr>
          <p:cNvPr id="15" name="Cartão"/>
          <p:cNvSpPr/>
          <p:nvPr/>
        </p:nvSpPr>
        <p:spPr>
          <a:xfrm>
            <a:off x="457200" y="4105656"/>
            <a:ext cx="8229600" cy="640080"/>
          </a:xfrm>
          <a:prstGeom prst="roundRect">
            <a:avLst>
              <a:gd name="adj" fmla="val 14286"/>
            </a:avLst>
          </a:prstGeom>
          <a:solidFill>
            <a:schemeClr val="bg2"/>
          </a:solidFill>
          <a:ln w="12700">
            <a:solidFill>
              <a:schemeClr val="bg2"/>
            </a:solidFill>
            <a:prstDash val="solid"/>
          </a:ln>
        </p:spPr>
      </p:sp>
      <p:sp>
        <p:nvSpPr>
          <p:cNvPr id="16" name="Text 13"/>
          <p:cNvSpPr/>
          <p:nvPr/>
        </p:nvSpPr>
        <p:spPr>
          <a:xfrm>
            <a:off x="594360" y="4242816"/>
            <a:ext cx="365760" cy="365760"/>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7" name="Text 14"/>
          <p:cNvSpPr txBox="1"/>
          <p:nvPr/>
        </p:nvSpPr>
        <p:spPr>
          <a:xfrm>
            <a:off x="1097280" y="4105656"/>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reduzir o número de ações.</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Pergunta 3</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Quiz</a:t>
            </a:r>
            <a:endParaRPr lang="en-US" sz="1200" dirty="0"/>
          </a:p>
        </p:txBody>
      </p:sp>
      <p:sp>
        <p:nvSpPr>
          <p:cNvPr id="5" name="Pergunta"/>
          <p:cNvSpPr txBox="1"/>
          <p:nvPr/>
        </p:nvSpPr>
        <p:spPr>
          <a:xfrm>
            <a:off x="457200" y="1051560"/>
            <a:ext cx="8229600" cy="868680"/>
          </a:xfrm>
          <a:prstGeom prst="rect">
            <a:avLst/>
          </a:prstGeom>
          <a:noFill/>
          <a:ln/>
        </p:spPr>
        <p:txBody>
          <a:bodyPr wrap="square" lIns="0" tIns="0" rIns="0" bIns="0" rtlCol="0" anchor="ctr">
            <a:normAutofit/>
          </a:bodyPr>
          <a:lstStyle/>
          <a:p>
            <a:pPr indent="0" marL="0">
              <a:buNone/>
            </a:pPr>
            <a:r>
              <a:rPr lang="en-US" sz="1800" b="1" dirty="0">
                <a:solidFill>
                  <a:schemeClr val="tx2"/>
                </a:solidFill>
              </a:rPr>
              <a:t>O recorte do gradiente (gradient clipping) serve para:</a:t>
            </a:r>
            <a:endParaRPr lang="en-US" sz="1800" dirty="0"/>
          </a:p>
        </p:txBody>
      </p:sp>
      <p:sp>
        <p:nvSpPr>
          <p:cNvPr id="6" name="Cartão"/>
          <p:cNvSpPr/>
          <p:nvPr/>
        </p:nvSpPr>
        <p:spPr>
          <a:xfrm>
            <a:off x="457200" y="1965960"/>
            <a:ext cx="8229600" cy="640080"/>
          </a:xfrm>
          <a:prstGeom prst="roundRect">
            <a:avLst>
              <a:gd name="adj" fmla="val 14286"/>
            </a:avLst>
          </a:prstGeom>
          <a:solidFill>
            <a:schemeClr val="bg2"/>
          </a:solidFill>
          <a:ln w="12700">
            <a:solidFill>
              <a:schemeClr val="bg2"/>
            </a:solidFill>
            <a:prstDash val="solid"/>
          </a:ln>
        </p:spPr>
      </p:sp>
      <p:sp>
        <p:nvSpPr>
          <p:cNvPr id="7" name="Text 4"/>
          <p:cNvSpPr/>
          <p:nvPr/>
        </p:nvSpPr>
        <p:spPr>
          <a:xfrm>
            <a:off x="594360" y="2103120"/>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8" name="Text 5"/>
          <p:cNvSpPr txBox="1"/>
          <p:nvPr/>
        </p:nvSpPr>
        <p:spPr>
          <a:xfrm>
            <a:off x="1097280" y="1965960"/>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limitar o tamanho do passo de atualização e evitar instabilidade.</a:t>
            </a:r>
            <a:endParaRPr lang="en-US" sz="1400" dirty="0"/>
          </a:p>
        </p:txBody>
      </p:sp>
      <p:sp>
        <p:nvSpPr>
          <p:cNvPr id="9" name="Cartão"/>
          <p:cNvSpPr/>
          <p:nvPr/>
        </p:nvSpPr>
        <p:spPr>
          <a:xfrm>
            <a:off x="457200" y="2679192"/>
            <a:ext cx="8229600" cy="640080"/>
          </a:xfrm>
          <a:prstGeom prst="roundRect">
            <a:avLst>
              <a:gd name="adj" fmla="val 14286"/>
            </a:avLst>
          </a:prstGeom>
          <a:solidFill>
            <a:schemeClr val="bg2"/>
          </a:solidFill>
          <a:ln w="12700">
            <a:solidFill>
              <a:schemeClr val="bg2"/>
            </a:solidFill>
            <a:prstDash val="solid"/>
          </a:ln>
        </p:spPr>
      </p:sp>
      <p:sp>
        <p:nvSpPr>
          <p:cNvPr id="10" name="Text 7"/>
          <p:cNvSpPr/>
          <p:nvPr/>
        </p:nvSpPr>
        <p:spPr>
          <a:xfrm>
            <a:off x="594360" y="2816352"/>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1" name="Text 8"/>
          <p:cNvSpPr txBox="1"/>
          <p:nvPr/>
        </p:nvSpPr>
        <p:spPr>
          <a:xfrm>
            <a:off x="1097280" y="2679192"/>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aumentar o gradiente.</a:t>
            </a:r>
            <a:endParaRPr lang="en-US" sz="1400" dirty="0"/>
          </a:p>
        </p:txBody>
      </p:sp>
      <p:sp>
        <p:nvSpPr>
          <p:cNvPr id="12" name="Cartão"/>
          <p:cNvSpPr/>
          <p:nvPr/>
        </p:nvSpPr>
        <p:spPr>
          <a:xfrm>
            <a:off x="457200" y="3392424"/>
            <a:ext cx="8229600" cy="640080"/>
          </a:xfrm>
          <a:prstGeom prst="roundRect">
            <a:avLst>
              <a:gd name="adj" fmla="val 14286"/>
            </a:avLst>
          </a:prstGeom>
          <a:solidFill>
            <a:schemeClr val="bg2"/>
          </a:solidFill>
          <a:ln w="12700">
            <a:solidFill>
              <a:schemeClr val="bg2"/>
            </a:solidFill>
            <a:prstDash val="solid"/>
          </a:ln>
        </p:spPr>
      </p:sp>
      <p:sp>
        <p:nvSpPr>
          <p:cNvPr id="13" name="Text 10"/>
          <p:cNvSpPr/>
          <p:nvPr/>
        </p:nvSpPr>
        <p:spPr>
          <a:xfrm>
            <a:off x="594360" y="352958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4" name="Text 11"/>
          <p:cNvSpPr txBox="1"/>
          <p:nvPr/>
        </p:nvSpPr>
        <p:spPr>
          <a:xfrm>
            <a:off x="1097280" y="3392424"/>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eliminar a memória.</a:t>
            </a:r>
            <a:endParaRPr lang="en-US" sz="1400" dirty="0"/>
          </a:p>
        </p:txBody>
      </p:sp>
      <p:sp>
        <p:nvSpPr>
          <p:cNvPr id="15" name="Cartão"/>
          <p:cNvSpPr/>
          <p:nvPr/>
        </p:nvSpPr>
        <p:spPr>
          <a:xfrm>
            <a:off x="457200" y="4105656"/>
            <a:ext cx="8229600" cy="640080"/>
          </a:xfrm>
          <a:prstGeom prst="roundRect">
            <a:avLst>
              <a:gd name="adj" fmla="val 14286"/>
            </a:avLst>
          </a:prstGeom>
          <a:solidFill>
            <a:schemeClr val="bg2"/>
          </a:solidFill>
          <a:ln w="12700">
            <a:solidFill>
              <a:schemeClr val="bg2"/>
            </a:solidFill>
            <a:prstDash val="solid"/>
          </a:ln>
        </p:spPr>
      </p:sp>
      <p:sp>
        <p:nvSpPr>
          <p:cNvPr id="16" name="Text 13"/>
          <p:cNvSpPr/>
          <p:nvPr/>
        </p:nvSpPr>
        <p:spPr>
          <a:xfrm>
            <a:off x="594360" y="4242816"/>
            <a:ext cx="365760" cy="365760"/>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7" name="Text 14"/>
          <p:cNvSpPr txBox="1"/>
          <p:nvPr/>
        </p:nvSpPr>
        <p:spPr>
          <a:xfrm>
            <a:off x="1097280" y="4105656"/>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escolher ações.</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Pergunta 4</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Quiz</a:t>
            </a:r>
            <a:endParaRPr lang="en-US" sz="1200" dirty="0"/>
          </a:p>
        </p:txBody>
      </p:sp>
      <p:sp>
        <p:nvSpPr>
          <p:cNvPr id="5" name="Pergunta"/>
          <p:cNvSpPr txBox="1"/>
          <p:nvPr/>
        </p:nvSpPr>
        <p:spPr>
          <a:xfrm>
            <a:off x="457200" y="1051560"/>
            <a:ext cx="8229600" cy="868680"/>
          </a:xfrm>
          <a:prstGeom prst="rect">
            <a:avLst/>
          </a:prstGeom>
          <a:noFill/>
          <a:ln/>
        </p:spPr>
        <p:txBody>
          <a:bodyPr wrap="square" lIns="0" tIns="0" rIns="0" bIns="0" rtlCol="0" anchor="ctr">
            <a:normAutofit/>
          </a:bodyPr>
          <a:lstStyle/>
          <a:p>
            <a:pPr indent="0" marL="0">
              <a:buNone/>
            </a:pPr>
            <a:r>
              <a:rPr lang="en-US" sz="1800" b="1" dirty="0">
                <a:solidFill>
                  <a:schemeClr val="tx2"/>
                </a:solidFill>
              </a:rPr>
              <a:t>A arquitetura dueling separa a rede em:</a:t>
            </a:r>
            <a:endParaRPr lang="en-US" sz="1800" dirty="0"/>
          </a:p>
        </p:txBody>
      </p:sp>
      <p:sp>
        <p:nvSpPr>
          <p:cNvPr id="6" name="Cartão"/>
          <p:cNvSpPr/>
          <p:nvPr/>
        </p:nvSpPr>
        <p:spPr>
          <a:xfrm>
            <a:off x="457200" y="1965960"/>
            <a:ext cx="8229600" cy="640080"/>
          </a:xfrm>
          <a:prstGeom prst="roundRect">
            <a:avLst>
              <a:gd name="adj" fmla="val 14286"/>
            </a:avLst>
          </a:prstGeom>
          <a:solidFill>
            <a:schemeClr val="bg2"/>
          </a:solidFill>
          <a:ln w="12700">
            <a:solidFill>
              <a:schemeClr val="bg2"/>
            </a:solidFill>
            <a:prstDash val="solid"/>
          </a:ln>
        </p:spPr>
      </p:sp>
      <p:sp>
        <p:nvSpPr>
          <p:cNvPr id="7" name="Text 4"/>
          <p:cNvSpPr/>
          <p:nvPr/>
        </p:nvSpPr>
        <p:spPr>
          <a:xfrm>
            <a:off x="594360" y="2103120"/>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8" name="Text 5"/>
          <p:cNvSpPr txBox="1"/>
          <p:nvPr/>
        </p:nvSpPr>
        <p:spPr>
          <a:xfrm>
            <a:off x="1097280" y="1965960"/>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valor do estado V(s) e vantagem A(s, a).</a:t>
            </a:r>
            <a:endParaRPr lang="en-US" sz="1400" dirty="0"/>
          </a:p>
        </p:txBody>
      </p:sp>
      <p:sp>
        <p:nvSpPr>
          <p:cNvPr id="9" name="Cartão"/>
          <p:cNvSpPr/>
          <p:nvPr/>
        </p:nvSpPr>
        <p:spPr>
          <a:xfrm>
            <a:off x="457200" y="2679192"/>
            <a:ext cx="8229600" cy="640080"/>
          </a:xfrm>
          <a:prstGeom prst="roundRect">
            <a:avLst>
              <a:gd name="adj" fmla="val 14286"/>
            </a:avLst>
          </a:prstGeom>
          <a:solidFill>
            <a:schemeClr val="bg2"/>
          </a:solidFill>
          <a:ln w="12700">
            <a:solidFill>
              <a:schemeClr val="bg2"/>
            </a:solidFill>
            <a:prstDash val="solid"/>
          </a:ln>
        </p:spPr>
      </p:sp>
      <p:sp>
        <p:nvSpPr>
          <p:cNvPr id="10" name="Text 7"/>
          <p:cNvSpPr/>
          <p:nvPr/>
        </p:nvSpPr>
        <p:spPr>
          <a:xfrm>
            <a:off x="594360" y="2816352"/>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1" name="Text 8"/>
          <p:cNvSpPr txBox="1"/>
          <p:nvPr/>
        </p:nvSpPr>
        <p:spPr>
          <a:xfrm>
            <a:off x="1097280" y="2679192"/>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política e modelo.</a:t>
            </a:r>
            <a:endParaRPr lang="en-US" sz="1400" dirty="0"/>
          </a:p>
        </p:txBody>
      </p:sp>
      <p:sp>
        <p:nvSpPr>
          <p:cNvPr id="12" name="Cartão"/>
          <p:cNvSpPr/>
          <p:nvPr/>
        </p:nvSpPr>
        <p:spPr>
          <a:xfrm>
            <a:off x="457200" y="3392424"/>
            <a:ext cx="8229600" cy="640080"/>
          </a:xfrm>
          <a:prstGeom prst="roundRect">
            <a:avLst>
              <a:gd name="adj" fmla="val 14286"/>
            </a:avLst>
          </a:prstGeom>
          <a:solidFill>
            <a:schemeClr val="bg2"/>
          </a:solidFill>
          <a:ln w="12700">
            <a:solidFill>
              <a:schemeClr val="bg2"/>
            </a:solidFill>
            <a:prstDash val="solid"/>
          </a:ln>
        </p:spPr>
      </p:sp>
      <p:sp>
        <p:nvSpPr>
          <p:cNvPr id="13" name="Text 10"/>
          <p:cNvSpPr/>
          <p:nvPr/>
        </p:nvSpPr>
        <p:spPr>
          <a:xfrm>
            <a:off x="594360" y="352958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4" name="Text 11"/>
          <p:cNvSpPr txBox="1"/>
          <p:nvPr/>
        </p:nvSpPr>
        <p:spPr>
          <a:xfrm>
            <a:off x="1097280" y="3392424"/>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entrada e saída.</a:t>
            </a:r>
            <a:endParaRPr lang="en-US" sz="1400" dirty="0"/>
          </a:p>
        </p:txBody>
      </p:sp>
      <p:sp>
        <p:nvSpPr>
          <p:cNvPr id="15" name="Cartão"/>
          <p:cNvSpPr/>
          <p:nvPr/>
        </p:nvSpPr>
        <p:spPr>
          <a:xfrm>
            <a:off x="457200" y="4105656"/>
            <a:ext cx="8229600" cy="640080"/>
          </a:xfrm>
          <a:prstGeom prst="roundRect">
            <a:avLst>
              <a:gd name="adj" fmla="val 14286"/>
            </a:avLst>
          </a:prstGeom>
          <a:solidFill>
            <a:schemeClr val="bg2"/>
          </a:solidFill>
          <a:ln w="12700">
            <a:solidFill>
              <a:schemeClr val="bg2"/>
            </a:solidFill>
            <a:prstDash val="solid"/>
          </a:ln>
        </p:spPr>
      </p:sp>
      <p:sp>
        <p:nvSpPr>
          <p:cNvPr id="16" name="Text 13"/>
          <p:cNvSpPr/>
          <p:nvPr/>
        </p:nvSpPr>
        <p:spPr>
          <a:xfrm>
            <a:off x="594360" y="4242816"/>
            <a:ext cx="365760" cy="365760"/>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7" name="Text 14"/>
          <p:cNvSpPr txBox="1"/>
          <p:nvPr/>
        </p:nvSpPr>
        <p:spPr>
          <a:xfrm>
            <a:off x="1097280" y="4105656"/>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memória e rede-alvo.</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Respostas do quiz</a:t>
            </a:r>
            <a:endParaRPr lang="en-US" sz="3000" dirty="0"/>
          </a:p>
        </p:txBody>
      </p:sp>
      <p:sp>
        <p:nvSpPr>
          <p:cNvPr id="3"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Quiz</a:t>
            </a:r>
            <a:endParaRPr lang="en-US" sz="1200" dirty="0"/>
          </a:p>
        </p:txBody>
      </p:sp>
      <p:sp>
        <p:nvSpPr>
          <p:cNvPr id="4"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5" name="Número"/>
          <p:cNvSpPr/>
          <p:nvPr/>
        </p:nvSpPr>
        <p:spPr>
          <a:xfrm>
            <a:off x="594360" y="1243584"/>
            <a:ext cx="365760" cy="365760"/>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1) a  —  Devolve x se positivo e zero caso contrário.</a:t>
            </a:r>
            <a:endParaRPr lang="en-US" sz="1600" dirty="0"/>
          </a:p>
        </p:txBody>
      </p:sp>
      <p:sp>
        <p:nvSpPr>
          <p:cNvPr id="7" name="Cartão"/>
          <p:cNvSpPr/>
          <p:nvPr/>
        </p:nvSpPr>
        <p:spPr>
          <a:xfrm>
            <a:off x="457200" y="1773936"/>
            <a:ext cx="8229600" cy="475488"/>
          </a:xfrm>
          <a:prstGeom prst="roundRect">
            <a:avLst>
              <a:gd name="adj" fmla="val 23077"/>
            </a:avLst>
          </a:prstGeom>
          <a:solidFill>
            <a:schemeClr val="bg2"/>
          </a:solidFill>
          <a:ln w="12700">
            <a:solidFill>
              <a:schemeClr val="bg2"/>
            </a:solidFill>
            <a:prstDash val="solid"/>
          </a:ln>
        </p:spPr>
      </p:sp>
      <p:sp>
        <p:nvSpPr>
          <p:cNvPr id="8" name="Número"/>
          <p:cNvSpPr/>
          <p:nvPr/>
        </p:nvSpPr>
        <p:spPr>
          <a:xfrm>
            <a:off x="594360" y="1828800"/>
            <a:ext cx="365760" cy="365760"/>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o"/>
          <p:cNvSpPr txBox="1"/>
          <p:nvPr/>
        </p:nvSpPr>
        <p:spPr>
          <a:xfrm>
            <a:off x="1097280" y="1773936"/>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2) a  —  O lote sorteado é quase independente e cada experiência é usada várias vezes.</a:t>
            </a:r>
            <a:endParaRPr lang="en-US" sz="1600" dirty="0"/>
          </a:p>
        </p:txBody>
      </p:sp>
      <p:sp>
        <p:nvSpPr>
          <p:cNvPr id="10" name="Cartão"/>
          <p:cNvSpPr/>
          <p:nvPr/>
        </p:nvSpPr>
        <p:spPr>
          <a:xfrm>
            <a:off x="457200" y="2359152"/>
            <a:ext cx="8229600" cy="475488"/>
          </a:xfrm>
          <a:prstGeom prst="roundRect">
            <a:avLst>
              <a:gd name="adj" fmla="val 23077"/>
            </a:avLst>
          </a:prstGeom>
          <a:solidFill>
            <a:schemeClr val="bg2"/>
          </a:solidFill>
          <a:ln w="12700">
            <a:solidFill>
              <a:schemeClr val="bg2"/>
            </a:solidFill>
            <a:prstDash val="solid"/>
          </a:ln>
        </p:spPr>
      </p:sp>
      <p:sp>
        <p:nvSpPr>
          <p:cNvPr id="11" name="Número"/>
          <p:cNvSpPr/>
          <p:nvPr/>
        </p:nvSpPr>
        <p:spPr>
          <a:xfrm>
            <a:off x="594360" y="2414016"/>
            <a:ext cx="365760" cy="365760"/>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o"/>
          <p:cNvSpPr txBox="1"/>
          <p:nvPr/>
        </p:nvSpPr>
        <p:spPr>
          <a:xfrm>
            <a:off x="1097280" y="2359152"/>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3) a  —  Impede passos gigantes.</a:t>
            </a:r>
            <a:endParaRPr lang="en-US" sz="1600" dirty="0"/>
          </a:p>
        </p:txBody>
      </p:sp>
      <p:sp>
        <p:nvSpPr>
          <p:cNvPr id="13" name="Cartão"/>
          <p:cNvSpPr/>
          <p:nvPr/>
        </p:nvSpPr>
        <p:spPr>
          <a:xfrm>
            <a:off x="457200" y="2944368"/>
            <a:ext cx="8229600" cy="475488"/>
          </a:xfrm>
          <a:prstGeom prst="roundRect">
            <a:avLst>
              <a:gd name="adj" fmla="val 23077"/>
            </a:avLst>
          </a:prstGeom>
          <a:solidFill>
            <a:schemeClr val="bg2"/>
          </a:solidFill>
          <a:ln w="12700">
            <a:solidFill>
              <a:schemeClr val="bg2"/>
            </a:solidFill>
            <a:prstDash val="solid"/>
          </a:ln>
        </p:spPr>
      </p:sp>
      <p:sp>
        <p:nvSpPr>
          <p:cNvPr id="14" name="Número"/>
          <p:cNvSpPr/>
          <p:nvPr/>
        </p:nvSpPr>
        <p:spPr>
          <a:xfrm>
            <a:off x="594360" y="2999232"/>
            <a:ext cx="365760" cy="365760"/>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5" name="Texto"/>
          <p:cNvSpPr txBox="1"/>
          <p:nvPr/>
        </p:nvSpPr>
        <p:spPr>
          <a:xfrm>
            <a:off x="1097280" y="2944368"/>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4) a  —  Os dois ramos se combinam para formar Q.</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Para discutir em grupo</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Debate</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Explique, em linguagem simples, como uma rede neural aprende.</a:t>
            </a:r>
            <a:endParaRPr lang="en-US" sz="1800" dirty="0"/>
          </a:p>
        </p:txBody>
      </p:sp>
      <p:sp>
        <p:nvSpPr>
          <p:cNvPr id="8" name="Cartão"/>
          <p:cNvSpPr/>
          <p:nvPr/>
        </p:nvSpPr>
        <p:spPr>
          <a:xfrm>
            <a:off x="457200" y="1773936"/>
            <a:ext cx="8229600" cy="475488"/>
          </a:xfrm>
          <a:prstGeom prst="roundRect">
            <a:avLst>
              <a:gd name="adj" fmla="val 23077"/>
            </a:avLst>
          </a:prstGeom>
          <a:solidFill>
            <a:schemeClr val="bg2"/>
          </a:solidFill>
          <a:ln w="12700">
            <a:solidFill>
              <a:schemeClr val="bg2"/>
            </a:solidFill>
            <a:prstDash val="solid"/>
          </a:ln>
        </p:spPr>
      </p:sp>
      <p:sp>
        <p:nvSpPr>
          <p:cNvPr id="9" name="Número"/>
          <p:cNvSpPr/>
          <p:nvPr/>
        </p:nvSpPr>
        <p:spPr>
          <a:xfrm>
            <a:off x="594360" y="1828800"/>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cNvSpPr txBox="1"/>
          <p:nvPr/>
        </p:nvSpPr>
        <p:spPr>
          <a:xfrm>
            <a:off x="1097280" y="1773936"/>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Qual o papel da perda de Huber e do recorte de gradiente no DQN?</a:t>
            </a:r>
            <a:endParaRPr lang="en-US" sz="1800" dirty="0"/>
          </a:p>
        </p:txBody>
      </p:sp>
      <p:sp>
        <p:nvSpPr>
          <p:cNvPr id="11" name="Cartão"/>
          <p:cNvSpPr/>
          <p:nvPr/>
        </p:nvSpPr>
        <p:spPr>
          <a:xfrm>
            <a:off x="457200" y="2359152"/>
            <a:ext cx="8229600" cy="694944"/>
          </a:xfrm>
          <a:prstGeom prst="roundRect">
            <a:avLst>
              <a:gd name="adj" fmla="val 15789"/>
            </a:avLst>
          </a:prstGeom>
          <a:solidFill>
            <a:schemeClr val="bg2"/>
          </a:solidFill>
          <a:ln w="12700">
            <a:solidFill>
              <a:schemeClr val="bg2"/>
            </a:solidFill>
            <a:prstDash val="solid"/>
          </a:ln>
        </p:spPr>
      </p:sp>
      <p:sp>
        <p:nvSpPr>
          <p:cNvPr id="12" name="Número"/>
          <p:cNvSpPr/>
          <p:nvPr/>
        </p:nvSpPr>
        <p:spPr>
          <a:xfrm>
            <a:off x="594360" y="2523744"/>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o"/>
          <p:cNvSpPr txBox="1"/>
          <p:nvPr/>
        </p:nvSpPr>
        <p:spPr>
          <a:xfrm>
            <a:off x="1097280" y="2359152"/>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Por que o desempenho do DQN costuma oscilar durante o treino, e que cuidados tomar ao avaliá-lo?</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3" name="Círculo"/>
          <p:cNvSpPr/>
          <p:nvPr/>
        </p:nvSpPr>
        <p:spPr>
          <a:xfrm>
            <a:off x="6217920" y="548640"/>
            <a:ext cx="2743200" cy="2743200"/>
          </a:xfrm>
          <a:prstGeom prst="ellipse">
            <a:avLst/>
          </a:prstGeom>
          <a:solidFill>
            <a:schemeClr val="accent3">
              <a:alpha val="65000"/>
            </a:schemeClr>
          </a:solidFill>
          <a:ln w="12700">
            <a:solidFill>
              <a:schemeClr val="accent3"/>
            </a:solidFill>
            <a:prstDash val="solid"/>
          </a:ln>
        </p:spPr>
      </p:sp>
      <p:sp>
        <p:nvSpPr>
          <p:cNvPr id="4" name="Text 1"/>
          <p:cNvSpPr txBox="1"/>
          <p:nvPr/>
        </p:nvSpPr>
        <p:spPr>
          <a:xfrm>
            <a:off x="548640" y="1280160"/>
            <a:ext cx="5669280" cy="91440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Até a próxima!</a:t>
            </a:r>
            <a:endParaRPr lang="en-US" sz="4000" dirty="0"/>
          </a:p>
        </p:txBody>
      </p:sp>
      <p:sp>
        <p:nvSpPr>
          <p:cNvPr id="5" name="Text 2"/>
          <p:cNvSpPr txBox="1"/>
          <p:nvPr/>
        </p:nvSpPr>
        <p:spPr>
          <a:xfrm>
            <a:off x="548640" y="2286000"/>
            <a:ext cx="5669280" cy="914400"/>
          </a:xfrm>
          <a:prstGeom prst="rect">
            <a:avLst/>
          </a:prstGeom>
          <a:noFill/>
          <a:ln/>
        </p:spPr>
        <p:txBody>
          <a:bodyPr wrap="square" lIns="0" tIns="0" rIns="0" bIns="0" rtlCol="0" anchor="t">
            <a:normAutofit/>
          </a:bodyPr>
          <a:lstStyle/>
          <a:p>
            <a:pPr indent="0" marL="0">
              <a:buNone/>
            </a:pPr>
            <a:r>
              <a:rPr lang="en-US" sz="1800" dirty="0">
                <a:solidFill>
                  <a:schemeClr val="accent1"/>
                </a:solidFill>
              </a:rPr>
              <a:t>Capítulo 8: Deep Q-Networks e suas Extensões</a:t>
            </a:r>
            <a:endParaRPr lang="en-US" sz="1800" dirty="0"/>
          </a:p>
        </p:txBody>
      </p:sp>
      <p:sp>
        <p:nvSpPr>
          <p:cNvPr id="6" name="Text 3"/>
          <p:cNvSpPr txBox="1"/>
          <p:nvPr/>
        </p:nvSpPr>
        <p:spPr>
          <a:xfrm>
            <a:off x="548640" y="3291840"/>
            <a:ext cx="5669280" cy="731520"/>
          </a:xfrm>
          <a:prstGeom prst="rect">
            <a:avLst/>
          </a:prstGeom>
          <a:noFill/>
          <a:ln/>
        </p:spPr>
        <p:txBody>
          <a:bodyPr wrap="square" lIns="0" tIns="0" rIns="0" bIns="0" rtlCol="0" anchor="t">
            <a:normAutofit/>
          </a:bodyPr>
          <a:lstStyle/>
          <a:p>
            <a:pPr indent="0" marL="0">
              <a:buNone/>
            </a:pPr>
            <a:r>
              <a:rPr lang="en-US" sz="1600" dirty="0">
                <a:solidFill>
                  <a:schemeClr val="accent6"/>
                </a:solidFill>
              </a:rPr>
              <a:t>Pratique: refaça os códigos, resolva as questões e faça o projeto do capítulo.</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40</a:t>
            </a:fld>
            <a:endParaRPr lang="en-US"/>
          </a:p>
        </p:txBody>
      </p:sp>
    </p:spTree>
  </p:cSld>
  <p:clrMapOvr>
    <a:masterClrMapping/>
  </p:clrMapOvr>
</p:sld>
</file>

<file path=ppt/theme/theme1.xml><?xml version="1.0" encoding="utf-8"?>
<a:theme xmlns:a="http://schemas.openxmlformats.org/drawingml/2006/main" name="Aprendizado por Reforço">
  <a:themeElements>
    <a:clrScheme name="Aprendizado por Reforço">
      <a:dk1>
        <a:srgbClr val="1B1F3B"/>
      </a:dk1>
      <a:lt1>
        <a:srgbClr val="FFFFFF"/>
      </a:lt1>
      <a:dk2>
        <a:srgbClr val="14173F"/>
      </a:dk2>
      <a:lt2>
        <a:srgbClr val="F2F3FB"/>
      </a:lt2>
      <a:accent1>
        <a:srgbClr val="F59E0B"/>
      </a:accent1>
      <a:accent2>
        <a:srgbClr val="12A89A"/>
      </a:accent2>
      <a:accent3>
        <a:srgbClr val="6C5CE7"/>
      </a:accent3>
      <a:accent4>
        <a:srgbClr val="E84A8A"/>
      </a:accent4>
      <a:accent5>
        <a:srgbClr val="3B82F6"/>
      </a:accent5>
      <a:accent6>
        <a:srgbClr val="94A3B8"/>
      </a:accent6>
      <a:hlink>
        <a:srgbClr val="3B82F6"/>
      </a:hlink>
      <a:folHlink>
        <a:srgbClr val="6C5CE7"/>
      </a:folHlink>
    </a:clrScheme>
    <a:fontScheme name="Aprendizado por Reforç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Aprendizado por Reforço — Capítulo 8</dc:title>
  <dc:subject>PptxGenJS Presentation</dc:subject>
  <dc:creator>Araken de Medeiros Santos</dc:creator>
  <cp:lastModifiedBy>Araken de Medeiros Santos</cp:lastModifiedBy>
  <cp:revision>1</cp:revision>
  <dcterms:created xsi:type="dcterms:W3CDTF">2026-10-26T13:18:09Z</dcterms:created>
  <dcterms:modified xsi:type="dcterms:W3CDTF">2026-10-26T13:18:09Z</dcterms:modified>
</cp:coreProperties>
</file>