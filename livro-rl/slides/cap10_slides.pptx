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23cfc06-d4f2-cdd9-74e6-ff529875d696}">
          <p14:sldIdLst>
            <p14:sldId id="256"/>
          </p14:sldIdLst>
        </p14:section>
        <p14:section name="Início" id="{3a1241ff-e78f-6884-13f2-58d4774928c7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Mão na massa" id="{1f890862-054e-396e-f149-d8b1940c0ba2}">
          <p14:sldIdLst>
            <p14:sldId id="274"/>
            <p14:sldId id="275"/>
            <p14:sldId id="276"/>
          </p14:sldIdLst>
        </p14:section>
        <p14:section name="Projeto do capítulo" id="{534f7da8-b047-1260-1d69-64562a828818}">
          <p14:sldIdLst>
            <p14:sldId id="277"/>
            <p14:sldId id="278"/>
          </p14:sldIdLst>
        </p14:section>
        <p14:section name="Resumo" id="{0b2a1541-8b78-7ac5-3d9d-c7606d39a5ee}">
          <p14:sldIdLst>
            <p14:sldId id="279"/>
            <p14:sldId id="280"/>
          </p14:sldIdLst>
        </p14:section>
        <p14:section name="Quiz relâmpago" id="{c445830d-e8d6-74d6-ce74-f50db873b738}">
          <p14:sldIdLst>
            <p14:sldId id="281"/>
          </p14:sldIdLst>
        </p14:section>
        <p14:section name="Quiz" id="{c8dd662c-0be4-be38-cf98-2421f5750077}">
          <p14:sldIdLst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Encerramento" id="{fc3bdd52-e931-88d3-136f-7cc4b5e606c5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10. Apresente a pergunta central do capítulo e o roteiro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com a turma e pergunte quem já conhece algum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da aula: cada item é uma estação da viagem.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Os Capítulos 8 e 9 apresentaram duas famílias: valor (DQN) e política (gradientes, atores-críticos). Este capítulo apresenta os algoritmos que dominam as aplicações atuais: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10.1 — Um guia rápido para escolher o algoritmo. É um ponto de partida, não uma regra: sempre vale testar mais de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O PPO (Proximal Policy Optimization) busca o mesmo que o TRPO (Capítulo 9): dar passos de melhoria sem se afastar demais da política atual, mas com um truque muito mais simples (SCHULMAN et al., 2017). Depois de coletar dados com a política antiga π_antiga, queremos atualizar a política para π_nova e reaproveitar os mesmos dados por várias épocas. Definimos a razão: Se r = 1, a política não mudou; se r = 1,5, a ação ficou 50% mais provável. O objetivo básico é maximizar r × A, onde A é a vantagem (estimada com o GAE, Capítulo 9). Mas se r crescer demais, o passo é perigoso. O PPO "corta" a razão numa faixa [1 − ε, 1 + ε] (tipicamente ε = 0,2) e escolhe o mais pessimista dos dois valores: Em palavras: se a ação foi boa (A &gt; 0), aumentar sua probabilidade rende ganho, mas só até 20%; depois disso, o ganho não cresce mais e não há incentivo para ir além. Se a ação foi ruim (A &lt; 0), vale diminuir sua probabilidade, também só até 20%. A perda total combina três termos (a convenção é minimizar): em que L_clip é o objetivo recortado, L_valor é o erro quadrático do crítico, H(π) é a entropia da política e c₁ e c₂ são pesos (por exemplo, 0,5 e 0,01). Engstrom e colegas (2020) mostraram que detalhes de implementação (normalização de observações, normalização de vantagens, inicialização, recorte do valor e taxa de aprendizado decrescente) explicam grande parte do desempenho atribuído ao 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fórmula em voz alta, termo a termo, e traduza com a frase "em palavras".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10.2 — O objetivo recortado do PPO. Fora da zona de confiança (faixa verde), o objetivo fica plano num dos lados: a atualização perde o "interesse" de empurrar a política mais longe.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Quando as ações são contínuas (um torque entre −2 e 2), a política gaussiana do PPO funciona. Mas há uma alternativa elegante para métodos off-policy: uma política determinística μ(s) que devolve diretamente a ação. O gradiente de política determinística (SILVER et al., 2014) mostra como melhorar μ usando um crítico Q(s, a): "mova a ação na direção em que Q cresce": Em palavras: o crítico diz, para cada estado, para que lado mudar a ação para aumentar o valor; o ator aprende a seguir esse conselho.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fórmula em voz alta, termo a termo, e traduza com a frase "em palavras".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O DDPG (Deep Deterministic Policy Gradient) junta o gradiente determinístico às ideias do DQN (LILLICRAP et al., 2016): O DDPG tem bom desempenho, mas é sensível a hiperparâmetros e propenso a superestimar 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O TD3 (Twin Delayed DDPG) corrige o DDPG com três ideias (FUJIMOTO; VAN HOOF; MEGER, 2018):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O SAC (Soft Actor-Critic) é um ator-crítico off-policy com política estocástica e o princípio da máxima entropia (HAARNOJA et al., 2018). O agente maximiza recompensa + entropia: Em palavras: "ganhe o máximo de recompensa, mas continue o mais aleatório possível enquanto isso". A temperatura α controla o peso da entropia. Por que isso ajuda? Outros ingredientes: dois críticos gêmeos (como no TD3), memória de experiências e ajuste automático de α (a entropia-alvo, em geral, é −dimensão da ação). O SAC é frequentemente a primeira escolha para controle contínuo com poucos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fórmula em voz alta, termo a termo, e traduza com a frase "em palavras".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10.3 — DDPG, TD3 e SAC lado a lado: o TD3 acrescenta três correções ao DDPG; o SAC troca o ator determinístico por um estocástico com bônus de entropia.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Henderson e colegas (2018) mostraram que o AR profundo é muito sensível à semente, ao código e a pequenos detalhes. Boas práticas: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 os códigos do capítulo ao vivo ou peça que os alunos rodem em duplas.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10.4 — Retorno durante o treino no Pendulum (média de 3 sementes). SAC e TD3 aprendem com poucos passos; o PPO precisa de bem mais e varia mais entre execuções, mas chega perto.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Contexto. Uma vinícola quer ajustar variáveis do processo (álcool, acidez volátil, sulfatos, pH...) para maximizar a qualidade do vinho, sem alterar muito as variáveis de uma vez (cada ajuste tem custo). Não podemos experimentar milhares de vezes no mundo real. Então construímos um simulador: um modelo de aprendizado supervisionado (scikit-learn) treinado com a base Wine Quality (UCI), que prevê a nota a partir das variáveis (CORTEZ et al., 2009). O agente (SAC) aprende a ajustar o processo dentro do simulador. Tarefas: Ponto de partida: Entrega: notebook com o simulador e seu erro, as curvas do SAC, a comparação com baselines, a análise de distância aos dados e a conclusão sobre os limites.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A probabilidade nova é igual à antiga.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Normalizações e outros detalhes explicam boa parte dos ganhos.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O ator é atualizado menos vezes que o crítico.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Reaproveitar dados reduz o custo de simulação.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Divida a turma em grupos de 3 a 4 pessoas; 5 minutos de discussão e depois compartilhamento.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retomando a pergunta central e antecipando o próximo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nner" descr="/home/user/claude/livro-rl/figs/banner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0040"/>
            <a:ext cx="9144000" cy="1721877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548640" y="2331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 Modernos: PPO, DDPG, TD3 e SAC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Aprendizado por Reforço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Araken de Medeiros Santos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10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30203"/>
          </a:xfrm>
          <a:prstGeom prst="roundRect">
            <a:avLst>
              <a:gd name="adj" fmla="val 255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2094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3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o objetivo recortado do PPO e por que ele estabiliza o aprendizado.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28651"/>
            <a:ext cx="8229600" cy="430203"/>
          </a:xfrm>
          <a:prstGeom prst="roundRect">
            <a:avLst>
              <a:gd name="adj" fmla="val 255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760873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28651"/>
            <a:ext cx="7452360" cy="43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Descrever o DDPG e os três truques do TD3.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268583"/>
            <a:ext cx="8229600" cy="430203"/>
          </a:xfrm>
          <a:prstGeom prst="roundRect">
            <a:avLst>
              <a:gd name="adj" fmla="val 255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300805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268583"/>
            <a:ext cx="7452360" cy="43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a ideia de máxima entropia e a temperatura automática do SAC.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808514"/>
            <a:ext cx="8229600" cy="628759"/>
          </a:xfrm>
          <a:prstGeom prst="roundRect">
            <a:avLst>
              <a:gd name="adj" fmla="val 17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294001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808514"/>
            <a:ext cx="7452360" cy="62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Escolher um algoritmo de acordo com o tipo de ação, o custo do simulador e a estabilidade desejada.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547001"/>
            <a:ext cx="8229600" cy="430203"/>
          </a:xfrm>
          <a:prstGeom prst="roundRect">
            <a:avLst>
              <a:gd name="adj" fmla="val 255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579223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547001"/>
            <a:ext cx="7452360" cy="43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Treinar PPO, SAC e TD3 com o Stable-Baselines3 e comparar os resultados.</a:t>
            </a:r>
            <a:endParaRPr lang="en-US" sz="1600" dirty="0"/>
          </a:p>
        </p:txBody>
      </p:sp>
      <p:sp>
        <p:nvSpPr>
          <p:cNvPr id="20" name="Cartão"/>
          <p:cNvSpPr/>
          <p:nvPr/>
        </p:nvSpPr>
        <p:spPr>
          <a:xfrm>
            <a:off x="457200" y="4086933"/>
            <a:ext cx="8229600" cy="628759"/>
          </a:xfrm>
          <a:prstGeom prst="roundRect">
            <a:avLst>
              <a:gd name="adj" fmla="val 17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úmero"/>
          <p:cNvSpPr/>
          <p:nvPr/>
        </p:nvSpPr>
        <p:spPr>
          <a:xfrm>
            <a:off x="594360" y="421843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o"/>
          <p:cNvSpPr txBox="1"/>
          <p:nvPr/>
        </p:nvSpPr>
        <p:spPr>
          <a:xfrm>
            <a:off x="1097280" y="4086933"/>
            <a:ext cx="7452360" cy="62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Aplicar AR contínuo a um simulador construído com scikit-learn, reconhecendo o risco de explorar falhas do modelo.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10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07592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que usar na prática?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466344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3075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PPO: otimização de política proximal</a:t>
            </a:r>
            <a:endParaRPr lang="en-US" sz="1400" dirty="0"/>
          </a:p>
        </p:txBody>
      </p:sp>
      <p:sp>
        <p:nvSpPr>
          <p:cNvPr id="11" name="Cartão"/>
          <p:cNvSpPr/>
          <p:nvPr/>
        </p:nvSpPr>
        <p:spPr>
          <a:xfrm>
            <a:off x="45720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Ações contínuas e política determinística</a:t>
            </a:r>
            <a:endParaRPr lang="en-US" sz="1400" dirty="0"/>
          </a:p>
        </p:txBody>
      </p:sp>
      <p:sp>
        <p:nvSpPr>
          <p:cNvPr id="14" name="Cartão"/>
          <p:cNvSpPr/>
          <p:nvPr/>
        </p:nvSpPr>
        <p:spPr>
          <a:xfrm>
            <a:off x="466344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87452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DDPG</a:t>
            </a:r>
            <a:endParaRPr lang="en-US" sz="1400" dirty="0"/>
          </a:p>
        </p:txBody>
      </p:sp>
      <p:sp>
        <p:nvSpPr>
          <p:cNvPr id="17" name="Cartão"/>
          <p:cNvSpPr/>
          <p:nvPr/>
        </p:nvSpPr>
        <p:spPr>
          <a:xfrm>
            <a:off x="45720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441448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TD3</a:t>
            </a:r>
            <a:endParaRPr lang="en-US" sz="1400" dirty="0"/>
          </a:p>
        </p:txBody>
      </p:sp>
      <p:sp>
        <p:nvSpPr>
          <p:cNvPr id="20" name="Cartão"/>
          <p:cNvSpPr/>
          <p:nvPr/>
        </p:nvSpPr>
        <p:spPr>
          <a:xfrm>
            <a:off x="466344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2441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SAC</a:t>
            </a:r>
            <a:endParaRPr lang="en-US" sz="1400" dirty="0"/>
          </a:p>
        </p:txBody>
      </p:sp>
      <p:sp>
        <p:nvSpPr>
          <p:cNvPr id="23" name="Cartão"/>
          <p:cNvSpPr/>
          <p:nvPr/>
        </p:nvSpPr>
        <p:spPr>
          <a:xfrm>
            <a:off x="45720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0083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Comparação</a:t>
            </a:r>
            <a:endParaRPr lang="en-US" sz="1400" dirty="0"/>
          </a:p>
        </p:txBody>
      </p:sp>
      <p:sp>
        <p:nvSpPr>
          <p:cNvPr id="26" name="Cartão"/>
          <p:cNvSpPr/>
          <p:nvPr/>
        </p:nvSpPr>
        <p:spPr>
          <a:xfrm>
            <a:off x="466344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3008376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21208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Reprodutibilidade e armadilhas</a:t>
            </a:r>
            <a:endParaRPr lang="en-US" sz="1400" dirty="0"/>
          </a:p>
        </p:txBody>
      </p:sp>
      <p:sp>
        <p:nvSpPr>
          <p:cNvPr id="29" name="Cartão"/>
          <p:cNvSpPr/>
          <p:nvPr/>
        </p:nvSpPr>
        <p:spPr>
          <a:xfrm>
            <a:off x="45720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57530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32" name="Cartão"/>
          <p:cNvSpPr/>
          <p:nvPr/>
        </p:nvSpPr>
        <p:spPr>
          <a:xfrm>
            <a:off x="466344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5753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21208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Projeto do capítulo: otimizando um processo com um simulador estatístico</a:t>
            </a:r>
            <a:endParaRPr lang="en-US" sz="1400" dirty="0"/>
          </a:p>
        </p:txBody>
      </p:sp>
      <p:sp>
        <p:nvSpPr>
          <p:cNvPr id="35" name="Cartão"/>
          <p:cNvSpPr/>
          <p:nvPr/>
        </p:nvSpPr>
        <p:spPr>
          <a:xfrm>
            <a:off x="457200" y="406908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414223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05840" y="40690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Resumo do capítulo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usar na prática?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10.1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Os Capítulos 8 e 9 apresentaram duas famílias: valor (DQN) e política (gradientes, atores-críticos):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868680" y="1993392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22860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993392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PPO, o "cavalo de batalha" de propósito geral, que também é a base do RLHF (Capítulo 13);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868680" y="2798064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309067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798064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DDPG, TD3 e SAC, algoritmos off-policy para ações contínuas, como controlar motores e articulações.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usar na prática?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Um guia rápido para escolher o algoritm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734" y="1143000"/>
            <a:ext cx="6436533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Um guia rápido para escolher o algoritmo.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PPO: otimização de política proximal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10.2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PPO (Proximal Policy Optimization) busca o mesmo que o TRPO (Capítulo 9): dar passos de melhoria sem se afastar demais da política atual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razão de probabilidades: Se r = 1, a política não mudou; se r = 1,5, a ação ficou 50% mais provável.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79806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96265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79806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algoritmo: Colete passos de vários ambientes em paralelo com a política atual (por exemplo, 2.048 passos).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6027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7673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6027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Detalhes que fazem diferença: Engstrom e colegas (2020) mostraram que detalhes de implementação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PPO: otimização de política proximal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Fórmula</a:t>
            </a:r>
            <a:endParaRPr lang="en-US" sz="1200" dirty="0"/>
          </a:p>
        </p:txBody>
      </p:sp>
      <p:sp>
        <p:nvSpPr>
          <p:cNvPr id="5" name="Fórmula"/>
          <p:cNvSpPr/>
          <p:nvPr/>
        </p:nvSpPr>
        <p:spPr>
          <a:xfrm>
            <a:off x="731520" y="1325880"/>
            <a:ext cx="7680960" cy="128016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min( r(θ) A,  clip(r(θ), 1 − ε, 1 + ε) A )</a:t>
            </a:r>
            <a:endParaRPr lang="en-US" sz="3000" dirty="0"/>
          </a:p>
        </p:txBody>
      </p:sp>
      <p:sp>
        <p:nvSpPr>
          <p:cNvPr id="6" name="Etiqueta"/>
          <p:cNvSpPr/>
          <p:nvPr/>
        </p:nvSpPr>
        <p:spPr>
          <a:xfrm>
            <a:off x="731520" y="28346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 PALAVRAS</a:t>
            </a:r>
            <a:endParaRPr lang="en-US" sz="1100" dirty="0"/>
          </a:p>
        </p:txBody>
      </p:sp>
      <p:sp>
        <p:nvSpPr>
          <p:cNvPr id="7" name="Texto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 a ação foi boa (A &gt; 0), aumentar sua probabilidade rende ganho, mas só até 20%; depois disso, o ganho não cresce mais e não há incentivo para ir além. Se a ação foi ruim (A &lt; 0), vale diminuir sua probabilidade, também só at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PPO: otimização de política proximal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O objetivo recortado do PP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010" y="1143000"/>
            <a:ext cx="7949979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 objetivo recortado do PPO.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Ações contínuas e política determinística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10.3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Quando as ações são contínuas (um torque entre −2 e 2), a política gaussiana do PPO funciona.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Ações contínuas e política determinística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Fórmula</a:t>
            </a:r>
            <a:endParaRPr lang="en-US" sz="1200" dirty="0"/>
          </a:p>
        </p:txBody>
      </p:sp>
      <p:sp>
        <p:nvSpPr>
          <p:cNvPr id="5" name="Fórmula"/>
          <p:cNvSpPr/>
          <p:nvPr/>
        </p:nvSpPr>
        <p:spPr>
          <a:xfrm>
            <a:off x="731520" y="1325880"/>
            <a:ext cx="7680960" cy="128016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∇_θ J = E[ ∇_a Q(s, a) |_(a = μ(s)) × ∇_θ μ(s) ]</a:t>
            </a:r>
            <a:endParaRPr lang="en-US" sz="3000" dirty="0"/>
          </a:p>
        </p:txBody>
      </p:sp>
      <p:sp>
        <p:nvSpPr>
          <p:cNvPr id="6" name="Etiqueta"/>
          <p:cNvSpPr/>
          <p:nvPr/>
        </p:nvSpPr>
        <p:spPr>
          <a:xfrm>
            <a:off x="731520" y="28346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 PALAVRAS</a:t>
            </a:r>
            <a:endParaRPr lang="en-US" sz="1100" dirty="0"/>
          </a:p>
        </p:txBody>
      </p:sp>
      <p:sp>
        <p:nvSpPr>
          <p:cNvPr id="7" name="Texto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crítico diz, para cada estado, para que lado mudar a ação para aumentar o valor; o ator aprende a seguir esse conselho.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DDPG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10.4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DDPG (Deep Deterministic Policy Gradient) junta o gradiente determinístico às ideias do DQN: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868680" y="199339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217627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99339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Ator μ(s; θ) determinístico e crítico Q(s, a; w).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868680" y="2578608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8712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578608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Memória de experiências e redes-alvo (com atualização suave: θ⁻ ← τθ + (1 − τ)θ⁻, com τ ≈ 0,005).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DDPG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10.4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Ruído acrescentado às ações para explorar.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alvo do crítico: y = r + γ Q⁻(s′, μ⁻(s′)).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52374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DDPG tem bom desempenho, mas é sensível a hiperparâmetros e propenso a superestimar Q.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TD3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10.5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TD3 (Twin Delayed DDPG) corrige o DDPG com três ideias (FUJIMOTO; VAN HOOF; MEGER, 2018):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99339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217627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99339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Dois críticos gêmeos (twin): usa o menor dos dois valores no alvo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578608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8712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578608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Atualização atrasada (delayed) do ator: atualiza o ator e as redes-alvo menos vezes que o crítico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338328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56616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338328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Suavização da ação-alvo: acrescenta um ruído pequeno à ação usada no alvo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10.6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 que isso ajuda?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Incentiva a exploração de forma natural.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Evita que a política "trave" cedo em uma solução.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294436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12724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294436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Torna a política robusta: ela aprende várias formas de resolver a tarefa.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52958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69417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52958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Outros ingredientes: dois críticos gêmeos (como no TD3), memória de experiências e ajuste automático de α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Fórmula</a:t>
            </a:r>
            <a:endParaRPr lang="en-US" sz="1200" dirty="0"/>
          </a:p>
        </p:txBody>
      </p:sp>
      <p:sp>
        <p:nvSpPr>
          <p:cNvPr id="5" name="Fórmula"/>
          <p:cNvSpPr/>
          <p:nvPr/>
        </p:nvSpPr>
        <p:spPr>
          <a:xfrm>
            <a:off x="731520" y="1325880"/>
            <a:ext cx="7680960" cy="128016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J(π) = E [ Σₜ ( rₜ + α H( π(· | sₜ) ) ) ]</a:t>
            </a:r>
            <a:endParaRPr lang="en-US" sz="3000" dirty="0"/>
          </a:p>
        </p:txBody>
      </p:sp>
      <p:sp>
        <p:nvSpPr>
          <p:cNvPr id="6" name="Etiqueta"/>
          <p:cNvSpPr/>
          <p:nvPr/>
        </p:nvSpPr>
        <p:spPr>
          <a:xfrm>
            <a:off x="731520" y="28346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 PALAVRAS</a:t>
            </a:r>
            <a:endParaRPr lang="en-US" sz="1100" dirty="0"/>
          </a:p>
        </p:txBody>
      </p:sp>
      <p:sp>
        <p:nvSpPr>
          <p:cNvPr id="7" name="Texto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"ganhe o máximo de recompensa, mas continue o mais aleatório possível enquanto isso". A temperatura α controla o peso da entropia.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DDPG, TD3 e SAC lado a lado: o TD3 acrescenta três correções ao DDPG; o SAC troca o ator determinístico por um estocástico com bônus de entropi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034" y="1143000"/>
            <a:ext cx="6313932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DDPG, TD3 e SAC lado a lado: o TD3 acrescenta três correções ao DDPG; o SAC troca o ator determinístico por um estocástico com bônus de entropia.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Reprodutibilidade e armadilhas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10.8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Henderson e colegas (2018) mostraram que o AR profundo é muito sensível à semente: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Várias sementes (pelo menos 5, quando possível) e intervalos de confiança.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65176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Normalize observações e recompensas quando suas escalas variam muito (por exemplo, VecNormalize do SB3).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3163824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4564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3163824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Avalie em ambiente separado, com política determinística e sem normalização de treino que vaze.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Reprodutibilidade e armadilhas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10.8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Registre versões das bibliotecas, hiperparâmetros e sementes.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868680" y="1773936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206654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773936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Compare com baselines simples (política aleatória, controladores clássicos, busca aleatória).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868680" y="257860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"/>
          <p:cNvSpPr/>
          <p:nvPr/>
        </p:nvSpPr>
        <p:spPr>
          <a:xfrm>
            <a:off x="1051560" y="276148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o"/>
          <p:cNvSpPr txBox="1"/>
          <p:nvPr/>
        </p:nvSpPr>
        <p:spPr>
          <a:xfrm>
            <a:off x="1508760" y="257860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Desconfie de resultados bons demais: procure bugs e falhas do simulador.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Hora de programar com Python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programar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10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2990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PPO no CartPole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258318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8897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76606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objetivo recortado, na mão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70916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1495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Pendulum: PPO × TD3 × SAC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683514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40930" y="16002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01802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Sensibilidade a hiperparâmetros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Retorno durante o treino no Pendulum (média de 3 sementes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240" y="1143000"/>
            <a:ext cx="5783520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Retorno durante o treino no Pendulum (média de 3 sementes).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do capítulo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otimizando um processo com um simulador estatístico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10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47241"/>
          </a:xfrm>
          <a:prstGeom prst="roundRect">
            <a:avLst>
              <a:gd name="adj" fmla="val 245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29461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47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Contexto.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45689"/>
            <a:ext cx="8229600" cy="653660"/>
          </a:xfrm>
          <a:prstGeom prst="roundRect">
            <a:avLst>
              <a:gd name="adj" fmla="val 16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89639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45689"/>
            <a:ext cx="7452360" cy="65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Entrega: notebook com o simulador e seu erro, as curvas do SAC, a comparação com baselines, a análise de distância aos dados e a conclusão sobre os limites.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509077"/>
            <a:ext cx="8229600" cy="653660"/>
          </a:xfrm>
          <a:prstGeom prst="roundRect">
            <a:avLst>
              <a:gd name="adj" fmla="val 16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653027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509077"/>
            <a:ext cx="7452360" cy="65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Treine um RandomForestRegressor (ou HistGradientBoostingRegressor) para prever a qualidade a partir de 5 variáveis escolhidas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272466"/>
            <a:ext cx="8229600" cy="653660"/>
          </a:xfrm>
          <a:prstGeom prst="roundRect">
            <a:avLst>
              <a:gd name="adj" fmla="val 16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4164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272466"/>
            <a:ext cx="7452360" cy="65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Construa o ambiente ProcessoEnv: estado = variáveis normalizadas (0 a 1); ação contínua = ajuste de cada variável (limitado a ±0,1)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4035854"/>
            <a:ext cx="8229600" cy="653660"/>
          </a:xfrm>
          <a:prstGeom prst="roundRect">
            <a:avLst>
              <a:gd name="adj" fmla="val 16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41798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4035854"/>
            <a:ext cx="7452360" cy="65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Treine o SAC (por exemplo, 20.000 passos) e compare com busca aleatória e subida de encosta no simulador.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10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PPO: maximiza r·A com a razão recortada em [1 − ε, 1 + ε]; simples, robusto, on-policy; base do RLHF.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DDPG: ator determinístico + crítico Q(s, a), memória e redes-alvo; sensível a hiperparâmetros.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79806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9626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79806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TD3: DDPG + dois críticos (usa o menor), ator atrasado e suavização da ação-alvo.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10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SAC: ator estocástico com máxima entropia e temperatura automática; ótima eficiência de dados.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Escolha pelo tipo de ação, custo do simulador e estabilidade; reporte várias sementes.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79806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9626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79806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Otimizar um simulador estatístico pode explorar suas falhas: verifique a distância aos dados reais.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relâmpago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Teste o que você aprendeu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1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 r(θ) = 1, então: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política não mudou para aquela ação.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ação ficou duas vezes mais provável.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ação tornou-se impossível.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episódio terminou.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2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Engstrom et al. (2020) mostraram que, no PPO: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detalhes de implementação influenciam muito o desempenho.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implementação não importa.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algoritmo nunca funciona.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só o ε importa.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3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atualização atrasada do ator no TD3 serve para: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deixar o crítico se estabilizar antes de atualizar o ator.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acelerar o ator.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eliminar a memória.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aumentar a exploração.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4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Para um problema com ações discretas e simulador caro, é mais indicado: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método off-policy como DQN/Rainbow.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apenas PPO sempre.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SAC com ações contínuas.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TD3.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Respostas do quiz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1) a  —  A probabilidade nova é igual à antiga.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2) a  —  Normalizações e outros detalhes explicam boa parte dos ganhos.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3) a  —  O ator é atualizado menos vezes que o crítico.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294436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299923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294436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4) a  —  Reaproveitar dados reduz o custo de simulação.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discutir em grupo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Debate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Explique em palavras como o objetivo recortado do PPO evita atualizações grandes demais.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04825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Qual o papel da temperatura α no SAC e como ela pode ser ajustada?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5786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5786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Calcule o objetivo do PPO (ε = 0,2) para r = 1,5 e A = +2, e para r = 0,6 e A = −2.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rculo"/>
          <p:cNvSpPr/>
          <p:nvPr/>
        </p:nvSpPr>
        <p:spPr>
          <a:xfrm>
            <a:off x="6217920" y="548640"/>
            <a:ext cx="2743200" cy="2743200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2801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a próxima!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Capítulo 10: Algoritmos Modernos: PPO, DDPG, TD3 e SAC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Pratique: refaça os códigos, resolva as questões e faça o projeto do capítulo.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por Reforço">
  <a:themeElements>
    <a:clrScheme name="Aprendizado por Reforço">
      <a:dk1>
        <a:srgbClr val="1B1F3B"/>
      </a:dk1>
      <a:lt1>
        <a:srgbClr val="FFFFFF"/>
      </a:lt1>
      <a:dk2>
        <a:srgbClr val="14173F"/>
      </a:dk2>
      <a:lt2>
        <a:srgbClr val="F2F3FB"/>
      </a:lt2>
      <a:accent1>
        <a:srgbClr val="F59E0B"/>
      </a:accent1>
      <a:accent2>
        <a:srgbClr val="12A89A"/>
      </a:accent2>
      <a:accent3>
        <a:srgbClr val="6C5CE7"/>
      </a:accent3>
      <a:accent4>
        <a:srgbClr val="E84A8A"/>
      </a:accent4>
      <a:accent5>
        <a:srgbClr val="3B82F6"/>
      </a:accent5>
      <a:accent6>
        <a:srgbClr val="94A3B8"/>
      </a:accent6>
      <a:hlink>
        <a:srgbClr val="3B82F6"/>
      </a:hlink>
      <a:folHlink>
        <a:srgbClr val="6C5CE7"/>
      </a:folHlink>
    </a:clrScheme>
    <a:fontScheme name="Aprendizado por Reforç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por Reforço — Capítulo 10</dc:title>
  <dc:subject>PptxGenJS Presentation</dc:subject>
  <dc:creator>Araken de Medeiros Santos</dc:creator>
  <cp:lastModifiedBy>Araken de Medeiros Santos</cp:lastModifiedBy>
  <cp:revision>1</cp:revision>
  <dcterms:created xsi:type="dcterms:W3CDTF">2026-10-26T13:18:09Z</dcterms:created>
  <dcterms:modified xsi:type="dcterms:W3CDTF">2026-10-26T13:18:09Z</dcterms:modified>
</cp:coreProperties>
</file>