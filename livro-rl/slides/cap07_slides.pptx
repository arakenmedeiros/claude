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8e84ac2-5bb1-4cdb-0a08-4befd54898eb}">
          <p14:sldIdLst>
            <p14:sldId id="256"/>
          </p14:sldIdLst>
        </p14:section>
        <p14:section name="Início" id="{b972267c-13ee-caaa-ce8e-fc3679c17e4e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Mão na massa" id="{24b26d1f-bb3f-aaf2-f29a-1c33fb1b3364}">
          <p14:sldIdLst>
            <p14:sldId id="280"/>
            <p14:sldId id="281"/>
          </p14:sldIdLst>
        </p14:section>
        <p14:section name="Projeto do capítulo" id="{dda46d9a-aa4b-179e-0266-09d43d30a52b}">
          <p14:sldIdLst>
            <p14:sldId id="282"/>
            <p14:sldId id="283"/>
          </p14:sldIdLst>
        </p14:section>
        <p14:section name="Resumo" id="{3de91315-f268-bcf1-472c-d54856728ed3}">
          <p14:sldIdLst>
            <p14:sldId id="284"/>
            <p14:sldId id="285"/>
          </p14:sldIdLst>
        </p14:section>
        <p14:section name="Quiz relâmpago" id="{f34d6668-9055-85f9-866d-05768deed692}">
          <p14:sldIdLst>
            <p14:sldId id="286"/>
          </p14:sldIdLst>
        </p14:section>
        <p14:section name="Quiz" id="{2df44091-4f98-27df-0475-4e53073a73ae}">
          <p14:sldIdLst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Encerramento" id="{9128bf2c-f9d9-0fa9-b535-de2935c809e1}">
          <p14:sldIdLst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7. Apresente a pergunta central do capítulo e o roteiro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com a turma e pergunte quem já conhece algum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da aula: cada item é uma estação da viagem.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Até aqui, guardamos o valor de cada estado numa tabela. Isso funciona com 16 casas do FrozenLake ou 500 estados do Taxi. Mas pense nestes problemas: Duas dificuldades surgem juntas: A saída é generalizar: aprender sobre alguns estados e usar isso para estados parecidos que ele nunca viu.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Em vez de uma tabela V(s), usamos uma função parametrizada v̂(s, w), que recebe o estado e devolve uma estimativa de valor. O vetor w reúne os parâmetros (pesos) ajustáveis. Há bem menos pesos do que estados, e mudar um peso altera o valor de muitos estados de uma vez: é isso que gera a generalização. Note que estamos fazendo aprendizado supervisionado dentro do AR: os pares (estado, alvo) são os "exemplos". A diferença é que os alvos mudam enquanto o agente aprende, e os dados dependem da política (Capítulo 1). Não é possível acertar todos os estados (são muitos para poucos parâmetros). Precisamos dizer quais estados importam mais. Usamos a distribuição μ(s): a fração do tempo em que o agente está no estado s. O erro a minimizar é o erro quadrático médio ponderado: Em palavras: "erre menos nos estados que o agente visita mais".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7.1 — Quatro aproximadores ajustados a 40 pontos ruidosos de uma função valor. A tabela com 6 faixas é "grossa"; a reta é simples demais; o polinômio e as funções RBF capturam a 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fórmula em voz alta, termo a termo, e traduza com a frase "em palavras".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Para ajustar w, usamos a descida do gradiente, o mesmo método que treina redes neurais. Imagine-se numa montanha com neblina, querendo chegar ao vale. Você sente a inclinação do chão sob os pés e dá um passo morro abaixo. Repete. O gradiente é o vetor que aponta para a subida mais íngreme; andamos no sentido contrário. Com um exemplo (estado Sₜ, alvo Uₜ), um passo é: Em palavras: "mude os pesos na direção que aproxima v̂ do alvo U, na proporção do erro (U − v̂) e do passo α". O símbolo ∇v̂ (gradiente) indica quanto cada peso influencia o valor previsto.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7.2 — Descida do gradiente num problema com dois pesos. As curvas de nível mostram o erro; cada ponto é um passo, no sentido oposto ao gradiente.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fórmula em voz alta, termo a termo, e traduza com a frase "em palavras".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O caso mais simples e mais bem compreendido é o linear: o valor é uma combinação ponderada de características (features) do estado: Aqui o gradiente é simplesmente o vetor de características x(s). A atualização semi-gradiente TD(0) vira: O TD linear converge para um ponto perto do melhor possível (TSITSIKLIS; VAN ROY, 1997), quando os dados vêm da própria política que se avalia. Todo o poder está em escolher boas características.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Dependendo da escolha de x(s), o mesmo modelo linear representa funções muito diferentes. No tile coding (ALBUS, 1971), o espaço de estados é coberto por várias grades (tilings) deslocadas. Para cada grade, exatamente um quadrado (tile) "acende" para o estado atual. O vetor de características é binário e esparso: contém 1 nos quadrados acesos e 0 no resto. O valor é a soma dos pesos dos quadrados acesos. A atualização é muito eficiente: só se mudam os pesos dos poucos quadrados acesos.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7.3 — Três grades deslocadas. Cada uma acende um quadrado para o estado atual (marcado com X). Estados próximos compartilham quadrados, o que gera generalização local; as grades deslocadas dão resolução fina.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Para controlar, aproximamos q̂(s, a, w). O SARSA semi-gradiente atualiza: No Mountain Car, um carro fraco está num vale e precisa subir a encosta à direita. O motor não tem força para subir direto: o carro precisa balançar para trás e ganhar embalo. O estado é (posição, velocidade), a ação é empurrar para esquerda, direita ou nada, e a recompensa é −1 por passo até chegar ao topo (posição ≥ 0,5; limite de 200 passos). É um problema simples, mas enganoso: para ir para a direita, o agente precisa primeiro ir para a esquerda. Com uma tabela cheia de zeros e recompensas negativas, os valores iniciais funcionam como otimismo (Capítulo 2), e o agente explora sem precisar de 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7.4 — Esquerda: passos até a meta ao longo do aprendizado (média de 3 sementes, escala logarítmica). Direita: estimativa do "custo até a meta" aprendida: a espiral de balanço aparece no 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Sutton e Barto (2018) chamam de triângulo mortal (deadly triad) a combinação de três ingredientes que, juntos, pode causar instabilidade e divergência: Com dois dos três, o aprendizado costuma ser estável. Abandonar qualquer um tem custo: sem aproximação, não escalamos; sem bootstrapping, perdemos eficiência e usamos MC; sem off-policy, não reaproveitamos dados antigos. O contraexemplo de Baird (1995) é um MDP de 7 estados, com recompensa zero em todo lugar (portanto v = 0), em que o semi-gradiente off-policy faz os pesos crescerem sem limite. Isso não significa que todo método falhe: significa que não há garantia. Algoritmos modernos como o DQN (Capítulo 8) adicionam truques (redes-alvo, repetição de experiência) para manter o aprendizado estável na prática (VAN HASSELT et al., 2018).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7.5 — Cada ingrediente é útil sozinho. O problema aparece quando os três atuam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7.6 — O contraexemplo de Baird. À direita, os pesos aprendidos divergem, embora o valor verdadeiro seja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Uma alternativa estável é aprender em lotes. Reunimos um conjunto fixo de transições (s, a, r, s′) e repetimos: Isso é o Fitted Q-Iteration (FQI) (ERNST; GEURTS; WEHENKEL, 2005), uma versão "em lote" do Q-learning. Variantes com redes neurais foram propostas por Riedmiller (2005). A beleza do FQI é que qualquer regressor serve: árvores, florestas, regressão linear, redes. E o scikit-learn é uma fábrica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7.7 — FQI no CartPole com 20.000 transições aleatórias. As árvores (ExtraTrees) chegam a retornos altos, mas oscilam entre iterações; o modelo com RBF e Ridge é mais estável, porém menos expressivo.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 os códigos do capítulo ao vivo ou peça que os alunos rodem em duplas.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Contexto. No Capítulo 3, transformamos os clientes da base Online Retail em 5 estados com K-Means. Isso joga fora informação. Agora vamos estimar o valor de vida diretamente das características contínuas (recência, frequência e gasto), com aproximação de funções. Método (Fitted Value Iteration para um MRP): com os dados do painel (cliente-mês), repita: Tarefas: Ponto de partida: Atenção: o código acima treina com todos os dados e avalia em um subconjunto, só para ilustrar a mecânica. Na sua entrega, treine apenas em treino para uma avaliação honesta. Entrega: notebook com as curvas de escala, a comparação de regressores, a validação por grupos e a conclusão.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Isso gera generalização, mas também interferência entre estados.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O modelo é limitado ao que as características conseguem representar.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O motor é fraco; é preciso balançar para subir.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Alterna cálculo de alvos e ajuste de um regressor.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Divida a turma em grupos de 3 a 4 pessoas; 5 minutos de discussão e depois compartilhamento.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retomando a pergunta central e antecipando o próximo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nner" descr="/home/user/claude/livro-rl/figs/banner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0040"/>
            <a:ext cx="9144000" cy="1721877"/>
          </a:xfrm>
          <a:prstGeom prst="rect">
            <a:avLst/>
          </a:prstGeom>
        </p:spPr>
      </p:pic>
      <p:sp>
        <p:nvSpPr>
          <p:cNvPr id="4" name="Título"/>
          <p:cNvSpPr txBox="1"/>
          <p:nvPr/>
        </p:nvSpPr>
        <p:spPr>
          <a:xfrm>
            <a:off x="548640" y="2331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Aproximação de Funções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Aprendizado por Reforço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Araken de Medeiros Santos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7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56276"/>
          </a:xfrm>
          <a:prstGeom prst="roundRect">
            <a:avLst>
              <a:gd name="adj" fmla="val 240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3397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5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por que tabelas não escalam e como a generalização resolve o problema.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54724"/>
            <a:ext cx="8229600" cy="456276"/>
          </a:xfrm>
          <a:prstGeom prst="roundRect">
            <a:avLst>
              <a:gd name="adj" fmla="val 240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799983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54724"/>
            <a:ext cx="7452360" cy="45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Descrever a descida do gradiente e o semi-gradiente para estimar funções valor.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320729"/>
            <a:ext cx="8229600" cy="666865"/>
          </a:xfrm>
          <a:prstGeom prst="roundRect">
            <a:avLst>
              <a:gd name="adj" fmla="val 164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471281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320729"/>
            <a:ext cx="7452360" cy="666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Construir características (agregação, polinômios, RBF, tile coding) para aproximadores lineares.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097322"/>
            <a:ext cx="8229600" cy="456276"/>
          </a:xfrm>
          <a:prstGeom prst="roundRect">
            <a:avLst>
              <a:gd name="adj" fmla="val 240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1425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097322"/>
            <a:ext cx="7452360" cy="45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Implementar o SARSA semi-gradiente com tile coding no Mountain Car.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663327"/>
            <a:ext cx="8229600" cy="456276"/>
          </a:xfrm>
          <a:prstGeom prst="roundRect">
            <a:avLst>
              <a:gd name="adj" fmla="val 240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708585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663327"/>
            <a:ext cx="7452360" cy="45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o triângulo mortal e reconhecer sinais de instabilidade.</a:t>
            </a:r>
            <a:endParaRPr lang="en-US" sz="1600" dirty="0"/>
          </a:p>
        </p:txBody>
      </p:sp>
      <p:sp>
        <p:nvSpPr>
          <p:cNvPr id="20" name="Cartão"/>
          <p:cNvSpPr/>
          <p:nvPr/>
        </p:nvSpPr>
        <p:spPr>
          <a:xfrm>
            <a:off x="457200" y="4229331"/>
            <a:ext cx="8229600" cy="456276"/>
          </a:xfrm>
          <a:prstGeom prst="roundRect">
            <a:avLst>
              <a:gd name="adj" fmla="val 240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úmero"/>
          <p:cNvSpPr/>
          <p:nvPr/>
        </p:nvSpPr>
        <p:spPr>
          <a:xfrm>
            <a:off x="594360" y="4274589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o"/>
          <p:cNvSpPr txBox="1"/>
          <p:nvPr/>
        </p:nvSpPr>
        <p:spPr>
          <a:xfrm>
            <a:off x="1097280" y="4229331"/>
            <a:ext cx="7452360" cy="45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Aplicar o Fitted Q-Iteration com regressores do scikit-learn.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7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07592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Quando a tabela não cabe</a:t>
            </a:r>
            <a:endParaRPr lang="en-US" sz="1400" dirty="0"/>
          </a:p>
        </p:txBody>
      </p:sp>
      <p:sp>
        <p:nvSpPr>
          <p:cNvPr id="8" name="Cartão"/>
          <p:cNvSpPr/>
          <p:nvPr/>
        </p:nvSpPr>
        <p:spPr>
          <a:xfrm>
            <a:off x="466344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30759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ideia: substituir a tabela por uma função</a:t>
            </a:r>
            <a:endParaRPr lang="en-US" sz="1400" dirty="0"/>
          </a:p>
        </p:txBody>
      </p:sp>
      <p:sp>
        <p:nvSpPr>
          <p:cNvPr id="11" name="Cartão"/>
          <p:cNvSpPr/>
          <p:nvPr/>
        </p:nvSpPr>
        <p:spPr>
          <a:xfrm>
            <a:off x="45720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8745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Descida do gradiente</a:t>
            </a:r>
            <a:endParaRPr lang="en-US" sz="1400" dirty="0"/>
          </a:p>
        </p:txBody>
      </p:sp>
      <p:sp>
        <p:nvSpPr>
          <p:cNvPr id="14" name="Cartão"/>
          <p:cNvSpPr/>
          <p:nvPr/>
        </p:nvSpPr>
        <p:spPr>
          <a:xfrm>
            <a:off x="466344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87452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21208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Aproximação linear</a:t>
            </a:r>
            <a:endParaRPr lang="en-US" sz="1400" dirty="0"/>
          </a:p>
        </p:txBody>
      </p:sp>
      <p:sp>
        <p:nvSpPr>
          <p:cNvPr id="17" name="Cartão"/>
          <p:cNvSpPr/>
          <p:nvPr/>
        </p:nvSpPr>
        <p:spPr>
          <a:xfrm>
            <a:off x="45720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441448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Construindo características</a:t>
            </a:r>
            <a:endParaRPr lang="en-US" sz="1400" dirty="0"/>
          </a:p>
        </p:txBody>
      </p:sp>
      <p:sp>
        <p:nvSpPr>
          <p:cNvPr id="20" name="Cartão"/>
          <p:cNvSpPr/>
          <p:nvPr/>
        </p:nvSpPr>
        <p:spPr>
          <a:xfrm>
            <a:off x="466344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2441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Controle com aproximação</a:t>
            </a:r>
            <a:endParaRPr lang="en-US" sz="1400" dirty="0"/>
          </a:p>
        </p:txBody>
      </p:sp>
      <p:sp>
        <p:nvSpPr>
          <p:cNvPr id="23" name="Cartão"/>
          <p:cNvSpPr/>
          <p:nvPr/>
        </p:nvSpPr>
        <p:spPr>
          <a:xfrm>
            <a:off x="45720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00837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triângulo mortal</a:t>
            </a:r>
            <a:endParaRPr lang="en-US" sz="1400" dirty="0"/>
          </a:p>
        </p:txBody>
      </p:sp>
      <p:sp>
        <p:nvSpPr>
          <p:cNvPr id="26" name="Cartão"/>
          <p:cNvSpPr/>
          <p:nvPr/>
        </p:nvSpPr>
        <p:spPr>
          <a:xfrm>
            <a:off x="466344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3008376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21208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Métodos em lote: Fitted Q-Iteration</a:t>
            </a:r>
            <a:endParaRPr lang="en-US" sz="1400" dirty="0"/>
          </a:p>
        </p:txBody>
      </p:sp>
      <p:sp>
        <p:nvSpPr>
          <p:cNvPr id="29" name="Cartão"/>
          <p:cNvSpPr/>
          <p:nvPr/>
        </p:nvSpPr>
        <p:spPr>
          <a:xfrm>
            <a:off x="45720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57530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00584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32" name="Cartão"/>
          <p:cNvSpPr/>
          <p:nvPr/>
        </p:nvSpPr>
        <p:spPr>
          <a:xfrm>
            <a:off x="466344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35753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21208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Projeto do capítulo: valor de clientes sem discretizar</a:t>
            </a:r>
            <a:endParaRPr lang="en-US" sz="1400" dirty="0"/>
          </a:p>
        </p:txBody>
      </p:sp>
      <p:sp>
        <p:nvSpPr>
          <p:cNvPr id="35" name="Cartão"/>
          <p:cNvSpPr/>
          <p:nvPr/>
        </p:nvSpPr>
        <p:spPr>
          <a:xfrm>
            <a:off x="457200" y="406908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414223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05840" y="40690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Resumo do capítulo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tabela não cabe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7.1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Até aqui, guardamos o valor de cada estado numa tabela: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Jogo de Go: cerca de 10¹⁷⁰ posições possíveis (SILVER et al., 2016).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Atari: a tela tem 210 × 160 pixels coloridos.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294436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12724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294436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Robô com 7 articulações: cada ângulo é um número contínuo; há infinitos estados.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tabela não cabe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7.1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Duas dificuldades surgem juntas: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Memória: a tabela não cabe.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Tempo de aprendizado: mesmo se coubesse, o agente nunca visitaria todos os estados.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294436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31089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294436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saída é generalizar: aprender sobre alguns estados e usar isso para estados parecidos que ele nunca viu.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Generalizar é o que você faz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No dia a dia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Você aprendeu a dirigir em algumas ruas.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ideia: substituir a tabela por uma função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7.2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Em vez de uma tabela V(s), usamos uma função parametrizada v̂(s, w), que recebe o estado e devolve uma estimativa de valor.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Note que estamos fazendo aprendizado supervisionado dentro do AR: os pares (estado, alvo) são os "exemplos".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ideia: substituir a tabela por uma função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Quatro aproximadores ajustados a 40 pontos ruidosos de uma função valo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8091"/>
            <a:ext cx="8229600" cy="2390179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Quatro aproximadores ajustados a 40 pontos ruidosos de uma função valor.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ideia: substituir a tabela por uma função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Fórmula</a:t>
            </a:r>
            <a:endParaRPr lang="en-US" sz="1200" dirty="0"/>
          </a:p>
        </p:txBody>
      </p:sp>
      <p:sp>
        <p:nvSpPr>
          <p:cNvPr id="5" name="Fórmula"/>
          <p:cNvSpPr/>
          <p:nvPr/>
        </p:nvSpPr>
        <p:spPr>
          <a:xfrm>
            <a:off x="731520" y="1325880"/>
            <a:ext cx="7680960" cy="128016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VE(w) = Σₛ μ(s) [ vπ(s) − v̂(s, w) ]²</a:t>
            </a:r>
            <a:endParaRPr lang="en-US" sz="3000" dirty="0"/>
          </a:p>
        </p:txBody>
      </p:sp>
      <p:sp>
        <p:nvSpPr>
          <p:cNvPr id="6" name="Etiqueta"/>
          <p:cNvSpPr/>
          <p:nvPr/>
        </p:nvSpPr>
        <p:spPr>
          <a:xfrm>
            <a:off x="731520" y="28346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EM PALAVRAS</a:t>
            </a:r>
            <a:endParaRPr lang="en-US" sz="1100" dirty="0"/>
          </a:p>
        </p:txBody>
      </p:sp>
      <p:sp>
        <p:nvSpPr>
          <p:cNvPr id="7" name="Texto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"erre menos nos estados que o agente visita mais".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Descida do gradiente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7.3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Para ajustar w, usamos a descida do gradiente, o mesmo método que treina redes neurais.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04825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Qual é o alvo U?: Monte Carlo: U = Gₜ (retorno real).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Descida do gradiente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Descida do gradiente num problema com dois pes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7474" y="1143000"/>
            <a:ext cx="3929052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Descida do gradiente num problema com dois pesos.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Descida do gradiente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Fórmula</a:t>
            </a:r>
            <a:endParaRPr lang="en-US" sz="1200" dirty="0"/>
          </a:p>
        </p:txBody>
      </p:sp>
      <p:sp>
        <p:nvSpPr>
          <p:cNvPr id="5" name="Fórmula"/>
          <p:cNvSpPr/>
          <p:nvPr/>
        </p:nvSpPr>
        <p:spPr>
          <a:xfrm>
            <a:off x="731520" y="1325880"/>
            <a:ext cx="7680960" cy="128016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← w + α [ Uₜ − v̂(Sₜ, w) ] ∇ v̂(Sₜ, w)</a:t>
            </a:r>
            <a:endParaRPr lang="en-US" sz="3000" dirty="0"/>
          </a:p>
        </p:txBody>
      </p:sp>
      <p:sp>
        <p:nvSpPr>
          <p:cNvPr id="6" name="Etiqueta"/>
          <p:cNvSpPr/>
          <p:nvPr/>
        </p:nvSpPr>
        <p:spPr>
          <a:xfrm>
            <a:off x="731520" y="28346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EM PALAVRAS</a:t>
            </a:r>
            <a:endParaRPr lang="en-US" sz="1100" dirty="0"/>
          </a:p>
        </p:txBody>
      </p:sp>
      <p:sp>
        <p:nvSpPr>
          <p:cNvPr id="7" name="Texto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"mude os pesos na direção que aproxima v̂ do alvo U, na proporção do erro (U − v̂) e do passo α". O símbolo ∇v̂ (gradiente) indica quanto cada peso influencia o valor previsto.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Aproximação linear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7.4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TD linear converge para um ponto perto do melhor possível (TSITSIKLIS; VAN ROY, 1997), quando os dados vêm da própria política que se avalia.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Construindo características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7.5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Dependendo da escolha de x(s), o mesmo modelo linear representa funções muito diferentes.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Tile coding: No tile coding (ALBUS, 1971), o espaço de estados é coberto por várias grades (tilings) deslocadas.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Construindo características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Três grades deslocad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6143" y="1143000"/>
            <a:ext cx="3611715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Três grades deslocadas.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com aproximação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7.6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Mountain Car: No Mountain Car, um carro fraco está num vale e precisa subir a encosta à direita.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com aproximação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Esquerda: passos até a meta ao longo do aprendizado (média de 3 sementes, escala logarítmica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714" y="1143000"/>
            <a:ext cx="7398572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Esquerda: passos até a meta ao longo do aprendizado (média de 3 sementes, escala logarítmica).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triângulo mortal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7.7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Sutton e Barto (2018) chamam de triângulo mortal (deadly triad) a combinação de três ingredientes que, juntos: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868680" y="199339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217627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99339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Aproximação de funções: para generalizar.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868680" y="257860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76148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57860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Bootstrapping: alvos que dependem das próprias estimativas (TD).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triângulo mortal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7.7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3716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Aprendizado off-policy: aprender sobre uma política com dados de outra.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 dois dos três, o aprendizado costuma ser estável.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35915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52374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35915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contraexemplo de Baird: O contraexemplo de Baird (1995) é um MDP de 7 estados, com recompensa zero em todo lugar (portanto v = 0)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triângulo mortal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Cada ingrediente é útil sozinh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8360" y="1143000"/>
            <a:ext cx="4907280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Cada ingrediente é útil sozinho.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triângulo mortal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O contraexemplo de Bair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16" y="1143000"/>
            <a:ext cx="7640769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 contraexemplo de Baird.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em lote: Fitted Q-Iteration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7.8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Uma alternativa estável é aprender em lotes: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Calcule os alvos y = r + γ maxₐ′ q̂_k(s′, a′) para todas as transições.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Ajuste um regressor supervisionado que prevê y a partir de (s, a): obtém q̂_(k+1).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294436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1089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294436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Isso é o Fitted Q-Iteration (FQI) (ERNST; GEURTS; WEHENKEL, 2005), uma versão "em lote" do Q-learning.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em lote: Fitted Q-Iteration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FQI no CartPole com 20.000 transições aleatóri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1552" y="1143000"/>
            <a:ext cx="5360897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FQI no CartPole com 20.000 transições aleatórias.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Instabilidade também existe aqui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Atenção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Repare na oscilação das árvores: com dados fixos e bootstrapping, o desempenho pode melhorar e piorar entre iterações.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Hora de programar com Python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programar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7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371600"/>
            <a:ext cx="1426464" cy="2926080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1060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divergência de Baird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2157984" y="1371600"/>
            <a:ext cx="1426464" cy="2926080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51176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340864" y="2423160"/>
            <a:ext cx="1060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Tile coding e SARSA semi-gradiente no Mountain Car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3858768" y="1371600"/>
            <a:ext cx="1426464" cy="2926080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5196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041648" y="2423160"/>
            <a:ext cx="1060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Quatro aproximadores para uma mesma função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5559552" y="1371600"/>
            <a:ext cx="1426464" cy="2926080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52744" y="16002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742432" y="2423160"/>
            <a:ext cx="1060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Q-learning online com RBF: quando a aproximação falha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7260336" y="1371600"/>
            <a:ext cx="1426464" cy="2926080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53528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7443216" y="2423160"/>
            <a:ext cx="1060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Fitted Q-Iteration com regressores do scikit-learn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do capítulo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valor de clientes sem discretizar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7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Contexto.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Método (Fitted Value Iteration para um MRP): com os dados do painel (cliente-mês), repita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57860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57860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Atenção: o código acima treina com todos os dados e avalia em um subconjunto, só para ilustrar a mecânica.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38328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43814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38328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alvo: y = gasto do mês seguinte + γ · Vₖ(características do mês seguinte);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96849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40233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96849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ajuste um regressor Vₖ₊₁ que prevê y a partir das características atuais.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7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Tabelas não escalam; generalizar com funções v̂(s, w) é a solução.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descida do gradiente ajusta os pesos; o semi-gradiente TD usa o alvo R + γv̂(S′, w) como se fosse constante.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57860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57860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Em modelos lineares, v̂ = w·x(s); a qualidade depende das características (agregação, polinômios, Fourier, RBF, tile coding).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7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SARSA semi-gradiente resolve o Mountain Car.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Triângulo mortal: aproximação + bootstrapping + off-policy pode divergir (contraexemplo de Baird).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57860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57860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Fitted Q-Iteration aprende em lote com qualquer regressor do scikit-learn, mas também pode oscilar.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relâmpago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Teste o que você aprendeu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1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Uma consequência de ter menos pesos do que estados é que: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estado tem seu próprio peso exclusivo.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mudar um peso pode alterar o valor de muitos estados.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aprendizado fica impossível.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desconto deixa de existir.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2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Em um aproximador linear, a qualidade depende sobretudo de: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escolher boas características do estado.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usar γ = 1.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nunca usar bootstrapping.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 poucos estados.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3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Mountain Car, a dificuldade é que: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recompensa é sempre positiva.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carro precisa se afastar da meta para ganhar embalo.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ambiente é discreto.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não há ações.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4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Fitted Q-Iteration (FQI) é: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método em lote que repete regressões supervisionadas sobre alvos r + γ max q.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método on-policy de Monte Carlo.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técnica de agrupamento.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método sem aproximação.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Respostas do quiz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1) b  —  Isso gera generalização, mas também interferência entre estados.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2) a  —  O modelo é limitado ao que as características conseguem representar.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3) b  —  O motor é fraco; é preciso balançar para subir.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294436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299923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294436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4) a  —  Alterna cálculo de alvos e ajuste de um regressor.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discutir em grupo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Debate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Explique por que tabelas não funcionam em problemas como Go ou Atari e como a generalização ajuda.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04825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Por que valores iniciais zero funcionam como otimismo no Mountain Car?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257860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57860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Discuta o dilema entre aproximadores simples (retas) e flexíveis (polinômios de alto grau, árvores profundas).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rculo"/>
          <p:cNvSpPr/>
          <p:nvPr/>
        </p:nvSpPr>
        <p:spPr>
          <a:xfrm>
            <a:off x="6217920" y="548640"/>
            <a:ext cx="2743200" cy="2743200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2801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a próxima!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Capítulo 7: Aproximação de Funções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Pratique: refaça os códigos, resolva as questões e faça o projeto do capítulo.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por Reforço">
  <a:themeElements>
    <a:clrScheme name="Aprendizado por Reforço">
      <a:dk1>
        <a:srgbClr val="1B1F3B"/>
      </a:dk1>
      <a:lt1>
        <a:srgbClr val="FFFFFF"/>
      </a:lt1>
      <a:dk2>
        <a:srgbClr val="14173F"/>
      </a:dk2>
      <a:lt2>
        <a:srgbClr val="F2F3FB"/>
      </a:lt2>
      <a:accent1>
        <a:srgbClr val="F59E0B"/>
      </a:accent1>
      <a:accent2>
        <a:srgbClr val="12A89A"/>
      </a:accent2>
      <a:accent3>
        <a:srgbClr val="6C5CE7"/>
      </a:accent3>
      <a:accent4>
        <a:srgbClr val="E84A8A"/>
      </a:accent4>
      <a:accent5>
        <a:srgbClr val="3B82F6"/>
      </a:accent5>
      <a:accent6>
        <a:srgbClr val="94A3B8"/>
      </a:accent6>
      <a:hlink>
        <a:srgbClr val="3B82F6"/>
      </a:hlink>
      <a:folHlink>
        <a:srgbClr val="6C5CE7"/>
      </a:folHlink>
    </a:clrScheme>
    <a:fontScheme name="Aprendizado por Reforç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por Reforço — Capítulo 7</dc:title>
  <dc:subject>PptxGenJS Presentation</dc:subject>
  <dc:creator>Araken de Medeiros Santos</dc:creator>
  <cp:lastModifiedBy>Araken de Medeiros Santos</cp:lastModifiedBy>
  <cp:revision>1</cp:revision>
  <dcterms:created xsi:type="dcterms:W3CDTF">2026-10-26T13:18:08Z</dcterms:created>
  <dcterms:modified xsi:type="dcterms:W3CDTF">2026-10-26T13:18:08Z</dcterms:modified>
</cp:coreProperties>
</file>