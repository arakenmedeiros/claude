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aa11ff13-e0be-5727-736c-593bcff0092d}">
          <p14:sldIdLst>
            <p14:sldId id="256"/>
          </p14:sldIdLst>
        </p14:section>
        <p14:section name="Início" id="{c13dc7c2-493c-f414-6d68-612cb04850f0}">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Lst>
        </p14:section>
        <p14:section name="Mão na massa" id="{66147166-7d04-96e3-1e27-695bc0df8f69}">
          <p14:sldIdLst>
            <p14:sldId id="289"/>
            <p14:sldId id="290"/>
            <p14:sldId id="291"/>
          </p14:sldIdLst>
        </p14:section>
        <p14:section name="Projeto do capítulo" id="{c8864633-dd66-76b5-ff06-08df4e6528ee}">
          <p14:sldIdLst>
            <p14:sldId id="292"/>
            <p14:sldId id="293"/>
          </p14:sldIdLst>
        </p14:section>
        <p14:section name="Resumo" id="{e189b540-8505-9eab-f8ea-65ce8c1479ef}">
          <p14:sldIdLst>
            <p14:sldId id="294"/>
            <p14:sldId id="295"/>
          </p14:sldIdLst>
        </p14:section>
        <p14:section name="Quiz relâmpago" id="{8ec89a50-58f0-7c04-c49c-72534c8b0303}">
          <p14:sldIdLst>
            <p14:sldId id="296"/>
          </p14:sldIdLst>
        </p14:section>
        <p14:section name="Quiz" id="{9b4f906a-f3bc-25a6-75c4-a5381a0c9d23}">
          <p14:sldIdLst>
            <p14:sldId id="297"/>
            <p14:sldId id="298"/>
            <p14:sldId id="299"/>
            <p14:sldId id="300"/>
            <p14:sldId id="301"/>
            <p14:sldId id="302"/>
          </p14:sldIdLst>
        </p14:section>
        <p14:section name="Encerramento" id="{f277f636-504a-2547-8f68-1083679c1e2a}">
          <p14:sldIdLst>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3. Apresente a pergunta central do capítulo e o roteiro da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os objetivos com a turma e pergunte quem já conhece algum deles.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mapa da aula: cada item é uma estação da viagem.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No capítulo anterior, a escolha de uma máquina não alterava o cassino. Na vida real, as ações mudam a situação. Se você sai de casa às 6h, encontra uma cidade diferente da de quem sai às 9h. Se um robô gasta bateria, ele passa a estar numa situação pior. Se você move uma peça no xadrez, o tabuleiro muda. Quando a ação de agora altera o estado futuro e, portanto, as recompensas futuras, entramos no coração do AR. A linguagem matemática para isso é o Processo de Decisão de Markov (MDP, do inglês Markov Decision Process) (BELLMAN, 1957; PUTERMAN,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que a turma repita a frase em voz alta e com as próprias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Pense num jogo de damas. Para escolher a melhor jogada, você precisa saber a posição atual das peças. Não precisa saber em que ordem elas chegaram até ali. O presente resume o que importa do passado. A isso chamamos propriedade de Markov: o futuro depende do passado apenas através do estado presente.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3.1 — Propriedade de Markov: o estado presente contém toda a informação relevante para prever o que vem a seguir.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Antes das ações, vejamos o caso mais simples: um sistema que evolui sozinho. Uma cadeia de Markov tem estados e probabilidades de transição: dado que estou no estado s, qual a chance de ir ao estado s′ no próximo passo? Considere os clientes de uma loja, classificados em cinco segmentos: novo, regular, fiel, em risco e inativo. A cada mês, um cliente pode mudar de segmento. Podemos reunir as probabilidades numa matriz de transição P: a linha i e a coluna j guardam a probabilidade de ir de i para j. Cada linha soma 1. Se, além disso, cada estado paga uma recompensa média (por exemplo, o gasto esperado do cliente no mês), temos um processo de recompensa de Markov (MRP). O valor de um estado passa a ser o retorno esperado a partir dele. Em marketing, isso é o conhecido valor de vida do cliente (customer lifetime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3.2 — Cadeia de Markov de clientes. As probabilidades são ilustrativas; na prática (Seção 3.9.3) vamos estimá-las a partir de dados.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Um MDP reúne cinco ingredientes: A dinâmica é a parte essencial: Em palavras: "se estou em s e faço a, qual a chance de acabar em s′ ganhando r?". A partir dela calculamos a recompensa esperada de um par estado-ação, r(s, a), e as probabilidades de transição p(s′ | s, a). A maior parte do AR trata o segundo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linha a linha; peça que a turma justifique cada "cuidado".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Um robô de entrega pode estar com bateria alta ou baixa. A cada passo, escolhe entre buscar pedidos (rende mais, gasta bateria), esperar (rende pouco, não gasta) ou recarregar. Este exemplo é inspirado no "robô de reciclagem" de Sutton e Barto (2018), com valores próprios. Há um dilema claro: buscar com bateria baixa rende bem, mas arrisca ficar parado e ter de ser resgatado. Recarregar custa um passo sem ganho, mas prepara ganhos maiores. Planejar o longo prazo é a essência de um MDP.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3.3 — O MDP do robô de entrega. Os círculos pretos são as ações; as setas coloridas mostram o resultado, com probabilidade e recompensa. A ação "recarregar" com bateria alta (que nada muda) foi omitida do desenho.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linha a linha; peça que a turma justifique cada "cuidado".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A política é a regra de decisão do agente. Há dois tipos: Num MDP finito existe sempre uma política determinística ótima (PUTERMAN, 1994). Políticas estocásticas, porém, são úteis para explorar e, em ambientes com informação oculta ou adversários, para não se tornar previsível.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Fixada uma política π, definimos duas medidas centrais. Em palavras: v responde "quão boa é esta situação, se eu jogar do meu jeito?"; q responde "quão boa é esta jogada nesta situação, se depois eu jogar do meu jeito?". A relação entre as duas é simples: o valor do estado é a média dos valores das ações, ponderada pela política: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Aqui está a ideia mais importante do livro. O retorno de agora tem uma estrutura recursiva: Em palavras: "o que vou ganhar a partir de agora é a recompensa imediata mais o que vou ganhar a partir do próximo passo, com desconto". Tomando a esperança, chegamos à equação de Bellman para vπ: Em palavras: o valor de um estado é a média, sobre as ações possíveis e seus resultados possíveis, de (recompensa imediata + γ × valor do estado seguinte). A equação relaciona o valor de um estado ao valor de seus vizinhos. Isso permite calcular valores sem simular infinitos passos, e inspira os algoritmos dos próximos capítulos. Num MDP pequeno, a equação de Bellman é um sistema de equações lineares. Com Pπ (a matriz de transição sob a política) e rπ (o vetor de recompensas esperadas): Dá para resolver diretamente com np.linalg.solve. O custo cresce com o cubo do número de estados, por isso só serve para problemas pequenos.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3.4 — Diagramas de retroação (backup): o valor de um estado (esquerda) é calculado a partir dos valores dos estados seguintes, ponderando ações e transições.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Queremos a melhor política. Dizemos que π é melhor ou igual a π′ se vπ(s) ≥ vπ′(s) para todo estado s. Existe sempre ao menos uma política ótima, π*, com valores v* e q*. A equação de otimalidade de Bellman troca a média sobre ações por um máximo: Em palavras: o valor ótimo de um estado é o do melhor movimento disponível, supondo que eu jogue otimamente depois. Conhecendo q*, a política ótima é trivial: escolha, em cada estado, a ação de maior q*: É por isso que boa parte do AR se resume a estimar bem a função q. Isso vale para o Q-learning (Capítulo 6) e para o DQN (Capítulo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Resolver o sistema exato é raramente possível: Os próximos capítulos atacam, um a um, esses obstáculos. Quando o agente não observa o estado completo, temos um MDP parcialmente observável (POMDP). O agente recebe apenas uma observação, que traz pistas sobre o estado real (KAELBLING; LITTMAN; CASSANDRA, 1998). No pôquer, você não vê as cartas do adversário. A solução geral mantém uma crença (distribuição de probabilidade sobre os estados possíveis) ou memória do passado.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Dois cuidados práticos, que valem para todo o livro: Em palavras: você pode premiar o agente por "chegar mais perto" (Φ maior), desde que desconte o mesmo potencial na saída. Assim, ele não aprende atalhos que enganam o objetivo.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 os códigos do capítulo ao vivo ou peça que os alunos rodem em duplas.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3.5 — O FrozenLake e o valor de cada casa sob a política aleatória: as casas perto da meta valem mais.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Objetivo: estudar como as escolhas de modelagem (número de estados, desconto) mudam o valor estimado dos clientes. Tarefas: Ponto de partida: Entrega: notebook com código, tabela de resultados por k e γ e a conclusão.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A propriedade depende de como definimos o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π(s) devolve uma ação para cada estado.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a. Recarregar dá recompensa 0 e leva à alta: 0,9 × 31,5 = 28,35.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Existe ao menos uma política determinística ótima (Puterman, 1994).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Divida a turma em grupos de 3 a 4 pessoas; 5 minutos de discussão e depois compartilhamento.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Encerre retomando a pergunta central e antecipando o próximo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URO">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Banner" descr="/home/user/claude/livro-rl/figs/banner3.png">    </p:cNvPr>
          <p:cNvPicPr>
            <a:picLocks noChangeAspect="1"/>
          </p:cNvPicPr>
          <p:nvPr/>
        </p:nvPicPr>
        <p:blipFill>
          <a:blip r:embed="rId1"/>
          <a:stretch>
            <a:fillRect/>
          </a:stretch>
        </p:blipFill>
        <p:spPr>
          <a:xfrm>
            <a:off x="0" y="320040"/>
            <a:ext cx="9144000" cy="1721877"/>
          </a:xfrm>
          <a:prstGeom prst="rect">
            <a:avLst/>
          </a:prstGeom>
        </p:spPr>
      </p:pic>
      <p:sp>
        <p:nvSpPr>
          <p:cNvPr id="4" name="Título"/>
          <p:cNvSpPr txBox="1"/>
          <p:nvPr/>
        </p:nvSpPr>
        <p:spPr>
          <a:xfrm>
            <a:off x="548640" y="2331720"/>
            <a:ext cx="8046720" cy="137160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Processos de Decisão de Markov</a:t>
            </a:r>
            <a:endParaRPr lang="en-US" sz="3800" dirty="0"/>
          </a:p>
        </p:txBody>
      </p:sp>
      <p:sp>
        <p:nvSpPr>
          <p:cNvPr id="5" name="Text 1"/>
          <p:cNvSpPr txBox="1"/>
          <p:nvPr/>
        </p:nvSpPr>
        <p:spPr>
          <a:xfrm>
            <a:off x="548640" y="3794760"/>
            <a:ext cx="5486400" cy="365760"/>
          </a:xfrm>
          <a:prstGeom prst="rect">
            <a:avLst/>
          </a:prstGeom>
          <a:noFill/>
          <a:ln/>
        </p:spPr>
        <p:txBody>
          <a:bodyPr wrap="square" lIns="0" tIns="0" rIns="0" bIns="0" rtlCol="0" anchor="ctr"/>
          <a:lstStyle/>
          <a:p>
            <a:pPr indent="0" marL="0">
              <a:buNone/>
            </a:pPr>
            <a:r>
              <a:rPr lang="en-US" sz="1800" b="1" dirty="0">
                <a:solidFill>
                  <a:schemeClr val="accent1"/>
                </a:solidFill>
              </a:rPr>
              <a:t>Aprendizado por Reforço</a:t>
            </a:r>
            <a:endParaRPr lang="en-US" sz="1800" dirty="0"/>
          </a:p>
        </p:txBody>
      </p:sp>
      <p:sp>
        <p:nvSpPr>
          <p:cNvPr id="6" name="Text 2"/>
          <p:cNvSpPr txBox="1"/>
          <p:nvPr/>
        </p:nvSpPr>
        <p:spPr>
          <a:xfrm>
            <a:off x="548640" y="4160520"/>
            <a:ext cx="5486400" cy="365760"/>
          </a:xfrm>
          <a:prstGeom prst="rect">
            <a:avLst/>
          </a:prstGeom>
          <a:noFill/>
          <a:ln/>
        </p:spPr>
        <p:txBody>
          <a:bodyPr wrap="square" lIns="0" tIns="0" rIns="0" bIns="0" rtlCol="0" anchor="ctr"/>
          <a:lstStyle/>
          <a:p>
            <a:pPr indent="0" marL="0">
              <a:buNone/>
            </a:pPr>
            <a:r>
              <a:rPr lang="en-US" sz="1600" dirty="0">
                <a:solidFill>
                  <a:schemeClr val="accent6"/>
                </a:solidFill>
              </a:rPr>
              <a:t>Araken de Medeiros Santos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você vai aprender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Explicar a propriedade de Markov e por que ela simplifica o problema de decisão.</a:t>
            </a:r>
            <a:endParaRPr lang="en-US" sz="16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Descrever um problema como um MDP: estados, ações, transições, recompensas e desconto.</a:t>
            </a:r>
            <a:endParaRPr lang="en-US" sz="1600" dirty="0"/>
          </a:p>
        </p:txBody>
      </p:sp>
      <p:sp>
        <p:nvSpPr>
          <p:cNvPr id="11"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414016"/>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Distinguir política determinística e estocástica.</a:t>
            </a:r>
            <a:endParaRPr lang="en-US" sz="1600" dirty="0"/>
          </a:p>
        </p:txBody>
      </p:sp>
      <p:sp>
        <p:nvSpPr>
          <p:cNvPr id="14" name="Cartão"/>
          <p:cNvSpPr/>
          <p:nvPr/>
        </p:nvSpPr>
        <p:spPr>
          <a:xfrm>
            <a:off x="457200" y="2944368"/>
            <a:ext cx="8229600" cy="475488"/>
          </a:xfrm>
          <a:prstGeom prst="roundRect">
            <a:avLst>
              <a:gd name="adj" fmla="val 23077"/>
            </a:avLst>
          </a:prstGeom>
          <a:solidFill>
            <a:schemeClr val="bg2"/>
          </a:solidFill>
          <a:ln w="12700">
            <a:solidFill>
              <a:schemeClr val="bg2"/>
            </a:solidFill>
            <a:prstDash val="solid"/>
          </a:ln>
        </p:spPr>
      </p:sp>
      <p:sp>
        <p:nvSpPr>
          <p:cNvPr id="15" name="Número"/>
          <p:cNvSpPr/>
          <p:nvPr/>
        </p:nvSpPr>
        <p:spPr>
          <a:xfrm>
            <a:off x="594360" y="299923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294436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Definir funções valor v e q e calcular um valor pela equação de Bellman.</a:t>
            </a:r>
            <a:endParaRPr lang="en-US" sz="1600" dirty="0"/>
          </a:p>
        </p:txBody>
      </p:sp>
      <p:sp>
        <p:nvSpPr>
          <p:cNvPr id="17" name="Cartão"/>
          <p:cNvSpPr/>
          <p:nvPr/>
        </p:nvSpPr>
        <p:spPr>
          <a:xfrm>
            <a:off x="457200" y="3529584"/>
            <a:ext cx="8229600" cy="475488"/>
          </a:xfrm>
          <a:prstGeom prst="roundRect">
            <a:avLst>
              <a:gd name="adj" fmla="val 23077"/>
            </a:avLst>
          </a:prstGeom>
          <a:solidFill>
            <a:schemeClr val="bg2"/>
          </a:solidFill>
          <a:ln w="12700">
            <a:solidFill>
              <a:schemeClr val="bg2"/>
            </a:solidFill>
            <a:prstDash val="solid"/>
          </a:ln>
        </p:spPr>
      </p:sp>
      <p:sp>
        <p:nvSpPr>
          <p:cNvPr id="18" name="Número"/>
          <p:cNvSpPr/>
          <p:nvPr/>
        </p:nvSpPr>
        <p:spPr>
          <a:xfrm>
            <a:off x="594360" y="358444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529584"/>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Resolver pequenos MDPs por álgebra linear e por enumeração de políticas.</a:t>
            </a:r>
            <a:endParaRPr lang="en-US" sz="1600" dirty="0"/>
          </a:p>
        </p:txBody>
      </p:sp>
      <p:sp>
        <p:nvSpPr>
          <p:cNvPr id="20" name="Cartão"/>
          <p:cNvSpPr/>
          <p:nvPr/>
        </p:nvSpPr>
        <p:spPr>
          <a:xfrm>
            <a:off x="457200" y="4114800"/>
            <a:ext cx="8229600" cy="475488"/>
          </a:xfrm>
          <a:prstGeom prst="roundRect">
            <a:avLst>
              <a:gd name="adj" fmla="val 23077"/>
            </a:avLst>
          </a:prstGeom>
          <a:solidFill>
            <a:schemeClr val="bg2"/>
          </a:solidFill>
          <a:ln w="12700">
            <a:solidFill>
              <a:schemeClr val="bg2"/>
            </a:solidFill>
            <a:prstDash val="solid"/>
          </a:ln>
        </p:spPr>
      </p:sp>
      <p:sp>
        <p:nvSpPr>
          <p:cNvPr id="21" name="Número"/>
          <p:cNvSpPr/>
          <p:nvPr/>
        </p:nvSpPr>
        <p:spPr>
          <a:xfrm>
            <a:off x="594360" y="4169664"/>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o"/>
          <p:cNvSpPr txBox="1"/>
          <p:nvPr/>
        </p:nvSpPr>
        <p:spPr>
          <a:xfrm>
            <a:off x="1097280" y="411480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Estimar uma cadeia de Markov a partir de dados reais com scikit-learn.</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Roteiro da aula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5" name="Cartão"/>
          <p:cNvSpPr/>
          <p:nvPr/>
        </p:nvSpPr>
        <p:spPr>
          <a:xfrm>
            <a:off x="457200" y="1234440"/>
            <a:ext cx="4023360" cy="475488"/>
          </a:xfrm>
          <a:prstGeom prst="roundRect">
            <a:avLst>
              <a:gd name="adj" fmla="val 19231"/>
            </a:avLst>
          </a:prstGeom>
          <a:solidFill>
            <a:schemeClr val="bg2"/>
          </a:solidFill>
          <a:ln w="12700">
            <a:solidFill>
              <a:schemeClr val="bg2"/>
            </a:solidFill>
            <a:prstDash val="solid"/>
          </a:ln>
        </p:spPr>
      </p:sp>
      <p:sp>
        <p:nvSpPr>
          <p:cNvPr id="6" name="Text 3"/>
          <p:cNvSpPr/>
          <p:nvPr/>
        </p:nvSpPr>
        <p:spPr>
          <a:xfrm>
            <a:off x="548640" y="1307592"/>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4"/>
          <p:cNvSpPr txBox="1"/>
          <p:nvPr/>
        </p:nvSpPr>
        <p:spPr>
          <a:xfrm>
            <a:off x="100584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Das máquinas ao mundo que muda</a:t>
            </a:r>
            <a:endParaRPr lang="en-US" sz="1400" dirty="0"/>
          </a:p>
        </p:txBody>
      </p:sp>
      <p:sp>
        <p:nvSpPr>
          <p:cNvPr id="8" name="Cartão"/>
          <p:cNvSpPr/>
          <p:nvPr/>
        </p:nvSpPr>
        <p:spPr>
          <a:xfrm>
            <a:off x="4663440" y="1234440"/>
            <a:ext cx="4023360" cy="475488"/>
          </a:xfrm>
          <a:prstGeom prst="roundRect">
            <a:avLst>
              <a:gd name="adj" fmla="val 19231"/>
            </a:avLst>
          </a:prstGeom>
          <a:solidFill>
            <a:schemeClr val="bg2"/>
          </a:solidFill>
          <a:ln w="12700">
            <a:solidFill>
              <a:schemeClr val="bg2"/>
            </a:solidFill>
            <a:prstDash val="solid"/>
          </a:ln>
        </p:spPr>
      </p:sp>
      <p:sp>
        <p:nvSpPr>
          <p:cNvPr id="9" name="Text 6"/>
          <p:cNvSpPr/>
          <p:nvPr/>
        </p:nvSpPr>
        <p:spPr>
          <a:xfrm>
            <a:off x="4754880" y="1307592"/>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7"/>
          <p:cNvSpPr txBox="1"/>
          <p:nvPr/>
        </p:nvSpPr>
        <p:spPr>
          <a:xfrm>
            <a:off x="521208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A propriedade de Markov: o presente basta</a:t>
            </a:r>
            <a:endParaRPr lang="en-US" sz="1400" dirty="0"/>
          </a:p>
        </p:txBody>
      </p:sp>
      <p:sp>
        <p:nvSpPr>
          <p:cNvPr id="11" name="Cartão"/>
          <p:cNvSpPr/>
          <p:nvPr/>
        </p:nvSpPr>
        <p:spPr>
          <a:xfrm>
            <a:off x="457200" y="1801368"/>
            <a:ext cx="4023360" cy="475488"/>
          </a:xfrm>
          <a:prstGeom prst="roundRect">
            <a:avLst>
              <a:gd name="adj" fmla="val 19231"/>
            </a:avLst>
          </a:prstGeom>
          <a:solidFill>
            <a:schemeClr val="bg2"/>
          </a:solidFill>
          <a:ln w="12700">
            <a:solidFill>
              <a:schemeClr val="bg2"/>
            </a:solidFill>
            <a:prstDash val="solid"/>
          </a:ln>
        </p:spPr>
      </p:sp>
      <p:sp>
        <p:nvSpPr>
          <p:cNvPr id="12" name="Text 9"/>
          <p:cNvSpPr/>
          <p:nvPr/>
        </p:nvSpPr>
        <p:spPr>
          <a:xfrm>
            <a:off x="548640" y="187452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0"/>
          <p:cNvSpPr txBox="1"/>
          <p:nvPr/>
        </p:nvSpPr>
        <p:spPr>
          <a:xfrm>
            <a:off x="100584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Cadeias de Markov e processos de recompensa</a:t>
            </a:r>
            <a:endParaRPr lang="en-US" sz="1400" dirty="0"/>
          </a:p>
        </p:txBody>
      </p:sp>
      <p:sp>
        <p:nvSpPr>
          <p:cNvPr id="14" name="Cartão"/>
          <p:cNvSpPr/>
          <p:nvPr/>
        </p:nvSpPr>
        <p:spPr>
          <a:xfrm>
            <a:off x="4663440" y="1801368"/>
            <a:ext cx="4023360" cy="475488"/>
          </a:xfrm>
          <a:prstGeom prst="roundRect">
            <a:avLst>
              <a:gd name="adj" fmla="val 19231"/>
            </a:avLst>
          </a:prstGeom>
          <a:solidFill>
            <a:schemeClr val="bg2"/>
          </a:solidFill>
          <a:ln w="12700">
            <a:solidFill>
              <a:schemeClr val="bg2"/>
            </a:solidFill>
            <a:prstDash val="solid"/>
          </a:ln>
        </p:spPr>
      </p:sp>
      <p:sp>
        <p:nvSpPr>
          <p:cNvPr id="15" name="Text 12"/>
          <p:cNvSpPr/>
          <p:nvPr/>
        </p:nvSpPr>
        <p:spPr>
          <a:xfrm>
            <a:off x="4754880" y="1874520"/>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3"/>
          <p:cNvSpPr txBox="1"/>
          <p:nvPr/>
        </p:nvSpPr>
        <p:spPr>
          <a:xfrm>
            <a:off x="521208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 MDP: a definição formal</a:t>
            </a:r>
            <a:endParaRPr lang="en-US" sz="1400" dirty="0"/>
          </a:p>
        </p:txBody>
      </p:sp>
      <p:sp>
        <p:nvSpPr>
          <p:cNvPr id="17" name="Cartão"/>
          <p:cNvSpPr/>
          <p:nvPr/>
        </p:nvSpPr>
        <p:spPr>
          <a:xfrm>
            <a:off x="457200" y="2368296"/>
            <a:ext cx="4023360" cy="475488"/>
          </a:xfrm>
          <a:prstGeom prst="roundRect">
            <a:avLst>
              <a:gd name="adj" fmla="val 19231"/>
            </a:avLst>
          </a:prstGeom>
          <a:solidFill>
            <a:schemeClr val="bg2"/>
          </a:solidFill>
          <a:ln w="12700">
            <a:solidFill>
              <a:schemeClr val="bg2"/>
            </a:solidFill>
            <a:prstDash val="solid"/>
          </a:ln>
        </p:spPr>
      </p:sp>
      <p:sp>
        <p:nvSpPr>
          <p:cNvPr id="18" name="Text 15"/>
          <p:cNvSpPr/>
          <p:nvPr/>
        </p:nvSpPr>
        <p:spPr>
          <a:xfrm>
            <a:off x="548640" y="2441448"/>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6"/>
          <p:cNvSpPr txBox="1"/>
          <p:nvPr/>
        </p:nvSpPr>
        <p:spPr>
          <a:xfrm>
            <a:off x="100584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Um exemplo completo: o robô de entrega</a:t>
            </a:r>
            <a:endParaRPr lang="en-US" sz="1400" dirty="0"/>
          </a:p>
        </p:txBody>
      </p:sp>
      <p:sp>
        <p:nvSpPr>
          <p:cNvPr id="20" name="Cartão"/>
          <p:cNvSpPr/>
          <p:nvPr/>
        </p:nvSpPr>
        <p:spPr>
          <a:xfrm>
            <a:off x="4663440" y="2368296"/>
            <a:ext cx="4023360" cy="475488"/>
          </a:xfrm>
          <a:prstGeom prst="roundRect">
            <a:avLst>
              <a:gd name="adj" fmla="val 19231"/>
            </a:avLst>
          </a:prstGeom>
          <a:solidFill>
            <a:schemeClr val="bg2"/>
          </a:solidFill>
          <a:ln w="12700">
            <a:solidFill>
              <a:schemeClr val="bg2"/>
            </a:solidFill>
            <a:prstDash val="solid"/>
          </a:ln>
        </p:spPr>
      </p:sp>
      <p:sp>
        <p:nvSpPr>
          <p:cNvPr id="21" name="Text 18"/>
          <p:cNvSpPr/>
          <p:nvPr/>
        </p:nvSpPr>
        <p:spPr>
          <a:xfrm>
            <a:off x="4754880" y="2441448"/>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2" name="Text 19"/>
          <p:cNvSpPr txBox="1"/>
          <p:nvPr/>
        </p:nvSpPr>
        <p:spPr>
          <a:xfrm>
            <a:off x="521208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Políticas</a:t>
            </a:r>
            <a:endParaRPr lang="en-US" sz="1400" dirty="0"/>
          </a:p>
        </p:txBody>
      </p:sp>
      <p:sp>
        <p:nvSpPr>
          <p:cNvPr id="23" name="Cartão"/>
          <p:cNvSpPr/>
          <p:nvPr/>
        </p:nvSpPr>
        <p:spPr>
          <a:xfrm>
            <a:off x="457200" y="2935224"/>
            <a:ext cx="4023360" cy="475488"/>
          </a:xfrm>
          <a:prstGeom prst="roundRect">
            <a:avLst>
              <a:gd name="adj" fmla="val 19231"/>
            </a:avLst>
          </a:prstGeom>
          <a:solidFill>
            <a:schemeClr val="bg2"/>
          </a:solidFill>
          <a:ln w="12700">
            <a:solidFill>
              <a:schemeClr val="bg2"/>
            </a:solidFill>
            <a:prstDash val="solid"/>
          </a:ln>
        </p:spPr>
      </p:sp>
      <p:sp>
        <p:nvSpPr>
          <p:cNvPr id="24" name="Text 21"/>
          <p:cNvSpPr/>
          <p:nvPr/>
        </p:nvSpPr>
        <p:spPr>
          <a:xfrm>
            <a:off x="548640" y="300837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5" name="Text 22"/>
          <p:cNvSpPr txBox="1"/>
          <p:nvPr/>
        </p:nvSpPr>
        <p:spPr>
          <a:xfrm>
            <a:off x="100584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Funções valor: quão bom é estar aqui?</a:t>
            </a:r>
            <a:endParaRPr lang="en-US" sz="1400" dirty="0"/>
          </a:p>
        </p:txBody>
      </p:sp>
      <p:sp>
        <p:nvSpPr>
          <p:cNvPr id="26" name="Cartão"/>
          <p:cNvSpPr/>
          <p:nvPr/>
        </p:nvSpPr>
        <p:spPr>
          <a:xfrm>
            <a:off x="4663440" y="2935224"/>
            <a:ext cx="4023360" cy="475488"/>
          </a:xfrm>
          <a:prstGeom prst="roundRect">
            <a:avLst>
              <a:gd name="adj" fmla="val 19231"/>
            </a:avLst>
          </a:prstGeom>
          <a:solidFill>
            <a:schemeClr val="bg2"/>
          </a:solidFill>
          <a:ln w="12700">
            <a:solidFill>
              <a:schemeClr val="bg2"/>
            </a:solidFill>
            <a:prstDash val="solid"/>
          </a:ln>
        </p:spPr>
      </p:sp>
      <p:sp>
        <p:nvSpPr>
          <p:cNvPr id="27" name="Text 24"/>
          <p:cNvSpPr/>
          <p:nvPr/>
        </p:nvSpPr>
        <p:spPr>
          <a:xfrm>
            <a:off x="4754880" y="3008376"/>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28" name="Text 25"/>
          <p:cNvSpPr txBox="1"/>
          <p:nvPr/>
        </p:nvSpPr>
        <p:spPr>
          <a:xfrm>
            <a:off x="521208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A equação de Bellman</a:t>
            </a:r>
            <a:endParaRPr lang="en-US" sz="1400" dirty="0"/>
          </a:p>
        </p:txBody>
      </p:sp>
      <p:sp>
        <p:nvSpPr>
          <p:cNvPr id="29" name="Cartão"/>
          <p:cNvSpPr/>
          <p:nvPr/>
        </p:nvSpPr>
        <p:spPr>
          <a:xfrm>
            <a:off x="457200" y="3502152"/>
            <a:ext cx="4023360" cy="475488"/>
          </a:xfrm>
          <a:prstGeom prst="roundRect">
            <a:avLst>
              <a:gd name="adj" fmla="val 19231"/>
            </a:avLst>
          </a:prstGeom>
          <a:solidFill>
            <a:schemeClr val="bg2"/>
          </a:solidFill>
          <a:ln w="12700">
            <a:solidFill>
              <a:schemeClr val="bg2"/>
            </a:solidFill>
            <a:prstDash val="solid"/>
          </a:ln>
        </p:spPr>
      </p:sp>
      <p:sp>
        <p:nvSpPr>
          <p:cNvPr id="30" name="Text 27"/>
          <p:cNvSpPr/>
          <p:nvPr/>
        </p:nvSpPr>
        <p:spPr>
          <a:xfrm>
            <a:off x="548640" y="3575304"/>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31" name="Text 28"/>
          <p:cNvSpPr txBox="1"/>
          <p:nvPr/>
        </p:nvSpPr>
        <p:spPr>
          <a:xfrm>
            <a:off x="100584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Otimalidade</a:t>
            </a:r>
            <a:endParaRPr lang="en-US" sz="1400" dirty="0"/>
          </a:p>
        </p:txBody>
      </p:sp>
      <p:sp>
        <p:nvSpPr>
          <p:cNvPr id="32" name="Cartão"/>
          <p:cNvSpPr/>
          <p:nvPr/>
        </p:nvSpPr>
        <p:spPr>
          <a:xfrm>
            <a:off x="4663440" y="3502152"/>
            <a:ext cx="4023360" cy="475488"/>
          </a:xfrm>
          <a:prstGeom prst="roundRect">
            <a:avLst>
              <a:gd name="adj" fmla="val 19231"/>
            </a:avLst>
          </a:prstGeom>
          <a:solidFill>
            <a:schemeClr val="bg2"/>
          </a:solidFill>
          <a:ln w="12700">
            <a:solidFill>
              <a:schemeClr val="bg2"/>
            </a:solidFill>
            <a:prstDash val="solid"/>
          </a:ln>
        </p:spPr>
      </p:sp>
      <p:sp>
        <p:nvSpPr>
          <p:cNvPr id="33" name="Text 30"/>
          <p:cNvSpPr/>
          <p:nvPr/>
        </p:nvSpPr>
        <p:spPr>
          <a:xfrm>
            <a:off x="4754880" y="3575304"/>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34" name="Text 31"/>
          <p:cNvSpPr txBox="1"/>
          <p:nvPr/>
        </p:nvSpPr>
        <p:spPr>
          <a:xfrm>
            <a:off x="521208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Quando as equações não bastam</a:t>
            </a:r>
            <a:endParaRPr lang="en-US" sz="1400" dirty="0"/>
          </a:p>
        </p:txBody>
      </p:sp>
      <p:sp>
        <p:nvSpPr>
          <p:cNvPr id="35" name="Cartão"/>
          <p:cNvSpPr/>
          <p:nvPr/>
        </p:nvSpPr>
        <p:spPr>
          <a:xfrm>
            <a:off x="457200" y="4069080"/>
            <a:ext cx="4023360" cy="475488"/>
          </a:xfrm>
          <a:prstGeom prst="roundRect">
            <a:avLst>
              <a:gd name="adj" fmla="val 19231"/>
            </a:avLst>
          </a:prstGeom>
          <a:solidFill>
            <a:schemeClr val="bg2"/>
          </a:solidFill>
          <a:ln w="12700">
            <a:solidFill>
              <a:schemeClr val="bg2"/>
            </a:solidFill>
            <a:prstDash val="solid"/>
          </a:ln>
        </p:spPr>
      </p:sp>
      <p:sp>
        <p:nvSpPr>
          <p:cNvPr id="36" name="Text 33"/>
          <p:cNvSpPr/>
          <p:nvPr/>
        </p:nvSpPr>
        <p:spPr>
          <a:xfrm>
            <a:off x="548640" y="414223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37" name="Text 34"/>
          <p:cNvSpPr txBox="1"/>
          <p:nvPr/>
        </p:nvSpPr>
        <p:spPr>
          <a:xfrm>
            <a:off x="100584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Projetando estados e recompensas</a:t>
            </a:r>
            <a:endParaRPr lang="en-US" sz="1400" dirty="0"/>
          </a:p>
        </p:txBody>
      </p:sp>
      <p:sp>
        <p:nvSpPr>
          <p:cNvPr id="38" name="Cartão"/>
          <p:cNvSpPr/>
          <p:nvPr/>
        </p:nvSpPr>
        <p:spPr>
          <a:xfrm>
            <a:off x="4663440" y="4069080"/>
            <a:ext cx="4023360" cy="475488"/>
          </a:xfrm>
          <a:prstGeom prst="roundRect">
            <a:avLst>
              <a:gd name="adj" fmla="val 19231"/>
            </a:avLst>
          </a:prstGeom>
          <a:solidFill>
            <a:schemeClr val="bg2"/>
          </a:solidFill>
          <a:ln w="12700">
            <a:solidFill>
              <a:schemeClr val="bg2"/>
            </a:solidFill>
            <a:prstDash val="solid"/>
          </a:ln>
        </p:spPr>
      </p:sp>
      <p:sp>
        <p:nvSpPr>
          <p:cNvPr id="39" name="Text 36"/>
          <p:cNvSpPr/>
          <p:nvPr/>
        </p:nvSpPr>
        <p:spPr>
          <a:xfrm>
            <a:off x="4754880" y="4142232"/>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40" name="Text 37"/>
          <p:cNvSpPr txBox="1"/>
          <p:nvPr/>
        </p:nvSpPr>
        <p:spPr>
          <a:xfrm>
            <a:off x="521208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Mão na massa</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Das máquinas ao mundo que muda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3.1</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No capítulo anterior, a escolha de uma máquina não alterava o cassino.</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Quando a ação de agora altera o estado futuro e, portanto, as recompensas futuras, entramos no coração do AR.</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Etiqueta"/>
          <p:cNvSpPr/>
          <p:nvPr/>
        </p:nvSpPr>
        <p:spPr>
          <a:xfrm>
            <a:off x="548640" y="6400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tx2"/>
                </a:solidFill>
              </a:rPr>
              <a:t>MEMORIZE</a:t>
            </a:r>
            <a:endParaRPr lang="en-US" sz="1300" dirty="0"/>
          </a:p>
        </p:txBody>
      </p:sp>
      <p:sp>
        <p:nvSpPr>
          <p:cNvPr id="4" name="Frase"/>
          <p:cNvSpPr txBox="1"/>
          <p:nvPr/>
        </p:nvSpPr>
        <p:spPr>
          <a:xfrm>
            <a:off x="731520" y="1280160"/>
            <a:ext cx="7680960" cy="2926080"/>
          </a:xfrm>
          <a:prstGeom prst="rect">
            <a:avLst/>
          </a:prstGeom>
          <a:noFill/>
          <a:ln/>
        </p:spPr>
        <p:txBody>
          <a:bodyPr wrap="square" lIns="0" tIns="0" rIns="0" bIns="0" rtlCol="0" anchor="ctr">
            <a:normAutofit/>
          </a:bodyPr>
          <a:lstStyle/>
          <a:p>
            <a:pPr indent="0" marL="0">
              <a:buNone/>
            </a:pPr>
            <a:r>
              <a:rPr lang="en-US" sz="2800" i="1" dirty="0">
                <a:solidFill>
                  <a:schemeClr val="bg1"/>
                </a:solidFill>
                <a:latin typeface="Cambria" pitchFamily="34" charset="0"/>
                <a:ea typeface="Cambria" pitchFamily="34" charset="-122"/>
                <a:cs typeface="Cambria" pitchFamily="34" charset="-120"/>
              </a:rPr>
              <a:t>Um MDP é um modelo matemático de decisões em sequência, em que cada ação gera uma recompensa e leva a um novo estado.</a:t>
            </a:r>
            <a:endParaRPr lang="en-US" sz="2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propriedade de Markov: o presente basta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3.2</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Pense num jogo de damas.</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 isso chamamos propriedade de Markov: o futuro depende do passado apenas através do estado presente.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propriedade de Markov: o presente basta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Propriedade de Markov: o estado presente contém toda a informação relevante para prever o que vem a seguir.">    </p:cNvPr>
          <p:cNvPicPr>
            <a:picLocks noChangeAspect="1"/>
          </p:cNvPicPr>
          <p:nvPr/>
        </p:nvPicPr>
        <p:blipFill>
          <a:blip r:embed="rId1"/>
          <a:stretch>
            <a:fillRect/>
          </a:stretch>
        </p:blipFill>
        <p:spPr>
          <a:xfrm>
            <a:off x="457200" y="1481444"/>
            <a:ext cx="8229600" cy="2203473"/>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Propriedade de Markov: o estado presente contém toda a informação relevante para prever o que vem a seguir.</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 contraexemplo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No dia a dia</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Se você vê apenas uma foto de um carro, não sabe se ele está acelerando ou freando.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responsabilidade é do projetista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Atenção</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 propriedade de Markov é uma característica da forma como definimos o estado.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Cadeias de Markov e processos de recompensa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3.3</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Antes das ações, vejamos o caso mais simples: um sistema que evolui sozinho.</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Considere os clientes de uma loja, classificados em cinco segmentos: novo, regular, fiel, em risco e inativo.</a:t>
            </a:r>
            <a:endParaRPr lang="en-US" sz="1800" dirty="0"/>
          </a:p>
        </p:txBody>
      </p:sp>
      <p:sp>
        <p:nvSpPr>
          <p:cNvPr id="11" name="Cartão"/>
          <p:cNvSpPr/>
          <p:nvPr/>
        </p:nvSpPr>
        <p:spPr>
          <a:xfrm>
            <a:off x="457200" y="2578608"/>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7432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78608"/>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Podemos reunir as probabilidades numa matriz de transição P: a linha i e a coluna j guardam a probabilidade de ir de i para j.</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Cadeias de Markov e processos de recompensa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Cadeia de Markov de clientes.">    </p:cNvPr>
          <p:cNvPicPr>
            <a:picLocks noChangeAspect="1"/>
          </p:cNvPicPr>
          <p:nvPr/>
        </p:nvPicPr>
        <p:blipFill>
          <a:blip r:embed="rId1"/>
          <a:stretch>
            <a:fillRect/>
          </a:stretch>
        </p:blipFill>
        <p:spPr>
          <a:xfrm>
            <a:off x="1464362" y="1143000"/>
            <a:ext cx="6215277"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Cadeia de Markov de clientes.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MDP: a definição formal</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3.4</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 partir dela calculamos a recompensa esperada de um par estado-ação, r(s, a), e as probabilidades de transição p(s′ | s, a).</a:t>
            </a:r>
            <a:endParaRPr lang="en-US" sz="1800" dirty="0"/>
          </a:p>
        </p:txBody>
      </p:sp>
      <p:sp>
        <p:nvSpPr>
          <p:cNvPr id="8" name="Cartão"/>
          <p:cNvSpPr/>
          <p:nvPr/>
        </p:nvSpPr>
        <p:spPr>
          <a:xfrm>
            <a:off x="457200" y="1993392"/>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21579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Quando o MDP é "conhecido" ou "desconhecido": No MDP conhecido, temos a tabela p completa.</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MDP: a definição formal</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Quadro</a:t>
            </a:r>
            <a:endParaRPr lang="en-US" sz="1200" dirty="0"/>
          </a:p>
        </p:txBody>
      </p:sp>
      <p:graphicFrame>
        <p:nvGraphicFramePr>
          <p:cNvPr id="14" name="Tabela"/>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743200"/>
                <a:gridCol w="2743200"/>
                <a:gridCol w="2743200"/>
              </a:tblGrid>
              <a:tr h="0">
                <a:tc>
                  <a:txBody>
                    <a:bodyPr/>
                    <a:lstStyle/>
                    <a:p>
                      <a:pPr indent="0" marL="0">
                        <a:buNone/>
                      </a:pPr>
                      <a:r>
                        <a:rPr lang="en-US" sz="1300" b="1" dirty="0">
                          <a:solidFill>
                            <a:schemeClr val="bg1"/>
                          </a:solidFill>
                        </a:rPr>
                        <a:t>Símbolo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Nome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Significado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Estados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Todas as situações possíveis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Ações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O que o agente pode fazer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p</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Dinâmica (transições)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Probabilidade de ir a s′ e receber r, dado s e 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Recompensas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Número recebido após a ação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γ</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Desconto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Peso do futuro (0 ≤ γ ≤ 1)</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MDP: a definição formal</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2200" dirty="0">
                <a:solidFill>
                  <a:schemeClr val="bg1"/>
                </a:solidFill>
                <a:latin typeface="Cambria" pitchFamily="34" charset="0"/>
                <a:ea typeface="Cambria" pitchFamily="34" charset="-122"/>
                <a:cs typeface="Cambria" pitchFamily="34" charset="-120"/>
              </a:rPr>
              <a:t>p(s′, r | s, a) = Probabilidade[ Sₜ₊₁ = s′, Rₜ₊₁ = r | Sₜ = s, Aₜ = a ]</a:t>
            </a:r>
            <a:endParaRPr lang="en-US" sz="22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"se estou em s e faço a, qual a chance de acabar em s′ ganhando r?".</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 exemplo completo: o robô de entrega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3.5</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Um robô de entrega pode estar com bateria alta ou baixa.</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Há um dilema claro: buscar com bateria baixa rende bem, mas arrisca ficar parado e ter de ser resgatado.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 exemplo completo: o robô de entrega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O MDP do robô de entrega.">    </p:cNvPr>
          <p:cNvPicPr>
            <a:picLocks noChangeAspect="1"/>
          </p:cNvPicPr>
          <p:nvPr/>
        </p:nvPicPr>
        <p:blipFill>
          <a:blip r:embed="rId1"/>
          <a:stretch>
            <a:fillRect/>
          </a:stretch>
        </p:blipFill>
        <p:spPr>
          <a:xfrm>
            <a:off x="1887940" y="1143000"/>
            <a:ext cx="5368120"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O MDP do robô de entrega.</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 exemplo completo: o robô de entrega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Quadro</a:t>
            </a:r>
            <a:endParaRPr lang="en-US" sz="1200" dirty="0"/>
          </a:p>
        </p:txBody>
      </p:sp>
      <p:graphicFrame>
        <p:nvGraphicFramePr>
          <p:cNvPr id="18" name="Tabela"/>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300" b="1" dirty="0">
                          <a:solidFill>
                            <a:schemeClr val="bg1"/>
                          </a:solidFill>
                        </a:rPr>
                        <a:t>Estado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Ação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Resultado (probabilidade)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Recompensa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Alta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buscar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Alta (0,7); Baixa (0,3)</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Alta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esperar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Alta (1,0)</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+1</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Baixa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buscar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Baixa (0,6)</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+4</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Baixa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buscar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Alta (0,4), após ser resgatado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Baixa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esperar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Baixa (1,0)</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+1</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Baixa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recarregar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Alta (1,0)</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0</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Políticas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3.6</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política é a regra de decisão do agente:</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Determinística: a cada estado corresponde uma ação.</a:t>
            </a:r>
            <a:endParaRPr lang="en-US" sz="1600" dirty="0"/>
          </a:p>
        </p:txBody>
      </p:sp>
      <p:sp>
        <p:nvSpPr>
          <p:cNvPr id="11" name="Cartão"/>
          <p:cNvSpPr/>
          <p:nvPr/>
        </p:nvSpPr>
        <p:spPr>
          <a:xfrm>
            <a:off x="868680" y="2359152"/>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542032"/>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Estocástica: a cada estado corresponde uma distribuição sobre ações.</a:t>
            </a:r>
            <a:endParaRPr lang="en-US" sz="1600" dirty="0"/>
          </a:p>
        </p:txBody>
      </p:sp>
      <p:sp>
        <p:nvSpPr>
          <p:cNvPr id="14" name="Cartão"/>
          <p:cNvSpPr/>
          <p:nvPr/>
        </p:nvSpPr>
        <p:spPr>
          <a:xfrm>
            <a:off x="457200" y="2944368"/>
            <a:ext cx="8229600" cy="475488"/>
          </a:xfrm>
          <a:prstGeom prst="roundRect">
            <a:avLst>
              <a:gd name="adj" fmla="val 23077"/>
            </a:avLst>
          </a:prstGeom>
          <a:solidFill>
            <a:schemeClr val="bg2"/>
          </a:solidFill>
          <a:ln w="12700">
            <a:solidFill>
              <a:schemeClr val="bg2"/>
            </a:solidFill>
            <a:prstDash val="solid"/>
          </a:ln>
        </p:spPr>
      </p:sp>
      <p:sp>
        <p:nvSpPr>
          <p:cNvPr id="15" name="Número"/>
          <p:cNvSpPr/>
          <p:nvPr/>
        </p:nvSpPr>
        <p:spPr>
          <a:xfrm>
            <a:off x="594360" y="299923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6" name="Texto"/>
          <p:cNvSpPr txBox="1"/>
          <p:nvPr/>
        </p:nvSpPr>
        <p:spPr>
          <a:xfrm>
            <a:off x="1097280" y="294436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Num MDP finito existe sempre uma política determinística ótima (PUTERMAN, 1994).</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Funções valor: quão bom é estar aqui?</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3.7</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Fixada uma política π, definimos duas medidas centrais.</a:t>
            </a:r>
            <a:endParaRPr lang="en-US" sz="1800" dirty="0"/>
          </a:p>
        </p:txBody>
      </p:sp>
      <p:sp>
        <p:nvSpPr>
          <p:cNvPr id="8" name="Cartão"/>
          <p:cNvSpPr/>
          <p:nvPr/>
        </p:nvSpPr>
        <p:spPr>
          <a:xfrm>
            <a:off x="868680" y="1773936"/>
            <a:ext cx="7818120" cy="694944"/>
          </a:xfrm>
          <a:prstGeom prst="roundRect">
            <a:avLst>
              <a:gd name="adj" fmla="val 15789"/>
            </a:avLst>
          </a:prstGeom>
          <a:solidFill>
            <a:schemeClr val="bg1"/>
          </a:solidFill>
          <a:ln w="12700">
            <a:solidFill>
              <a:schemeClr val="bg2"/>
            </a:solidFill>
            <a:prstDash val="solid"/>
          </a:ln>
        </p:spPr>
      </p:sp>
      <p:sp>
        <p:nvSpPr>
          <p:cNvPr id="9" name="Marcador"/>
          <p:cNvSpPr/>
          <p:nvPr/>
        </p:nvSpPr>
        <p:spPr>
          <a:xfrm>
            <a:off x="1051560" y="2066544"/>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Valor do estado, vπ(s): o retorno esperado ao começar em s e seguir π depois.</a:t>
            </a:r>
            <a:endParaRPr lang="en-US" sz="1800" dirty="0"/>
          </a:p>
        </p:txBody>
      </p:sp>
      <p:sp>
        <p:nvSpPr>
          <p:cNvPr id="11" name="Cartão"/>
          <p:cNvSpPr/>
          <p:nvPr/>
        </p:nvSpPr>
        <p:spPr>
          <a:xfrm>
            <a:off x="868680" y="2578608"/>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871216"/>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Valor da ação, qπ(s, a): o retorno esperado ao começar em s, fazer a e depois seguir π.</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Funções valor: quão bom é estar aqui?</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2200" dirty="0">
                <a:solidFill>
                  <a:schemeClr val="bg1"/>
                </a:solidFill>
                <a:latin typeface="Cambria" pitchFamily="34" charset="0"/>
                <a:ea typeface="Cambria" pitchFamily="34" charset="-122"/>
                <a:cs typeface="Cambria" pitchFamily="34" charset="-120"/>
              </a:rPr>
              <a:t>vπ(s) = Eπ[ Gₜ | Sₜ = s ]        qπ(s, a) = Eπ[ Gₜ | Sₜ = s, Aₜ = a ]</a:t>
            </a:r>
            <a:endParaRPr lang="en-US" sz="22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v responde "quão boa é esta situação, se eu jogar do meu jeito?"; q responde "quão boa é esta jogada nesta situação, se depois eu jogar do meu jeito?".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v e q no GPS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No dia a dia</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 valor do estado é o tempo esperado de chegada, estando onde você está agora e seguindo sua rotina.</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equação de Bellman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3.8</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 equação relaciona o valor de um estado ao valor de seus vizinhos.</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 forma matricial: Dá para resolver diretamente com np.linalg.solve.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equação de Bellman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3000" dirty="0">
                <a:solidFill>
                  <a:schemeClr val="bg1"/>
                </a:solidFill>
                <a:latin typeface="Cambria" pitchFamily="34" charset="0"/>
                <a:ea typeface="Cambria" pitchFamily="34" charset="-122"/>
                <a:cs typeface="Cambria" pitchFamily="34" charset="-120"/>
              </a:rPr>
              <a:t>Gₜ = Rₜ₊₁ + γ Gₜ₊₁</a:t>
            </a:r>
            <a:endParaRPr lang="en-US" sz="30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"o que vou ganhar a partir de agora é a recompensa imediata mais o que vou ganhar a partir do próximo passo, com desconto". Tomando a esperança, chegamos à equação de Bellman para vπ:</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equação de Bellman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2200" dirty="0">
                <a:solidFill>
                  <a:schemeClr val="bg1"/>
                </a:solidFill>
                <a:latin typeface="Cambria" pitchFamily="34" charset="0"/>
                <a:ea typeface="Cambria" pitchFamily="34" charset="-122"/>
                <a:cs typeface="Cambria" pitchFamily="34" charset="-120"/>
              </a:rPr>
              <a:t>vπ(s) = Σₐ π(a | s) Σ(s′, r) p(s′, r | s, a) [ r + γ vπ(s′) ]</a:t>
            </a:r>
            <a:endParaRPr lang="en-US" sz="22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o valor de um estado é a média, sobre as ações possíveis e seus resultados possíveis, de (recompensa imediata + γ × valor do estado seguinte).</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 equação de Bellman</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Diagramas de retroação (backup): o valor de um estado (esquerda) é calculado a partir dos valores dos estados seguintes, ponderando ações e transições.">    </p:cNvPr>
          <p:cNvPicPr>
            <a:picLocks noChangeAspect="1"/>
          </p:cNvPicPr>
          <p:nvPr/>
        </p:nvPicPr>
        <p:blipFill>
          <a:blip r:embed="rId1"/>
          <a:stretch>
            <a:fillRect/>
          </a:stretch>
        </p:blipFill>
        <p:spPr>
          <a:xfrm>
            <a:off x="1253585" y="1143000"/>
            <a:ext cx="6636830"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Diagramas de retroação (backup): o valor de um estado (esquerda) é calculado a partir dos valores dos estados seguintes, ponderando ações e transições.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Verificando a equação no robô de entrega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Exemplo</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Política: alta → buscar; baixa → recarregar, com γ = 0,9.</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Baixa: recarregar dá recompensa 0 e leva à alta.</a:t>
            </a:r>
            <a:endParaRPr lang="en-US" sz="1800" dirty="0"/>
          </a:p>
        </p:txBody>
      </p:sp>
      <p:sp>
        <p:nvSpPr>
          <p:cNvPr id="11"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4140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Alta: buscar dá +4 e leva à alta (0,7) ou à baixa (0,3).</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Otimalidade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3.9</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Queremos a melhor política.</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É por isso que boa parte do AR se resume a estimar bem a função q.</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Otimalidade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2200" dirty="0">
                <a:solidFill>
                  <a:schemeClr val="bg1"/>
                </a:solidFill>
                <a:latin typeface="Cambria" pitchFamily="34" charset="0"/>
                <a:ea typeface="Cambria" pitchFamily="34" charset="-122"/>
                <a:cs typeface="Cambria" pitchFamily="34" charset="-120"/>
              </a:rPr>
              <a:t>q*(s, a) = Σ(s′, r) p(s′, r | s, a) [ r + γ max(a′) q*(s′, a′) ]</a:t>
            </a:r>
            <a:endParaRPr lang="en-US" sz="22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o valor ótimo de um estado é o do melhor movimento disponível, supondo que eu jogue otimamente depois.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 aviso sobre as equações de otimalidade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Atenção</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Elas são não lineares (por causa do máximo) e não têm solução em forma fechada.</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Quando as equações não bastam</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3.10</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Resolver o sistema exato é raramente possível:</a:t>
            </a:r>
            <a:endParaRPr lang="en-US" sz="18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Não conhecemos p (MDP desconhecido).</a:t>
            </a:r>
            <a:endParaRPr lang="en-US" sz="1800" dirty="0"/>
          </a:p>
        </p:txBody>
      </p:sp>
      <p:sp>
        <p:nvSpPr>
          <p:cNvPr id="11" name="Cartão"/>
          <p:cNvSpPr/>
          <p:nvPr/>
        </p:nvSpPr>
        <p:spPr>
          <a:xfrm>
            <a:off x="868680" y="2359152"/>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651760"/>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Há estados demais: o Go tem mais configurações do que átomos no universo observável.</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Quando as equações não bastam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3.10</a:t>
            </a:r>
            <a:endParaRPr lang="en-US" sz="1200" dirty="0"/>
          </a:p>
        </p:txBody>
      </p:sp>
      <p:sp>
        <p:nvSpPr>
          <p:cNvPr id="4" name="Cartão"/>
          <p:cNvSpPr/>
          <p:nvPr/>
        </p:nvSpPr>
        <p:spPr>
          <a:xfrm>
            <a:off x="868680" y="1188720"/>
            <a:ext cx="7818120" cy="475488"/>
          </a:xfrm>
          <a:prstGeom prst="roundRect">
            <a:avLst>
              <a:gd name="adj" fmla="val 23077"/>
            </a:avLst>
          </a:prstGeom>
          <a:solidFill>
            <a:schemeClr val="bg1"/>
          </a:solidFill>
          <a:ln w="12700">
            <a:solidFill>
              <a:schemeClr val="bg2"/>
            </a:solidFill>
            <a:prstDash val="solid"/>
          </a:ln>
        </p:spPr>
      </p:sp>
      <p:sp>
        <p:nvSpPr>
          <p:cNvPr id="5" name="Marcador"/>
          <p:cNvSpPr/>
          <p:nvPr/>
        </p:nvSpPr>
        <p:spPr>
          <a:xfrm>
            <a:off x="1051560" y="1371600"/>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agente não vê tudo.</a:t>
            </a:r>
            <a:endParaRPr lang="en-US" sz="1800" dirty="0"/>
          </a:p>
        </p:txBody>
      </p:sp>
      <p:sp>
        <p:nvSpPr>
          <p:cNvPr id="7"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Os próximos capítulos atacam, um a um, esses obstáculos.</a:t>
            </a:r>
            <a:endParaRPr lang="en-US" sz="1800" dirty="0"/>
          </a:p>
        </p:txBody>
      </p:sp>
      <p:sp>
        <p:nvSpPr>
          <p:cNvPr id="10" name="Cartão"/>
          <p:cNvSpPr/>
          <p:nvPr/>
        </p:nvSpPr>
        <p:spPr>
          <a:xfrm>
            <a:off x="457200" y="2359152"/>
            <a:ext cx="8229600" cy="694944"/>
          </a:xfrm>
          <a:prstGeom prst="roundRect">
            <a:avLst>
              <a:gd name="adj" fmla="val 15789"/>
            </a:avLst>
          </a:prstGeom>
          <a:solidFill>
            <a:schemeClr val="bg2"/>
          </a:solidFill>
          <a:ln w="12700">
            <a:solidFill>
              <a:schemeClr val="bg2"/>
            </a:solidFill>
            <a:prstDash val="solid"/>
          </a:ln>
        </p:spPr>
      </p:sp>
      <p:sp>
        <p:nvSpPr>
          <p:cNvPr id="11" name="Número"/>
          <p:cNvSpPr/>
          <p:nvPr/>
        </p:nvSpPr>
        <p:spPr>
          <a:xfrm>
            <a:off x="594360" y="252374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o"/>
          <p:cNvSpPr txBox="1"/>
          <p:nvPr/>
        </p:nvSpPr>
        <p:spPr>
          <a:xfrm>
            <a:off x="1097280" y="235915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Observação parcial: Quando o agente não observa o estado completo, temos um MDP parcialmente observável (POMDP).</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Projetando estados e recompensas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3.11</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Dois cuidados práticos, que valem para todo o livro:</a:t>
            </a:r>
            <a:endParaRPr lang="en-US" sz="18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Estado: inclua o que é necessário para decidir (propriedade de Markov)</a:t>
            </a:r>
            <a:endParaRPr lang="en-US" sz="1800" dirty="0"/>
          </a:p>
        </p:txBody>
      </p:sp>
      <p:sp>
        <p:nvSpPr>
          <p:cNvPr id="11" name="Cartão"/>
          <p:cNvSpPr/>
          <p:nvPr/>
        </p:nvSpPr>
        <p:spPr>
          <a:xfrm>
            <a:off x="868680" y="2359152"/>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651760"/>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Recompensa: deve refletir o objetivo final, não passos intermediários que você acha que levam a ele.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Projetando estados e recompensas</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3000" dirty="0">
                <a:solidFill>
                  <a:schemeClr val="bg1"/>
                </a:solidFill>
                <a:latin typeface="Cambria" pitchFamily="34" charset="0"/>
                <a:ea typeface="Cambria" pitchFamily="34" charset="-122"/>
                <a:cs typeface="Cambria" pitchFamily="34" charset="-120"/>
              </a:rPr>
              <a:t>R′(s, a, s′) = R(s, a, s′) + γ Φ(s′) − Φ(s)</a:t>
            </a:r>
            <a:endParaRPr lang="en-US" sz="30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você pode premiar o agente por "chegar mais perto" (Φ maior), desde que desconte o mesmo potencial na saída. Assim, ele não aprende atalhos que enganam o objetivo.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Mão na massa</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Hora de programar com Python</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vamos programar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5" name="Cartão"/>
          <p:cNvSpPr/>
          <p:nvPr/>
        </p:nvSpPr>
        <p:spPr>
          <a:xfrm>
            <a:off x="457200" y="1371600"/>
            <a:ext cx="2560320" cy="2926080"/>
          </a:xfrm>
          <a:prstGeom prst="roundRect">
            <a:avLst>
              <a:gd name="adj" fmla="val 5357"/>
            </a:avLst>
          </a:prstGeom>
          <a:solidFill>
            <a:schemeClr val="bg2"/>
          </a:solidFill>
          <a:ln w="12700">
            <a:solidFill>
              <a:schemeClr val="bg2"/>
            </a:solidFill>
            <a:prstDash val="solid"/>
          </a:ln>
        </p:spPr>
      </p:sp>
      <p:sp>
        <p:nvSpPr>
          <p:cNvPr id="6" name="Text 3"/>
          <p:cNvSpPr/>
          <p:nvPr/>
        </p:nvSpPr>
        <p:spPr>
          <a:xfrm>
            <a:off x="1417320" y="1600200"/>
            <a:ext cx="640080" cy="64008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640080" y="2423160"/>
            <a:ext cx="2194560"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O robô de entrega em NumPy</a:t>
            </a:r>
            <a:endParaRPr lang="en-US" sz="1600" dirty="0"/>
          </a:p>
        </p:txBody>
      </p:sp>
      <p:sp>
        <p:nvSpPr>
          <p:cNvPr id="8" name="Cartão"/>
          <p:cNvSpPr/>
          <p:nvPr/>
        </p:nvSpPr>
        <p:spPr>
          <a:xfrm>
            <a:off x="3291840" y="1371600"/>
            <a:ext cx="2560320" cy="2926080"/>
          </a:xfrm>
          <a:prstGeom prst="roundRect">
            <a:avLst>
              <a:gd name="adj" fmla="val 5357"/>
            </a:avLst>
          </a:prstGeom>
          <a:solidFill>
            <a:schemeClr val="bg2"/>
          </a:solidFill>
          <a:ln w="12700">
            <a:solidFill>
              <a:schemeClr val="bg2"/>
            </a:solidFill>
            <a:prstDash val="solid"/>
          </a:ln>
        </p:spPr>
      </p:sp>
      <p:sp>
        <p:nvSpPr>
          <p:cNvPr id="9" name="Text 6"/>
          <p:cNvSpPr/>
          <p:nvPr/>
        </p:nvSpPr>
        <p:spPr>
          <a:xfrm>
            <a:off x="4251960" y="1600200"/>
            <a:ext cx="640080" cy="64008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7"/>
          <p:cNvSpPr txBox="1"/>
          <p:nvPr/>
        </p:nvSpPr>
        <p:spPr>
          <a:xfrm>
            <a:off x="3474720" y="2423160"/>
            <a:ext cx="2194560"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Um MDP do Gymnasium: o lago congelado</a:t>
            </a:r>
            <a:endParaRPr lang="en-US" sz="1600" dirty="0"/>
          </a:p>
        </p:txBody>
      </p:sp>
      <p:sp>
        <p:nvSpPr>
          <p:cNvPr id="11" name="Cartão"/>
          <p:cNvSpPr/>
          <p:nvPr/>
        </p:nvSpPr>
        <p:spPr>
          <a:xfrm>
            <a:off x="6126480" y="1371600"/>
            <a:ext cx="2560320" cy="2926080"/>
          </a:xfrm>
          <a:prstGeom prst="roundRect">
            <a:avLst>
              <a:gd name="adj" fmla="val 5357"/>
            </a:avLst>
          </a:prstGeom>
          <a:solidFill>
            <a:schemeClr val="bg2"/>
          </a:solidFill>
          <a:ln w="12700">
            <a:solidFill>
              <a:schemeClr val="bg2"/>
            </a:solidFill>
            <a:prstDash val="solid"/>
          </a:ln>
        </p:spPr>
      </p:sp>
      <p:sp>
        <p:nvSpPr>
          <p:cNvPr id="12" name="Text 9"/>
          <p:cNvSpPr/>
          <p:nvPr/>
        </p:nvSpPr>
        <p:spPr>
          <a:xfrm>
            <a:off x="7086600" y="1600200"/>
            <a:ext cx="640080" cy="64008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0"/>
          <p:cNvSpPr txBox="1"/>
          <p:nvPr/>
        </p:nvSpPr>
        <p:spPr>
          <a:xfrm>
            <a:off x="6309360" y="2423160"/>
            <a:ext cx="2194560"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Estimando uma cadeia de Markov com dados reais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Mão na massa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O FrozenLake e o valor de cada casa sob a política aleatória: as casas perto da meta valem mais.">    </p:cNvPr>
          <p:cNvPicPr>
            <a:picLocks noChangeAspect="1"/>
          </p:cNvPicPr>
          <p:nvPr/>
        </p:nvPicPr>
        <p:blipFill>
          <a:blip r:embed="rId1"/>
          <a:stretch>
            <a:fillRect/>
          </a:stretch>
        </p:blipFill>
        <p:spPr>
          <a:xfrm>
            <a:off x="1390984" y="1143000"/>
            <a:ext cx="6362032"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O FrozenLake e o valor de cada casa sob a política aleatória: as casas perto da meta valem mais.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Projeto do capítulo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o valor de um cliente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desafio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Objetivo: estudar como as escolhas de modelagem (número de estados, desconto) mudam o valor estimado dos clientes.</a:t>
            </a:r>
            <a:endParaRPr lang="en-US" sz="16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Entrega: notebook com código, tabela de resultados por k e γ e a conclusão.</a:t>
            </a:r>
            <a:endParaRPr lang="en-US" sz="1600" dirty="0"/>
          </a:p>
        </p:txBody>
      </p:sp>
      <p:sp>
        <p:nvSpPr>
          <p:cNvPr id="11"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63347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Repita a Seção 3.12.3 variando o número de estados k de 3 a 8.</a:t>
            </a:r>
            <a:endParaRPr lang="en-US" sz="1600" dirty="0"/>
          </a:p>
        </p:txBody>
      </p:sp>
      <p:sp>
        <p:nvSpPr>
          <p:cNvPr id="14" name="Cartão"/>
          <p:cNvSpPr/>
          <p:nvPr/>
        </p:nvSpPr>
        <p:spPr>
          <a:xfrm>
            <a:off x="457200" y="3163824"/>
            <a:ext cx="8229600" cy="475488"/>
          </a:xfrm>
          <a:prstGeom prst="roundRect">
            <a:avLst>
              <a:gd name="adj" fmla="val 23077"/>
            </a:avLst>
          </a:prstGeom>
          <a:solidFill>
            <a:schemeClr val="bg2"/>
          </a:solidFill>
          <a:ln w="12700">
            <a:solidFill>
              <a:schemeClr val="bg2"/>
            </a:solidFill>
            <a:prstDash val="solid"/>
          </a:ln>
        </p:spPr>
      </p:sp>
      <p:sp>
        <p:nvSpPr>
          <p:cNvPr id="15" name="Número"/>
          <p:cNvSpPr/>
          <p:nvPr/>
        </p:nvSpPr>
        <p:spPr>
          <a:xfrm>
            <a:off x="594360" y="321868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3163824"/>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Para o k escolhido, calcule o valor de vida com γ = 0,8; 0,9 e 0,95.</a:t>
            </a:r>
            <a:endParaRPr lang="en-US" sz="1600" dirty="0"/>
          </a:p>
        </p:txBody>
      </p:sp>
      <p:sp>
        <p:nvSpPr>
          <p:cNvPr id="17" name="Cartão"/>
          <p:cNvSpPr/>
          <p:nvPr/>
        </p:nvSpPr>
        <p:spPr>
          <a:xfrm>
            <a:off x="457200" y="3749040"/>
            <a:ext cx="8229600" cy="694944"/>
          </a:xfrm>
          <a:prstGeom prst="roundRect">
            <a:avLst>
              <a:gd name="adj" fmla="val 15789"/>
            </a:avLst>
          </a:prstGeom>
          <a:solidFill>
            <a:schemeClr val="bg2"/>
          </a:solidFill>
          <a:ln w="12700">
            <a:solidFill>
              <a:schemeClr val="bg2"/>
            </a:solidFill>
            <a:prstDash val="solid"/>
          </a:ln>
        </p:spPr>
      </p:sp>
      <p:sp>
        <p:nvSpPr>
          <p:cNvPr id="18" name="Número"/>
          <p:cNvSpPr/>
          <p:nvPr/>
        </p:nvSpPr>
        <p:spPr>
          <a:xfrm>
            <a:off x="594360" y="391363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74904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Verifique, numericamente, que cada linha de P soma 1 e que a equação de Bellman é satisfeita: v - (r + γ P v) deve ser ~0.</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MDP = (S, A, p, R, γ): estados, ações, dinâmica, recompensas e desconto.</a:t>
            </a:r>
            <a:endParaRPr lang="en-US" sz="1800" dirty="0"/>
          </a:p>
        </p:txBody>
      </p:sp>
      <p:sp>
        <p:nvSpPr>
          <p:cNvPr id="7"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18288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Propriedade de Markov: o estado atual resume o passado relevante.</a:t>
            </a:r>
            <a:endParaRPr lang="en-US" sz="1800" dirty="0"/>
          </a:p>
        </p:txBody>
      </p:sp>
      <p:sp>
        <p:nvSpPr>
          <p:cNvPr id="10"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41401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Política π: regra de decisão; vπ(s) e qπ(s, a) medem o retorno esperado.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3</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Equação de Bellman: valor = recompensa imediata + γ × valor do próximo estado (em média).</a:t>
            </a:r>
            <a:endParaRPr lang="en-US" sz="1800" dirty="0"/>
          </a:p>
        </p:txBody>
      </p:sp>
      <p:sp>
        <p:nvSpPr>
          <p:cNvPr id="7"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204825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Otimalidade: v* e q* usam o máximo; π* escolhe a ação de maior q*.</a:t>
            </a:r>
            <a:endParaRPr lang="en-US" sz="1800" dirty="0"/>
          </a:p>
        </p:txBody>
      </p:sp>
      <p:sp>
        <p:nvSpPr>
          <p:cNvPr id="10"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63347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Resolver o MDP exatamente exige conhecer p e poucos estados.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Quiz relâmpago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Teste o que você aprendeu</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1</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Se o estado não contém uma informação importante do passado, o problema:</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continua sendo Markov.</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deixa de ser Markov e o estado deve ser enriquecido.</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fica sem recompensa.</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vira um bandit.</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2</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Uma política determinística:</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associa a cada estado uma distribuição de ações.</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associa a cada estado uma única ação.</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escolhe sempre ao acaso.</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não depende do estado.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3</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No robô de entrega, com v(alta) = 31,5 e γ = 0,9, o valor de "baixa" sob a política "baixa → recarregar" é:</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28,35.</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31,5.</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0.</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35.</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4</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Em um MDP finito, sempre existe uma política ótima:</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estocástica e nunca determinística.</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determinística.</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que depende do tempo.</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com valor negativo.</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Respostas do quiz</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1) b  —  A propriedade depende de como definimos o estado.</a:t>
            </a:r>
            <a:endParaRPr lang="en-US" sz="1600" dirty="0"/>
          </a:p>
        </p:txBody>
      </p:sp>
      <p:sp>
        <p:nvSpPr>
          <p:cNvPr id="7"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1828800"/>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2) b  —  π(s) devolve uma ação para cada estado.</a:t>
            </a:r>
            <a:endParaRPr lang="en-US" sz="1600" dirty="0"/>
          </a:p>
        </p:txBody>
      </p:sp>
      <p:sp>
        <p:nvSpPr>
          <p:cNvPr id="10"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4140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3) a  —  Recarregar dá recompensa 0 e leva à alta: 0,9 × 31,5 = 28,35.</a:t>
            </a:r>
            <a:endParaRPr lang="en-US" sz="1600" dirty="0"/>
          </a:p>
        </p:txBody>
      </p:sp>
      <p:sp>
        <p:nvSpPr>
          <p:cNvPr id="13" name="Cartão"/>
          <p:cNvSpPr/>
          <p:nvPr/>
        </p:nvSpPr>
        <p:spPr>
          <a:xfrm>
            <a:off x="457200" y="2944368"/>
            <a:ext cx="8229600" cy="475488"/>
          </a:xfrm>
          <a:prstGeom prst="roundRect">
            <a:avLst>
              <a:gd name="adj" fmla="val 23077"/>
            </a:avLst>
          </a:prstGeom>
          <a:solidFill>
            <a:schemeClr val="bg2"/>
          </a:solidFill>
          <a:ln w="12700">
            <a:solidFill>
              <a:schemeClr val="bg2"/>
            </a:solidFill>
            <a:prstDash val="solid"/>
          </a:ln>
        </p:spPr>
      </p:sp>
      <p:sp>
        <p:nvSpPr>
          <p:cNvPr id="14" name="Número"/>
          <p:cNvSpPr/>
          <p:nvPr/>
        </p:nvSpPr>
        <p:spPr>
          <a:xfrm>
            <a:off x="594360" y="2999232"/>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o"/>
          <p:cNvSpPr txBox="1"/>
          <p:nvPr/>
        </p:nvSpPr>
        <p:spPr>
          <a:xfrm>
            <a:off x="1097280" y="2944368"/>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4) b  —  Existe ao menos uma política determinística ótima (Puterman, 1994).</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discutir em grupo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Debate</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Explique, com um exemplo do cotidiano, a propriedade de Markov.</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Calcule v para um MRP de dois estados: do estado A vai-se sempre para B com recompensa 1; de B volta-se sempre para A com recompensa 0; γ = 0,5.</a:t>
            </a:r>
            <a:endParaRPr lang="en-US" sz="1800" dirty="0"/>
          </a:p>
        </p:txBody>
      </p:sp>
      <p:sp>
        <p:nvSpPr>
          <p:cNvPr id="11" name="Cartão"/>
          <p:cNvSpPr/>
          <p:nvPr/>
        </p:nvSpPr>
        <p:spPr>
          <a:xfrm>
            <a:off x="457200" y="2578608"/>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743200"/>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78608"/>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Explique por que dar uma recompensa extra por "chegar mais perto da meta" pode atrapalhar, e como a recompensa potencial evita isso.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3" name="Círculo"/>
          <p:cNvSpPr/>
          <p:nvPr/>
        </p:nvSpPr>
        <p:spPr>
          <a:xfrm>
            <a:off x="6217920" y="548640"/>
            <a:ext cx="2743200" cy="2743200"/>
          </a:xfrm>
          <a:prstGeom prst="ellipse">
            <a:avLst/>
          </a:prstGeom>
          <a:solidFill>
            <a:schemeClr val="accent3">
              <a:alpha val="65000"/>
            </a:schemeClr>
          </a:solidFill>
          <a:ln w="12700">
            <a:solidFill>
              <a:schemeClr val="accent3"/>
            </a:solidFill>
            <a:prstDash val="solid"/>
          </a:ln>
        </p:spPr>
      </p:sp>
      <p:sp>
        <p:nvSpPr>
          <p:cNvPr id="4" name="Text 1"/>
          <p:cNvSpPr txBox="1"/>
          <p:nvPr/>
        </p:nvSpPr>
        <p:spPr>
          <a:xfrm>
            <a:off x="548640" y="1280160"/>
            <a:ext cx="566928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Até a próxima!</a:t>
            </a:r>
            <a:endParaRPr lang="en-US" sz="4000" dirty="0"/>
          </a:p>
        </p:txBody>
      </p:sp>
      <p:sp>
        <p:nvSpPr>
          <p:cNvPr id="5" name="Text 2"/>
          <p:cNvSpPr txBox="1"/>
          <p:nvPr/>
        </p:nvSpPr>
        <p:spPr>
          <a:xfrm>
            <a:off x="548640" y="2286000"/>
            <a:ext cx="5669280" cy="914400"/>
          </a:xfrm>
          <a:prstGeom prst="rect">
            <a:avLst/>
          </a:prstGeom>
          <a:noFill/>
          <a:ln/>
        </p:spPr>
        <p:txBody>
          <a:bodyPr wrap="square" lIns="0" tIns="0" rIns="0" bIns="0" rtlCol="0" anchor="t">
            <a:normAutofit/>
          </a:bodyPr>
          <a:lstStyle/>
          <a:p>
            <a:pPr indent="0" marL="0">
              <a:buNone/>
            </a:pPr>
            <a:r>
              <a:rPr lang="en-US" sz="1800" dirty="0">
                <a:solidFill>
                  <a:schemeClr val="accent1"/>
                </a:solidFill>
              </a:rPr>
              <a:t>Capítulo 3: Processos de Decisão de Markov</a:t>
            </a:r>
            <a:endParaRPr lang="en-US" sz="1800" dirty="0"/>
          </a:p>
        </p:txBody>
      </p:sp>
      <p:sp>
        <p:nvSpPr>
          <p:cNvPr id="6" name="Text 3"/>
          <p:cNvSpPr txBox="1"/>
          <p:nvPr/>
        </p:nvSpPr>
        <p:spPr>
          <a:xfrm>
            <a:off x="548640" y="3291840"/>
            <a:ext cx="5669280" cy="731520"/>
          </a:xfrm>
          <a:prstGeom prst="rect">
            <a:avLst/>
          </a:prstGeom>
          <a:noFill/>
          <a:ln/>
        </p:spPr>
        <p:txBody>
          <a:bodyPr wrap="square" lIns="0" tIns="0" rIns="0" bIns="0" rtlCol="0" anchor="t">
            <a:normAutofit/>
          </a:bodyPr>
          <a:lstStyle/>
          <a:p>
            <a:pPr indent="0" marL="0">
              <a:buNone/>
            </a:pPr>
            <a:r>
              <a:rPr lang="en-US" sz="1600" dirty="0">
                <a:solidFill>
                  <a:schemeClr val="accent6"/>
                </a:solidFill>
              </a:rPr>
              <a:t>Pratique: refaça os códigos, resolva as questões e faça o projeto do capítulo.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48</a:t>
            </a:fld>
            <a:endParaRPr lang="en-US"/>
          </a:p>
        </p:txBody>
      </p:sp>
    </p:spTree>
  </p:cSld>
  <p:clrMapOvr>
    <a:masterClrMapping/>
  </p:clrMapOvr>
</p:sld>
</file>

<file path=ppt/theme/theme1.xml><?xml version="1.0" encoding="utf-8"?>
<a:theme xmlns:a="http://schemas.openxmlformats.org/drawingml/2006/main" name="Aprendizado por Reforço">
  <a:themeElements>
    <a:clrScheme name="Aprendizado por Reforço">
      <a:dk1>
        <a:srgbClr val="1B1F3B"/>
      </a:dk1>
      <a:lt1>
        <a:srgbClr val="FFFFFF"/>
      </a:lt1>
      <a:dk2>
        <a:srgbClr val="14173F"/>
      </a:dk2>
      <a:lt2>
        <a:srgbClr val="F2F3FB"/>
      </a:lt2>
      <a:accent1>
        <a:srgbClr val="F59E0B"/>
      </a:accent1>
      <a:accent2>
        <a:srgbClr val="12A89A"/>
      </a:accent2>
      <a:accent3>
        <a:srgbClr val="6C5CE7"/>
      </a:accent3>
      <a:accent4>
        <a:srgbClr val="E84A8A"/>
      </a:accent4>
      <a:accent5>
        <a:srgbClr val="3B82F6"/>
      </a:accent5>
      <a:accent6>
        <a:srgbClr val="94A3B8"/>
      </a:accent6>
      <a:hlink>
        <a:srgbClr val="3B82F6"/>
      </a:hlink>
      <a:folHlink>
        <a:srgbClr val="6C5CE7"/>
      </a:folHlink>
    </a:clrScheme>
    <a:fontScheme name="Aprendizado por Reforç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Aprendizado por Reforço — Capítulo 3</dc:title>
  <dc:subject>PptxGenJS Presentation</dc:subject>
  <dc:creator>Araken de Medeiros Santos</dc:creator>
  <cp:lastModifiedBy>Araken de Medeiros Santos</cp:lastModifiedBy>
  <cp:revision>1</cp:revision>
  <dcterms:created xsi:type="dcterms:W3CDTF">2026-10-26T13:18:16Z</dcterms:created>
  <dcterms:modified xsi:type="dcterms:W3CDTF">2026-10-26T13:18:16Z</dcterms:modified>
</cp:coreProperties>
</file>