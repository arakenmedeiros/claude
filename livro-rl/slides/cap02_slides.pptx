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459f5f1-d99e-e923-c941-80ec92cdc12d}">
          <p14:sldIdLst>
            <p14:sldId id="256"/>
          </p14:sldIdLst>
        </p14:section>
        <p14:section name="Início" id="{62482a82-9dd7-16a6-0e1c-8aaaccdb2232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Mão na massa" id="{f7d53cbd-fede-8552-3d80-adcc6c865dd7}">
          <p14:sldIdLst>
            <p14:sldId id="281"/>
            <p14:sldId id="282"/>
            <p14:sldId id="283"/>
            <p14:sldId id="284"/>
          </p14:sldIdLst>
        </p14:section>
        <p14:section name="Projeto do capítulo" id="{7abc3d44-367c-11d8-a595-5763257eb4e7}">
          <p14:sldIdLst>
            <p14:sldId id="285"/>
            <p14:sldId id="286"/>
          </p14:sldIdLst>
        </p14:section>
        <p14:section name="Resumo" id="{33afdb76-94cc-7457-9441-0db1a1dffb6f}">
          <p14:sldIdLst>
            <p14:sldId id="287"/>
            <p14:sldId id="288"/>
          </p14:sldIdLst>
        </p14:section>
        <p14:section name="Quiz relâmpago" id="{55cc517f-8be7-f7e9-acbd-de0468310d9f}">
          <p14:sldIdLst>
            <p14:sldId id="289"/>
          </p14:sldIdLst>
        </p14:section>
        <p14:section name="Quiz" id="{e9a40d5b-42fb-7e3a-0cac-19b9989084a6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Encerramento" id="{ef2dcd03-e0a8-9306-2a1a-73b739b73ee8}">
          <p14:sldIdLst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Imagine um cassino com várias máquinas caça-níqueis. Cada uma paga, em média, um prêmio diferente, mas você não sabe qual paga mais. Você tem 1.000 fichas. Como jogá-las para ganhar o máximo? Se jogar todas numa máquina só, pode ter escolhido a pior. Se testar todas igualmente, desperdiça fichas nas ruins. O ideal é descobrir quais são boas e, aos poucos, concentrar as fichas nelas. Esse é o problema dos bandits multi-armados (multi-armed bandit). O nome vem da gíria "bandido de um braço só" para caça-níqueis. O problema foi estudado desde o início da estatística moderna (THOMPSON, 1933; ROBBINS, 1952). O bandit é a versão mais simples do AR: há uma única situação (sempre o mesmo "cassino") e as ações não mudam o estado do mundo. Isso nos permite estudar, de forma limpa, o dilema que atravessa todo o livro: explorar ou aproveitar.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2.1 — O problema dos bandits: várias "máquinas" (braços) com prêmios médios desconhecidos.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2.2 — Banco de testes de 10 braços: cada braço tem uma média diferente e paga com ruído. O melhor braço (em laranja) é desconhecido do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repita a frase em voz alta e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 estimativa mais natural é a média amostral: some as recompensas obtidas ao escolher a e divida pelo número de vezes N(a) em que a foi escolhida. Guardar todas as recompensas seria um desperdício de memória. Há um truque elegante: calcular a nova média a partir da antiga. Em palavras: novo = velho + passo × (alvo − velho). O termo (R − Q) é o erro: o quanto a recompensa surpreendeu em relação ao que eu esperava. Esta regra, com a forma "estimativa nova = velha + passo × erro", reaparecerá em quase todos os algoritmos do livro, incluindo o Q-learning. Se o mundo muda (a máquina "esquenta" ou "esfria"), recompensas antigas deixam de ser confiáveis. Trocamos o passo 1/n por um passo constante α (por exemplo, 0,1): Agora as recompensas recentes pesam mais que as antigas, e a estimativa "esquece" o passado gradualmente. Com 1/n, todas pesam igual; com α constante, o peso cai exponencialmente com a idade da recompensa.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2.3 — A atualização incremental: a estimativa dá um passo em direção ao 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 estratégia gulosa (greedy) escolhe sempre a ação de maior Q. É simples, mas arriscada: se as primeiras tentativas enganarem, o agente fica preso a uma ação medíocre e nunca descobre a melhor. A estratégia ε-gulosa (ε-greedy) faz o seguinte: Valores típicos são ε = 0,1 ou 0,01. É a estratégia mais usada em AR por sua simplicidade. Se você começa com Q muito alto (por exemplo, 5, quando as recompensas reais são ~1), toda ação "decepciona" ao ser testada e o agente tenta todas até as estimativas descerem. É uma forma barata de forçar exploração no início. A estratégia UCB (Upper Confidence Bound, limite superior de confiança) explora de modo mais inteligente: prefere as ações incertas com bom potencial. Ela escolhe a ação que maximiza: O primeiro termo é o que já sei (estimativa). O segundo é um bônus de incerteza: ele é grande para ações pouco testadas (N pequeno) e diminui conforme as testamos. O parâmetro c controla o quanto exploramos. Auer, Cesa-Bianchi e Fischer (2002) provaram que essa estratégia garante um crescimento muito lento do arrependimento. Outra ideia, muito eficaz, é do início do século XX (THOMPSON, 1933). Para recompensas do tipo sucesso/fracasso (clique ou não, compra ou não), mantemos para cada ação uma crença sobre sua taxa de sucesso, descrita por uma distribuição Beta. Em cada passo: Na prática, o sorteio é rng.beta(S + 1, F + 1). A distribuição Beta(1,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2.4 — UCB soma à estimativa um bônus de incerteza. O braço 3 foi pouco testado (n = 5), então ganha um grande bônus e é escolhido.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2.5 — Crenças de Thompson Sampling para três braços, no início, após 30 jogadas e após 300. As curvas se estreitam e o melhor braço (verde) se destaca.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Três medidas são usadas: Uma boa estratégia tem arrependimento que cresce devagar (idealmente de forma logarítmica). O resultado clássico é que nenhuma estratégia pode ter arrependimento que cresça mais devagar que um certo limite logarítmico (LAI; ROBBINS, 1985). Um agente guloso que travou no braço errado tem arrependimento linear: perde a mesma quantidade a cada passo, para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No bandit simples, o melhor braço é sempre o mesmo. Na vida real, depende de quem chega. Para um jovem, o melhor anúncio pode ser um; para um idoso, outro. No bandit contextual, antes de cada decisão o agente observa um contexto (idade, local, histórico) e escolhe a ação com base nele. Uma abordagem comum aprende, com aprendizado supervisionado, um modelo que prevê a recompensa de cada ação dado o contexto, e combina isso com exploração. O algoritmo LinUCB faz isso com modelos lineares e um bônus de incerteza (LI et al., 2010) e foi usado para recomendar notícias. Na prática desta aula usaremos o scikit-learn para prever a recompensa, em lotes.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2.6 — Bandit contextual: o agente observa o contexto, decide, recebe uma recompensa e aprende. O ciclo é o do AR, mas sem estados que evoluem.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Num teste A/B tradicional, divide-se o tráfego igualmente entre as opções por um período e só depois se escolhe a melhor. Com um bandit, o tráfego migra durante o experimento para as opções que vão bem, reduzindo o "custo" de testar. A contrapartida é que a análise estatística fica mais delicada: como a alocação muda ao longo do tempo, os dados não são mais uma amostra balanceada.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linha a linha; peça que a turma justifique cada "cuidado".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2.7 — Resultado típico no banco de testes. A gulosa estagna; ε = 0,1 aprende rápido; ε = 0,01 aprende devagar, mas chega longe; UCB costuma ser o melhor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2.8 — Arrependimento acumulado. A gulosa pura (vermelho) cresce em linha reta; as demais crescem cada vez mais devagar.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O banco de dados Bank Marketing (UCI) registra campanhas de telemarketing de um banco português e se o cliente contratou um depósito a prazo (MORO; CORTEZ; RITA, 2014). Vamos tratar cada mês como um "braço" e perguntar: se pudéssemos decidir em qual mês ligar, como aprenderíamos o melhor mês jogando o menos possível nos ruins? Tarefas: Ponto de partida: Entrega: notebook com a tabela de taxas, as curvas de arrependimento, a análise das ressalvas e a extensão contextual.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Novo = velho + passo × (alvo − velho).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bônus cresce quando N(a) é pequeno, estimulando testar o desconhecido.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A perda por passo é 0,60 − 0,45 = 0,15; 0,15 × 2000 = 300.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Sem exploração, ela frequentemente trava num braço subótimo.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Bandits Multi-Armados: Explorar ou Aproveitar?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594772"/>
          </a:xfrm>
          <a:prstGeom prst="roundRect">
            <a:avLst>
              <a:gd name="adj" fmla="val 18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0322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59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Formular o problema dos bandits multi-armados e explicar o dilema exploração × aproveitamento.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893220"/>
            <a:ext cx="8229600" cy="594772"/>
          </a:xfrm>
          <a:prstGeom prst="roundRect">
            <a:avLst>
              <a:gd name="adj" fmla="val 18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0772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893220"/>
            <a:ext cx="7452360" cy="59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Estimar o valor de uma ação com a média amostral e com a regra de atualização incremental.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97720"/>
            <a:ext cx="8229600" cy="406949"/>
          </a:xfrm>
          <a:prstGeom prst="roundRect">
            <a:avLst>
              <a:gd name="adj" fmla="val 269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61831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97720"/>
            <a:ext cx="7452360" cy="40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e comparar as estratégias gulosa, ε-gulosa, UCB e Thompson Sampling.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14397"/>
            <a:ext cx="8229600" cy="594772"/>
          </a:xfrm>
          <a:prstGeom prst="roundRect">
            <a:avLst>
              <a:gd name="adj" fmla="val 18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2890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14397"/>
            <a:ext cx="7452360" cy="59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Medir o desempenho com recompensa média, frequência da ação ótima e arrependimento acumulado.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818897"/>
            <a:ext cx="8229600" cy="406949"/>
          </a:xfrm>
          <a:prstGeom prst="roundRect">
            <a:avLst>
              <a:gd name="adj" fmla="val 269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8394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818897"/>
            <a:ext cx="7452360" cy="40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Adaptar as estimativas a ambientes que mudam com o tempo.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4335574"/>
            <a:ext cx="8229600" cy="406949"/>
          </a:xfrm>
          <a:prstGeom prst="roundRect">
            <a:avLst>
              <a:gd name="adj" fmla="val 269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435616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4335574"/>
            <a:ext cx="7452360" cy="40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que é um bandit contextual e aplicá-lo com scikit-learn.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cassino com muitos braços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Formulação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Estimando valores: a média e sua versão incremental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Estratégias de decisão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Como medir o sucesso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Bandits contextuais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Bandits na prática: testes A/B × bandits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teórico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qual mês é melhor para a campanha?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cassino com muitos braços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Imagine um cassino com várias máquinas caça-níqueis.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jogar todas numa máquina só, pode ter escolhido a pior.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Esse é o problema dos bandits multi-armados (multi-armed bandit).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que começar por aqui?: O bandit é a versão mais simples do AR: há uma única situação (sempre o mesmo "cassino") e as ações não mudam o estado do mundo.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cassino com muitos braços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problema dos bandits: várias &quot;máquinas&quot; (braços) com prêmios médios desconhecid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89" y="1143000"/>
            <a:ext cx="699082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problema dos bandits: várias "máquinas" (braços) com prêmios médios desconhecidos.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Bandits estão por toda parte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Restaurantes: ir ao favorito ou testar um novo?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Anúncios online: qual banner mostrar a cada visitante?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Remédios em testes clínicos: como dar mais pacientes ao tratamento que parece melhor sem abandonar a investigação dos outros?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Notícias: qual manchete atrai mais cliques?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q*(a) = E[ Rₜ | Aₜ = a ]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"o prêmio médio que a máquina a pagaria se eu pudesse jogá-la infinitas vezes". Se soubéssemos q*, bastaria sempre escolher o maior. Como não sabemos, precisamos estimar (usamos Qₜ(a) para a estimativa no passo t).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Banco de testes de 10 braços: cada braço tem uma média diferente e paga com ruíd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873" y="1143000"/>
            <a:ext cx="593625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Banco de testes de 10 braços: cada braço tem uma média diferente e paga com ruído.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iqueta"/>
          <p:cNvSpPr/>
          <p:nvPr/>
        </p:nvSpPr>
        <p:spPr>
          <a:xfrm>
            <a:off x="548640" y="6400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MEMORIZE</a:t>
            </a:r>
            <a:endParaRPr lang="en-US" sz="1300" dirty="0"/>
          </a:p>
        </p:txBody>
      </p:sp>
      <p:sp>
        <p:nvSpPr>
          <p:cNvPr id="4" name="Frase"/>
          <p:cNvSpPr txBox="1"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um bandit, o agente tenta descobrir qual ação tem a maior recompensa média enquanto joga, e cada jogada tem custo.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Estimando valores: a média e sua versão incremental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estimativa mais natural é a média amostral: some as recompensas obtidas ao escolher a e divida pelo número de vezes N(a) em que a foi escolhida.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Guardar todas as recompensas seria um desperdício de memória.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Esta regra, com a forma "estimativa nova = velha + passo × erro", reaparecerá em quase todos os algoritmos do livro, incluindo o Q-learning.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38328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5478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38328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Ambientes que mudam: passo constante: Agora as recompensas recentes pesam mais que as antigas, e a estimativa "esquece" o passado gradualmente.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Estimando valores: a média e sua versão incremental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Qₙ₊₁ = Qₙ + (1/n) × ( Rₙ − Qₙ )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novo = velho + passo × (alvo − velho). O termo (R − Q) é o erro: o quanto a recompensa surpreendeu em relação ao que eu esperava.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Conferindo com números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Exemplo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Recompensas 4, 6 e 5 chegam uma a uma.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Após a 1ª: Q = 4.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Após a 2ª: Q = 4 + (1/2)(6 − 4) = 5.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Após a 3ª: Q = 5 + (1/3)(5 − 5) = 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Estimando valores: a média e sua versão incremental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 atualização incremental: a estimativa dá um passo em direção ao alv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6410"/>
            <a:ext cx="8229600" cy="269354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atualização incremental: a estimativa dá um passo em direção ao alvo.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Estratégias de decisão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Gulosa: só aproveitar: A estratégia gulosa (greedy) escolhe sempre a ação de maior Q.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ε-gulosa: aproveitar quase sempre, explorar às vezes: A estratégia ε-gulosa (ε-greedy) faz o seguinte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 probabilidade 1 − ε, escolhe a ação de maior Q (aproveita).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34670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 probabilidade ε, escolhe uma ação ao acaso (explora).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Estratégias de decisão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2.4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Valores típicos são ε = 0,1 ou 0,01.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Valores iniciais otimistas: Se você começa com Q muito alto (por exemplo, 5, quando as recompensas reais são ~1)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UCB: otimismo diante da incerteza: O primeiro termo é o que já sei (estimativa).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316382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316382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Thompson Sampling: sorteie uma crença e aja nela: Outra ideia, muito eficaz, é do início do século XX (THOMPSON, 1933)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Estratégias de decisão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2.4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Sorteie uma taxa plausível de cada ação, a partir da sua crença.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Escolha a ação com o maior sorteio.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35915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6517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35915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Observe o resultado e atualize a crença daquela ação (sucesso soma 1 em S, fracasso soma 1 em F).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316382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316382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Gradiente de preferências (opcional): Em vez de estimar valores, podemos aprender preferências H(a) e transformá-las em probabilidades pela função softmax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ε-gulosa no jantar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 ε = 0,1, em 9 de cada 10 noites você vai ao restaurante favorito; na décima, sorteia um lugar novo.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Estratégias de decisão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UCB soma à estimativa um bônus de incertez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323" y="1143000"/>
            <a:ext cx="602335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UCB soma à estimativa um bônus de incerteza.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Estratégias de decisão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Crenças de Thompson Sampling para três braços, no início, após 30 jogadas e após 30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2660"/>
            <a:ext cx="8229600" cy="2421039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Crenças de Thompson Sampling para três braços, no início, após 30 jogadas e após 300.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medir o sucesso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Três medidas são usadas: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Recompensa média por passo: quanto, em média, o agente ganha.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% da ação ótima: com que frequência escolhe o melhor braço.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294436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23697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294436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Arrependimento acumulado (regret): quanto o agente perdeu, no total, por não ter jogado sempre o melhor braço.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7490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91363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74904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Uma boa estratégia tem arrependimento que cresce devagar (idealmente de forma logarítmica).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Bandits contextuais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bandit simples, o melhor braço é sempre o mesmo.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Uma abordagem comum aprende, com aprendizado supervisionado, um modelo que prevê a recompensa de cada ação dado o contexto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Bandits contextuais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Bandit contextual: o agente observa o contexto, decide, recebe uma recompensa e apren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248" y="1143000"/>
            <a:ext cx="798750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Bandit contextual: o agente observa o contexto, decide, recebe uma recompensa e aprende.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um bandit não faz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Atenção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 bandit contextual não planeja o futuro: a ação de agora não muda o contexto futuro.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Bandits na prática: testes A/B × bandits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2.7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Num teste A/B tradicional, divide-se o tráfego igualmente entre as opções por um período e só depois se escolhe a melhor.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teórico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Quadro</a:t>
            </a:r>
            <a:endParaRPr lang="en-US" sz="1200" dirty="0"/>
          </a:p>
        </p:txBody>
      </p:sp>
      <p:graphicFrame>
        <p:nvGraphicFramePr>
          <p:cNvPr id="2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Estratégia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Ideia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Vantagem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Cuidado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Gulosa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Sempre o melhor Q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Simples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Pode travar numa ação ruim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ε-gulosa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Sorteia ação com prob. ε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Simples e robusta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Explora "às cegas", mesmo depois de saber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Otimista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 inicial alto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Barata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Só ajuda no início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UCB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Estimativa + bônus de incerteza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Explora com critério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Ajustar c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Thompson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Sorteia da crença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Excelente na prática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Precisa de um modelo de crença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banco de testes de 10 braços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Arrependimento com recompensas de sucesso/fracasso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Bandit contextual com scikit-learn: o caso dos cogumelos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Resultado típico no banco de tes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26" y="1143000"/>
            <a:ext cx="7813548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Resultado típico no banco de testes.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rrependimento acumulad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831" y="1143000"/>
            <a:ext cx="5436338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Arrependimento acumulado.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qual mês é melhor para a campanha?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a tabela de taxas, as curvas de arrependimento, a análise das ressalvas e a extensão contextual.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Carregue a base e calcule a taxa de contratação por mês (groupby).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essas taxas como as probabilidades verdadeiras p de um bandit de 12 braços.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7490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91363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74904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ε-gulosa (ε = 0,01; 0,1), UCB1 e Thompson Sampling em 5.000 passos e 200 execuções, medindo o arrependimento acumulado.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2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Bandits são o AR com uma única situação: o desafio é descobrir a melhor ação enquanto se joga.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estimativa de valor se atualiza por novo = velho + passo × (alvo − velho).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Gulosa pode travar; ε-gulosa explora ao acaso; UCB explora por incerteza; Thompson sorteia da crença.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2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arrependimento mede a perda por não saber o melhor braço; bons métodos o fazem crescer devagar.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Passo constante α permite acompanhar ambientes que mudam.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Bandit contextual: a melhor ação depende do contexto; usamos modelos supervisionados do scikit-learn, com exploração.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atualização incremental da média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 ← Q + passo × (alvo − Q).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 ← alvo.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 ← Q × alvo.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 ← Q − alvo.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UCB, o termo de bônus de incerteza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maior para ações pouco testadas.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maior para ações muito testadas.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sempre zero.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igual para todas as 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Entre os braços com taxas 0,45, 0,55 e 0,60, jogar sempre o pior por 2.000 passos produz arrependimento de: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300.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banco de testes de 10 braços, a estratégia gulosa tende 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obter a maior recompensa média.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estagnar com recompensa média menor que as demais.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escolher sempre o melhor braço.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 arrependimento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a  —  Novo = velho + passo × (alvo − velho).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a  —  O bônus cresce quando N(a) é pequeno, estimulando testar o desconhecido.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c  —  A perda por passo é 0,60 − 0,45 = 0,15; 0,15 × 2000 = 300.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b  —  Sem exploração, ela frequentemente trava num braço subótimo.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Descreva o dilema exploração × aproveitamento usando um exemplo próprio e explique por que não existe estratégia livre de custo.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Por que a distribuição Beta se estreita com o tempo e qual é a consequência para o Thompson Sampling?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Mostre que, com recompensas +5 (comestível) e −35 (venenoso), comer só vale a pena se p &lt; 1/8.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2: Bandits Multi-Armados: Explorar ou Aproveitar?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2</dc:title>
  <dc:subject>PptxGenJS Presentation</dc:subject>
  <dc:creator>Araken de Medeiros Santos</dc:creator>
  <cp:lastModifiedBy>Araken de Medeiros Santos</cp:lastModifiedBy>
  <cp:revision>1</cp:revision>
  <dcterms:created xsi:type="dcterms:W3CDTF">2026-10-26T13:18:07Z</dcterms:created>
  <dcterms:modified xsi:type="dcterms:W3CDTF">2026-10-26T13:18:07Z</dcterms:modified>
</cp:coreProperties>
</file>