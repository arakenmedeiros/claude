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9b304e4-353e-4515-fbfe-4e14aed07b69}">
          <p14:sldIdLst>
            <p14:sldId id="256"/>
          </p14:sldIdLst>
        </p14:section>
        <p14:section name="Início" id="{2fbad50a-be54-5ca4-0c53-173b0e5c332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Mão na massa" id="{8b909993-a8c3-7beb-f331-5f62c16069eb}">
          <p14:sldIdLst>
            <p14:sldId id="282"/>
            <p14:sldId id="283"/>
            <p14:sldId id="284"/>
            <p14:sldId id="285"/>
          </p14:sldIdLst>
        </p14:section>
        <p14:section name="Projeto do capítulo" id="{72639acd-65ae-d8eb-3e9d-2c0b2ee52adc}">
          <p14:sldIdLst>
            <p14:sldId id="286"/>
            <p14:sldId id="287"/>
          </p14:sldIdLst>
        </p14:section>
        <p14:section name="Resumo" id="{451b975d-bd94-6306-ee24-5805385a7196}">
          <p14:sldIdLst>
            <p14:sldId id="288"/>
            <p14:sldId id="289"/>
          </p14:sldIdLst>
        </p14:section>
        <p14:section name="Quiz relâmpago" id="{e1ebb4fe-b917-f01e-d39f-f81152367b8c}">
          <p14:sldIdLst>
            <p14:sldId id="290"/>
          </p14:sldIdLst>
        </p14:section>
        <p14:section name="Quiz" id="{5bd317c7-d444-7d49-b8ae-dd7ea3e49399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Encerramento" id="{953ab514-2e15-2032-ea79-012d9847927f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13.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Até aqui, só o agente mudava; o ambiente era "o resto do mundo". Mas, muitas vezes, o ambiente contém outros agentes que também aprendem: jogadores num jogo, carros no trânsito, empresas num mercado, robôs numa equipe, inteligências artificiais em conversação. O modelo matemático é o jogo de Markov (também chamado de jogo estocástico), uma generalização do MDP em que vários agentes escolhem ações ao mesmo tempo, e a recompensa de cada um depende da combinação de ações (LITTMAN, 1994).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13.1 — Três tipos de situação multiagente: cooperativa (objetivo comum), competitiva (interesses opostos) e mista.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Num jogo matricial, cada jogador escolhe uma ação ao mesmo tempo, e uma tabela mostra o pagamento de cada um. Dois jogos clássicos: O equilíbrio de Nash é o conceito central de solução: um conjunto de estratégias em que cada jogador está dando a melhor resposta às dos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13.2 — Dilema do prisioneiro (esquerda) e cara ou coroa (direita). Cada célula mostra o pagamento do jogador da linha e do jogador da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 solução mais simples é tratar os outros como parte do ambiente e cada um aprende com seu Q-learning. Funciona surpreendentemente bem em alguns casos, mas sem garantias: pode oscilar, falhar em cooperar ou convergir a equilíbrios ruins. Um truque poderoso: durante o treino, usar um crítico centralizado que vê informação de todos os agentes (observações e ações), o que estabiliza o aprendizado; na execução, cada agente usa apenas sua política local. Exemplos: MADDPG (LOWE et al., 2017), com atores e críticos centralizados, e QMIX (RASHID et al., 2018), que decompõe o valor da equipe numa combinação monotônica de valores individuais. Em jogos competitivos, o agente pode jogar contra si mesmo (como no AlphaZero, Capítulo 11) ou contra uma população de versões de si, o que cria um "currículo" automático de oponentes cada vez mais fortes. O AlphaStar alcançou o nível de grandes mestres no jogo StarCraft II com ligas de agentes (VINYALS et al., 2019), e o Pluribus venceu profissionais de pôquer com mais de dois jogadores (BROWN; SANDHOLM, 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13.3 — CTDE: o crítico centralizado ajuda no treino, mas cada agente executa a própria política com informação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Como escrever uma recompensa para "uma boa resposta", "um texto útil e honesto", "uma conduta de direção agradável"? É muito difícil. Mas é fácil para uma pessoa comparar duas respostas e dizer qual prefere. O aprendizado por reforço a partir de feedback humano (reinforcement learning from human feedback, RLHF) aproveita isso: aprende a recompensa das comparações (CHRISTIANO et al., 2017). Em palavras: "obtenha respostas que o modelo de recompensa aprecie, mas não mude demais em relação ao modelo de referência". A penalidade KL (Apêndice I) evita que o modelo desvie para respostas estranhas que enganam o avaliador. Como transformar comparações em recompensa? O modelo clássico de Bradley–Terry (1952) diz que a probabilidade de uma pessoa preferir A a B é uma sigmoide da diferença de recompensas: Treinar o modelo de recompensa é, então, uma regressão logística sobre as diferenças: maximiza a verossimilhança das preferências observadas. O DPO (Direct Preference Optimization) mostra que a otimização com penalidade KL tem uma solução em forma fechada, e permite treinar a política diretamente com as preferências, sem modelo de recompensa separado e sem laço de AR (RAFAILOV et al., 2023). A perda, para um par (resposta preferida yw, rejeitada yₗ), é: Em palavras: "aumente a probabilidade da resposta preferida em relação ao modelo de referência e diminua a da rejeitada". O modelo de 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13.4 — O pipeline do RLHF, como usado em modelos de linguagem (STIENNON et al., 2020; OUYANG et al.,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13.5 — Modelo de Bradley–Terry: quanto maior a diferença de recompensa, maior a chance de preferência.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13.6 — Simulação: a recompensa proxy sobe com a pressão de otimização (melhor de N), mas a recompensa verdadeira sobe e depois cai.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Um agente de AR otimiza o que lhe pedimos, não o que queremos. Amodei e colegas (2016) organizaram os problemas concretos de segurança em torno de ideias que já vimos: Questões éticas e sociais: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13.7 — O caminho percorrido neste livro e os próximos passos: o projeto integrador reúne tudo, e o passo final é aplicar a um problema seu.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13.8 — À esquerda, a distribuição da cooperação final em 40 sementes. À direita, duas execuções com resultados opostos.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13.9 — Probabilidades de "coroa" ao longo do tempo (média móvel): oscilam em torno do equilíbrio 0,5 sem se fixar.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Na Seção 13.9.3, vimos que otimizar um modelo de recompensa aprendido de poucos dados enviesados pode não melhorar o que realmente importa. Seu projeto é mitigar isso com um conjunto de modelos de recompensa (a ideia dos conjuntos do Capítulo 11): penalizar a incerteza na seleção. Tarefas: Ponto de partida: Entrega: notebook com as tabelas (média e desvio de 20 repetições), os gráficos e a reflexão.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soma dos pagamentos é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Numa equipe, é difícil saber quem merece o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Vinyals et al. (2019).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Otimizar demais um proxy imperfeito pode piorar o objetivo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Multiagente, RLHF e Fronteiras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2094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jogos de Markov, equilíbrio de Nash e os desafios do aprendizado multiagente.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28651"/>
            <a:ext cx="8229600" cy="628759"/>
          </a:xfrm>
          <a:prstGeom prst="roundRect">
            <a:avLst>
              <a:gd name="adj" fmla="val 17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6015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28651"/>
            <a:ext cx="7452360" cy="62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aprendizes independentes, treinamento centralizado com execução descentralizada e autojogo.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467138"/>
            <a:ext cx="8229600" cy="628759"/>
          </a:xfrm>
          <a:prstGeom prst="roundRect">
            <a:avLst>
              <a:gd name="adj" fmla="val 17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9863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467138"/>
            <a:ext cx="7452360" cy="62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o pipeline do RLHF, o modelo de Bradley–Terry e a otimização com penalidade KL.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205625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3784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205625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DPO e o fenômeno da sobre-otimização da recompensa (lei de Goodhart).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5557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77777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5557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Discutir segurança, alinhamento, ética e limites do aprendizado por reforço.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285488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31771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285488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Mapear as fronteiras de pesquisa e traçar um plano de estudos.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há mais de um agente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Teoria dos jogos em poucas linhas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que o AR multiagente é difícil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Abordagens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RLHF: aprender a partir de preferências humanas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Segurança, alinhamento e ética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Fronteiras da pesquisa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continuar estudando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um modelo de recompensa mais robusto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há mais de um agente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Até aqui, só o agente mudava; o ambiente era "o resto do mundo".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modelo matemático é o jogo de Markov (também chamado de jogo estocástico)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há mais de um agente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Três tipos de situação multiagente: cooperativa (objetivo comum), competitiva (interesses opostos) e mis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7199"/>
            <a:ext cx="8229600" cy="2611962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Três tipos de situação multiagente: cooperativa (objetivo comum), competitiva (interesses opostos) e mista.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há mais de um agente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Relação entre recompensas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Exemplos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Cooperativo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Todos recebem a mesma recompensa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Equipe de robôs, logística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Competitivo (soma zero)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 ganho de um é a perda do outro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Xadrez, Go, pôquer a dois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Interesses parcialmente comuns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Trânsito, leilões, negociações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 dos jogos em poucas linhas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Dilema do prisioneiro: cada jogador ganharia mais cooperando, mas, individualmente, sempre compensa trair.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2860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Cara ou coroa (matching pennies): um quer combinar, o outro quer desencontrar.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equilíbrio de Nash é o conceito central de solução: um conjunto de estratégias em que cada jogador está dando a melhor resposta às dos outros.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 dos jogos em poucas linhas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Dilema do prisioneiro (esquerda) e cara ou coroa (direita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505" y="1143000"/>
            <a:ext cx="7698990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Dilema do prisioneiro (esquerda) e cara ou coroa (direita).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Dilema do prisioneiro no dia a dia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Dois postos de gasolina vizinhos: se ambos mantêm preços altos, ganham bem; se um baixa o preço, ganha todos os clientes; se ambos baixam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AR multiagente é difícil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13.3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estacionariedade.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Atribuição de crédito multiagente.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Escalabilidade.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Observação parcial.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Abordagens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Aprendizes independentes: A solução mais simples é tratar os outros como parte do ambiente e cada um aprende com seu Q-learning.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2768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Treinamento centralizado, execução descentralizada (CTDE): Um truque poderoso: durante o treino, usar um crítico centralizado que vê informação de todos os agentes (observações e ações)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30358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30358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Autojogo e populações: Em jogos competitivos, o agente pode jogar contra si mesmo (como no AlphaZero, Capítulo 11) ou contra uma população de versões de si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Abordagens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CTDE: o crítico centralizado ajuda no treino, mas cada agente executa a própria política com informação loc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92" y="1143000"/>
            <a:ext cx="678801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CTDE: o crítico centralizado ajuda no treino, mas cada agente executa a própria política com informação local.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que RLHF?: Como escrever uma recompensa para "uma boa resposta", "um texto útil e honesto", "uma conduta de direção agradável"?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pipeline em três etapas: Ajuste supervisionado: o modelo de linguagem é treinado com demonstrações humanas de boas respostas.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modelo de Bradley–Terry: Treinar o modelo de recompensa é, então, uma regressão logística sobre as diferenças: maximiza a verossimilhança das preferências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6027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7673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6027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Sobre-otimização e a lei de Goodhart: O modelo de recompensa é um proxy imperfeito do que as pessoas realmente querem.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pipeline do RLHF, como usado em modelos de linguagem (STIENNON et al., 2020; OUYANG et al., 2022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34" y="1143000"/>
            <a:ext cx="631393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pipeline do RLHF, como usado em modelos de linguagem (STIENNON et al., 2020; OUYANG et al., 2022).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maximizar   E[ r(x, y) ] − β × KL( π(· | x) ‖ π_ref(· | x) )</a:t>
            </a:r>
            <a:endParaRPr lang="en-US" sz="22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"obtenha respostas que o modelo de recompensa aprecie, mas não mude demais em relação ao modelo de referência". A penalidade KL (Apêndice I) evita que o modelo desvie para respostas estranhas que enganam o avaliador.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Modelo de Bradley–Terry: quanto maior a diferença de recompensa, maior a chance de preferênc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43" y="1143000"/>
            <a:ext cx="520471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Modelo de Bradley–Terry: quanto maior a diferença de recompensa, maior a chance de preferência.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 ln σ( β [ ln( π(yw | x) / π_ref(yw | x) ) − ln( π(yₗ | x) / π_ref(yₗ | x) ) ] )</a:t>
            </a:r>
            <a:endParaRPr lang="en-US" sz="22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"aumente a probabilidade da resposta preferida em relação ao modelo de referência e diminua a da rejeitada".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RLHF: aprender a partir de preferências humanas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Simulação: a recompensa proxy sobe com a pressão de otimização (melhor de N), mas a recompensa verdadeira sobe e depois ca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747" y="1143000"/>
            <a:ext cx="513850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Simulação: a recompensa proxy sobe com a pressão de otimização (melhor de N), mas a recompensa verdadeira sobe e depois cai.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Segurança, alinhamento e ética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agente de AR otimiza o que lhe pedimos, não o que queremos: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Especificação ruim da recompensa e hackeamento de recompensa (Capítulos 1 e 10).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6517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Efeitos colaterais: o agente ignora o que não está na recompensa (derruba o vaso do caminho).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Exploração segura: como experimentar sem causar danos?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Segurança, alinhamento e ética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Deslocamento de distribuição: o que ocorre quando o mundo muda depois do treino (Capítulo 12).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Supervisão escalável: como avaliar tarefas complexas demais para o avaliador humano?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Questões éticas e sociais: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316382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316382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Quem define a recompensa?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Segurança, alinhamento e ética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Vieses e justiça: dados e avaliadores podem ter vieses, que o agente pode amplificar.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Transparência e responsabilização: políticas de redes profundas são difíceis de interpretar.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Supervisão humana: em saúde, finanças e segurança, a decisão final deve poder ser auditada e contestada.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338328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5661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338328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Custos ambientais: treinar grandes agentes consome energia significativa.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lista de verificação antes de implantar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Fronteiras da pesquisa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Exploração com motivação intrínseca: recompensas internas de curiosidade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Aprendizado hierárquico: decompor tarefas em opções (sub-habilidades reutilizáveis) (SUTTON; PRECUP; SINGH, 1999).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Generalização e transferência: agentes que treinam num conjunto de ambientes e falham em variantes novas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338328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5661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338328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 simulador ao mundo real (sim-to-real): randomização de domínio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Fronteiras da pesquisa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Modelos de fundação e AR: combinar modelos pré-treinados em grandes volumes de dados com AR para ajustar comportamentos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Eficiência, reprodutibilidade e ciência aberta: benchmarks melhores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Segurança e interpretabilidade: entender o que o agente aprendeu e garantir limites de comportamento.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continuar estudando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13.8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Livros: Reinforcement Learning: An Introduction (SUTTON; BARTO, 2018), referência de toda a Parte I e II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Artigos-chave: os citados em cada capítulo.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Prática: reimplemente algoritmos do zero, use o Stable-Baselines3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Hábitos: várias sementes, intervalos de confiança, baselines simples e uma lista de limitações em cada relatório.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continuar estudando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caminho percorrido neste livro e os próximos passos: o projeto integrador reúne tudo, e o passo final é aplicar a um problema se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34" y="1143000"/>
            <a:ext cx="631393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caminho percorrido neste livro e os próximos passos: o projeto integrador reúne tudo, e o passo final é aplicar a um problema seu.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299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Dilema do prisioneiro com aprendizes independentes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58318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8897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6606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Cara ou coroa: aprendizes que giram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70916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1495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Modelo de recompensa por preferências (Bradley–Terry)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683514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093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01802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perda do DPO, número a número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À esquerda, a distribuição da cooperação final em 40 seme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968" y="1143000"/>
            <a:ext cx="793606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À esquerda, a distribuição da cooperação final em 40 sementes.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Probabilidades de &quot;coroa&quot; ao longo do tempo (média móvel): oscilam em torno do equilíbrio 0,5 sem se fix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721" y="1143000"/>
            <a:ext cx="5756558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Probabilidades de "coroa" ao longo do tempo (média móvel): oscilam em torno do equilíbrio 0,5 sem se fixar.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um modelo de recompensa mais robusto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47241"/>
          </a:xfrm>
          <a:prstGeom prst="roundRect">
            <a:avLst>
              <a:gd name="adj" fmla="val 245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29461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4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45689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89639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45689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as tabelas (média e desvio de 20 repetições), os gráficos e a reflexão.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09077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53027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09077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Gere poucos pares de preferência (por exemplo, 300) com viés dos anotadores = 1 e treine um modelo de recompensa.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272466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416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272466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Treine um conjunto de 10 modelos em amostras bootstrap dos pares (sklearn.utils.resample).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4035854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1798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4035854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Defina a recompensa conservadora r = média − λ × desvio-padrão do conjunto, para λ ∈ {0; 0,5; 1; 2}.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Multiagente: jogos de Markov; equilíbrio de Nash; cooperação é possível, mas frágil; aprendizes independentes podem oscilar ou não convergir.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CTDE (MADDPG, QMIX) estabiliza o treino; autojogo e populações deram AlphaStar e Pluribus.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RLHF: aprende a recompensa de preferências (Bradley–Terry) e otimiza com PPO + penalidade KL; o DPO dispensa o laço de 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13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Lei de Goodhart: otimizar demais um proxy imperfeito piora o que importa; mitigue com KL, conjuntos e boa avaliação.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Segurança e ética: recompensas mal especificadas, efeitos colaterais, deslocamento de distribuição e supervisão humana.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Fronteiras: curiosidade, hierarquia, generalização, sim-to-real, modelos de fundação.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 um jogo de soma zero entre dois jogadores: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ganho de um é a perda do outro.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ambos ganham sempre.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ambos perdem sempre.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há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atribuição de crédito multiagente refere-se 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descobrir quanto cada agente contribuiu para o resultado comum.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a taxa de aprendizado.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o desconto.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discretizar estados.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AlphaStar alcançou desempenho de grande mestre no jogo: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StarCraft II.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Xadrez.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Pac-Man.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lei de Goodhart afirma, em essência, que: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uma medida vira meta, deixa de ser uma boa medida.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 medida é perfeita.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otimizar sempre melhora o objetivo real.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recompensas devem ser aleatórias.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A soma dos pagamentos é zero.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Numa equipe, é difícil saber quem merece o crédito.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a  —  Vinyals et al.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Otimizar demais um proxy imperfeito pode piorar o objetivo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o que é um jogo de Markov e como ele generaliza o MDP.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Descreva o pipeline do RLHF em três etapas.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Dê quatro riscos de segurança do AR descritos por Amodei et 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13: Sistemas Multiagente, RLHF e Fronteiras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13</dc:title>
  <dc:subject>PptxGenJS Presentation</dc:subject>
  <dc:creator>Araken de Medeiros Santos</dc:creator>
  <cp:lastModifiedBy>Araken de Medeiros Santos</cp:lastModifiedBy>
  <cp:revision>1</cp:revision>
  <dcterms:created xsi:type="dcterms:W3CDTF">2026-10-26T13:18:09Z</dcterms:created>
  <dcterms:modified xsi:type="dcterms:W3CDTF">2026-10-26T13:18:09Z</dcterms:modified>
</cp:coreProperties>
</file>