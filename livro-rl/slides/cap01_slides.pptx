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bertura" id="{8969022f-fa93-0cc6-6d10-36d534d25fcd}">
          <p14:sldIdLst>
            <p14:sldId id="256"/>
          </p14:sldIdLst>
        </p14:section>
        <p14:section name="Início" id="{e2284986-5240-9e34-3811-88bcb44f046b}">
          <p14:sldIdLst>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 id="286"/>
          </p14:sldIdLst>
        </p14:section>
        <p14:section name="Mão na massa" id="{826531a6-ee5c-89ce-446d-368e7845f505}">
          <p14:sldIdLst>
            <p14:sldId id="287"/>
            <p14:sldId id="288"/>
            <p14:sldId id="289"/>
          </p14:sldIdLst>
        </p14:section>
        <p14:section name="Projeto do capítulo" id="{6d3e9a8e-6aae-e603-2499-64871622a381}">
          <p14:sldIdLst>
            <p14:sldId id="290"/>
            <p14:sldId id="291"/>
          </p14:sldIdLst>
        </p14:section>
        <p14:section name="Resumo" id="{a65330a2-a66c-aae5-3764-5b571c31e8d5}">
          <p14:sldIdLst>
            <p14:sldId id="292"/>
            <p14:sldId id="293"/>
          </p14:sldIdLst>
        </p14:section>
        <p14:section name="Quiz relâmpago" id="{e8a454a1-f148-630a-8c29-ffeeede691c5}">
          <p14:sldIdLst>
            <p14:sldId id="294"/>
          </p14:sldIdLst>
        </p14:section>
        <p14:section name="Quiz" id="{542556b9-6f74-39f0-1dff-29f5615327e5}">
          <p14:sldIdLst>
            <p14:sldId id="295"/>
            <p14:sldId id="296"/>
            <p14:sldId id="297"/>
            <p14:sldId id="298"/>
            <p14:sldId id="299"/>
            <p14:sldId id="300"/>
          </p14:sldIdLst>
        </p14:section>
        <p14:section name="Encerramento" id="{11877a69-b233-4eca-75f7-6a604abe267d}">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Abertura do Capítulo 1. Apresente a pergunta central do capítulo e o roteiro da aula.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os objetivos com a turma e pergunte quem já conhece algum deles.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Mostre o mapa da aula: cada item é uma estação da viagem.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Pense em como você aprendeu a andar de bicicleta. Ninguém lhe entregou uma tabela dizendo "incline 3 graus à esquerda quando a velocidade for 8 km/h". Você subiu, pedalou, caiu, ajustou e tentou de novo. Aos poucos, o corpo descobriu o que funciona. Agora pense num cachorro aprendendo a sentar. Cada vez que ele senta e ouve "muito bem!", ganha um petisco. Com o tempo, ele senta mais vezes. Ninguém explicou o que é "sentar". O cachorro associou uma ação a uma consequência boa. Em 1911, o psicólogo Edward Thorndike descreveu essa ideia como a lei do efeito: comportamentos seguidos de consequências agradáveis tendem a se repetir; os seguidos de consequências desagradáveis tendem a desaparecer (THORNDIKE, 1911). Essa é a semente do aprendizado por reforço.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Em termos simples: &gt; Aprendizado por reforço (AR) é aprender a decidir, por tentativa e erro, para acumular o máximo de recompensa ao longo do tempo. Sutton e Barto (2018), autores do livro mais influente da área, dizem que o aprendiz "não é informado de quais ações tomar, e sim deve descobrir quais ações rendem mais recompensa ao experimentá-las". Duas características tornam o AR único: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que a turma repita a frase em voz alta e com as próprias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O aprendizado de máquina (a área de IA em que computadores aprendem a partir de dados) tem três grandes famílias. A diferença está no tipo de feedback que o aprendiz recebe. Veja a diferença-chave com um professor de música: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1.1 — Três formas de aprender. No supervisionado há um gabarito; no não supervisionado, nenhum feedback; no reforço, apenas uma nota (recompensa) após agir.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linha a linha; peça que a turma justifique cada "cuidado".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Todo problema de AR tem os mesmos personagens. O ciclo acontece em passos de tempo, numerados por t = 0, 1, 2, … No passo t: O pequeno t é só um carimbo de horário: Sₜ é "o estado agora", Sₜ₊₁ é "o estado no passo seguinte". Note que você, projetista, escolhe as recompensas. O robô não sabe o que é "limpar". Ele só tenta acumular números. Algumas tarefas têm começo e fim claros, como uma partida de xadrez. Cada partida é um episódio, que termina num estado terminal (vitória, derrota ou empate). Outras não acabam, como o controle de temperatura de um prédio; são tarefas contínuas.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1.2 — O ciclo do AR: o agente age; o ambiente devolve um novo estado e uma recompensa; o ciclo se repete.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O agente não quer só a próxima recompensa. Quer a soma de todas que virão. Essa soma se chama retorno e é escrita Gₜ. Imagine três recompensas seguidas: 1, 0 e 5. O retorno simples é 1 + 0 + 5 = 6. Um real hoje vale mais que um real daqui a dez anos: você pode gastá-lo já, e o futuro é incerto. Em AR, aplicamos o mesmo raciocínio com o fator de desconto, representado pela letra grega γ (gama), um número entre 0 e 1. Uma recompensa que chega k passos depois é multiplicada por γ elevado a k. Em palavras: some as recompensas futuras, mas diminua o peso de cada uma conforme ela fica mais distante. O desconto serve a três propósitos: reflete a incerteza do futuro, expressa preferência por ganhos rápidos e, matematicamente, garante que a soma infinita seja um número finito. Todo o AR repousa sobre uma ideia ousada, que Sutton e Barto (2018) chamam de hipótese da recompensa: tudo o que entendemos por "objetivos" pode ser descrito como a maximização do valor esperado da soma de um sinal escalar (a recompensa). Isso é poderoso, mas exige cuidado. Quem escolhe mal a recompensa obtém um agente que cumpre a letra e trai o espírito.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Leia a fórmula em voz alta, termo a termo, e traduza com a frase "em palavras".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1.3 — À esquerda, quanto o desconto reduz o peso de recompensas distantes. À direita, o retorno de dez recompensas iguais a 1 cresce com 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Um agente de AR pode ter até três "ferramentas" internas. Métodos que não usam modelo são chamados livres de modelo (model-free); os que usam são baseados em modelo (model-based). O restante do livro percorre esses caminhos em ordem crescente de sofisticação.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1.4 — Política, função valor e modelo: o que fazer, quão bom é estar aqui e o que vai acontecer.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Peça aos alunos que citem outro exemplo do próprio cotidiano.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Você tem um restaurante favorito. Pode aproveitar (exploit): ir de novo ao favorito e garantir uma boa refeição. Ou pode explorar (explore): testar um restaurante novo, que talvez seja ainda melhor, mas talvez seja ruim. Se só aproveitar, você nunca descobre algo melhor. Se só explorar, nunca desfruta do que já sabe. Este é o dilema exploração-aproveitamento, tema do Capítulo 2. Numa partida de xadrez, a recompensa (vitória) só vem no fim. Qual das 80 jogadas foi decisiva? Esse é o problema da atribuição de crédito: descobrir quais ações passadas merecem os louros (ou a culpa) por um resultado tardio (SUTTON, 1984).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1.5 — Recompensa só no final: o agente precisa descobrir quais ações anteriores foram responsáveis.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A área nasceu da confluência de duas linhas de pesquisa (SUTTON; BARTO, 2018): Alguns marcos: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1.6 — Marcos do aprendizado por reforço, da psicologia animal aos modelos de linguagem.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Você não precisa saber programar para começar. Os apêndices ensinam o necessário. Os apêndices I e J trazem a matemática essencial e o roteiro para baixar as bases de dados (UCI e Kaggle) usadas nas práticas.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Execute os códigos do capítulo ao vivo ou peça que os alunos rodem em duplas.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Descreva a figura: Figura 1.7 — Resultado típico do experimento: o retorno médio sobe e a distribuição dos retornos se desloca para a direita. Os valores exatos variam com a semente aleatória.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Roteiro do professor: Objetivo: estudar como as escolhas do método da entropia cruzada afetam a aprendizagem no CartPole. Tarefas: Ponto de partida: Entrega: um notebook com código, tabela, gráfico do retorno médio por iteração e o parágrafo de conclusão.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c. O ambiente responde com R_(t+1) e S_(t+1).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b. γ pequeno reduz drasticamente o peso das recompensas distantes.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b. Com recompensas atrasadas, é difícil saber qual ação merece o crédito.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Resposta: b. Selecionam-se os melhores episódios e treina-se um classificador para imitá-los.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Divida a turma em grupos de 3 a 4 pessoas; 5 minutos de discussão e depois compartilhamento.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Encerre retomando a pergunta central e antecipando o próximo capítulo.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LAR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Aprendizado por Reforço · Araken de Medeiros Santos</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SCURO">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457200" y="48006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Calibri" pitchFamily="34" charset="0"/>
                <a:ea typeface="Calibri" pitchFamily="34" charset="-122"/>
                <a:cs typeface="Calibri" pitchFamily="34" charset="-120"/>
              </a:rPr>
              <a:t>Aprendizado por Reforço · Araken de Medeiros Santos</a:t>
            </a:r>
            <a:endParaRPr lang="en-US" sz="10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Banner" descr="/home/user/claude/livro-rl/figs/banner1.png">    </p:cNvPr>
          <p:cNvPicPr>
            <a:picLocks noChangeAspect="1"/>
          </p:cNvPicPr>
          <p:nvPr/>
        </p:nvPicPr>
        <p:blipFill>
          <a:blip r:embed="rId1"/>
          <a:stretch>
            <a:fillRect/>
          </a:stretch>
        </p:blipFill>
        <p:spPr>
          <a:xfrm>
            <a:off x="0" y="320040"/>
            <a:ext cx="9144000" cy="1721877"/>
          </a:xfrm>
          <a:prstGeom prst="rect">
            <a:avLst/>
          </a:prstGeom>
        </p:spPr>
      </p:pic>
      <p:sp>
        <p:nvSpPr>
          <p:cNvPr id="4" name="Título"/>
          <p:cNvSpPr txBox="1"/>
          <p:nvPr/>
        </p:nvSpPr>
        <p:spPr>
          <a:xfrm>
            <a:off x="548640" y="2331720"/>
            <a:ext cx="8046720" cy="137160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Introdução ao Aprendizado por Reforço</a:t>
            </a:r>
            <a:endParaRPr lang="en-US" sz="3800" dirty="0"/>
          </a:p>
        </p:txBody>
      </p:sp>
      <p:sp>
        <p:nvSpPr>
          <p:cNvPr id="5" name="Text 1"/>
          <p:cNvSpPr txBox="1"/>
          <p:nvPr/>
        </p:nvSpPr>
        <p:spPr>
          <a:xfrm>
            <a:off x="548640" y="3794760"/>
            <a:ext cx="5486400" cy="365760"/>
          </a:xfrm>
          <a:prstGeom prst="rect">
            <a:avLst/>
          </a:prstGeom>
          <a:noFill/>
          <a:ln/>
        </p:spPr>
        <p:txBody>
          <a:bodyPr wrap="square" lIns="0" tIns="0" rIns="0" bIns="0" rtlCol="0" anchor="ctr"/>
          <a:lstStyle/>
          <a:p>
            <a:pPr indent="0" marL="0">
              <a:buNone/>
            </a:pPr>
            <a:r>
              <a:rPr lang="en-US" sz="1800" b="1" dirty="0">
                <a:solidFill>
                  <a:schemeClr val="accent1"/>
                </a:solidFill>
              </a:rPr>
              <a:t>Aprendizado por Reforço</a:t>
            </a:r>
            <a:endParaRPr lang="en-US" sz="1800" dirty="0"/>
          </a:p>
        </p:txBody>
      </p:sp>
      <p:sp>
        <p:nvSpPr>
          <p:cNvPr id="6" name="Text 2"/>
          <p:cNvSpPr txBox="1"/>
          <p:nvPr/>
        </p:nvSpPr>
        <p:spPr>
          <a:xfrm>
            <a:off x="548640" y="4160520"/>
            <a:ext cx="5486400" cy="365760"/>
          </a:xfrm>
          <a:prstGeom prst="rect">
            <a:avLst/>
          </a:prstGeom>
          <a:noFill/>
          <a:ln/>
        </p:spPr>
        <p:txBody>
          <a:bodyPr wrap="square" lIns="0" tIns="0" rIns="0" bIns="0" rtlCol="0" anchor="ctr"/>
          <a:lstStyle/>
          <a:p>
            <a:pPr indent="0" marL="0">
              <a:buNone/>
            </a:pPr>
            <a:r>
              <a:rPr lang="en-US" sz="1600" dirty="0">
                <a:solidFill>
                  <a:schemeClr val="accent6"/>
                </a:solidFill>
              </a:rPr>
              <a:t>Araken de Medeiros Santos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que você vai aprender</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1</a:t>
            </a:r>
            <a:endParaRPr lang="en-US" sz="1200" dirty="0"/>
          </a:p>
        </p:txBody>
      </p:sp>
      <p:sp>
        <p:nvSpPr>
          <p:cNvPr id="5" name="Cartão"/>
          <p:cNvSpPr/>
          <p:nvPr/>
        </p:nvSpPr>
        <p:spPr>
          <a:xfrm>
            <a:off x="457200" y="1188720"/>
            <a:ext cx="8229600" cy="414416"/>
          </a:xfrm>
          <a:prstGeom prst="roundRect">
            <a:avLst>
              <a:gd name="adj" fmla="val 26478"/>
            </a:avLst>
          </a:prstGeom>
          <a:solidFill>
            <a:schemeClr val="bg2"/>
          </a:solidFill>
          <a:ln w="12700">
            <a:solidFill>
              <a:schemeClr val="bg2"/>
            </a:solidFill>
            <a:prstDash val="solid"/>
          </a:ln>
        </p:spPr>
      </p:sp>
      <p:sp>
        <p:nvSpPr>
          <p:cNvPr id="6" name="Número"/>
          <p:cNvSpPr/>
          <p:nvPr/>
        </p:nvSpPr>
        <p:spPr>
          <a:xfrm>
            <a:off x="594360" y="1213048"/>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14416"/>
          </a:xfrm>
          <a:prstGeom prst="rect">
            <a:avLst/>
          </a:prstGeom>
          <a:noFill/>
          <a:ln/>
        </p:spPr>
        <p:txBody>
          <a:bodyPr wrap="square" lIns="0" tIns="0" rIns="0" bIns="0" rtlCol="0" anchor="ctr">
            <a:normAutofit/>
          </a:bodyPr>
          <a:lstStyle/>
          <a:p>
            <a:pPr indent="0" marL="0">
              <a:buNone/>
            </a:pPr>
            <a:r>
              <a:rPr lang="en-US" sz="1600" dirty="0">
                <a:solidFill>
                  <a:schemeClr val="tx1"/>
                </a:solidFill>
              </a:rPr>
              <a:t>Explicar, com exemplos do cotidiano, o que é aprender por tentativa e erro.</a:t>
            </a:r>
            <a:endParaRPr lang="en-US" sz="1600" dirty="0"/>
          </a:p>
        </p:txBody>
      </p:sp>
      <p:sp>
        <p:nvSpPr>
          <p:cNvPr id="8" name="Cartão"/>
          <p:cNvSpPr/>
          <p:nvPr/>
        </p:nvSpPr>
        <p:spPr>
          <a:xfrm>
            <a:off x="457200" y="1712864"/>
            <a:ext cx="8229600" cy="414416"/>
          </a:xfrm>
          <a:prstGeom prst="roundRect">
            <a:avLst>
              <a:gd name="adj" fmla="val 26478"/>
            </a:avLst>
          </a:prstGeom>
          <a:solidFill>
            <a:schemeClr val="bg2"/>
          </a:solidFill>
          <a:ln w="12700">
            <a:solidFill>
              <a:schemeClr val="bg2"/>
            </a:solidFill>
            <a:prstDash val="solid"/>
          </a:ln>
        </p:spPr>
      </p:sp>
      <p:sp>
        <p:nvSpPr>
          <p:cNvPr id="9" name="Número"/>
          <p:cNvSpPr/>
          <p:nvPr/>
        </p:nvSpPr>
        <p:spPr>
          <a:xfrm>
            <a:off x="594360" y="173719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12864"/>
            <a:ext cx="7452360" cy="414416"/>
          </a:xfrm>
          <a:prstGeom prst="rect">
            <a:avLst/>
          </a:prstGeom>
          <a:noFill/>
          <a:ln/>
        </p:spPr>
        <p:txBody>
          <a:bodyPr wrap="square" lIns="0" tIns="0" rIns="0" bIns="0" rtlCol="0" anchor="ctr">
            <a:normAutofit/>
          </a:bodyPr>
          <a:lstStyle/>
          <a:p>
            <a:pPr indent="0" marL="0">
              <a:buNone/>
            </a:pPr>
            <a:r>
              <a:rPr lang="en-US" sz="1600" dirty="0">
                <a:solidFill>
                  <a:schemeClr val="tx1"/>
                </a:solidFill>
              </a:rPr>
              <a:t>Distinguir aprendizado supervisionado, não supervisionado e por reforço.</a:t>
            </a:r>
            <a:endParaRPr lang="en-US" sz="1600" dirty="0"/>
          </a:p>
        </p:txBody>
      </p:sp>
      <p:sp>
        <p:nvSpPr>
          <p:cNvPr id="11" name="Cartão"/>
          <p:cNvSpPr/>
          <p:nvPr/>
        </p:nvSpPr>
        <p:spPr>
          <a:xfrm>
            <a:off x="457200" y="2237008"/>
            <a:ext cx="8229600" cy="414416"/>
          </a:xfrm>
          <a:prstGeom prst="roundRect">
            <a:avLst>
              <a:gd name="adj" fmla="val 26478"/>
            </a:avLst>
          </a:prstGeom>
          <a:solidFill>
            <a:schemeClr val="bg2"/>
          </a:solidFill>
          <a:ln w="12700">
            <a:solidFill>
              <a:schemeClr val="bg2"/>
            </a:solidFill>
            <a:prstDash val="solid"/>
          </a:ln>
        </p:spPr>
      </p:sp>
      <p:sp>
        <p:nvSpPr>
          <p:cNvPr id="12" name="Número"/>
          <p:cNvSpPr/>
          <p:nvPr/>
        </p:nvSpPr>
        <p:spPr>
          <a:xfrm>
            <a:off x="594360" y="2261336"/>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237008"/>
            <a:ext cx="7452360" cy="414416"/>
          </a:xfrm>
          <a:prstGeom prst="rect">
            <a:avLst/>
          </a:prstGeom>
          <a:noFill/>
          <a:ln/>
        </p:spPr>
        <p:txBody>
          <a:bodyPr wrap="square" lIns="0" tIns="0" rIns="0" bIns="0" rtlCol="0" anchor="ctr">
            <a:normAutofit/>
          </a:bodyPr>
          <a:lstStyle/>
          <a:p>
            <a:pPr indent="0" marL="0">
              <a:buNone/>
            </a:pPr>
            <a:r>
              <a:rPr lang="en-US" sz="1600" dirty="0">
                <a:solidFill>
                  <a:schemeClr val="tx1"/>
                </a:solidFill>
              </a:rPr>
              <a:t>Identificar agente, ambiente, estado, ação e recompensa em situações reais.</a:t>
            </a:r>
            <a:endParaRPr lang="en-US" sz="1600" dirty="0"/>
          </a:p>
        </p:txBody>
      </p:sp>
      <p:sp>
        <p:nvSpPr>
          <p:cNvPr id="14" name="Cartão"/>
          <p:cNvSpPr/>
          <p:nvPr/>
        </p:nvSpPr>
        <p:spPr>
          <a:xfrm>
            <a:off x="457200" y="2761152"/>
            <a:ext cx="8229600" cy="414416"/>
          </a:xfrm>
          <a:prstGeom prst="roundRect">
            <a:avLst>
              <a:gd name="adj" fmla="val 26478"/>
            </a:avLst>
          </a:prstGeom>
          <a:solidFill>
            <a:schemeClr val="bg2"/>
          </a:solidFill>
          <a:ln w="12700">
            <a:solidFill>
              <a:schemeClr val="bg2"/>
            </a:solidFill>
            <a:prstDash val="solid"/>
          </a:ln>
        </p:spPr>
      </p:sp>
      <p:sp>
        <p:nvSpPr>
          <p:cNvPr id="15" name="Número"/>
          <p:cNvSpPr/>
          <p:nvPr/>
        </p:nvSpPr>
        <p:spPr>
          <a:xfrm>
            <a:off x="594360" y="2785481"/>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2761152"/>
            <a:ext cx="7452360" cy="414416"/>
          </a:xfrm>
          <a:prstGeom prst="rect">
            <a:avLst/>
          </a:prstGeom>
          <a:noFill/>
          <a:ln/>
        </p:spPr>
        <p:txBody>
          <a:bodyPr wrap="square" lIns="0" tIns="0" rIns="0" bIns="0" rtlCol="0" anchor="ctr">
            <a:normAutofit/>
          </a:bodyPr>
          <a:lstStyle/>
          <a:p>
            <a:pPr indent="0" marL="0">
              <a:buNone/>
            </a:pPr>
            <a:r>
              <a:rPr lang="en-US" sz="1600" dirty="0">
                <a:solidFill>
                  <a:schemeClr val="tx1"/>
                </a:solidFill>
              </a:rPr>
              <a:t>Calcular o retorno de uma sequência de recompensas, com e sem desconto.</a:t>
            </a:r>
            <a:endParaRPr lang="en-US" sz="1600" dirty="0"/>
          </a:p>
        </p:txBody>
      </p:sp>
      <p:sp>
        <p:nvSpPr>
          <p:cNvPr id="17" name="Cartão"/>
          <p:cNvSpPr/>
          <p:nvPr/>
        </p:nvSpPr>
        <p:spPr>
          <a:xfrm>
            <a:off x="457200" y="3285297"/>
            <a:ext cx="8229600" cy="414416"/>
          </a:xfrm>
          <a:prstGeom prst="roundRect">
            <a:avLst>
              <a:gd name="adj" fmla="val 26478"/>
            </a:avLst>
          </a:prstGeom>
          <a:solidFill>
            <a:schemeClr val="bg2"/>
          </a:solidFill>
          <a:ln w="12700">
            <a:solidFill>
              <a:schemeClr val="bg2"/>
            </a:solidFill>
            <a:prstDash val="solid"/>
          </a:ln>
        </p:spPr>
      </p:sp>
      <p:sp>
        <p:nvSpPr>
          <p:cNvPr id="18" name="Número"/>
          <p:cNvSpPr/>
          <p:nvPr/>
        </p:nvSpPr>
        <p:spPr>
          <a:xfrm>
            <a:off x="594360" y="3309625"/>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o"/>
          <p:cNvSpPr txBox="1"/>
          <p:nvPr/>
        </p:nvSpPr>
        <p:spPr>
          <a:xfrm>
            <a:off x="1097280" y="3285297"/>
            <a:ext cx="7452360" cy="414416"/>
          </a:xfrm>
          <a:prstGeom prst="rect">
            <a:avLst/>
          </a:prstGeom>
          <a:noFill/>
          <a:ln/>
        </p:spPr>
        <p:txBody>
          <a:bodyPr wrap="square" lIns="0" tIns="0" rIns="0" bIns="0" rtlCol="0" anchor="ctr">
            <a:normAutofit/>
          </a:bodyPr>
          <a:lstStyle/>
          <a:p>
            <a:pPr indent="0" marL="0">
              <a:buNone/>
            </a:pPr>
            <a:r>
              <a:rPr lang="en-US" sz="1600" dirty="0">
                <a:solidFill>
                  <a:schemeClr val="tx1"/>
                </a:solidFill>
              </a:rPr>
              <a:t>Descrever os três componentes de um agente: política, função valor e modelo.</a:t>
            </a:r>
            <a:endParaRPr lang="en-US" sz="1600" dirty="0"/>
          </a:p>
        </p:txBody>
      </p:sp>
      <p:sp>
        <p:nvSpPr>
          <p:cNvPr id="20" name="Cartão"/>
          <p:cNvSpPr/>
          <p:nvPr/>
        </p:nvSpPr>
        <p:spPr>
          <a:xfrm>
            <a:off x="457200" y="3809441"/>
            <a:ext cx="8229600" cy="414416"/>
          </a:xfrm>
          <a:prstGeom prst="roundRect">
            <a:avLst>
              <a:gd name="adj" fmla="val 26478"/>
            </a:avLst>
          </a:prstGeom>
          <a:solidFill>
            <a:schemeClr val="bg2"/>
          </a:solidFill>
          <a:ln w="12700">
            <a:solidFill>
              <a:schemeClr val="bg2"/>
            </a:solidFill>
            <a:prstDash val="solid"/>
          </a:ln>
        </p:spPr>
      </p:sp>
      <p:sp>
        <p:nvSpPr>
          <p:cNvPr id="21" name="Número"/>
          <p:cNvSpPr/>
          <p:nvPr/>
        </p:nvSpPr>
        <p:spPr>
          <a:xfrm>
            <a:off x="594360" y="3833769"/>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2" name="Texto"/>
          <p:cNvSpPr txBox="1"/>
          <p:nvPr/>
        </p:nvSpPr>
        <p:spPr>
          <a:xfrm>
            <a:off x="1097280" y="3809441"/>
            <a:ext cx="7452360" cy="414416"/>
          </a:xfrm>
          <a:prstGeom prst="rect">
            <a:avLst/>
          </a:prstGeom>
          <a:noFill/>
          <a:ln/>
        </p:spPr>
        <p:txBody>
          <a:bodyPr wrap="square" lIns="0" tIns="0" rIns="0" bIns="0" rtlCol="0" anchor="ctr">
            <a:normAutofit/>
          </a:bodyPr>
          <a:lstStyle/>
          <a:p>
            <a:pPr indent="0" marL="0">
              <a:buNone/>
            </a:pPr>
            <a:r>
              <a:rPr lang="en-US" sz="1600" dirty="0">
                <a:solidFill>
                  <a:schemeClr val="tx1"/>
                </a:solidFill>
              </a:rPr>
              <a:t>Reconhecer os grandes desafios da área e os marcos históricos que a moldaram.</a:t>
            </a:r>
            <a:endParaRPr lang="en-US" sz="1600" dirty="0"/>
          </a:p>
        </p:txBody>
      </p:sp>
      <p:sp>
        <p:nvSpPr>
          <p:cNvPr id="23" name="Cartão"/>
          <p:cNvSpPr/>
          <p:nvPr/>
        </p:nvSpPr>
        <p:spPr>
          <a:xfrm>
            <a:off x="457200" y="4333585"/>
            <a:ext cx="8229600" cy="414416"/>
          </a:xfrm>
          <a:prstGeom prst="roundRect">
            <a:avLst>
              <a:gd name="adj" fmla="val 26478"/>
            </a:avLst>
          </a:prstGeom>
          <a:solidFill>
            <a:schemeClr val="bg2"/>
          </a:solidFill>
          <a:ln w="12700">
            <a:solidFill>
              <a:schemeClr val="bg2"/>
            </a:solidFill>
            <a:prstDash val="solid"/>
          </a:ln>
        </p:spPr>
      </p:sp>
      <p:sp>
        <p:nvSpPr>
          <p:cNvPr id="24" name="Número"/>
          <p:cNvSpPr/>
          <p:nvPr/>
        </p:nvSpPr>
        <p:spPr>
          <a:xfrm>
            <a:off x="594360" y="4357913"/>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25" name="Texto"/>
          <p:cNvSpPr txBox="1"/>
          <p:nvPr/>
        </p:nvSpPr>
        <p:spPr>
          <a:xfrm>
            <a:off x="1097280" y="4333585"/>
            <a:ext cx="7452360" cy="414416"/>
          </a:xfrm>
          <a:prstGeom prst="rect">
            <a:avLst/>
          </a:prstGeom>
          <a:noFill/>
          <a:ln/>
        </p:spPr>
        <p:txBody>
          <a:bodyPr wrap="square" lIns="0" tIns="0" rIns="0" bIns="0" rtlCol="0" anchor="ctr">
            <a:normAutofit/>
          </a:bodyPr>
          <a:lstStyle/>
          <a:p>
            <a:pPr indent="0" marL="0">
              <a:buNone/>
            </a:pPr>
            <a:r>
              <a:rPr lang="en-US" sz="1600" dirty="0">
                <a:solidFill>
                  <a:schemeClr val="tx1"/>
                </a:solidFill>
              </a:rPr>
              <a:t>Executar seu primeiro agente em Python, com Gymnasium e scikit-learn.</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Roteiro da aula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1</a:t>
            </a:r>
            <a:endParaRPr lang="en-US" sz="1200" dirty="0"/>
          </a:p>
        </p:txBody>
      </p:sp>
      <p:sp>
        <p:nvSpPr>
          <p:cNvPr id="5" name="Cartão"/>
          <p:cNvSpPr/>
          <p:nvPr/>
        </p:nvSpPr>
        <p:spPr>
          <a:xfrm>
            <a:off x="457200" y="1234440"/>
            <a:ext cx="4023360" cy="475488"/>
          </a:xfrm>
          <a:prstGeom prst="roundRect">
            <a:avLst>
              <a:gd name="adj" fmla="val 19231"/>
            </a:avLst>
          </a:prstGeom>
          <a:solidFill>
            <a:schemeClr val="bg2"/>
          </a:solidFill>
          <a:ln w="12700">
            <a:solidFill>
              <a:schemeClr val="bg2"/>
            </a:solidFill>
            <a:prstDash val="solid"/>
          </a:ln>
        </p:spPr>
      </p:sp>
      <p:sp>
        <p:nvSpPr>
          <p:cNvPr id="6" name="Text 3"/>
          <p:cNvSpPr/>
          <p:nvPr/>
        </p:nvSpPr>
        <p:spPr>
          <a:xfrm>
            <a:off x="548640" y="1307592"/>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4"/>
          <p:cNvSpPr txBox="1"/>
          <p:nvPr/>
        </p:nvSpPr>
        <p:spPr>
          <a:xfrm>
            <a:off x="1005840" y="123444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Aprendendo tentando</a:t>
            </a:r>
            <a:endParaRPr lang="en-US" sz="1400" dirty="0"/>
          </a:p>
        </p:txBody>
      </p:sp>
      <p:sp>
        <p:nvSpPr>
          <p:cNvPr id="8" name="Cartão"/>
          <p:cNvSpPr/>
          <p:nvPr/>
        </p:nvSpPr>
        <p:spPr>
          <a:xfrm>
            <a:off x="4663440" y="1234440"/>
            <a:ext cx="4023360" cy="475488"/>
          </a:xfrm>
          <a:prstGeom prst="roundRect">
            <a:avLst>
              <a:gd name="adj" fmla="val 19231"/>
            </a:avLst>
          </a:prstGeom>
          <a:solidFill>
            <a:schemeClr val="bg2"/>
          </a:solidFill>
          <a:ln w="12700">
            <a:solidFill>
              <a:schemeClr val="bg2"/>
            </a:solidFill>
            <a:prstDash val="solid"/>
          </a:ln>
        </p:spPr>
      </p:sp>
      <p:sp>
        <p:nvSpPr>
          <p:cNvPr id="9" name="Text 6"/>
          <p:cNvSpPr/>
          <p:nvPr/>
        </p:nvSpPr>
        <p:spPr>
          <a:xfrm>
            <a:off x="4754880" y="1307592"/>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7"/>
          <p:cNvSpPr txBox="1"/>
          <p:nvPr/>
        </p:nvSpPr>
        <p:spPr>
          <a:xfrm>
            <a:off x="5212080" y="123444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 que é aprendizado por reforço?</a:t>
            </a:r>
            <a:endParaRPr lang="en-US" sz="1400" dirty="0"/>
          </a:p>
        </p:txBody>
      </p:sp>
      <p:sp>
        <p:nvSpPr>
          <p:cNvPr id="11" name="Cartão"/>
          <p:cNvSpPr/>
          <p:nvPr/>
        </p:nvSpPr>
        <p:spPr>
          <a:xfrm>
            <a:off x="457200" y="1801368"/>
            <a:ext cx="4023360" cy="475488"/>
          </a:xfrm>
          <a:prstGeom prst="roundRect">
            <a:avLst>
              <a:gd name="adj" fmla="val 19231"/>
            </a:avLst>
          </a:prstGeom>
          <a:solidFill>
            <a:schemeClr val="bg2"/>
          </a:solidFill>
          <a:ln w="12700">
            <a:solidFill>
              <a:schemeClr val="bg2"/>
            </a:solidFill>
            <a:prstDash val="solid"/>
          </a:ln>
        </p:spPr>
      </p:sp>
      <p:sp>
        <p:nvSpPr>
          <p:cNvPr id="12" name="Text 9"/>
          <p:cNvSpPr/>
          <p:nvPr/>
        </p:nvSpPr>
        <p:spPr>
          <a:xfrm>
            <a:off x="548640" y="1874520"/>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3" name="Text 10"/>
          <p:cNvSpPr txBox="1"/>
          <p:nvPr/>
        </p:nvSpPr>
        <p:spPr>
          <a:xfrm>
            <a:off x="1005840" y="1801368"/>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Os três paradigmas do aprendizado de máquina</a:t>
            </a:r>
            <a:endParaRPr lang="en-US" sz="1400" dirty="0"/>
          </a:p>
        </p:txBody>
      </p:sp>
      <p:sp>
        <p:nvSpPr>
          <p:cNvPr id="14" name="Cartão"/>
          <p:cNvSpPr/>
          <p:nvPr/>
        </p:nvSpPr>
        <p:spPr>
          <a:xfrm>
            <a:off x="4663440" y="1801368"/>
            <a:ext cx="4023360" cy="475488"/>
          </a:xfrm>
          <a:prstGeom prst="roundRect">
            <a:avLst>
              <a:gd name="adj" fmla="val 19231"/>
            </a:avLst>
          </a:prstGeom>
          <a:solidFill>
            <a:schemeClr val="bg2"/>
          </a:solidFill>
          <a:ln w="12700">
            <a:solidFill>
              <a:schemeClr val="bg2"/>
            </a:solidFill>
            <a:prstDash val="solid"/>
          </a:ln>
        </p:spPr>
      </p:sp>
      <p:sp>
        <p:nvSpPr>
          <p:cNvPr id="15" name="Text 12"/>
          <p:cNvSpPr/>
          <p:nvPr/>
        </p:nvSpPr>
        <p:spPr>
          <a:xfrm>
            <a:off x="4754880" y="1874520"/>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6" name="Text 13"/>
          <p:cNvSpPr txBox="1"/>
          <p:nvPr/>
        </p:nvSpPr>
        <p:spPr>
          <a:xfrm>
            <a:off x="5212080" y="1801368"/>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Os personagens da história</a:t>
            </a:r>
            <a:endParaRPr lang="en-US" sz="1400" dirty="0"/>
          </a:p>
        </p:txBody>
      </p:sp>
      <p:sp>
        <p:nvSpPr>
          <p:cNvPr id="17" name="Cartão"/>
          <p:cNvSpPr/>
          <p:nvPr/>
        </p:nvSpPr>
        <p:spPr>
          <a:xfrm>
            <a:off x="457200" y="2368296"/>
            <a:ext cx="4023360" cy="475488"/>
          </a:xfrm>
          <a:prstGeom prst="roundRect">
            <a:avLst>
              <a:gd name="adj" fmla="val 19231"/>
            </a:avLst>
          </a:prstGeom>
          <a:solidFill>
            <a:schemeClr val="bg2"/>
          </a:solidFill>
          <a:ln w="12700">
            <a:solidFill>
              <a:schemeClr val="bg2"/>
            </a:solidFill>
            <a:prstDash val="solid"/>
          </a:ln>
        </p:spPr>
      </p:sp>
      <p:sp>
        <p:nvSpPr>
          <p:cNvPr id="18" name="Text 15"/>
          <p:cNvSpPr/>
          <p:nvPr/>
        </p:nvSpPr>
        <p:spPr>
          <a:xfrm>
            <a:off x="548640" y="2441448"/>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19" name="Text 16"/>
          <p:cNvSpPr txBox="1"/>
          <p:nvPr/>
        </p:nvSpPr>
        <p:spPr>
          <a:xfrm>
            <a:off x="1005840" y="2368296"/>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 objetivo: maximizar o retorno</a:t>
            </a:r>
            <a:endParaRPr lang="en-US" sz="1400" dirty="0"/>
          </a:p>
        </p:txBody>
      </p:sp>
      <p:sp>
        <p:nvSpPr>
          <p:cNvPr id="20" name="Cartão"/>
          <p:cNvSpPr/>
          <p:nvPr/>
        </p:nvSpPr>
        <p:spPr>
          <a:xfrm>
            <a:off x="4663440" y="2368296"/>
            <a:ext cx="4023360" cy="475488"/>
          </a:xfrm>
          <a:prstGeom prst="roundRect">
            <a:avLst>
              <a:gd name="adj" fmla="val 19231"/>
            </a:avLst>
          </a:prstGeom>
          <a:solidFill>
            <a:schemeClr val="bg2"/>
          </a:solidFill>
          <a:ln w="12700">
            <a:solidFill>
              <a:schemeClr val="bg2"/>
            </a:solidFill>
            <a:prstDash val="solid"/>
          </a:ln>
        </p:spPr>
      </p:sp>
      <p:sp>
        <p:nvSpPr>
          <p:cNvPr id="21" name="Text 18"/>
          <p:cNvSpPr/>
          <p:nvPr/>
        </p:nvSpPr>
        <p:spPr>
          <a:xfrm>
            <a:off x="4754880" y="2441448"/>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22" name="Text 19"/>
          <p:cNvSpPr txBox="1"/>
          <p:nvPr/>
        </p:nvSpPr>
        <p:spPr>
          <a:xfrm>
            <a:off x="5212080" y="2368296"/>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Os três componentes de um agente</a:t>
            </a:r>
            <a:endParaRPr lang="en-US" sz="1400" dirty="0"/>
          </a:p>
        </p:txBody>
      </p:sp>
      <p:sp>
        <p:nvSpPr>
          <p:cNvPr id="23" name="Cartão"/>
          <p:cNvSpPr/>
          <p:nvPr/>
        </p:nvSpPr>
        <p:spPr>
          <a:xfrm>
            <a:off x="457200" y="2935224"/>
            <a:ext cx="4023360" cy="475488"/>
          </a:xfrm>
          <a:prstGeom prst="roundRect">
            <a:avLst>
              <a:gd name="adj" fmla="val 19231"/>
            </a:avLst>
          </a:prstGeom>
          <a:solidFill>
            <a:schemeClr val="bg2"/>
          </a:solidFill>
          <a:ln w="12700">
            <a:solidFill>
              <a:schemeClr val="bg2"/>
            </a:solidFill>
            <a:prstDash val="solid"/>
          </a:ln>
        </p:spPr>
      </p:sp>
      <p:sp>
        <p:nvSpPr>
          <p:cNvPr id="24" name="Text 21"/>
          <p:cNvSpPr/>
          <p:nvPr/>
        </p:nvSpPr>
        <p:spPr>
          <a:xfrm>
            <a:off x="548640" y="3008376"/>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25" name="Text 22"/>
          <p:cNvSpPr txBox="1"/>
          <p:nvPr/>
        </p:nvSpPr>
        <p:spPr>
          <a:xfrm>
            <a:off x="1005840" y="2935224"/>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Os grandes desafios do AR</a:t>
            </a:r>
            <a:endParaRPr lang="en-US" sz="1400" dirty="0"/>
          </a:p>
        </p:txBody>
      </p:sp>
      <p:sp>
        <p:nvSpPr>
          <p:cNvPr id="26" name="Cartão"/>
          <p:cNvSpPr/>
          <p:nvPr/>
        </p:nvSpPr>
        <p:spPr>
          <a:xfrm>
            <a:off x="4663440" y="2935224"/>
            <a:ext cx="4023360" cy="475488"/>
          </a:xfrm>
          <a:prstGeom prst="roundRect">
            <a:avLst>
              <a:gd name="adj" fmla="val 19231"/>
            </a:avLst>
          </a:prstGeom>
          <a:solidFill>
            <a:schemeClr val="bg2"/>
          </a:solidFill>
          <a:ln w="12700">
            <a:solidFill>
              <a:schemeClr val="bg2"/>
            </a:solidFill>
            <a:prstDash val="solid"/>
          </a:ln>
        </p:spPr>
      </p:sp>
      <p:sp>
        <p:nvSpPr>
          <p:cNvPr id="27" name="Text 24"/>
          <p:cNvSpPr/>
          <p:nvPr/>
        </p:nvSpPr>
        <p:spPr>
          <a:xfrm>
            <a:off x="4754880" y="3008376"/>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28" name="Text 25"/>
          <p:cNvSpPr txBox="1"/>
          <p:nvPr/>
        </p:nvSpPr>
        <p:spPr>
          <a:xfrm>
            <a:off x="5212080" y="2935224"/>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Uma breve história</a:t>
            </a:r>
            <a:endParaRPr lang="en-US" sz="1400" dirty="0"/>
          </a:p>
        </p:txBody>
      </p:sp>
      <p:sp>
        <p:nvSpPr>
          <p:cNvPr id="29" name="Cartão"/>
          <p:cNvSpPr/>
          <p:nvPr/>
        </p:nvSpPr>
        <p:spPr>
          <a:xfrm>
            <a:off x="457200" y="3502152"/>
            <a:ext cx="4023360" cy="475488"/>
          </a:xfrm>
          <a:prstGeom prst="roundRect">
            <a:avLst>
              <a:gd name="adj" fmla="val 19231"/>
            </a:avLst>
          </a:prstGeom>
          <a:solidFill>
            <a:schemeClr val="bg2"/>
          </a:solidFill>
          <a:ln w="12700">
            <a:solidFill>
              <a:schemeClr val="bg2"/>
            </a:solidFill>
            <a:prstDash val="solid"/>
          </a:ln>
        </p:spPr>
      </p:sp>
      <p:sp>
        <p:nvSpPr>
          <p:cNvPr id="30" name="Text 27"/>
          <p:cNvSpPr/>
          <p:nvPr/>
        </p:nvSpPr>
        <p:spPr>
          <a:xfrm>
            <a:off x="548640" y="3575304"/>
            <a:ext cx="329184" cy="329184"/>
          </a:xfrm>
          <a:prstGeom prst="ellipse">
            <a:avLst/>
          </a:prstGeom>
          <a:solidFill>
            <a:schemeClr val="accent3"/>
          </a:solidFill>
          <a:ln/>
        </p:spPr>
        <p:txBody>
          <a:bodyPr wrap="square" lIns="0" tIns="0" rIns="0" bIns="0" rtlCol="0" anchor="ctr"/>
          <a:lstStyle/>
          <a:p>
            <a:pPr algn="ctr" indent="0" marL="0">
              <a:buNone/>
            </a:pPr>
            <a:r>
              <a:rPr lang="en-US" sz="1200" b="1" dirty="0">
                <a:solidFill>
                  <a:schemeClr val="bg1"/>
                </a:solidFill>
              </a:rPr>
              <a:t>9</a:t>
            </a:r>
            <a:endParaRPr lang="en-US" sz="1200" dirty="0"/>
          </a:p>
        </p:txBody>
      </p:sp>
      <p:sp>
        <p:nvSpPr>
          <p:cNvPr id="31" name="Text 28"/>
          <p:cNvSpPr txBox="1"/>
          <p:nvPr/>
        </p:nvSpPr>
        <p:spPr>
          <a:xfrm>
            <a:off x="1005840" y="3502152"/>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Onde o AR é usado</a:t>
            </a:r>
            <a:endParaRPr lang="en-US" sz="1400" dirty="0"/>
          </a:p>
        </p:txBody>
      </p:sp>
      <p:sp>
        <p:nvSpPr>
          <p:cNvPr id="32" name="Cartão"/>
          <p:cNvSpPr/>
          <p:nvPr/>
        </p:nvSpPr>
        <p:spPr>
          <a:xfrm>
            <a:off x="4663440" y="3502152"/>
            <a:ext cx="4023360" cy="475488"/>
          </a:xfrm>
          <a:prstGeom prst="roundRect">
            <a:avLst>
              <a:gd name="adj" fmla="val 19231"/>
            </a:avLst>
          </a:prstGeom>
          <a:solidFill>
            <a:schemeClr val="bg2"/>
          </a:solidFill>
          <a:ln w="12700">
            <a:solidFill>
              <a:schemeClr val="bg2"/>
            </a:solidFill>
            <a:prstDash val="solid"/>
          </a:ln>
        </p:spPr>
      </p:sp>
      <p:sp>
        <p:nvSpPr>
          <p:cNvPr id="33" name="Text 30"/>
          <p:cNvSpPr/>
          <p:nvPr/>
        </p:nvSpPr>
        <p:spPr>
          <a:xfrm>
            <a:off x="4754880" y="3575304"/>
            <a:ext cx="329184" cy="329184"/>
          </a:xfrm>
          <a:prstGeom prst="ellipse">
            <a:avLst/>
          </a:prstGeom>
          <a:solidFill>
            <a:schemeClr val="accent2"/>
          </a:solidFill>
          <a:ln/>
        </p:spPr>
        <p:txBody>
          <a:bodyPr wrap="square" lIns="0" tIns="0" rIns="0" bIns="0" rtlCol="0" anchor="ctr"/>
          <a:lstStyle/>
          <a:p>
            <a:pPr algn="ctr" indent="0" marL="0">
              <a:buNone/>
            </a:pPr>
            <a:r>
              <a:rPr lang="en-US" sz="1200" b="1" dirty="0">
                <a:solidFill>
                  <a:schemeClr val="bg1"/>
                </a:solidFill>
              </a:rPr>
              <a:t>10</a:t>
            </a:r>
            <a:endParaRPr lang="en-US" sz="1200" dirty="0"/>
          </a:p>
        </p:txBody>
      </p:sp>
      <p:sp>
        <p:nvSpPr>
          <p:cNvPr id="34" name="Text 31"/>
          <p:cNvSpPr txBox="1"/>
          <p:nvPr/>
        </p:nvSpPr>
        <p:spPr>
          <a:xfrm>
            <a:off x="5212080" y="3502152"/>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As ferramentas deste livro</a:t>
            </a:r>
            <a:endParaRPr lang="en-US" sz="1400" dirty="0"/>
          </a:p>
        </p:txBody>
      </p:sp>
      <p:sp>
        <p:nvSpPr>
          <p:cNvPr id="35" name="Cartão"/>
          <p:cNvSpPr/>
          <p:nvPr/>
        </p:nvSpPr>
        <p:spPr>
          <a:xfrm>
            <a:off x="457200" y="4069080"/>
            <a:ext cx="4023360" cy="475488"/>
          </a:xfrm>
          <a:prstGeom prst="roundRect">
            <a:avLst>
              <a:gd name="adj" fmla="val 19231"/>
            </a:avLst>
          </a:prstGeom>
          <a:solidFill>
            <a:schemeClr val="bg2"/>
          </a:solidFill>
          <a:ln w="12700">
            <a:solidFill>
              <a:schemeClr val="bg2"/>
            </a:solidFill>
            <a:prstDash val="solid"/>
          </a:ln>
        </p:spPr>
      </p:sp>
      <p:sp>
        <p:nvSpPr>
          <p:cNvPr id="36" name="Text 33"/>
          <p:cNvSpPr/>
          <p:nvPr/>
        </p:nvSpPr>
        <p:spPr>
          <a:xfrm>
            <a:off x="548640" y="4142232"/>
            <a:ext cx="329184" cy="329184"/>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bg1"/>
                </a:solidFill>
              </a:rPr>
              <a:t>11</a:t>
            </a:r>
            <a:endParaRPr lang="en-US" sz="1200" dirty="0"/>
          </a:p>
        </p:txBody>
      </p:sp>
      <p:sp>
        <p:nvSpPr>
          <p:cNvPr id="37" name="Text 34"/>
          <p:cNvSpPr txBox="1"/>
          <p:nvPr/>
        </p:nvSpPr>
        <p:spPr>
          <a:xfrm>
            <a:off x="1005840" y="406908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Mão na massa</a:t>
            </a:r>
            <a:endParaRPr lang="en-US" sz="1400" dirty="0"/>
          </a:p>
        </p:txBody>
      </p:sp>
      <p:sp>
        <p:nvSpPr>
          <p:cNvPr id="38" name="Cartão"/>
          <p:cNvSpPr/>
          <p:nvPr/>
        </p:nvSpPr>
        <p:spPr>
          <a:xfrm>
            <a:off x="4663440" y="4069080"/>
            <a:ext cx="4023360" cy="475488"/>
          </a:xfrm>
          <a:prstGeom prst="roundRect">
            <a:avLst>
              <a:gd name="adj" fmla="val 19231"/>
            </a:avLst>
          </a:prstGeom>
          <a:solidFill>
            <a:schemeClr val="bg2"/>
          </a:solidFill>
          <a:ln w="12700">
            <a:solidFill>
              <a:schemeClr val="bg2"/>
            </a:solidFill>
            <a:prstDash val="solid"/>
          </a:ln>
        </p:spPr>
      </p:sp>
      <p:sp>
        <p:nvSpPr>
          <p:cNvPr id="39" name="Text 36"/>
          <p:cNvSpPr/>
          <p:nvPr/>
        </p:nvSpPr>
        <p:spPr>
          <a:xfrm>
            <a:off x="4754880" y="4142232"/>
            <a:ext cx="329184" cy="329184"/>
          </a:xfrm>
          <a:prstGeom prst="ellipse">
            <a:avLst/>
          </a:prstGeom>
          <a:solidFill>
            <a:schemeClr val="accent4"/>
          </a:solidFill>
          <a:ln/>
        </p:spPr>
        <p:txBody>
          <a:bodyPr wrap="square" lIns="0" tIns="0" rIns="0" bIns="0" rtlCol="0" anchor="ctr"/>
          <a:lstStyle/>
          <a:p>
            <a:pPr algn="ctr" indent="0" marL="0">
              <a:buNone/>
            </a:pPr>
            <a:r>
              <a:rPr lang="en-US" sz="1200" b="1" dirty="0">
                <a:solidFill>
                  <a:schemeClr val="bg1"/>
                </a:solidFill>
              </a:rPr>
              <a:t>12</a:t>
            </a:r>
            <a:endParaRPr lang="en-US" sz="1200" dirty="0"/>
          </a:p>
        </p:txBody>
      </p:sp>
      <p:sp>
        <p:nvSpPr>
          <p:cNvPr id="40" name="Text 37"/>
          <p:cNvSpPr txBox="1"/>
          <p:nvPr/>
        </p:nvSpPr>
        <p:spPr>
          <a:xfrm>
            <a:off x="5212080" y="4069080"/>
            <a:ext cx="3383280" cy="475488"/>
          </a:xfrm>
          <a:prstGeom prst="rect">
            <a:avLst/>
          </a:prstGeom>
          <a:noFill/>
          <a:ln/>
        </p:spPr>
        <p:txBody>
          <a:bodyPr wrap="square" lIns="0" tIns="0" rIns="0" bIns="0" rtlCol="0" anchor="ctr">
            <a:normAutofit/>
          </a:bodyPr>
          <a:lstStyle/>
          <a:p>
            <a:pPr indent="0" marL="0">
              <a:buNone/>
            </a:pPr>
            <a:r>
              <a:rPr lang="en-US" sz="1400" dirty="0">
                <a:solidFill>
                  <a:schemeClr val="tx1"/>
                </a:solidFill>
              </a:rPr>
              <a:t>Projeto do capítulo: ajustando o seu primeiro agente</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Aprendendo tentando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1.1</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Pense em como você aprendeu a andar de bicicleta.</a:t>
            </a:r>
            <a:endParaRPr lang="en-US" sz="18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Agora pense num cachorro aprendendo a sentar.</a:t>
            </a:r>
            <a:endParaRPr lang="en-US" sz="1800" dirty="0"/>
          </a:p>
        </p:txBody>
      </p:sp>
      <p:sp>
        <p:nvSpPr>
          <p:cNvPr id="11" name="Cartão"/>
          <p:cNvSpPr/>
          <p:nvPr/>
        </p:nvSpPr>
        <p:spPr>
          <a:xfrm>
            <a:off x="457200" y="2359152"/>
            <a:ext cx="8229600" cy="694944"/>
          </a:xfrm>
          <a:prstGeom prst="roundRect">
            <a:avLst>
              <a:gd name="adj" fmla="val 15789"/>
            </a:avLst>
          </a:prstGeom>
          <a:solidFill>
            <a:schemeClr val="bg2"/>
          </a:solidFill>
          <a:ln w="12700">
            <a:solidFill>
              <a:schemeClr val="bg2"/>
            </a:solidFill>
            <a:prstDash val="solid"/>
          </a:ln>
        </p:spPr>
      </p:sp>
      <p:sp>
        <p:nvSpPr>
          <p:cNvPr id="12" name="Número"/>
          <p:cNvSpPr/>
          <p:nvPr/>
        </p:nvSpPr>
        <p:spPr>
          <a:xfrm>
            <a:off x="594360" y="252374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Em 1911, o psicólogo Edward Thorndike descreveu essa ideia como a lei do efeito: comportamentos seguidos de consequências agradáveis tendem a se</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Você já fez isso hoje</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No dia a dia</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Escolher o caminho para o trabalho é aprendizado por reforço.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que é aprendizado por reforço?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1.2</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&gt; Aprendizado por reforço (AR) é aprender a decidir, por tentativa e erro, para acumular o máximo de recompensa ao longo do tempo.</a:t>
            </a:r>
            <a:endParaRPr lang="en-US" sz="1600" dirty="0"/>
          </a:p>
        </p:txBody>
      </p:sp>
      <p:sp>
        <p:nvSpPr>
          <p:cNvPr id="8"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204825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Sutton e Barto (2018), autores do livro mais influente da área:</a:t>
            </a:r>
            <a:endParaRPr lang="en-US" sz="1600" dirty="0"/>
          </a:p>
        </p:txBody>
      </p:sp>
      <p:sp>
        <p:nvSpPr>
          <p:cNvPr id="11" name="Cartão"/>
          <p:cNvSpPr/>
          <p:nvPr/>
        </p:nvSpPr>
        <p:spPr>
          <a:xfrm>
            <a:off x="868680" y="2578608"/>
            <a:ext cx="7818120" cy="475488"/>
          </a:xfrm>
          <a:prstGeom prst="roundRect">
            <a:avLst>
              <a:gd name="adj" fmla="val 23077"/>
            </a:avLst>
          </a:prstGeom>
          <a:solidFill>
            <a:schemeClr val="bg1"/>
          </a:solidFill>
          <a:ln w="12700">
            <a:solidFill>
              <a:schemeClr val="bg2"/>
            </a:solidFill>
            <a:prstDash val="solid"/>
          </a:ln>
        </p:spPr>
      </p:sp>
      <p:sp>
        <p:nvSpPr>
          <p:cNvPr id="12" name="Marcador"/>
          <p:cNvSpPr/>
          <p:nvPr/>
        </p:nvSpPr>
        <p:spPr>
          <a:xfrm>
            <a:off x="1051560" y="2761488"/>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578608"/>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Busca por tentativa e erro: o agente precisa experimentar para descobrir o que é bom.</a:t>
            </a:r>
            <a:endParaRPr lang="en-US" sz="1600" dirty="0"/>
          </a:p>
        </p:txBody>
      </p:sp>
      <p:sp>
        <p:nvSpPr>
          <p:cNvPr id="14" name="Cartão"/>
          <p:cNvSpPr/>
          <p:nvPr/>
        </p:nvSpPr>
        <p:spPr>
          <a:xfrm>
            <a:off x="868680" y="3163824"/>
            <a:ext cx="7818120" cy="694944"/>
          </a:xfrm>
          <a:prstGeom prst="roundRect">
            <a:avLst>
              <a:gd name="adj" fmla="val 15789"/>
            </a:avLst>
          </a:prstGeom>
          <a:solidFill>
            <a:schemeClr val="bg1"/>
          </a:solidFill>
          <a:ln w="12700">
            <a:solidFill>
              <a:schemeClr val="bg2"/>
            </a:solidFill>
            <a:prstDash val="solid"/>
          </a:ln>
        </p:spPr>
      </p:sp>
      <p:sp>
        <p:nvSpPr>
          <p:cNvPr id="15" name="Marcador"/>
          <p:cNvSpPr/>
          <p:nvPr/>
        </p:nvSpPr>
        <p:spPr>
          <a:xfrm>
            <a:off x="1051560" y="3456432"/>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3163824"/>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Recompensa atrasada: uma ação de agora pode afetar não só o resultado imediato, mas também todos os resultados futuros.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Etiqueta"/>
          <p:cNvSpPr/>
          <p:nvPr/>
        </p:nvSpPr>
        <p:spPr>
          <a:xfrm>
            <a:off x="548640" y="6400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300" b="1" dirty="0">
                <a:solidFill>
                  <a:schemeClr val="tx2"/>
                </a:solidFill>
              </a:rPr>
              <a:t>MEMORIZE</a:t>
            </a:r>
            <a:endParaRPr lang="en-US" sz="1300" dirty="0"/>
          </a:p>
        </p:txBody>
      </p:sp>
      <p:sp>
        <p:nvSpPr>
          <p:cNvPr id="4" name="Frase"/>
          <p:cNvSpPr txBox="1"/>
          <p:nvPr/>
        </p:nvSpPr>
        <p:spPr>
          <a:xfrm>
            <a:off x="731520" y="1280160"/>
            <a:ext cx="7680960" cy="2926080"/>
          </a:xfrm>
          <a:prstGeom prst="rect">
            <a:avLst/>
          </a:prstGeom>
          <a:noFill/>
          <a:ln/>
        </p:spPr>
        <p:txBody>
          <a:bodyPr wrap="square" lIns="0" tIns="0" rIns="0" bIns="0" rtlCol="0" anchor="ctr">
            <a:normAutofit/>
          </a:bodyPr>
          <a:lstStyle/>
          <a:p>
            <a:pPr indent="0" marL="0">
              <a:buNone/>
            </a:pPr>
            <a:r>
              <a:rPr lang="en-US" sz="2800" i="1" dirty="0">
                <a:solidFill>
                  <a:schemeClr val="bg1"/>
                </a:solidFill>
                <a:latin typeface="Cambria" pitchFamily="34" charset="0"/>
                <a:ea typeface="Cambria" pitchFamily="34" charset="-122"/>
                <a:cs typeface="Cambria" pitchFamily="34" charset="-120"/>
              </a:rPr>
              <a:t>Aprendizado por reforço é aprender o que fazer (uma estratégia de decisão) a partir do resultado das próprias ações.</a:t>
            </a:r>
            <a:endParaRPr lang="en-US" sz="2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três paradigmas do aprendizado de máquina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1.3</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O aprendizado de máquina (a área de IA em que computadores aprendem a partir de dados) tem três grandes famílias.</a:t>
            </a:r>
            <a:endParaRPr lang="en-US" sz="1600" dirty="0"/>
          </a:p>
        </p:txBody>
      </p:sp>
      <p:sp>
        <p:nvSpPr>
          <p:cNvPr id="8"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204825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Veja a diferença-chave com um professor de música:</a:t>
            </a:r>
            <a:endParaRPr lang="en-US" sz="1600" dirty="0"/>
          </a:p>
        </p:txBody>
      </p:sp>
      <p:sp>
        <p:nvSpPr>
          <p:cNvPr id="11" name="Cartão"/>
          <p:cNvSpPr/>
          <p:nvPr/>
        </p:nvSpPr>
        <p:spPr>
          <a:xfrm>
            <a:off x="868680" y="2578608"/>
            <a:ext cx="7818120" cy="475488"/>
          </a:xfrm>
          <a:prstGeom prst="roundRect">
            <a:avLst>
              <a:gd name="adj" fmla="val 23077"/>
            </a:avLst>
          </a:prstGeom>
          <a:solidFill>
            <a:schemeClr val="bg1"/>
          </a:solidFill>
          <a:ln w="12700">
            <a:solidFill>
              <a:schemeClr val="bg2"/>
            </a:solidFill>
            <a:prstDash val="solid"/>
          </a:ln>
        </p:spPr>
      </p:sp>
      <p:sp>
        <p:nvSpPr>
          <p:cNvPr id="12" name="Marcador"/>
          <p:cNvSpPr/>
          <p:nvPr/>
        </p:nvSpPr>
        <p:spPr>
          <a:xfrm>
            <a:off x="1051560" y="2761488"/>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578608"/>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Supervisionado: o professor toca a nota certa e você copia.</a:t>
            </a:r>
            <a:endParaRPr lang="en-US" sz="1600" dirty="0"/>
          </a:p>
        </p:txBody>
      </p:sp>
      <p:sp>
        <p:nvSpPr>
          <p:cNvPr id="14" name="Cartão"/>
          <p:cNvSpPr/>
          <p:nvPr/>
        </p:nvSpPr>
        <p:spPr>
          <a:xfrm>
            <a:off x="868680" y="3163824"/>
            <a:ext cx="7818120" cy="475488"/>
          </a:xfrm>
          <a:prstGeom prst="roundRect">
            <a:avLst>
              <a:gd name="adj" fmla="val 23077"/>
            </a:avLst>
          </a:prstGeom>
          <a:solidFill>
            <a:schemeClr val="bg1"/>
          </a:solidFill>
          <a:ln w="12700">
            <a:solidFill>
              <a:schemeClr val="bg2"/>
            </a:solidFill>
            <a:prstDash val="solid"/>
          </a:ln>
        </p:spPr>
      </p:sp>
      <p:sp>
        <p:nvSpPr>
          <p:cNvPr id="15" name="Marcador"/>
          <p:cNvSpPr/>
          <p:nvPr/>
        </p:nvSpPr>
        <p:spPr>
          <a:xfrm>
            <a:off x="1051560" y="3346704"/>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3163824"/>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Por reforço: você toca, e o professor só diz "gostei" ou "não gostei".</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três paradigmas do aprendizado de máquina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Três formas de aprender.">    </p:cNvPr>
          <p:cNvPicPr>
            <a:picLocks noChangeAspect="1"/>
          </p:cNvPicPr>
          <p:nvPr/>
        </p:nvPicPr>
        <p:blipFill>
          <a:blip r:embed="rId1"/>
          <a:stretch>
            <a:fillRect/>
          </a:stretch>
        </p:blipFill>
        <p:spPr>
          <a:xfrm>
            <a:off x="457200" y="1248391"/>
            <a:ext cx="8229600" cy="2669579"/>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Três formas de aprender.</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três paradigmas do aprendizado de máquina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5"/>
          </a:solidFill>
          <a:ln/>
        </p:spPr>
        <p:txBody>
          <a:bodyPr wrap="square" lIns="0" tIns="0" rIns="0" bIns="0" rtlCol="0" anchor="ctr"/>
          <a:lstStyle/>
          <a:p>
            <a:pPr algn="ctr" indent="0" marL="0">
              <a:buNone/>
            </a:pPr>
            <a:r>
              <a:rPr lang="en-US" sz="1200" b="1" dirty="0">
                <a:solidFill>
                  <a:schemeClr val="bg1"/>
                </a:solidFill>
              </a:rPr>
              <a:t>Quadro</a:t>
            </a:r>
            <a:endParaRPr lang="en-US" sz="1200" dirty="0"/>
          </a:p>
        </p:txBody>
      </p:sp>
      <p:graphicFrame>
        <p:nvGraphicFramePr>
          <p:cNvPr id="11" name="Tabela"/>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2057400"/>
                <a:gridCol w="2057400"/>
                <a:gridCol w="2057400"/>
                <a:gridCol w="2057400"/>
              </a:tblGrid>
              <a:tr h="0">
                <a:tc>
                  <a:txBody>
                    <a:bodyPr/>
                    <a:lstStyle/>
                    <a:p>
                      <a:pPr indent="0" marL="0">
                        <a:buNone/>
                      </a:pPr>
                      <a:r>
                        <a:rPr lang="en-US" sz="1300" b="1" dirty="0">
                          <a:solidFill>
                            <a:schemeClr val="bg1"/>
                          </a:solidFill>
                        </a:rPr>
                        <a:t>Paradigma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O que o aprendiz recebe</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Pergunta que responde</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Exemplo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tx2"/>
                    </a:solidFill>
                  </a:tcPr>
                </a:tc>
              </a:tr>
              <a:tr h="0">
                <a:tc>
                  <a:txBody>
                    <a:bodyPr/>
                    <a:lstStyle/>
                    <a:p>
                      <a:pPr indent="0" marL="0">
                        <a:buNone/>
                      </a:pPr>
                      <a:r>
                        <a:rPr lang="en-US" sz="1300" dirty="0">
                          <a:solidFill>
                            <a:schemeClr val="tx1"/>
                          </a:solidFill>
                        </a:rPr>
                        <a:t>Supervisionado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Exemplos com a resposta certa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"Qual é o rótulo disso?"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Dizer se uma foto é de gato ou cão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r h="0">
                <a:tc>
                  <a:txBody>
                    <a:bodyPr/>
                    <a:lstStyle/>
                    <a:p>
                      <a:pPr indent="0" marL="0">
                        <a:buNone/>
                      </a:pPr>
                      <a:r>
                        <a:rPr lang="en-US" sz="1300" dirty="0">
                          <a:solidFill>
                            <a:schemeClr val="tx1"/>
                          </a:solidFill>
                        </a:rPr>
                        <a:t>Não supervisionado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Exemplos sem resposta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"Que estrutura existe aqui?"</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Agrupar clientes parecidos</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1"/>
                    </a:solidFill>
                  </a:tcPr>
                </a:tc>
              </a:tr>
              <a:tr h="0">
                <a:tc>
                  <a:txBody>
                    <a:bodyPr/>
                    <a:lstStyle/>
                    <a:p>
                      <a:pPr indent="0" marL="0">
                        <a:buNone/>
                      </a:pPr>
                      <a:r>
                        <a:rPr lang="en-US" sz="1300" dirty="0">
                          <a:solidFill>
                            <a:schemeClr val="tx1"/>
                          </a:solidFill>
                        </a:rPr>
                        <a:t>Por reforço</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Uma recompensa após agir</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"O que devo fazer agora?"</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Aprender a jogar xadrez</a:t>
                      </a:r>
                      <a:endParaRPr lang="en-US" sz="1300" dirty="0"/>
                    </a:p>
                  </a:txBody>
                  <a:tcPr marL="73152" marR="73152" marT="73152" marB="73152" anchor="ctr">
                    <a:lnL w="6350" cap="flat" cmpd="sng" algn="ctr">
                      <a:solidFill>
                        <a:schemeClr val="accent6"/>
                      </a:solidFill>
                      <a:prstDash val="solid"/>
                      <a:round/>
                      <a:headEnd type="none" w="med" len="med"/>
                      <a:tailEnd type="none" w="med" len="med"/>
                    </a:lnL>
                    <a:lnR w="6350" cap="flat" cmpd="sng" algn="ctr">
                      <a:solidFill>
                        <a:schemeClr val="accent6"/>
                      </a:solidFill>
                      <a:prstDash val="solid"/>
                      <a:round/>
                      <a:headEnd type="none" w="med" len="med"/>
                      <a:tailEnd type="none" w="med" len="med"/>
                    </a:lnR>
                    <a:lnT w="6350" cap="flat" cmpd="sng" algn="ctr">
                      <a:solidFill>
                        <a:schemeClr val="accent6"/>
                      </a:solidFill>
                      <a:prstDash val="solid"/>
                      <a:round/>
                      <a:headEnd type="none" w="med" len="med"/>
                      <a:tailEnd type="none" w="med" len="med"/>
                    </a:lnT>
                    <a:lnB w="6350" cap="flat" cmpd="sng" algn="ctr">
                      <a:solidFill>
                        <a:schemeClr val="accent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Diferença importante</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Atenção</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No aprendizado supervisionado, os dados não dependem do que o modelo decide.</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personagens da história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1.4</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Todo problema de AR tem os mesmos personagens.</a:t>
            </a:r>
            <a:endParaRPr lang="en-US" sz="16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Agente: quem aprende e decide.</a:t>
            </a:r>
            <a:endParaRPr lang="en-US" sz="1600" dirty="0"/>
          </a:p>
        </p:txBody>
      </p:sp>
      <p:sp>
        <p:nvSpPr>
          <p:cNvPr id="11" name="Cartão"/>
          <p:cNvSpPr/>
          <p:nvPr/>
        </p:nvSpPr>
        <p:spPr>
          <a:xfrm>
            <a:off x="868680" y="2359152"/>
            <a:ext cx="7818120" cy="475488"/>
          </a:xfrm>
          <a:prstGeom prst="roundRect">
            <a:avLst>
              <a:gd name="adj" fmla="val 23077"/>
            </a:avLst>
          </a:prstGeom>
          <a:solidFill>
            <a:schemeClr val="bg1"/>
          </a:solidFill>
          <a:ln w="12700">
            <a:solidFill>
              <a:schemeClr val="bg2"/>
            </a:solidFill>
            <a:prstDash val="solid"/>
          </a:ln>
        </p:spPr>
      </p:sp>
      <p:sp>
        <p:nvSpPr>
          <p:cNvPr id="12" name="Marcador"/>
          <p:cNvSpPr/>
          <p:nvPr/>
        </p:nvSpPr>
        <p:spPr>
          <a:xfrm>
            <a:off x="1051560" y="2542032"/>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Ambiente: tudo o que está fora do agente e reage às suas ações.</a:t>
            </a:r>
            <a:endParaRPr lang="en-US" sz="1600" dirty="0"/>
          </a:p>
        </p:txBody>
      </p:sp>
      <p:sp>
        <p:nvSpPr>
          <p:cNvPr id="14" name="Cartão"/>
          <p:cNvSpPr/>
          <p:nvPr/>
        </p:nvSpPr>
        <p:spPr>
          <a:xfrm>
            <a:off x="868680" y="2944368"/>
            <a:ext cx="7818120" cy="475488"/>
          </a:xfrm>
          <a:prstGeom prst="roundRect">
            <a:avLst>
              <a:gd name="adj" fmla="val 23077"/>
            </a:avLst>
          </a:prstGeom>
          <a:solidFill>
            <a:schemeClr val="bg1"/>
          </a:solidFill>
          <a:ln w="12700">
            <a:solidFill>
              <a:schemeClr val="bg2"/>
            </a:solidFill>
            <a:prstDash val="solid"/>
          </a:ln>
        </p:spPr>
      </p:sp>
      <p:sp>
        <p:nvSpPr>
          <p:cNvPr id="15" name="Marcador"/>
          <p:cNvSpPr/>
          <p:nvPr/>
        </p:nvSpPr>
        <p:spPr>
          <a:xfrm>
            <a:off x="1051560" y="3127248"/>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2944368"/>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Estado (S): uma descrição da situação atual, ou seja, o que o agente percebe.</a:t>
            </a:r>
            <a:endParaRPr lang="en-US" sz="1600" dirty="0"/>
          </a:p>
        </p:txBody>
      </p:sp>
      <p:sp>
        <p:nvSpPr>
          <p:cNvPr id="17" name="Cartão"/>
          <p:cNvSpPr/>
          <p:nvPr/>
        </p:nvSpPr>
        <p:spPr>
          <a:xfrm>
            <a:off x="868680" y="3529584"/>
            <a:ext cx="7818120" cy="475488"/>
          </a:xfrm>
          <a:prstGeom prst="roundRect">
            <a:avLst>
              <a:gd name="adj" fmla="val 23077"/>
            </a:avLst>
          </a:prstGeom>
          <a:solidFill>
            <a:schemeClr val="bg1"/>
          </a:solidFill>
          <a:ln w="12700">
            <a:solidFill>
              <a:schemeClr val="bg2"/>
            </a:solidFill>
            <a:prstDash val="solid"/>
          </a:ln>
        </p:spPr>
      </p:sp>
      <p:sp>
        <p:nvSpPr>
          <p:cNvPr id="18" name="Marcador"/>
          <p:cNvSpPr/>
          <p:nvPr/>
        </p:nvSpPr>
        <p:spPr>
          <a:xfrm>
            <a:off x="1051560" y="3712464"/>
            <a:ext cx="109728" cy="109728"/>
          </a:xfrm>
          <a:prstGeom prst="ellipse">
            <a:avLst/>
          </a:prstGeom>
          <a:solidFill>
            <a:schemeClr val="accent3"/>
          </a:solidFill>
          <a:ln w="12700">
            <a:solidFill>
              <a:schemeClr val="accent3"/>
            </a:solidFill>
            <a:prstDash val="solid"/>
          </a:ln>
        </p:spPr>
      </p:sp>
      <p:sp>
        <p:nvSpPr>
          <p:cNvPr id="19" name="Texto"/>
          <p:cNvSpPr txBox="1"/>
          <p:nvPr/>
        </p:nvSpPr>
        <p:spPr>
          <a:xfrm>
            <a:off x="1508760" y="3529584"/>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Ação (A): uma escolha que o agente pode fazer.</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personagens da história (cont.)</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1.4</a:t>
            </a:r>
            <a:endParaRPr lang="en-US" sz="1200" dirty="0"/>
          </a:p>
        </p:txBody>
      </p:sp>
      <p:sp>
        <p:nvSpPr>
          <p:cNvPr id="4" name="Cartão"/>
          <p:cNvSpPr/>
          <p:nvPr/>
        </p:nvSpPr>
        <p:spPr>
          <a:xfrm>
            <a:off x="868680" y="1188720"/>
            <a:ext cx="7818120" cy="694944"/>
          </a:xfrm>
          <a:prstGeom prst="roundRect">
            <a:avLst>
              <a:gd name="adj" fmla="val 15789"/>
            </a:avLst>
          </a:prstGeom>
          <a:solidFill>
            <a:schemeClr val="bg1"/>
          </a:solidFill>
          <a:ln w="12700">
            <a:solidFill>
              <a:schemeClr val="bg2"/>
            </a:solidFill>
            <a:prstDash val="solid"/>
          </a:ln>
        </p:spPr>
      </p:sp>
      <p:sp>
        <p:nvSpPr>
          <p:cNvPr id="5" name="Marcador"/>
          <p:cNvSpPr/>
          <p:nvPr/>
        </p:nvSpPr>
        <p:spPr>
          <a:xfrm>
            <a:off x="1051560" y="1481328"/>
            <a:ext cx="109728" cy="109728"/>
          </a:xfrm>
          <a:prstGeom prst="ellipse">
            <a:avLst/>
          </a:prstGeom>
          <a:solidFill>
            <a:schemeClr val="accent3"/>
          </a:solidFill>
          <a:ln w="12700">
            <a:solidFill>
              <a:schemeClr val="accent3"/>
            </a:solidFill>
            <a:prstDash val="solid"/>
          </a:ln>
        </p:spPr>
      </p:sp>
      <p:sp>
        <p:nvSpPr>
          <p:cNvPr id="6" name="Texto"/>
          <p:cNvSpPr txBox="1"/>
          <p:nvPr/>
        </p:nvSpPr>
        <p:spPr>
          <a:xfrm>
            <a:off x="1508760" y="1188720"/>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Recompensa (R): um número que informa, logo após a ação, se o resultado foi bom ou ruim.</a:t>
            </a:r>
            <a:endParaRPr lang="en-US" sz="1600" dirty="0"/>
          </a:p>
        </p:txBody>
      </p:sp>
      <p:sp>
        <p:nvSpPr>
          <p:cNvPr id="7"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204825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O ciclo acontece em passos de tempo, numerados por t = 0, 1, 2, … No passo t:</a:t>
            </a:r>
            <a:endParaRPr lang="en-US" sz="1600" dirty="0"/>
          </a:p>
        </p:txBody>
      </p:sp>
      <p:sp>
        <p:nvSpPr>
          <p:cNvPr id="10" name="Cartão"/>
          <p:cNvSpPr/>
          <p:nvPr/>
        </p:nvSpPr>
        <p:spPr>
          <a:xfrm>
            <a:off x="868680" y="2578608"/>
            <a:ext cx="7818120" cy="475488"/>
          </a:xfrm>
          <a:prstGeom prst="roundRect">
            <a:avLst>
              <a:gd name="adj" fmla="val 23077"/>
            </a:avLst>
          </a:prstGeom>
          <a:solidFill>
            <a:schemeClr val="bg1"/>
          </a:solidFill>
          <a:ln w="12700">
            <a:solidFill>
              <a:schemeClr val="bg2"/>
            </a:solidFill>
            <a:prstDash val="solid"/>
          </a:ln>
        </p:spPr>
      </p:sp>
      <p:sp>
        <p:nvSpPr>
          <p:cNvPr id="11" name="Marcador"/>
          <p:cNvSpPr/>
          <p:nvPr/>
        </p:nvSpPr>
        <p:spPr>
          <a:xfrm>
            <a:off x="1051560" y="2761488"/>
            <a:ext cx="109728" cy="109728"/>
          </a:xfrm>
          <a:prstGeom prst="ellipse">
            <a:avLst/>
          </a:prstGeom>
          <a:solidFill>
            <a:schemeClr val="accent3"/>
          </a:solidFill>
          <a:ln w="12700">
            <a:solidFill>
              <a:schemeClr val="accent3"/>
            </a:solidFill>
            <a:prstDash val="solid"/>
          </a:ln>
        </p:spPr>
      </p:sp>
      <p:sp>
        <p:nvSpPr>
          <p:cNvPr id="12" name="Texto"/>
          <p:cNvSpPr txBox="1"/>
          <p:nvPr/>
        </p:nvSpPr>
        <p:spPr>
          <a:xfrm>
            <a:off x="1508760" y="2578608"/>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O agente observa o estado Sₜ.</a:t>
            </a:r>
            <a:endParaRPr lang="en-US" sz="1600" dirty="0"/>
          </a:p>
        </p:txBody>
      </p:sp>
      <p:sp>
        <p:nvSpPr>
          <p:cNvPr id="13" name="Cartão"/>
          <p:cNvSpPr/>
          <p:nvPr/>
        </p:nvSpPr>
        <p:spPr>
          <a:xfrm>
            <a:off x="868680" y="3163824"/>
            <a:ext cx="7818120" cy="475488"/>
          </a:xfrm>
          <a:prstGeom prst="roundRect">
            <a:avLst>
              <a:gd name="adj" fmla="val 23077"/>
            </a:avLst>
          </a:prstGeom>
          <a:solidFill>
            <a:schemeClr val="bg1"/>
          </a:solidFill>
          <a:ln w="12700">
            <a:solidFill>
              <a:schemeClr val="bg2"/>
            </a:solidFill>
            <a:prstDash val="solid"/>
          </a:ln>
        </p:spPr>
      </p:sp>
      <p:sp>
        <p:nvSpPr>
          <p:cNvPr id="14" name="Marcador"/>
          <p:cNvSpPr/>
          <p:nvPr/>
        </p:nvSpPr>
        <p:spPr>
          <a:xfrm>
            <a:off x="1051560" y="3346704"/>
            <a:ext cx="109728" cy="109728"/>
          </a:xfrm>
          <a:prstGeom prst="ellipse">
            <a:avLst/>
          </a:prstGeom>
          <a:solidFill>
            <a:schemeClr val="accent3"/>
          </a:solidFill>
          <a:ln w="12700">
            <a:solidFill>
              <a:schemeClr val="accent3"/>
            </a:solidFill>
            <a:prstDash val="solid"/>
          </a:ln>
        </p:spPr>
      </p:sp>
      <p:sp>
        <p:nvSpPr>
          <p:cNvPr id="15" name="Texto"/>
          <p:cNvSpPr txBox="1"/>
          <p:nvPr/>
        </p:nvSpPr>
        <p:spPr>
          <a:xfrm>
            <a:off x="1508760" y="3163824"/>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Escolhe uma ação Aₜ.</a:t>
            </a:r>
            <a:endParaRPr lang="en-US" sz="1600" dirty="0"/>
          </a:p>
        </p:txBody>
      </p:sp>
      <p:sp>
        <p:nvSpPr>
          <p:cNvPr id="16" name="Cartão"/>
          <p:cNvSpPr/>
          <p:nvPr/>
        </p:nvSpPr>
        <p:spPr>
          <a:xfrm>
            <a:off x="868680" y="3749040"/>
            <a:ext cx="7818120" cy="475488"/>
          </a:xfrm>
          <a:prstGeom prst="roundRect">
            <a:avLst>
              <a:gd name="adj" fmla="val 23077"/>
            </a:avLst>
          </a:prstGeom>
          <a:solidFill>
            <a:schemeClr val="bg1"/>
          </a:solidFill>
          <a:ln w="12700">
            <a:solidFill>
              <a:schemeClr val="bg2"/>
            </a:solidFill>
            <a:prstDash val="solid"/>
          </a:ln>
        </p:spPr>
      </p:sp>
      <p:sp>
        <p:nvSpPr>
          <p:cNvPr id="17" name="Marcador"/>
          <p:cNvSpPr/>
          <p:nvPr/>
        </p:nvSpPr>
        <p:spPr>
          <a:xfrm>
            <a:off x="1051560" y="3931920"/>
            <a:ext cx="109728" cy="109728"/>
          </a:xfrm>
          <a:prstGeom prst="ellipse">
            <a:avLst/>
          </a:prstGeom>
          <a:solidFill>
            <a:schemeClr val="accent3"/>
          </a:solidFill>
          <a:ln w="12700">
            <a:solidFill>
              <a:schemeClr val="accent3"/>
            </a:solidFill>
            <a:prstDash val="solid"/>
          </a:ln>
        </p:spPr>
      </p:sp>
      <p:sp>
        <p:nvSpPr>
          <p:cNvPr id="18" name="Texto"/>
          <p:cNvSpPr txBox="1"/>
          <p:nvPr/>
        </p:nvSpPr>
        <p:spPr>
          <a:xfrm>
            <a:off x="1508760" y="3749040"/>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O ambiente responde com uma recompensa Rₜ₊₁ e um novo estado Sₜ₊₁.</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personagens da história (cont.)</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1.4</a:t>
            </a:r>
            <a:endParaRPr lang="en-US" sz="1200" dirty="0"/>
          </a:p>
        </p:txBody>
      </p:sp>
      <p:sp>
        <p:nvSpPr>
          <p:cNvPr id="4"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5"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O pequeno t é só um carimbo de horário: Sₜ é "o estado agora", Sₜ₊₁ é "o estado no passo seguinte".</a:t>
            </a:r>
            <a:endParaRPr lang="en-US" sz="1800" dirty="0"/>
          </a:p>
        </p:txBody>
      </p:sp>
      <p:sp>
        <p:nvSpPr>
          <p:cNvPr id="7" name="Cartão"/>
          <p:cNvSpPr/>
          <p:nvPr/>
        </p:nvSpPr>
        <p:spPr>
          <a:xfrm>
            <a:off x="457200" y="1993392"/>
            <a:ext cx="8229600" cy="694944"/>
          </a:xfrm>
          <a:prstGeom prst="roundRect">
            <a:avLst>
              <a:gd name="adj" fmla="val 15789"/>
            </a:avLst>
          </a:prstGeom>
          <a:solidFill>
            <a:schemeClr val="bg2"/>
          </a:solidFill>
          <a:ln w="12700">
            <a:solidFill>
              <a:schemeClr val="bg2"/>
            </a:solidFill>
            <a:prstDash val="solid"/>
          </a:ln>
        </p:spPr>
      </p:sp>
      <p:sp>
        <p:nvSpPr>
          <p:cNvPr id="8" name="Número"/>
          <p:cNvSpPr/>
          <p:nvPr/>
        </p:nvSpPr>
        <p:spPr>
          <a:xfrm>
            <a:off x="594360" y="21579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993392"/>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Um exemplo completo: o robô aspirador: Note que você, projetista, escolhe as recompensas.</a:t>
            </a:r>
            <a:endParaRPr lang="en-US" sz="1800" dirty="0"/>
          </a:p>
        </p:txBody>
      </p:sp>
      <p:sp>
        <p:nvSpPr>
          <p:cNvPr id="10" name="Cartão"/>
          <p:cNvSpPr/>
          <p:nvPr/>
        </p:nvSpPr>
        <p:spPr>
          <a:xfrm>
            <a:off x="457200" y="2798064"/>
            <a:ext cx="8229600" cy="694944"/>
          </a:xfrm>
          <a:prstGeom prst="roundRect">
            <a:avLst>
              <a:gd name="adj" fmla="val 15789"/>
            </a:avLst>
          </a:prstGeom>
          <a:solidFill>
            <a:schemeClr val="bg2"/>
          </a:solidFill>
          <a:ln w="12700">
            <a:solidFill>
              <a:schemeClr val="bg2"/>
            </a:solidFill>
            <a:prstDash val="solid"/>
          </a:ln>
        </p:spPr>
      </p:sp>
      <p:sp>
        <p:nvSpPr>
          <p:cNvPr id="11" name="Número"/>
          <p:cNvSpPr/>
          <p:nvPr/>
        </p:nvSpPr>
        <p:spPr>
          <a:xfrm>
            <a:off x="594360" y="296265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798064"/>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Episódios e tarefas contínuas: Algumas tarefas têm começo e fim claros, como uma partida de xadrez.</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personagens da história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O ciclo do AR: o agente age; o ambiente devolve um novo estado e uma recompensa; o ciclo se repete.">    </p:cNvPr>
          <p:cNvPicPr>
            <a:picLocks noChangeAspect="1"/>
          </p:cNvPicPr>
          <p:nvPr/>
        </p:nvPicPr>
        <p:blipFill>
          <a:blip r:embed="rId1"/>
          <a:stretch>
            <a:fillRect/>
          </a:stretch>
        </p:blipFill>
        <p:spPr>
          <a:xfrm>
            <a:off x="1685369" y="1143000"/>
            <a:ext cx="5773261"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O ciclo do AR: o agente age; o ambiente devolve um novo estado e uma recompensa; o ciclo se repete.</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objetivo: maximizar o retorno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1.5</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O agente não quer só a próxima recompensa.</a:t>
            </a:r>
            <a:endParaRPr lang="en-US" sz="16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Imagine três recompensas seguidas: 1, 0 e 5.</a:t>
            </a:r>
            <a:endParaRPr lang="en-US" sz="1600" dirty="0"/>
          </a:p>
        </p:txBody>
      </p:sp>
      <p:sp>
        <p:nvSpPr>
          <p:cNvPr id="11" name="Cartão"/>
          <p:cNvSpPr/>
          <p:nvPr/>
        </p:nvSpPr>
        <p:spPr>
          <a:xfrm>
            <a:off x="457200" y="2359152"/>
            <a:ext cx="8229600" cy="694944"/>
          </a:xfrm>
          <a:prstGeom prst="roundRect">
            <a:avLst>
              <a:gd name="adj" fmla="val 15789"/>
            </a:avLst>
          </a:prstGeom>
          <a:solidFill>
            <a:schemeClr val="bg2"/>
          </a:solidFill>
          <a:ln w="12700">
            <a:solidFill>
              <a:schemeClr val="bg2"/>
            </a:solidFill>
            <a:prstDash val="solid"/>
          </a:ln>
        </p:spPr>
      </p:sp>
      <p:sp>
        <p:nvSpPr>
          <p:cNvPr id="12" name="Número"/>
          <p:cNvSpPr/>
          <p:nvPr/>
        </p:nvSpPr>
        <p:spPr>
          <a:xfrm>
            <a:off x="594360" y="252374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Por que dar menos peso ao futuro?: Um real hoje vale mais que um real daqui a dez anos: você pode gastá-lo já, e o futuro é incerto.</a:t>
            </a:r>
            <a:endParaRPr lang="en-US" sz="1600" dirty="0"/>
          </a:p>
        </p:txBody>
      </p:sp>
      <p:sp>
        <p:nvSpPr>
          <p:cNvPr id="14" name="Cartão"/>
          <p:cNvSpPr/>
          <p:nvPr/>
        </p:nvSpPr>
        <p:spPr>
          <a:xfrm>
            <a:off x="457200" y="3163824"/>
            <a:ext cx="8229600" cy="694944"/>
          </a:xfrm>
          <a:prstGeom prst="roundRect">
            <a:avLst>
              <a:gd name="adj" fmla="val 15789"/>
            </a:avLst>
          </a:prstGeom>
          <a:solidFill>
            <a:schemeClr val="bg2"/>
          </a:solidFill>
          <a:ln w="12700">
            <a:solidFill>
              <a:schemeClr val="bg2"/>
            </a:solidFill>
            <a:prstDash val="solid"/>
          </a:ln>
        </p:spPr>
      </p:sp>
      <p:sp>
        <p:nvSpPr>
          <p:cNvPr id="15" name="Número"/>
          <p:cNvSpPr/>
          <p:nvPr/>
        </p:nvSpPr>
        <p:spPr>
          <a:xfrm>
            <a:off x="594360" y="332841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3163824"/>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A hipótese da recompensa: Todo o AR repousa sobre uma ideia ousada, que Sutton e Barto (2018) chamam de hipótese da recompensa: tudo o que entendemos por "objetivos"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objetivo: maximizar o retorno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Fórmula</a:t>
            </a:r>
            <a:endParaRPr lang="en-US" sz="1200" dirty="0"/>
          </a:p>
        </p:txBody>
      </p:sp>
      <p:sp>
        <p:nvSpPr>
          <p:cNvPr id="5" name="Fórmula"/>
          <p:cNvSpPr/>
          <p:nvPr/>
        </p:nvSpPr>
        <p:spPr>
          <a:xfrm>
            <a:off x="731520" y="1325880"/>
            <a:ext cx="7680960" cy="1280160"/>
          </a:xfrm>
          <a:prstGeom prst="roundRect">
            <a:avLst>
              <a:gd name="adj" fmla="val 14286"/>
            </a:avLst>
          </a:prstGeom>
          <a:solidFill>
            <a:schemeClr val="tx2"/>
          </a:solidFill>
          <a:ln/>
        </p:spPr>
        <p:txBody>
          <a:bodyPr wrap="square" lIns="1905" tIns="1905" rIns="1905" bIns="1905" rtlCol="0" anchor="ctr">
            <a:normAutofit/>
          </a:bodyPr>
          <a:lstStyle/>
          <a:p>
            <a:pPr algn="ctr" indent="0" marL="0">
              <a:buNone/>
            </a:pPr>
            <a:r>
              <a:rPr lang="en-US" sz="3000" dirty="0">
                <a:solidFill>
                  <a:schemeClr val="bg1"/>
                </a:solidFill>
                <a:latin typeface="Cambria" pitchFamily="34" charset="0"/>
                <a:ea typeface="Cambria" pitchFamily="34" charset="-122"/>
                <a:cs typeface="Cambria" pitchFamily="34" charset="-120"/>
              </a:rPr>
              <a:t>Gₜ = Rₜ₊₁ + γ Rₜ₊₂ + γ^2 Rₜ₊₃ + γ^3 Rₜ₊₄ + …</a:t>
            </a:r>
            <a:endParaRPr lang="en-US" sz="3000" dirty="0"/>
          </a:p>
        </p:txBody>
      </p:sp>
      <p:sp>
        <p:nvSpPr>
          <p:cNvPr id="6" name="Etiqueta"/>
          <p:cNvSpPr/>
          <p:nvPr/>
        </p:nvSpPr>
        <p:spPr>
          <a:xfrm>
            <a:off x="731520" y="2834640"/>
            <a:ext cx="1463040"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EM PALAVRAS</a:t>
            </a:r>
            <a:endParaRPr lang="en-US" sz="1100" dirty="0"/>
          </a:p>
        </p:txBody>
      </p:sp>
      <p:sp>
        <p:nvSpPr>
          <p:cNvPr id="7" name="Texto"/>
          <p:cNvSpPr txBox="1"/>
          <p:nvPr/>
        </p:nvSpPr>
        <p:spPr>
          <a:xfrm>
            <a:off x="731520" y="3200400"/>
            <a:ext cx="7680960" cy="1371600"/>
          </a:xfrm>
          <a:prstGeom prst="rect">
            <a:avLst/>
          </a:prstGeom>
          <a:noFill/>
          <a:ln/>
        </p:spPr>
        <p:txBody>
          <a:bodyPr wrap="square" lIns="0" tIns="0" rIns="0" bIns="0" rtlCol="0" anchor="t">
            <a:normAutofit/>
          </a:bodyPr>
          <a:lstStyle/>
          <a:p>
            <a:pPr indent="0" marL="0">
              <a:buNone/>
            </a:pPr>
            <a:r>
              <a:rPr lang="en-US" sz="1600" dirty="0">
                <a:solidFill>
                  <a:schemeClr val="tx1"/>
                </a:solidFill>
              </a:rPr>
              <a:t>some as recompensas futuras, mas diminua o peso de cada uma conforme ela fica mais distante.</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Calculando um retorno com desconto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Exemplo</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Recompensas: 1, 0, 0, 5, com γ = 0,9.</a:t>
            </a:r>
            <a:endParaRPr lang="en-US" sz="18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G = 1 + 0,9 × 0 + 0,9² × 0 + 0,9³ × 5 = 1 + 0 + 0 + 0,729 × 5 = 4,645.</a:t>
            </a:r>
            <a:endParaRPr lang="en-US" sz="1800" dirty="0"/>
          </a:p>
        </p:txBody>
      </p:sp>
      <p:sp>
        <p:nvSpPr>
          <p:cNvPr id="11"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414016"/>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Com γ = 0,5, a mesma sequência vale 1 + 0,125 × 5 = 1,625.</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objetivo: maximizar o retorno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À esquerda, quanto o desconto reduz o peso de recompensas distantes.">    </p:cNvPr>
          <p:cNvPicPr>
            <a:picLocks noChangeAspect="1"/>
          </p:cNvPicPr>
          <p:nvPr/>
        </p:nvPicPr>
        <p:blipFill>
          <a:blip r:embed="rId1"/>
          <a:stretch>
            <a:fillRect/>
          </a:stretch>
        </p:blipFill>
        <p:spPr>
          <a:xfrm>
            <a:off x="545135" y="1143000"/>
            <a:ext cx="8053731"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À esquerda, quanto o desconto reduz o peso de recompensas distantes.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Exemplo hipotético: a recompensa mal escolhida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Atenção</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Suponha que você premie o robô aspirador com +1 por cada porção de sujeira coletada.</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três componentes de um agente</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1.6</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Um agente de AR pode ter até três "ferramentas" internas.</a:t>
            </a:r>
            <a:endParaRPr lang="en-US" sz="16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Política (π, "pi"): a regra de decisão.</a:t>
            </a:r>
            <a:endParaRPr lang="en-US" sz="1600" dirty="0"/>
          </a:p>
        </p:txBody>
      </p:sp>
      <p:sp>
        <p:nvSpPr>
          <p:cNvPr id="11" name="Cartão"/>
          <p:cNvSpPr/>
          <p:nvPr/>
        </p:nvSpPr>
        <p:spPr>
          <a:xfrm>
            <a:off x="868680" y="2359152"/>
            <a:ext cx="7818120" cy="694944"/>
          </a:xfrm>
          <a:prstGeom prst="roundRect">
            <a:avLst>
              <a:gd name="adj" fmla="val 15789"/>
            </a:avLst>
          </a:prstGeom>
          <a:solidFill>
            <a:schemeClr val="bg1"/>
          </a:solidFill>
          <a:ln w="12700">
            <a:solidFill>
              <a:schemeClr val="bg2"/>
            </a:solidFill>
            <a:prstDash val="solid"/>
          </a:ln>
        </p:spPr>
      </p:sp>
      <p:sp>
        <p:nvSpPr>
          <p:cNvPr id="12" name="Marcador"/>
          <p:cNvSpPr/>
          <p:nvPr/>
        </p:nvSpPr>
        <p:spPr>
          <a:xfrm>
            <a:off x="1051560" y="2651760"/>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Função valor (v): uma estimativa da recompensa total futura a partir de um estado (ou de um par estado-ação).</a:t>
            </a:r>
            <a:endParaRPr lang="en-US" sz="1600" dirty="0"/>
          </a:p>
        </p:txBody>
      </p:sp>
      <p:sp>
        <p:nvSpPr>
          <p:cNvPr id="14" name="Cartão"/>
          <p:cNvSpPr/>
          <p:nvPr/>
        </p:nvSpPr>
        <p:spPr>
          <a:xfrm>
            <a:off x="868680" y="3163824"/>
            <a:ext cx="7818120" cy="694944"/>
          </a:xfrm>
          <a:prstGeom prst="roundRect">
            <a:avLst>
              <a:gd name="adj" fmla="val 15789"/>
            </a:avLst>
          </a:prstGeom>
          <a:solidFill>
            <a:schemeClr val="bg1"/>
          </a:solidFill>
          <a:ln w="12700">
            <a:solidFill>
              <a:schemeClr val="bg2"/>
            </a:solidFill>
            <a:prstDash val="solid"/>
          </a:ln>
        </p:spPr>
      </p:sp>
      <p:sp>
        <p:nvSpPr>
          <p:cNvPr id="15" name="Marcador"/>
          <p:cNvSpPr/>
          <p:nvPr/>
        </p:nvSpPr>
        <p:spPr>
          <a:xfrm>
            <a:off x="1051560" y="3456432"/>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3163824"/>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Modelo: uma previsão de como o ambiente reage ("se eu fizer isto aqui, o que acontece?").</a:t>
            </a:r>
            <a:endParaRPr lang="en-US" sz="1600" dirty="0"/>
          </a:p>
        </p:txBody>
      </p:sp>
      <p:sp>
        <p:nvSpPr>
          <p:cNvPr id="17" name="Cartão"/>
          <p:cNvSpPr/>
          <p:nvPr/>
        </p:nvSpPr>
        <p:spPr>
          <a:xfrm>
            <a:off x="457200" y="3968496"/>
            <a:ext cx="8229600" cy="694944"/>
          </a:xfrm>
          <a:prstGeom prst="roundRect">
            <a:avLst>
              <a:gd name="adj" fmla="val 15789"/>
            </a:avLst>
          </a:prstGeom>
          <a:solidFill>
            <a:schemeClr val="bg2"/>
          </a:solidFill>
          <a:ln w="12700">
            <a:solidFill>
              <a:schemeClr val="bg2"/>
            </a:solidFill>
            <a:prstDash val="solid"/>
          </a:ln>
        </p:spPr>
      </p:sp>
      <p:sp>
        <p:nvSpPr>
          <p:cNvPr id="18" name="Número"/>
          <p:cNvSpPr/>
          <p:nvPr/>
        </p:nvSpPr>
        <p:spPr>
          <a:xfrm>
            <a:off x="594360" y="413308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Texto"/>
          <p:cNvSpPr txBox="1"/>
          <p:nvPr/>
        </p:nvSpPr>
        <p:spPr>
          <a:xfrm>
            <a:off x="1097280" y="3968496"/>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Métodos que não usam modelo são chamados livres de modelo (model-free); os que usam são baseados em modelo (model-based).</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três componentes de um agente</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Política, função valor e modelo: o que fazer, quão bom é estar aqui e o que vai acontecer.">    </p:cNvPr>
          <p:cNvPicPr>
            <a:picLocks noChangeAspect="1"/>
          </p:cNvPicPr>
          <p:nvPr/>
        </p:nvPicPr>
        <p:blipFill>
          <a:blip r:embed="rId1"/>
          <a:stretch>
            <a:fillRect/>
          </a:stretch>
        </p:blipFill>
        <p:spPr>
          <a:xfrm>
            <a:off x="776411" y="1143000"/>
            <a:ext cx="7591178"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Política, função valor e modelo: o que fazer, quão bom é estar aqui e o que vai acontecer.</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três componentes no trânsito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No dia a dia</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Política: "se o semáforo está vermelho, pare".</a:t>
            </a:r>
            <a:endParaRPr lang="en-US" sz="1800" dirty="0"/>
          </a:p>
        </p:txBody>
      </p:sp>
      <p:sp>
        <p:nvSpPr>
          <p:cNvPr id="8"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182880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Valor: "essa avenida costuma ser rápida às 7h, tem valor alto".</a:t>
            </a:r>
            <a:endParaRPr lang="en-US" sz="1800" dirty="0"/>
          </a:p>
        </p:txBody>
      </p:sp>
      <p:sp>
        <p:nvSpPr>
          <p:cNvPr id="11" name="Cartão"/>
          <p:cNvSpPr/>
          <p:nvPr/>
        </p:nvSpPr>
        <p:spPr>
          <a:xfrm>
            <a:off x="457200" y="2359152"/>
            <a:ext cx="8229600" cy="694944"/>
          </a:xfrm>
          <a:prstGeom prst="roundRect">
            <a:avLst>
              <a:gd name="adj" fmla="val 15789"/>
            </a:avLst>
          </a:prstGeom>
          <a:solidFill>
            <a:schemeClr val="bg2"/>
          </a:solidFill>
          <a:ln w="12700">
            <a:solidFill>
              <a:schemeClr val="bg2"/>
            </a:solidFill>
            <a:prstDash val="solid"/>
          </a:ln>
        </p:spPr>
      </p:sp>
      <p:sp>
        <p:nvSpPr>
          <p:cNvPr id="12" name="Número"/>
          <p:cNvSpPr/>
          <p:nvPr/>
        </p:nvSpPr>
        <p:spPr>
          <a:xfrm>
            <a:off x="594360" y="252374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359152"/>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Modelo: "se eu entrar naquela rua, vou pegar o congestionamento do mercado" (você imagina o futuro).</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grandes desafios do AR</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1.7</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Explorar ou aproveitar?: Você tem um restaurante favorito.</a:t>
            </a:r>
            <a:endParaRPr lang="en-US" sz="1800" dirty="0"/>
          </a:p>
        </p:txBody>
      </p:sp>
      <p:sp>
        <p:nvSpPr>
          <p:cNvPr id="8" name="Cartão"/>
          <p:cNvSpPr/>
          <p:nvPr/>
        </p:nvSpPr>
        <p:spPr>
          <a:xfrm>
            <a:off x="457200" y="1773936"/>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193852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Atribuição de crédito: Numa partida de xadrez, a recompensa (vitória) só vem no fim.</a:t>
            </a:r>
            <a:endParaRPr lang="en-US" sz="1800" dirty="0"/>
          </a:p>
        </p:txBody>
      </p:sp>
      <p:sp>
        <p:nvSpPr>
          <p:cNvPr id="11" name="Cartão"/>
          <p:cNvSpPr/>
          <p:nvPr/>
        </p:nvSpPr>
        <p:spPr>
          <a:xfrm>
            <a:off x="457200" y="2578608"/>
            <a:ext cx="8229600" cy="694944"/>
          </a:xfrm>
          <a:prstGeom prst="roundRect">
            <a:avLst>
              <a:gd name="adj" fmla="val 15789"/>
            </a:avLst>
          </a:prstGeom>
          <a:solidFill>
            <a:schemeClr val="bg2"/>
          </a:solidFill>
          <a:ln w="12700">
            <a:solidFill>
              <a:schemeClr val="bg2"/>
            </a:solidFill>
            <a:prstDash val="solid"/>
          </a:ln>
        </p:spPr>
      </p:sp>
      <p:sp>
        <p:nvSpPr>
          <p:cNvPr id="12" name="Número"/>
          <p:cNvSpPr/>
          <p:nvPr/>
        </p:nvSpPr>
        <p:spPr>
          <a:xfrm>
            <a:off x="594360" y="274320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578608"/>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Outros desafios: Eficiência de dados: aprender por tentativa exige muitas tentativas.</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Os grandes desafios do AR</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Recompensa só no final: o agente precisa descobrir quais ações anteriores foram responsáveis.">    </p:cNvPr>
          <p:cNvPicPr>
            <a:picLocks noChangeAspect="1"/>
          </p:cNvPicPr>
          <p:nvPr/>
        </p:nvPicPr>
        <p:blipFill>
          <a:blip r:embed="rId1"/>
          <a:stretch>
            <a:fillRect/>
          </a:stretch>
        </p:blipFill>
        <p:spPr>
          <a:xfrm>
            <a:off x="594223" y="1143000"/>
            <a:ext cx="7955554"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Recompensa só no final: o agente precisa descobrir quais ações anteriores foram responsáveis.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Uma breve história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1.8</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 área nasceu da confluência de duas linhas de pesquisa (SUTTON; BARTO, 2018):</a:t>
            </a:r>
            <a:endParaRPr lang="en-US" sz="1600" dirty="0"/>
          </a:p>
        </p:txBody>
      </p:sp>
      <p:sp>
        <p:nvSpPr>
          <p:cNvPr id="8" name="Cartão"/>
          <p:cNvSpPr/>
          <p:nvPr/>
        </p:nvSpPr>
        <p:spPr>
          <a:xfrm>
            <a:off x="868680" y="1773936"/>
            <a:ext cx="7818120" cy="475488"/>
          </a:xfrm>
          <a:prstGeom prst="roundRect">
            <a:avLst>
              <a:gd name="adj" fmla="val 23077"/>
            </a:avLst>
          </a:prstGeom>
          <a:solidFill>
            <a:schemeClr val="bg1"/>
          </a:solidFill>
          <a:ln w="12700">
            <a:solidFill>
              <a:schemeClr val="bg2"/>
            </a:solidFill>
            <a:prstDash val="solid"/>
          </a:ln>
        </p:spPr>
      </p:sp>
      <p:sp>
        <p:nvSpPr>
          <p:cNvPr id="9" name="Marcador"/>
          <p:cNvSpPr/>
          <p:nvPr/>
        </p:nvSpPr>
        <p:spPr>
          <a:xfrm>
            <a:off x="1051560" y="1956816"/>
            <a:ext cx="109728" cy="109728"/>
          </a:xfrm>
          <a:prstGeom prst="ellipse">
            <a:avLst/>
          </a:prstGeom>
          <a:solidFill>
            <a:schemeClr val="accent3"/>
          </a:solidFill>
          <a:ln w="12700">
            <a:solidFill>
              <a:schemeClr val="accent3"/>
            </a:solidFill>
            <a:prstDash val="solid"/>
          </a:ln>
        </p:spPr>
      </p:sp>
      <p:sp>
        <p:nvSpPr>
          <p:cNvPr id="10" name="Texto"/>
          <p:cNvSpPr txBox="1"/>
          <p:nvPr/>
        </p:nvSpPr>
        <p:spPr>
          <a:xfrm>
            <a:off x="1508760" y="1773936"/>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Aprendizado por tentativa e erro, vindo da psicologia (Thorndike, 1911).</a:t>
            </a:r>
            <a:endParaRPr lang="en-US" sz="1600" dirty="0"/>
          </a:p>
        </p:txBody>
      </p:sp>
      <p:sp>
        <p:nvSpPr>
          <p:cNvPr id="11" name="Cartão"/>
          <p:cNvSpPr/>
          <p:nvPr/>
        </p:nvSpPr>
        <p:spPr>
          <a:xfrm>
            <a:off x="868680" y="2359152"/>
            <a:ext cx="7818120" cy="475488"/>
          </a:xfrm>
          <a:prstGeom prst="roundRect">
            <a:avLst>
              <a:gd name="adj" fmla="val 23077"/>
            </a:avLst>
          </a:prstGeom>
          <a:solidFill>
            <a:schemeClr val="bg1"/>
          </a:solidFill>
          <a:ln w="12700">
            <a:solidFill>
              <a:schemeClr val="bg2"/>
            </a:solidFill>
            <a:prstDash val="solid"/>
          </a:ln>
        </p:spPr>
      </p:sp>
      <p:sp>
        <p:nvSpPr>
          <p:cNvPr id="12" name="Marcador"/>
          <p:cNvSpPr/>
          <p:nvPr/>
        </p:nvSpPr>
        <p:spPr>
          <a:xfrm>
            <a:off x="1051560" y="2542032"/>
            <a:ext cx="109728" cy="109728"/>
          </a:xfrm>
          <a:prstGeom prst="ellipse">
            <a:avLst/>
          </a:prstGeom>
          <a:solidFill>
            <a:schemeClr val="accent3"/>
          </a:solidFill>
          <a:ln w="12700">
            <a:solidFill>
              <a:schemeClr val="accent3"/>
            </a:solidFill>
            <a:prstDash val="solid"/>
          </a:ln>
        </p:spPr>
      </p:sp>
      <p:sp>
        <p:nvSpPr>
          <p:cNvPr id="13" name="Texto"/>
          <p:cNvSpPr txBox="1"/>
          <p:nvPr/>
        </p:nvSpPr>
        <p:spPr>
          <a:xfrm>
            <a:off x="1508760" y="2359152"/>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Controle ótimo, vindo da matemática e da engenharia.</a:t>
            </a:r>
            <a:endParaRPr lang="en-US" sz="1600" dirty="0"/>
          </a:p>
        </p:txBody>
      </p:sp>
      <p:sp>
        <p:nvSpPr>
          <p:cNvPr id="14" name="Cartão"/>
          <p:cNvSpPr/>
          <p:nvPr/>
        </p:nvSpPr>
        <p:spPr>
          <a:xfrm>
            <a:off x="868680" y="2944368"/>
            <a:ext cx="7818120" cy="694944"/>
          </a:xfrm>
          <a:prstGeom prst="roundRect">
            <a:avLst>
              <a:gd name="adj" fmla="val 15789"/>
            </a:avLst>
          </a:prstGeom>
          <a:solidFill>
            <a:schemeClr val="bg1"/>
          </a:solidFill>
          <a:ln w="12700">
            <a:solidFill>
              <a:schemeClr val="bg2"/>
            </a:solidFill>
            <a:prstDash val="solid"/>
          </a:ln>
        </p:spPr>
      </p:sp>
      <p:sp>
        <p:nvSpPr>
          <p:cNvPr id="15" name="Marcador"/>
          <p:cNvSpPr/>
          <p:nvPr/>
        </p:nvSpPr>
        <p:spPr>
          <a:xfrm>
            <a:off x="1051560" y="3236976"/>
            <a:ext cx="109728" cy="109728"/>
          </a:xfrm>
          <a:prstGeom prst="ellipse">
            <a:avLst/>
          </a:prstGeom>
          <a:solidFill>
            <a:schemeClr val="accent3"/>
          </a:solidFill>
          <a:ln w="12700">
            <a:solidFill>
              <a:schemeClr val="accent3"/>
            </a:solidFill>
            <a:prstDash val="solid"/>
          </a:ln>
        </p:spPr>
      </p:sp>
      <p:sp>
        <p:nvSpPr>
          <p:cNvPr id="16" name="Texto"/>
          <p:cNvSpPr txBox="1"/>
          <p:nvPr/>
        </p:nvSpPr>
        <p:spPr>
          <a:xfrm>
            <a:off x="1508760" y="2944368"/>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1959: Arthur Samuel criou um programa de damas que melhorava jogando contra si mesmo (SAMUEL, 1959).</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Uma breve história (cont.)</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1.8</a:t>
            </a:r>
            <a:endParaRPr lang="en-US" sz="1200" dirty="0"/>
          </a:p>
        </p:txBody>
      </p:sp>
      <p:sp>
        <p:nvSpPr>
          <p:cNvPr id="4" name="Cartão"/>
          <p:cNvSpPr/>
          <p:nvPr/>
        </p:nvSpPr>
        <p:spPr>
          <a:xfrm>
            <a:off x="868680" y="1188720"/>
            <a:ext cx="7818120" cy="694944"/>
          </a:xfrm>
          <a:prstGeom prst="roundRect">
            <a:avLst>
              <a:gd name="adj" fmla="val 15789"/>
            </a:avLst>
          </a:prstGeom>
          <a:solidFill>
            <a:schemeClr val="bg1"/>
          </a:solidFill>
          <a:ln w="12700">
            <a:solidFill>
              <a:schemeClr val="bg2"/>
            </a:solidFill>
            <a:prstDash val="solid"/>
          </a:ln>
        </p:spPr>
      </p:sp>
      <p:sp>
        <p:nvSpPr>
          <p:cNvPr id="5" name="Marcador"/>
          <p:cNvSpPr/>
          <p:nvPr/>
        </p:nvSpPr>
        <p:spPr>
          <a:xfrm>
            <a:off x="1051560" y="1481328"/>
            <a:ext cx="109728" cy="109728"/>
          </a:xfrm>
          <a:prstGeom prst="ellipse">
            <a:avLst/>
          </a:prstGeom>
          <a:solidFill>
            <a:schemeClr val="accent3"/>
          </a:solidFill>
          <a:ln w="12700">
            <a:solidFill>
              <a:schemeClr val="accent3"/>
            </a:solidFill>
            <a:prstDash val="solid"/>
          </a:ln>
        </p:spPr>
      </p:sp>
      <p:sp>
        <p:nvSpPr>
          <p:cNvPr id="6" name="Texto"/>
          <p:cNvSpPr txBox="1"/>
          <p:nvPr/>
        </p:nvSpPr>
        <p:spPr>
          <a:xfrm>
            <a:off x="1508760" y="1188720"/>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1983: Barto, Sutton e Anderson usaram um par de redes para equilibrar um poste sobre um carrinho</a:t>
            </a:r>
            <a:endParaRPr lang="en-US" sz="1600" dirty="0"/>
          </a:p>
        </p:txBody>
      </p:sp>
      <p:sp>
        <p:nvSpPr>
          <p:cNvPr id="7" name="Cartão"/>
          <p:cNvSpPr/>
          <p:nvPr/>
        </p:nvSpPr>
        <p:spPr>
          <a:xfrm>
            <a:off x="868680" y="1993392"/>
            <a:ext cx="7818120" cy="694944"/>
          </a:xfrm>
          <a:prstGeom prst="roundRect">
            <a:avLst>
              <a:gd name="adj" fmla="val 15789"/>
            </a:avLst>
          </a:prstGeom>
          <a:solidFill>
            <a:schemeClr val="bg1"/>
          </a:solidFill>
          <a:ln w="12700">
            <a:solidFill>
              <a:schemeClr val="bg2"/>
            </a:solidFill>
            <a:prstDash val="solid"/>
          </a:ln>
        </p:spPr>
      </p:sp>
      <p:sp>
        <p:nvSpPr>
          <p:cNvPr id="8" name="Marcador"/>
          <p:cNvSpPr/>
          <p:nvPr/>
        </p:nvSpPr>
        <p:spPr>
          <a:xfrm>
            <a:off x="1051560" y="2286000"/>
            <a:ext cx="109728" cy="109728"/>
          </a:xfrm>
          <a:prstGeom prst="ellipse">
            <a:avLst/>
          </a:prstGeom>
          <a:solidFill>
            <a:schemeClr val="accent3"/>
          </a:solidFill>
          <a:ln w="12700">
            <a:solidFill>
              <a:schemeClr val="accent3"/>
            </a:solidFill>
            <a:prstDash val="solid"/>
          </a:ln>
        </p:spPr>
      </p:sp>
      <p:sp>
        <p:nvSpPr>
          <p:cNvPr id="9" name="Texto"/>
          <p:cNvSpPr txBox="1"/>
          <p:nvPr/>
        </p:nvSpPr>
        <p:spPr>
          <a:xfrm>
            <a:off x="1508760" y="1993392"/>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1988: Sutton propôs o aprendizado por diferença temporal (SUTTON, 1988), tema do Capítulo 6.</a:t>
            </a:r>
            <a:endParaRPr lang="en-US" sz="1600" dirty="0"/>
          </a:p>
        </p:txBody>
      </p:sp>
      <p:sp>
        <p:nvSpPr>
          <p:cNvPr id="10" name="Cartão"/>
          <p:cNvSpPr/>
          <p:nvPr/>
        </p:nvSpPr>
        <p:spPr>
          <a:xfrm>
            <a:off x="868680" y="2798064"/>
            <a:ext cx="7818120" cy="475488"/>
          </a:xfrm>
          <a:prstGeom prst="roundRect">
            <a:avLst>
              <a:gd name="adj" fmla="val 23077"/>
            </a:avLst>
          </a:prstGeom>
          <a:solidFill>
            <a:schemeClr val="bg1"/>
          </a:solidFill>
          <a:ln w="12700">
            <a:solidFill>
              <a:schemeClr val="bg2"/>
            </a:solidFill>
            <a:prstDash val="solid"/>
          </a:ln>
        </p:spPr>
      </p:sp>
      <p:sp>
        <p:nvSpPr>
          <p:cNvPr id="11" name="Marcador"/>
          <p:cNvSpPr/>
          <p:nvPr/>
        </p:nvSpPr>
        <p:spPr>
          <a:xfrm>
            <a:off x="1051560" y="2980944"/>
            <a:ext cx="109728" cy="109728"/>
          </a:xfrm>
          <a:prstGeom prst="ellipse">
            <a:avLst/>
          </a:prstGeom>
          <a:solidFill>
            <a:schemeClr val="accent3"/>
          </a:solidFill>
          <a:ln w="12700">
            <a:solidFill>
              <a:schemeClr val="accent3"/>
            </a:solidFill>
            <a:prstDash val="solid"/>
          </a:ln>
        </p:spPr>
      </p:sp>
      <p:sp>
        <p:nvSpPr>
          <p:cNvPr id="12" name="Texto"/>
          <p:cNvSpPr txBox="1"/>
          <p:nvPr/>
        </p:nvSpPr>
        <p:spPr>
          <a:xfrm>
            <a:off x="1508760" y="2798064"/>
            <a:ext cx="704088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1989 e 1992: Watkins propôs o Q-learning (WATKINS; DAYAN, 1992).</a:t>
            </a:r>
            <a:endParaRPr lang="en-US" sz="1600" dirty="0"/>
          </a:p>
        </p:txBody>
      </p:sp>
      <p:sp>
        <p:nvSpPr>
          <p:cNvPr id="13" name="Cartão"/>
          <p:cNvSpPr/>
          <p:nvPr/>
        </p:nvSpPr>
        <p:spPr>
          <a:xfrm>
            <a:off x="868680" y="3383280"/>
            <a:ext cx="7818120" cy="694944"/>
          </a:xfrm>
          <a:prstGeom prst="roundRect">
            <a:avLst>
              <a:gd name="adj" fmla="val 15789"/>
            </a:avLst>
          </a:prstGeom>
          <a:solidFill>
            <a:schemeClr val="bg1"/>
          </a:solidFill>
          <a:ln w="12700">
            <a:solidFill>
              <a:schemeClr val="bg2"/>
            </a:solidFill>
            <a:prstDash val="solid"/>
          </a:ln>
        </p:spPr>
      </p:sp>
      <p:sp>
        <p:nvSpPr>
          <p:cNvPr id="14" name="Marcador"/>
          <p:cNvSpPr/>
          <p:nvPr/>
        </p:nvSpPr>
        <p:spPr>
          <a:xfrm>
            <a:off x="1051560" y="3675888"/>
            <a:ext cx="109728" cy="109728"/>
          </a:xfrm>
          <a:prstGeom prst="ellipse">
            <a:avLst/>
          </a:prstGeom>
          <a:solidFill>
            <a:schemeClr val="accent3"/>
          </a:solidFill>
          <a:ln w="12700">
            <a:solidFill>
              <a:schemeClr val="accent3"/>
            </a:solidFill>
            <a:prstDash val="solid"/>
          </a:ln>
        </p:spPr>
      </p:sp>
      <p:sp>
        <p:nvSpPr>
          <p:cNvPr id="15" name="Texto"/>
          <p:cNvSpPr txBox="1"/>
          <p:nvPr/>
        </p:nvSpPr>
        <p:spPr>
          <a:xfrm>
            <a:off x="1508760" y="3383280"/>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1995: o TD-Gammon, de Gerald Tesauro, aprendeu gamão em nível de campeões humanos (TESAURO, 1995).</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Uma breve história (cont.)</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1.8</a:t>
            </a:r>
            <a:endParaRPr lang="en-US" sz="1200" dirty="0"/>
          </a:p>
        </p:txBody>
      </p:sp>
      <p:sp>
        <p:nvSpPr>
          <p:cNvPr id="4" name="Cartão"/>
          <p:cNvSpPr/>
          <p:nvPr/>
        </p:nvSpPr>
        <p:spPr>
          <a:xfrm>
            <a:off x="868680" y="1188720"/>
            <a:ext cx="7818120" cy="694944"/>
          </a:xfrm>
          <a:prstGeom prst="roundRect">
            <a:avLst>
              <a:gd name="adj" fmla="val 15789"/>
            </a:avLst>
          </a:prstGeom>
          <a:solidFill>
            <a:schemeClr val="bg1"/>
          </a:solidFill>
          <a:ln w="12700">
            <a:solidFill>
              <a:schemeClr val="bg2"/>
            </a:solidFill>
            <a:prstDash val="solid"/>
          </a:ln>
        </p:spPr>
      </p:sp>
      <p:sp>
        <p:nvSpPr>
          <p:cNvPr id="5" name="Marcador"/>
          <p:cNvSpPr/>
          <p:nvPr/>
        </p:nvSpPr>
        <p:spPr>
          <a:xfrm>
            <a:off x="1051560" y="1481328"/>
            <a:ext cx="109728" cy="109728"/>
          </a:xfrm>
          <a:prstGeom prst="ellipse">
            <a:avLst/>
          </a:prstGeom>
          <a:solidFill>
            <a:schemeClr val="accent3"/>
          </a:solidFill>
          <a:ln w="12700">
            <a:solidFill>
              <a:schemeClr val="accent3"/>
            </a:solidFill>
            <a:prstDash val="solid"/>
          </a:ln>
        </p:spPr>
      </p:sp>
      <p:sp>
        <p:nvSpPr>
          <p:cNvPr id="6" name="Texto"/>
          <p:cNvSpPr txBox="1"/>
          <p:nvPr/>
        </p:nvSpPr>
        <p:spPr>
          <a:xfrm>
            <a:off x="1508760" y="1188720"/>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2015: o DQN aprendeu a jogar dezenas de jogos de Atari a partir dos pixels da tela (MNIH et al., 2015).</a:t>
            </a:r>
            <a:endParaRPr lang="en-US" sz="1600" dirty="0"/>
          </a:p>
        </p:txBody>
      </p:sp>
      <p:sp>
        <p:nvSpPr>
          <p:cNvPr id="7" name="Cartão"/>
          <p:cNvSpPr/>
          <p:nvPr/>
        </p:nvSpPr>
        <p:spPr>
          <a:xfrm>
            <a:off x="868680" y="1993392"/>
            <a:ext cx="7818120" cy="694944"/>
          </a:xfrm>
          <a:prstGeom prst="roundRect">
            <a:avLst>
              <a:gd name="adj" fmla="val 15789"/>
            </a:avLst>
          </a:prstGeom>
          <a:solidFill>
            <a:schemeClr val="bg1"/>
          </a:solidFill>
          <a:ln w="12700">
            <a:solidFill>
              <a:schemeClr val="bg2"/>
            </a:solidFill>
            <a:prstDash val="solid"/>
          </a:ln>
        </p:spPr>
      </p:sp>
      <p:sp>
        <p:nvSpPr>
          <p:cNvPr id="8" name="Marcador"/>
          <p:cNvSpPr/>
          <p:nvPr/>
        </p:nvSpPr>
        <p:spPr>
          <a:xfrm>
            <a:off x="1051560" y="2286000"/>
            <a:ext cx="109728" cy="109728"/>
          </a:xfrm>
          <a:prstGeom prst="ellipse">
            <a:avLst/>
          </a:prstGeom>
          <a:solidFill>
            <a:schemeClr val="accent3"/>
          </a:solidFill>
          <a:ln w="12700">
            <a:solidFill>
              <a:schemeClr val="accent3"/>
            </a:solidFill>
            <a:prstDash val="solid"/>
          </a:ln>
        </p:spPr>
      </p:sp>
      <p:sp>
        <p:nvSpPr>
          <p:cNvPr id="9" name="Texto"/>
          <p:cNvSpPr txBox="1"/>
          <p:nvPr/>
        </p:nvSpPr>
        <p:spPr>
          <a:xfrm>
            <a:off x="1508760" y="1993392"/>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2016: o AlphaGo venceu um campeão europeu de Go e depois um campeão mundial (SILVER et al., 2016).</a:t>
            </a:r>
            <a:endParaRPr lang="en-US" sz="1600" dirty="0"/>
          </a:p>
        </p:txBody>
      </p:sp>
      <p:sp>
        <p:nvSpPr>
          <p:cNvPr id="10" name="Cartão"/>
          <p:cNvSpPr/>
          <p:nvPr/>
        </p:nvSpPr>
        <p:spPr>
          <a:xfrm>
            <a:off x="868680" y="2798064"/>
            <a:ext cx="7818120" cy="694944"/>
          </a:xfrm>
          <a:prstGeom prst="roundRect">
            <a:avLst>
              <a:gd name="adj" fmla="val 15789"/>
            </a:avLst>
          </a:prstGeom>
          <a:solidFill>
            <a:schemeClr val="bg1"/>
          </a:solidFill>
          <a:ln w="12700">
            <a:solidFill>
              <a:schemeClr val="bg2"/>
            </a:solidFill>
            <a:prstDash val="solid"/>
          </a:ln>
        </p:spPr>
      </p:sp>
      <p:sp>
        <p:nvSpPr>
          <p:cNvPr id="11" name="Marcador"/>
          <p:cNvSpPr/>
          <p:nvPr/>
        </p:nvSpPr>
        <p:spPr>
          <a:xfrm>
            <a:off x="1051560" y="3090672"/>
            <a:ext cx="109728" cy="109728"/>
          </a:xfrm>
          <a:prstGeom prst="ellipse">
            <a:avLst/>
          </a:prstGeom>
          <a:solidFill>
            <a:schemeClr val="accent3"/>
          </a:solidFill>
          <a:ln w="12700">
            <a:solidFill>
              <a:schemeClr val="accent3"/>
            </a:solidFill>
            <a:prstDash val="solid"/>
          </a:ln>
        </p:spPr>
      </p:sp>
      <p:sp>
        <p:nvSpPr>
          <p:cNvPr id="12" name="Texto"/>
          <p:cNvSpPr txBox="1"/>
          <p:nvPr/>
        </p:nvSpPr>
        <p:spPr>
          <a:xfrm>
            <a:off x="1508760" y="2798064"/>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2017: o algoritmo PPO tornou-se o "cavalo de batalha" do AR moderno (SCHULMAN et al., 2017).</a:t>
            </a:r>
            <a:endParaRPr lang="en-US" sz="1600" dirty="0"/>
          </a:p>
        </p:txBody>
      </p:sp>
      <p:sp>
        <p:nvSpPr>
          <p:cNvPr id="13" name="Cartão"/>
          <p:cNvSpPr/>
          <p:nvPr/>
        </p:nvSpPr>
        <p:spPr>
          <a:xfrm>
            <a:off x="868680" y="3602736"/>
            <a:ext cx="7818120" cy="694944"/>
          </a:xfrm>
          <a:prstGeom prst="roundRect">
            <a:avLst>
              <a:gd name="adj" fmla="val 15789"/>
            </a:avLst>
          </a:prstGeom>
          <a:solidFill>
            <a:schemeClr val="bg1"/>
          </a:solidFill>
          <a:ln w="12700">
            <a:solidFill>
              <a:schemeClr val="bg2"/>
            </a:solidFill>
            <a:prstDash val="solid"/>
          </a:ln>
        </p:spPr>
      </p:sp>
      <p:sp>
        <p:nvSpPr>
          <p:cNvPr id="14" name="Marcador"/>
          <p:cNvSpPr/>
          <p:nvPr/>
        </p:nvSpPr>
        <p:spPr>
          <a:xfrm>
            <a:off x="1051560" y="3895344"/>
            <a:ext cx="109728" cy="109728"/>
          </a:xfrm>
          <a:prstGeom prst="ellipse">
            <a:avLst/>
          </a:prstGeom>
          <a:solidFill>
            <a:schemeClr val="accent3"/>
          </a:solidFill>
          <a:ln w="12700">
            <a:solidFill>
              <a:schemeClr val="accent3"/>
            </a:solidFill>
            <a:prstDash val="solid"/>
          </a:ln>
        </p:spPr>
      </p:sp>
      <p:sp>
        <p:nvSpPr>
          <p:cNvPr id="15" name="Texto"/>
          <p:cNvSpPr txBox="1"/>
          <p:nvPr/>
        </p:nvSpPr>
        <p:spPr>
          <a:xfrm>
            <a:off x="1508760" y="3602736"/>
            <a:ext cx="704088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2022: o AR a partir de feedback humano (RLHF) ajudou a treinar assistentes conversacionais (OUYANG et al., 2022).</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Uma breve história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Marcos do aprendizado por reforço, da psicologia animal aos modelos de linguagem.">    </p:cNvPr>
          <p:cNvPicPr>
            <a:picLocks noChangeAspect="1"/>
          </p:cNvPicPr>
          <p:nvPr/>
        </p:nvPicPr>
        <p:blipFill>
          <a:blip r:embed="rId1"/>
          <a:stretch>
            <a:fillRect/>
          </a:stretch>
        </p:blipFill>
        <p:spPr>
          <a:xfrm>
            <a:off x="941601" y="1143000"/>
            <a:ext cx="7260799"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Marcos do aprendizado por reforço, da psicologia animal aos modelos de linguagem.</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Onde o AR é usado</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1.9</a:t>
            </a:r>
            <a:endParaRPr lang="en-US" sz="1200" dirty="0"/>
          </a:p>
        </p:txBody>
      </p:sp>
      <p:sp>
        <p:nvSpPr>
          <p:cNvPr id="4" name="Cartão"/>
          <p:cNvSpPr/>
          <p:nvPr/>
        </p:nvSpPr>
        <p:spPr>
          <a:xfrm>
            <a:off x="868680" y="1188720"/>
            <a:ext cx="7818120" cy="653660"/>
          </a:xfrm>
          <a:prstGeom prst="roundRect">
            <a:avLst>
              <a:gd name="adj" fmla="val 16787"/>
            </a:avLst>
          </a:prstGeom>
          <a:solidFill>
            <a:schemeClr val="bg1"/>
          </a:solidFill>
          <a:ln w="12700">
            <a:solidFill>
              <a:schemeClr val="bg2"/>
            </a:solidFill>
            <a:prstDash val="solid"/>
          </a:ln>
        </p:spPr>
      </p:sp>
      <p:sp>
        <p:nvSpPr>
          <p:cNvPr id="5" name="Marcador"/>
          <p:cNvSpPr/>
          <p:nvPr/>
        </p:nvSpPr>
        <p:spPr>
          <a:xfrm>
            <a:off x="1051560" y="1460686"/>
            <a:ext cx="109728" cy="109728"/>
          </a:xfrm>
          <a:prstGeom prst="ellipse">
            <a:avLst/>
          </a:prstGeom>
          <a:solidFill>
            <a:schemeClr val="accent3"/>
          </a:solidFill>
          <a:ln w="12700">
            <a:solidFill>
              <a:schemeClr val="accent3"/>
            </a:solidFill>
            <a:prstDash val="solid"/>
          </a:ln>
        </p:spPr>
      </p:sp>
      <p:sp>
        <p:nvSpPr>
          <p:cNvPr id="6" name="Texto"/>
          <p:cNvSpPr txBox="1"/>
          <p:nvPr/>
        </p:nvSpPr>
        <p:spPr>
          <a:xfrm>
            <a:off x="1508760" y="1188720"/>
            <a:ext cx="7040880" cy="653660"/>
          </a:xfrm>
          <a:prstGeom prst="rect">
            <a:avLst/>
          </a:prstGeom>
          <a:noFill/>
          <a:ln/>
        </p:spPr>
        <p:txBody>
          <a:bodyPr wrap="square" lIns="0" tIns="0" rIns="0" bIns="0" rtlCol="0" anchor="ctr">
            <a:normAutofit/>
          </a:bodyPr>
          <a:lstStyle/>
          <a:p>
            <a:pPr indent="0" marL="0">
              <a:buNone/>
            </a:pPr>
            <a:r>
              <a:rPr lang="en-US" sz="1600" dirty="0">
                <a:solidFill>
                  <a:schemeClr val="tx1"/>
                </a:solidFill>
              </a:rPr>
              <a:t>Jogos: do gamão ao Go e aos videogames (TESAURO, 1995; SILVER et al., 2016; MNIH et al., 2015).</a:t>
            </a:r>
            <a:endParaRPr lang="en-US" sz="1600" dirty="0"/>
          </a:p>
        </p:txBody>
      </p:sp>
      <p:sp>
        <p:nvSpPr>
          <p:cNvPr id="7" name="Cartão"/>
          <p:cNvSpPr/>
          <p:nvPr/>
        </p:nvSpPr>
        <p:spPr>
          <a:xfrm>
            <a:off x="868680" y="1952108"/>
            <a:ext cx="7818120" cy="653660"/>
          </a:xfrm>
          <a:prstGeom prst="roundRect">
            <a:avLst>
              <a:gd name="adj" fmla="val 16787"/>
            </a:avLst>
          </a:prstGeom>
          <a:solidFill>
            <a:schemeClr val="bg1"/>
          </a:solidFill>
          <a:ln w="12700">
            <a:solidFill>
              <a:schemeClr val="bg2"/>
            </a:solidFill>
            <a:prstDash val="solid"/>
          </a:ln>
        </p:spPr>
      </p:sp>
      <p:sp>
        <p:nvSpPr>
          <p:cNvPr id="8" name="Marcador"/>
          <p:cNvSpPr/>
          <p:nvPr/>
        </p:nvSpPr>
        <p:spPr>
          <a:xfrm>
            <a:off x="1051560" y="2224074"/>
            <a:ext cx="109728" cy="109728"/>
          </a:xfrm>
          <a:prstGeom prst="ellipse">
            <a:avLst/>
          </a:prstGeom>
          <a:solidFill>
            <a:schemeClr val="accent3"/>
          </a:solidFill>
          <a:ln w="12700">
            <a:solidFill>
              <a:schemeClr val="accent3"/>
            </a:solidFill>
            <a:prstDash val="solid"/>
          </a:ln>
        </p:spPr>
      </p:sp>
      <p:sp>
        <p:nvSpPr>
          <p:cNvPr id="9" name="Texto"/>
          <p:cNvSpPr txBox="1"/>
          <p:nvPr/>
        </p:nvSpPr>
        <p:spPr>
          <a:xfrm>
            <a:off x="1508760" y="1952108"/>
            <a:ext cx="7040880" cy="653660"/>
          </a:xfrm>
          <a:prstGeom prst="rect">
            <a:avLst/>
          </a:prstGeom>
          <a:noFill/>
          <a:ln/>
        </p:spPr>
        <p:txBody>
          <a:bodyPr wrap="square" lIns="0" tIns="0" rIns="0" bIns="0" rtlCol="0" anchor="ctr">
            <a:normAutofit/>
          </a:bodyPr>
          <a:lstStyle/>
          <a:p>
            <a:pPr indent="0" marL="0">
              <a:buNone/>
            </a:pPr>
            <a:r>
              <a:rPr lang="en-US" sz="1600" dirty="0">
                <a:solidFill>
                  <a:schemeClr val="tx1"/>
                </a:solidFill>
              </a:rPr>
              <a:t>Robótica: ensinar robôs a andar, agarrar e manipular objetos (KOBER; BAGNELL; PETERS, 2013).</a:t>
            </a:r>
            <a:endParaRPr lang="en-US" sz="1600" dirty="0"/>
          </a:p>
        </p:txBody>
      </p:sp>
      <p:sp>
        <p:nvSpPr>
          <p:cNvPr id="10" name="Cartão"/>
          <p:cNvSpPr/>
          <p:nvPr/>
        </p:nvSpPr>
        <p:spPr>
          <a:xfrm>
            <a:off x="868680" y="2715496"/>
            <a:ext cx="7818120" cy="653660"/>
          </a:xfrm>
          <a:prstGeom prst="roundRect">
            <a:avLst>
              <a:gd name="adj" fmla="val 16787"/>
            </a:avLst>
          </a:prstGeom>
          <a:solidFill>
            <a:schemeClr val="bg1"/>
          </a:solidFill>
          <a:ln w="12700">
            <a:solidFill>
              <a:schemeClr val="bg2"/>
            </a:solidFill>
            <a:prstDash val="solid"/>
          </a:ln>
        </p:spPr>
      </p:sp>
      <p:sp>
        <p:nvSpPr>
          <p:cNvPr id="11" name="Marcador"/>
          <p:cNvSpPr/>
          <p:nvPr/>
        </p:nvSpPr>
        <p:spPr>
          <a:xfrm>
            <a:off x="1051560" y="2987462"/>
            <a:ext cx="109728" cy="109728"/>
          </a:xfrm>
          <a:prstGeom prst="ellipse">
            <a:avLst/>
          </a:prstGeom>
          <a:solidFill>
            <a:schemeClr val="accent3"/>
          </a:solidFill>
          <a:ln w="12700">
            <a:solidFill>
              <a:schemeClr val="accent3"/>
            </a:solidFill>
            <a:prstDash val="solid"/>
          </a:ln>
        </p:spPr>
      </p:sp>
      <p:sp>
        <p:nvSpPr>
          <p:cNvPr id="12" name="Texto"/>
          <p:cNvSpPr txBox="1"/>
          <p:nvPr/>
        </p:nvSpPr>
        <p:spPr>
          <a:xfrm>
            <a:off x="1508760" y="2715496"/>
            <a:ext cx="7040880" cy="653660"/>
          </a:xfrm>
          <a:prstGeom prst="rect">
            <a:avLst/>
          </a:prstGeom>
          <a:noFill/>
          <a:ln/>
        </p:spPr>
        <p:txBody>
          <a:bodyPr wrap="square" lIns="0" tIns="0" rIns="0" bIns="0" rtlCol="0" anchor="ctr">
            <a:normAutofit/>
          </a:bodyPr>
          <a:lstStyle/>
          <a:p>
            <a:pPr indent="0" marL="0">
              <a:buNone/>
            </a:pPr>
            <a:r>
              <a:rPr lang="en-US" sz="1600" dirty="0">
                <a:solidFill>
                  <a:schemeClr val="tx1"/>
                </a:solidFill>
              </a:rPr>
              <a:t>Recomendação e publicidade online: decidir qual notícia ou anúncio mostrar a cada pessoa</a:t>
            </a:r>
            <a:endParaRPr lang="en-US" sz="1600" dirty="0"/>
          </a:p>
        </p:txBody>
      </p:sp>
      <p:sp>
        <p:nvSpPr>
          <p:cNvPr id="13" name="Cartão"/>
          <p:cNvSpPr/>
          <p:nvPr/>
        </p:nvSpPr>
        <p:spPr>
          <a:xfrm>
            <a:off x="868680" y="3478885"/>
            <a:ext cx="7818120" cy="653660"/>
          </a:xfrm>
          <a:prstGeom prst="roundRect">
            <a:avLst>
              <a:gd name="adj" fmla="val 16787"/>
            </a:avLst>
          </a:prstGeom>
          <a:solidFill>
            <a:schemeClr val="bg1"/>
          </a:solidFill>
          <a:ln w="12700">
            <a:solidFill>
              <a:schemeClr val="bg2"/>
            </a:solidFill>
            <a:prstDash val="solid"/>
          </a:ln>
        </p:spPr>
      </p:sp>
      <p:sp>
        <p:nvSpPr>
          <p:cNvPr id="14" name="Marcador"/>
          <p:cNvSpPr/>
          <p:nvPr/>
        </p:nvSpPr>
        <p:spPr>
          <a:xfrm>
            <a:off x="1051560" y="3750851"/>
            <a:ext cx="109728" cy="109728"/>
          </a:xfrm>
          <a:prstGeom prst="ellipse">
            <a:avLst/>
          </a:prstGeom>
          <a:solidFill>
            <a:schemeClr val="accent3"/>
          </a:solidFill>
          <a:ln w="12700">
            <a:solidFill>
              <a:schemeClr val="accent3"/>
            </a:solidFill>
            <a:prstDash val="solid"/>
          </a:ln>
        </p:spPr>
      </p:sp>
      <p:sp>
        <p:nvSpPr>
          <p:cNvPr id="15" name="Texto"/>
          <p:cNvSpPr txBox="1"/>
          <p:nvPr/>
        </p:nvSpPr>
        <p:spPr>
          <a:xfrm>
            <a:off x="1508760" y="3478885"/>
            <a:ext cx="7040880" cy="653660"/>
          </a:xfrm>
          <a:prstGeom prst="rect">
            <a:avLst/>
          </a:prstGeom>
          <a:noFill/>
          <a:ln/>
        </p:spPr>
        <p:txBody>
          <a:bodyPr wrap="square" lIns="0" tIns="0" rIns="0" bIns="0" rtlCol="0" anchor="ctr">
            <a:normAutofit/>
          </a:bodyPr>
          <a:lstStyle/>
          <a:p>
            <a:pPr indent="0" marL="0">
              <a:buNone/>
            </a:pPr>
            <a:r>
              <a:rPr lang="en-US" sz="1600" dirty="0">
                <a:solidFill>
                  <a:schemeClr val="tx1"/>
                </a:solidFill>
              </a:rPr>
              <a:t>Linguagem: ajustar modelos de linguagem às preferências humanas (OUYANG et al., 2022).</a:t>
            </a:r>
            <a:endParaRPr lang="en-US" sz="1600" dirty="0"/>
          </a:p>
        </p:txBody>
      </p:sp>
      <p:sp>
        <p:nvSpPr>
          <p:cNvPr id="16" name="Cartão"/>
          <p:cNvSpPr/>
          <p:nvPr/>
        </p:nvSpPr>
        <p:spPr>
          <a:xfrm>
            <a:off x="868680" y="4242273"/>
            <a:ext cx="7818120" cy="447241"/>
          </a:xfrm>
          <a:prstGeom prst="roundRect">
            <a:avLst>
              <a:gd name="adj" fmla="val 24534"/>
            </a:avLst>
          </a:prstGeom>
          <a:solidFill>
            <a:schemeClr val="bg1"/>
          </a:solidFill>
          <a:ln w="12700">
            <a:solidFill>
              <a:schemeClr val="bg2"/>
            </a:solidFill>
            <a:prstDash val="solid"/>
          </a:ln>
        </p:spPr>
      </p:sp>
      <p:sp>
        <p:nvSpPr>
          <p:cNvPr id="17" name="Marcador"/>
          <p:cNvSpPr/>
          <p:nvPr/>
        </p:nvSpPr>
        <p:spPr>
          <a:xfrm>
            <a:off x="1051560" y="4411029"/>
            <a:ext cx="109728" cy="109728"/>
          </a:xfrm>
          <a:prstGeom prst="ellipse">
            <a:avLst/>
          </a:prstGeom>
          <a:solidFill>
            <a:schemeClr val="accent3"/>
          </a:solidFill>
          <a:ln w="12700">
            <a:solidFill>
              <a:schemeClr val="accent3"/>
            </a:solidFill>
            <a:prstDash val="solid"/>
          </a:ln>
        </p:spPr>
      </p:sp>
      <p:sp>
        <p:nvSpPr>
          <p:cNvPr id="18" name="Texto"/>
          <p:cNvSpPr txBox="1"/>
          <p:nvPr/>
        </p:nvSpPr>
        <p:spPr>
          <a:xfrm>
            <a:off x="1508760" y="4242273"/>
            <a:ext cx="7040880" cy="447241"/>
          </a:xfrm>
          <a:prstGeom prst="rect">
            <a:avLst/>
          </a:prstGeom>
          <a:noFill/>
          <a:ln/>
        </p:spPr>
        <p:txBody>
          <a:bodyPr wrap="square" lIns="0" tIns="0" rIns="0" bIns="0" rtlCol="0" anchor="ctr">
            <a:normAutofit/>
          </a:bodyPr>
          <a:lstStyle/>
          <a:p>
            <a:pPr indent="0" marL="0">
              <a:buNone/>
            </a:pPr>
            <a:r>
              <a:rPr lang="en-US" sz="1600" dirty="0">
                <a:solidFill>
                  <a:schemeClr val="tx1"/>
                </a:solidFill>
              </a:rPr>
              <a:t>Controle e operações: gestão de energia, logística, preços.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As ferramentas deste livro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Seção 1.10</a:t>
            </a:r>
            <a:endParaRPr lang="en-US" sz="1200" dirty="0"/>
          </a:p>
        </p:txBody>
      </p:sp>
      <p:sp>
        <p:nvSpPr>
          <p:cNvPr id="5"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6" name="Número"/>
          <p:cNvSpPr/>
          <p:nvPr/>
        </p:nvSpPr>
        <p:spPr>
          <a:xfrm>
            <a:off x="594360" y="12435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Você não precisa saber programar para começar.</a:t>
            </a:r>
            <a:endParaRPr lang="en-US" sz="1800" dirty="0"/>
          </a:p>
        </p:txBody>
      </p:sp>
      <p:sp>
        <p:nvSpPr>
          <p:cNvPr id="8" name="Cartão"/>
          <p:cNvSpPr/>
          <p:nvPr/>
        </p:nvSpPr>
        <p:spPr>
          <a:xfrm>
            <a:off x="457200" y="1773936"/>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193852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773936"/>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Os apêndices I e J trazem a matemática essencial e o roteiro para baixar as bases de dados (UCI e Kaggle) usadas nas práticas.</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Mão na massa</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Hora de programar com Python</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que vamos programar</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Cap. 1</a:t>
            </a:r>
            <a:endParaRPr lang="en-US" sz="1200" dirty="0"/>
          </a:p>
        </p:txBody>
      </p:sp>
      <p:sp>
        <p:nvSpPr>
          <p:cNvPr id="5" name="Cartão"/>
          <p:cNvSpPr/>
          <p:nvPr/>
        </p:nvSpPr>
        <p:spPr>
          <a:xfrm>
            <a:off x="457200" y="1371600"/>
            <a:ext cx="1426464" cy="2926080"/>
          </a:xfrm>
          <a:prstGeom prst="roundRect">
            <a:avLst>
              <a:gd name="adj" fmla="val 9615"/>
            </a:avLst>
          </a:prstGeom>
          <a:solidFill>
            <a:schemeClr val="bg2"/>
          </a:solidFill>
          <a:ln w="12700">
            <a:solidFill>
              <a:schemeClr val="bg2"/>
            </a:solidFill>
            <a:prstDash val="solid"/>
          </a:ln>
        </p:spPr>
      </p:sp>
      <p:sp>
        <p:nvSpPr>
          <p:cNvPr id="6" name="Text 3"/>
          <p:cNvSpPr/>
          <p:nvPr/>
        </p:nvSpPr>
        <p:spPr>
          <a:xfrm>
            <a:off x="850392" y="1600200"/>
            <a:ext cx="640080" cy="640080"/>
          </a:xfrm>
          <a:prstGeom prst="ellipse">
            <a:avLst/>
          </a:prstGeom>
          <a:solidFill>
            <a:schemeClr val="accent3"/>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7" name="Text 4"/>
          <p:cNvSpPr txBox="1"/>
          <p:nvPr/>
        </p:nvSpPr>
        <p:spPr>
          <a:xfrm>
            <a:off x="640080"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Seu primeiro ambiente</a:t>
            </a:r>
            <a:endParaRPr lang="en-US" sz="1600" dirty="0"/>
          </a:p>
        </p:txBody>
      </p:sp>
      <p:sp>
        <p:nvSpPr>
          <p:cNvPr id="8" name="Cartão"/>
          <p:cNvSpPr/>
          <p:nvPr/>
        </p:nvSpPr>
        <p:spPr>
          <a:xfrm>
            <a:off x="2157984" y="1371600"/>
            <a:ext cx="1426464" cy="2926080"/>
          </a:xfrm>
          <a:prstGeom prst="roundRect">
            <a:avLst>
              <a:gd name="adj" fmla="val 9615"/>
            </a:avLst>
          </a:prstGeom>
          <a:solidFill>
            <a:schemeClr val="bg2"/>
          </a:solidFill>
          <a:ln w="12700">
            <a:solidFill>
              <a:schemeClr val="bg2"/>
            </a:solidFill>
            <a:prstDash val="solid"/>
          </a:ln>
        </p:spPr>
      </p:sp>
      <p:sp>
        <p:nvSpPr>
          <p:cNvPr id="9" name="Text 6"/>
          <p:cNvSpPr/>
          <p:nvPr/>
        </p:nvSpPr>
        <p:spPr>
          <a:xfrm>
            <a:off x="2551176" y="1600200"/>
            <a:ext cx="640080" cy="640080"/>
          </a:xfrm>
          <a:prstGeom prst="ellipse">
            <a:avLst/>
          </a:prstGeom>
          <a:solidFill>
            <a:schemeClr val="accent2"/>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7"/>
          <p:cNvSpPr txBox="1"/>
          <p:nvPr/>
        </p:nvSpPr>
        <p:spPr>
          <a:xfrm>
            <a:off x="2340864"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Um agente aleatório</a:t>
            </a:r>
            <a:endParaRPr lang="en-US" sz="1600" dirty="0"/>
          </a:p>
        </p:txBody>
      </p:sp>
      <p:sp>
        <p:nvSpPr>
          <p:cNvPr id="11" name="Cartão"/>
          <p:cNvSpPr/>
          <p:nvPr/>
        </p:nvSpPr>
        <p:spPr>
          <a:xfrm>
            <a:off x="3858768" y="1371600"/>
            <a:ext cx="1426464" cy="2926080"/>
          </a:xfrm>
          <a:prstGeom prst="roundRect">
            <a:avLst>
              <a:gd name="adj" fmla="val 9615"/>
            </a:avLst>
          </a:prstGeom>
          <a:solidFill>
            <a:schemeClr val="bg2"/>
          </a:solidFill>
          <a:ln w="12700">
            <a:solidFill>
              <a:schemeClr val="bg2"/>
            </a:solidFill>
            <a:prstDash val="solid"/>
          </a:ln>
        </p:spPr>
      </p:sp>
      <p:sp>
        <p:nvSpPr>
          <p:cNvPr id="12" name="Text 9"/>
          <p:cNvSpPr/>
          <p:nvPr/>
        </p:nvSpPr>
        <p:spPr>
          <a:xfrm>
            <a:off x="4251960" y="1600200"/>
            <a:ext cx="640080" cy="640080"/>
          </a:xfrm>
          <a:prstGeom prst="ellipse">
            <a:avLst/>
          </a:prstGeom>
          <a:solidFill>
            <a:schemeClr val="accent1"/>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3" name="Text 10"/>
          <p:cNvSpPr txBox="1"/>
          <p:nvPr/>
        </p:nvSpPr>
        <p:spPr>
          <a:xfrm>
            <a:off x="4041648"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Aprendendo com o método da entropia cruzada</a:t>
            </a:r>
            <a:endParaRPr lang="en-US" sz="1600" dirty="0"/>
          </a:p>
        </p:txBody>
      </p:sp>
      <p:sp>
        <p:nvSpPr>
          <p:cNvPr id="14" name="Cartão"/>
          <p:cNvSpPr/>
          <p:nvPr/>
        </p:nvSpPr>
        <p:spPr>
          <a:xfrm>
            <a:off x="5559552" y="1371600"/>
            <a:ext cx="1426464" cy="2926080"/>
          </a:xfrm>
          <a:prstGeom prst="roundRect">
            <a:avLst>
              <a:gd name="adj" fmla="val 9615"/>
            </a:avLst>
          </a:prstGeom>
          <a:solidFill>
            <a:schemeClr val="bg2"/>
          </a:solidFill>
          <a:ln w="12700">
            <a:solidFill>
              <a:schemeClr val="bg2"/>
            </a:solidFill>
            <a:prstDash val="solid"/>
          </a:ln>
        </p:spPr>
      </p:sp>
      <p:sp>
        <p:nvSpPr>
          <p:cNvPr id="15" name="Text 12"/>
          <p:cNvSpPr/>
          <p:nvPr/>
        </p:nvSpPr>
        <p:spPr>
          <a:xfrm>
            <a:off x="5952744" y="1600200"/>
            <a:ext cx="640080" cy="640080"/>
          </a:xfrm>
          <a:prstGeom prst="ellipse">
            <a:avLst/>
          </a:prstGeom>
          <a:solidFill>
            <a:schemeClr val="accent4"/>
          </a:solid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16" name="Text 13"/>
          <p:cNvSpPr txBox="1"/>
          <p:nvPr/>
        </p:nvSpPr>
        <p:spPr>
          <a:xfrm>
            <a:off x="5742432"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Avaliando com honestidade</a:t>
            </a:r>
            <a:endParaRPr lang="en-US" sz="1600" dirty="0"/>
          </a:p>
        </p:txBody>
      </p:sp>
      <p:sp>
        <p:nvSpPr>
          <p:cNvPr id="17" name="Cartão"/>
          <p:cNvSpPr/>
          <p:nvPr/>
        </p:nvSpPr>
        <p:spPr>
          <a:xfrm>
            <a:off x="7260336" y="1371600"/>
            <a:ext cx="1426464" cy="2926080"/>
          </a:xfrm>
          <a:prstGeom prst="roundRect">
            <a:avLst>
              <a:gd name="adj" fmla="val 9615"/>
            </a:avLst>
          </a:prstGeom>
          <a:solidFill>
            <a:schemeClr val="bg2"/>
          </a:solidFill>
          <a:ln w="12700">
            <a:solidFill>
              <a:schemeClr val="bg2"/>
            </a:solidFill>
            <a:prstDash val="solid"/>
          </a:ln>
        </p:spPr>
      </p:sp>
      <p:sp>
        <p:nvSpPr>
          <p:cNvPr id="18" name="Text 15"/>
          <p:cNvSpPr/>
          <p:nvPr/>
        </p:nvSpPr>
        <p:spPr>
          <a:xfrm>
            <a:off x="7653528" y="1600200"/>
            <a:ext cx="640080" cy="640080"/>
          </a:xfrm>
          <a:prstGeom prst="ellipse">
            <a:avLst/>
          </a:prstGeom>
          <a:solidFill>
            <a:schemeClr val="accent3"/>
          </a:solid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19" name="Text 16"/>
          <p:cNvSpPr txBox="1"/>
          <p:nvPr/>
        </p:nvSpPr>
        <p:spPr>
          <a:xfrm>
            <a:off x="7443216" y="2423160"/>
            <a:ext cx="1060704" cy="1645920"/>
          </a:xfrm>
          <a:prstGeom prst="rect">
            <a:avLst/>
          </a:prstGeom>
          <a:noFill/>
          <a:ln/>
        </p:spPr>
        <p:txBody>
          <a:bodyPr wrap="square" lIns="0" tIns="0" rIns="0" bIns="0" rtlCol="0" anchor="t">
            <a:normAutofit/>
          </a:bodyPr>
          <a:lstStyle/>
          <a:p>
            <a:pPr algn="ctr" indent="0" marL="0">
              <a:buNone/>
            </a:pPr>
            <a:r>
              <a:rPr lang="en-US" sz="1600" dirty="0">
                <a:solidFill>
                  <a:schemeClr val="tx1"/>
                </a:solidFill>
              </a:rPr>
              <a:t>Do classificador à decisão: o caso dos cogumelos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Mão na massa</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Figura</a:t>
            </a:r>
            <a:endParaRPr lang="en-US" sz="1200" dirty="0"/>
          </a:p>
        </p:txBody>
      </p:sp>
      <p:pic>
        <p:nvPicPr>
          <p:cNvPr id="5" name="Figura" descr="Resultado típico do experimento: o retorno médio sobe e a distribuição dos retornos se desloca para a direita.">    </p:cNvPr>
          <p:cNvPicPr>
            <a:picLocks noChangeAspect="1"/>
          </p:cNvPicPr>
          <p:nvPr/>
        </p:nvPicPr>
        <p:blipFill>
          <a:blip r:embed="rId1"/>
          <a:stretch>
            <a:fillRect/>
          </a:stretch>
        </p:blipFill>
        <p:spPr>
          <a:xfrm>
            <a:off x="545135" y="1143000"/>
            <a:ext cx="8053731" cy="2880360"/>
          </a:xfrm>
          <a:prstGeom prst="rect">
            <a:avLst/>
          </a:prstGeom>
        </p:spPr>
      </p:pic>
      <p:sp>
        <p:nvSpPr>
          <p:cNvPr id="6" name="Legenda"/>
          <p:cNvSpPr txBox="1"/>
          <p:nvPr/>
        </p:nvSpPr>
        <p:spPr>
          <a:xfrm>
            <a:off x="457200" y="4114800"/>
            <a:ext cx="8229600" cy="594360"/>
          </a:xfrm>
          <a:prstGeom prst="rect">
            <a:avLst/>
          </a:prstGeom>
          <a:noFill/>
          <a:ln/>
        </p:spPr>
        <p:txBody>
          <a:bodyPr wrap="square" lIns="0" tIns="0" rIns="0" bIns="0" rtlCol="0" anchor="ctr">
            <a:normAutofit/>
          </a:bodyPr>
          <a:lstStyle/>
          <a:p>
            <a:pPr algn="ctr" indent="0" marL="0">
              <a:buNone/>
            </a:pPr>
            <a:r>
              <a:rPr lang="en-US" sz="1400" i="1" dirty="0">
                <a:solidFill>
                  <a:schemeClr val="tx1"/>
                </a:solidFill>
              </a:rPr>
              <a:t>Resultado típico do experimento: o retorno médio sobe e a distribuição dos retornos se desloca para a direita.</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Projeto do capítulo</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ajustando o seu primeiro agente</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O desafio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3"/>
          </a:solidFill>
          <a:ln/>
        </p:spPr>
        <p:txBody>
          <a:bodyPr wrap="square" lIns="0" tIns="0" rIns="0" bIns="0" rtlCol="0" anchor="ctr"/>
          <a:lstStyle/>
          <a:p>
            <a:pPr algn="ctr" indent="0" marL="0">
              <a:buNone/>
            </a:pPr>
            <a:r>
              <a:rPr lang="en-US" sz="1200" b="1" dirty="0">
                <a:solidFill>
                  <a:schemeClr val="bg1"/>
                </a:solidFill>
              </a:rPr>
              <a:t>Cap. 1</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Objetivo: estudar como as escolhas do método da entropia cruzada afetam a aprendizagem no CartPole.</a:t>
            </a:r>
            <a:endParaRPr lang="en-US" sz="1600" dirty="0"/>
          </a:p>
        </p:txBody>
      </p:sp>
      <p:sp>
        <p:nvSpPr>
          <p:cNvPr id="8" name="Cartão"/>
          <p:cNvSpPr/>
          <p:nvPr/>
        </p:nvSpPr>
        <p:spPr>
          <a:xfrm>
            <a:off x="457200" y="1993392"/>
            <a:ext cx="8229600" cy="694944"/>
          </a:xfrm>
          <a:prstGeom prst="roundRect">
            <a:avLst>
              <a:gd name="adj" fmla="val 15789"/>
            </a:avLst>
          </a:prstGeom>
          <a:solidFill>
            <a:schemeClr val="bg2"/>
          </a:solidFill>
          <a:ln w="12700">
            <a:solidFill>
              <a:schemeClr val="bg2"/>
            </a:solidFill>
            <a:prstDash val="solid"/>
          </a:ln>
        </p:spPr>
      </p:sp>
      <p:sp>
        <p:nvSpPr>
          <p:cNvPr id="9" name="Número"/>
          <p:cNvSpPr/>
          <p:nvPr/>
        </p:nvSpPr>
        <p:spPr>
          <a:xfrm>
            <a:off x="594360" y="215798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993392"/>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Entrega: um notebook com código, tabela, gráfico do retorno médio por iteração e o parágrafo de conclusão.</a:t>
            </a:r>
            <a:endParaRPr lang="en-US" sz="1600" dirty="0"/>
          </a:p>
        </p:txBody>
      </p:sp>
      <p:sp>
        <p:nvSpPr>
          <p:cNvPr id="11" name="Cartão"/>
          <p:cNvSpPr/>
          <p:nvPr/>
        </p:nvSpPr>
        <p:spPr>
          <a:xfrm>
            <a:off x="457200" y="2798064"/>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852928"/>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798064"/>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Reescreva o laço da Seção 1.11.3 como uma função treinar</a:t>
            </a:r>
            <a:endParaRPr lang="en-US" sz="1600" dirty="0"/>
          </a:p>
        </p:txBody>
      </p:sp>
      <p:sp>
        <p:nvSpPr>
          <p:cNvPr id="14" name="Cartão"/>
          <p:cNvSpPr/>
          <p:nvPr/>
        </p:nvSpPr>
        <p:spPr>
          <a:xfrm>
            <a:off x="457200" y="3383280"/>
            <a:ext cx="8229600" cy="475488"/>
          </a:xfrm>
          <a:prstGeom prst="roundRect">
            <a:avLst>
              <a:gd name="adj" fmla="val 23077"/>
            </a:avLst>
          </a:prstGeom>
          <a:solidFill>
            <a:schemeClr val="bg2"/>
          </a:solidFill>
          <a:ln w="12700">
            <a:solidFill>
              <a:schemeClr val="bg2"/>
            </a:solidFill>
            <a:prstDash val="solid"/>
          </a:ln>
        </p:spPr>
      </p:sp>
      <p:sp>
        <p:nvSpPr>
          <p:cNvPr id="15" name="Número"/>
          <p:cNvSpPr/>
          <p:nvPr/>
        </p:nvSpPr>
        <p:spPr>
          <a:xfrm>
            <a:off x="594360" y="3438144"/>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Texto"/>
          <p:cNvSpPr txBox="1"/>
          <p:nvPr/>
        </p:nvSpPr>
        <p:spPr>
          <a:xfrm>
            <a:off x="1097280" y="338328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Varie a profundidade da árvore (2, 4 e 8) e o percentil da elite (50, 70 e 90).</a:t>
            </a:r>
            <a:endParaRPr lang="en-US" sz="1600" dirty="0"/>
          </a:p>
        </p:txBody>
      </p:sp>
      <p:sp>
        <p:nvSpPr>
          <p:cNvPr id="17" name="Cartão"/>
          <p:cNvSpPr/>
          <p:nvPr/>
        </p:nvSpPr>
        <p:spPr>
          <a:xfrm>
            <a:off x="457200" y="3968496"/>
            <a:ext cx="8229600" cy="475488"/>
          </a:xfrm>
          <a:prstGeom prst="roundRect">
            <a:avLst>
              <a:gd name="adj" fmla="val 23077"/>
            </a:avLst>
          </a:prstGeom>
          <a:solidFill>
            <a:schemeClr val="bg2"/>
          </a:solidFill>
          <a:ln w="12700">
            <a:solidFill>
              <a:schemeClr val="bg2"/>
            </a:solidFill>
            <a:prstDash val="solid"/>
          </a:ln>
        </p:spPr>
      </p:sp>
      <p:sp>
        <p:nvSpPr>
          <p:cNvPr id="18" name="Número"/>
          <p:cNvSpPr/>
          <p:nvPr/>
        </p:nvSpPr>
        <p:spPr>
          <a:xfrm>
            <a:off x="594360" y="402336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Texto"/>
          <p:cNvSpPr txBox="1"/>
          <p:nvPr/>
        </p:nvSpPr>
        <p:spPr>
          <a:xfrm>
            <a:off x="1097280" y="3968496"/>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Monte uma tabela com a média e o intervalo de confiança (bootstrap) de cada combinação.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Resumo do capítulo</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Cap. 1</a:t>
            </a:r>
            <a:endParaRPr lang="en-US" sz="1200" dirty="0"/>
          </a:p>
        </p:txBody>
      </p:sp>
      <p:sp>
        <p:nvSpPr>
          <p:cNvPr id="4"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5" name="Número"/>
          <p:cNvSpPr/>
          <p:nvPr/>
        </p:nvSpPr>
        <p:spPr>
          <a:xfrm>
            <a:off x="594360" y="135331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AR é aprender a decidir por tentativa e erro, maximizando a recompensa acumulada.</a:t>
            </a:r>
            <a:endParaRPr lang="en-US" sz="1800" dirty="0"/>
          </a:p>
        </p:txBody>
      </p:sp>
      <p:sp>
        <p:nvSpPr>
          <p:cNvPr id="7"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204825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 ciclo é: estado → ação → recompensa + novo estado.</a:t>
            </a:r>
            <a:endParaRPr lang="en-US" sz="1800" dirty="0"/>
          </a:p>
        </p:txBody>
      </p:sp>
      <p:sp>
        <p:nvSpPr>
          <p:cNvPr id="10" name="Cartão"/>
          <p:cNvSpPr/>
          <p:nvPr/>
        </p:nvSpPr>
        <p:spPr>
          <a:xfrm>
            <a:off x="457200" y="2578608"/>
            <a:ext cx="8229600" cy="475488"/>
          </a:xfrm>
          <a:prstGeom prst="roundRect">
            <a:avLst>
              <a:gd name="adj" fmla="val 23077"/>
            </a:avLst>
          </a:prstGeom>
          <a:solidFill>
            <a:schemeClr val="bg2"/>
          </a:solidFill>
          <a:ln w="12700">
            <a:solidFill>
              <a:schemeClr val="bg2"/>
            </a:solidFill>
            <a:prstDash val="solid"/>
          </a:ln>
        </p:spPr>
      </p:sp>
      <p:sp>
        <p:nvSpPr>
          <p:cNvPr id="11" name="Número"/>
          <p:cNvSpPr/>
          <p:nvPr/>
        </p:nvSpPr>
        <p:spPr>
          <a:xfrm>
            <a:off x="594360" y="263347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578608"/>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 retorno soma as recompensas futuras, com desconto γ: G = R₁ + γR₂ + γ²R₃ + …</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Resumo do capítulo</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1"/>
          </a:solidFill>
          <a:ln/>
        </p:spPr>
        <p:txBody>
          <a:bodyPr wrap="square" lIns="0" tIns="0" rIns="0" bIns="0" rtlCol="0" anchor="ctr"/>
          <a:lstStyle/>
          <a:p>
            <a:pPr algn="ctr" indent="0" marL="0">
              <a:buNone/>
            </a:pPr>
            <a:r>
              <a:rPr lang="en-US" sz="1200" b="1" dirty="0">
                <a:solidFill>
                  <a:schemeClr val="bg1"/>
                </a:solidFill>
              </a:rPr>
              <a:t>Cap. 1</a:t>
            </a:r>
            <a:endParaRPr lang="en-US" sz="1200" dirty="0"/>
          </a:p>
        </p:txBody>
      </p:sp>
      <p:sp>
        <p:nvSpPr>
          <p:cNvPr id="4"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5" name="Número"/>
          <p:cNvSpPr/>
          <p:nvPr/>
        </p:nvSpPr>
        <p:spPr>
          <a:xfrm>
            <a:off x="594360" y="1243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Um agente pode ter política, função valor e modelo.</a:t>
            </a:r>
            <a:endParaRPr lang="en-US" sz="1800" dirty="0"/>
          </a:p>
        </p:txBody>
      </p:sp>
      <p:sp>
        <p:nvSpPr>
          <p:cNvPr id="7" name="Cartão"/>
          <p:cNvSpPr/>
          <p:nvPr/>
        </p:nvSpPr>
        <p:spPr>
          <a:xfrm>
            <a:off x="457200" y="1773936"/>
            <a:ext cx="8229600" cy="694944"/>
          </a:xfrm>
          <a:prstGeom prst="roundRect">
            <a:avLst>
              <a:gd name="adj" fmla="val 15789"/>
            </a:avLst>
          </a:prstGeom>
          <a:solidFill>
            <a:schemeClr val="bg2"/>
          </a:solidFill>
          <a:ln w="12700">
            <a:solidFill>
              <a:schemeClr val="bg2"/>
            </a:solidFill>
            <a:prstDash val="solid"/>
          </a:ln>
        </p:spPr>
      </p:sp>
      <p:sp>
        <p:nvSpPr>
          <p:cNvPr id="8" name="Número"/>
          <p:cNvSpPr/>
          <p:nvPr/>
        </p:nvSpPr>
        <p:spPr>
          <a:xfrm>
            <a:off x="594360" y="193852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773936"/>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Desafios clássicos: exploração × aproveitamento, atribuição de crédito e recompensa mal especificada.</a:t>
            </a:r>
            <a:endParaRPr lang="en-US" sz="1800" dirty="0"/>
          </a:p>
        </p:txBody>
      </p:sp>
      <p:sp>
        <p:nvSpPr>
          <p:cNvPr id="10" name="Cartão"/>
          <p:cNvSpPr/>
          <p:nvPr/>
        </p:nvSpPr>
        <p:spPr>
          <a:xfrm>
            <a:off x="457200" y="2578608"/>
            <a:ext cx="8229600" cy="694944"/>
          </a:xfrm>
          <a:prstGeom prst="roundRect">
            <a:avLst>
              <a:gd name="adj" fmla="val 15789"/>
            </a:avLst>
          </a:prstGeom>
          <a:solidFill>
            <a:schemeClr val="bg2"/>
          </a:solidFill>
          <a:ln w="12700">
            <a:solidFill>
              <a:schemeClr val="bg2"/>
            </a:solidFill>
            <a:prstDash val="solid"/>
          </a:ln>
        </p:spPr>
      </p:sp>
      <p:sp>
        <p:nvSpPr>
          <p:cNvPr id="11" name="Número"/>
          <p:cNvSpPr/>
          <p:nvPr/>
        </p:nvSpPr>
        <p:spPr>
          <a:xfrm>
            <a:off x="594360" y="274320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578608"/>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Prever não é decidir: o limiar de 0,5 de um classificador pode ser péssimo quando os erros têm custos diferentes.</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Círculo"/>
          <p:cNvSpPr/>
          <p:nvPr/>
        </p:nvSpPr>
        <p:spPr>
          <a:xfrm>
            <a:off x="6583680" y="822960"/>
            <a:ext cx="2377440" cy="2377440"/>
          </a:xfrm>
          <a:prstGeom prst="ellipse">
            <a:avLst/>
          </a:prstGeom>
          <a:solidFill>
            <a:schemeClr val="accent3">
              <a:alpha val="70000"/>
            </a:schemeClr>
          </a:solidFill>
          <a:ln w="12700">
            <a:solidFill>
              <a:schemeClr val="accent3"/>
            </a:solidFill>
            <a:prstDash val="solid"/>
          </a:ln>
        </p:spPr>
      </p:sp>
      <p:sp>
        <p:nvSpPr>
          <p:cNvPr id="3" name="Círculo"/>
          <p:cNvSpPr/>
          <p:nvPr/>
        </p:nvSpPr>
        <p:spPr>
          <a:xfrm>
            <a:off x="5943600" y="2377440"/>
            <a:ext cx="1280160" cy="1280160"/>
          </a:xfrm>
          <a:prstGeom prst="ellipse">
            <a:avLst/>
          </a:prstGeom>
          <a:solidFill>
            <a:schemeClr val="accent1">
              <a:alpha val="80000"/>
            </a:schemeClr>
          </a:solidFill>
          <a:ln w="12700">
            <a:solidFill>
              <a:schemeClr val="accent1"/>
            </a:solidFill>
            <a:prstDash val="solid"/>
          </a:ln>
        </p:spPr>
      </p:sp>
      <p:sp>
        <p:nvSpPr>
          <p:cNvPr id="4" name="Título"/>
          <p:cNvSpPr txBox="1"/>
          <p:nvPr/>
        </p:nvSpPr>
        <p:spPr>
          <a:xfrm>
            <a:off x="548640" y="1463040"/>
            <a:ext cx="5669280" cy="1463040"/>
          </a:xfrm>
          <a:prstGeom prst="rect">
            <a:avLst/>
          </a:prstGeom>
          <a:noFill/>
          <a:ln/>
        </p:spPr>
        <p:txBody>
          <a:bodyPr wrap="square" lIns="0" tIns="0" rIns="0" bIns="0" rtlCol="0" anchor="ctr">
            <a:normAutofit/>
          </a:bodyPr>
          <a:lstStyle/>
          <a:p>
            <a:pPr indent="0" marL="0">
              <a:buNone/>
            </a:pPr>
            <a:r>
              <a:rPr lang="en-US" sz="3800" b="1" dirty="0">
                <a:solidFill>
                  <a:schemeClr val="bg1"/>
                </a:solidFill>
                <a:latin typeface="Cambria" pitchFamily="34" charset="0"/>
                <a:ea typeface="Cambria" pitchFamily="34" charset="-122"/>
                <a:cs typeface="Cambria" pitchFamily="34" charset="-120"/>
              </a:rPr>
              <a:t>Quiz relâmpago</a:t>
            </a:r>
            <a:endParaRPr lang="en-US" sz="3800" dirty="0"/>
          </a:p>
        </p:txBody>
      </p:sp>
      <p:sp>
        <p:nvSpPr>
          <p:cNvPr id="5" name="Text 3"/>
          <p:cNvSpPr txBox="1"/>
          <p:nvPr/>
        </p:nvSpPr>
        <p:spPr>
          <a:xfrm>
            <a:off x="548640" y="3017520"/>
            <a:ext cx="5669280" cy="731520"/>
          </a:xfrm>
          <a:prstGeom prst="rect">
            <a:avLst/>
          </a:prstGeom>
          <a:noFill/>
          <a:ln/>
        </p:spPr>
        <p:txBody>
          <a:bodyPr wrap="square" lIns="0" tIns="0" rIns="0" bIns="0" rtlCol="0" anchor="t">
            <a:normAutofit/>
          </a:bodyPr>
          <a:lstStyle/>
          <a:p>
            <a:pPr indent="0" marL="0">
              <a:buNone/>
            </a:pPr>
            <a:r>
              <a:rPr lang="en-US" sz="1800" dirty="0">
                <a:solidFill>
                  <a:schemeClr val="accent1"/>
                </a:solidFill>
              </a:rPr>
              <a:t>Teste o que você aprendeu</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1</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No ciclo do AR, depois que o agente executa uma ação, o ambiente devolve:</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apenas o gabarito da ação.</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uma nova política.</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uma recompensa e um novo estado.</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um conjunto de rótulos.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2</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Um fator de desconto γ próximo de 0 produz um agente:</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visionário, que valoriza muito o futuro distante.</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míope, que valoriza sobretudo recompensas imediatas.</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que nunca aprende.</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que explora sempre.</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3</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O problema da atribuição de crédito consiste em:</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calcular o fator de desconto.</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descobrir quais ações passadas foram responsáveis por uma recompensa tardia.</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dividir os dados em treino e teste.</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escolher a quantidade de episódios.</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Pergunta 4</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5" name="Pergunta"/>
          <p:cNvSpPr txBox="1"/>
          <p:nvPr/>
        </p:nvSpPr>
        <p:spPr>
          <a:xfrm>
            <a:off x="457200" y="1051560"/>
            <a:ext cx="8229600" cy="868680"/>
          </a:xfrm>
          <a:prstGeom prst="rect">
            <a:avLst/>
          </a:prstGeom>
          <a:noFill/>
          <a:ln/>
        </p:spPr>
        <p:txBody>
          <a:bodyPr wrap="square" lIns="0" tIns="0" rIns="0" bIns="0" rtlCol="0" anchor="ctr">
            <a:normAutofit/>
          </a:bodyPr>
          <a:lstStyle/>
          <a:p>
            <a:pPr indent="0" marL="0">
              <a:buNone/>
            </a:pPr>
            <a:r>
              <a:rPr lang="en-US" sz="1800" b="1" dirty="0">
                <a:solidFill>
                  <a:schemeClr val="tx2"/>
                </a:solidFill>
              </a:rPr>
              <a:t>No método da entropia cruzada descrito no capítulo, a "elite" é:</a:t>
            </a:r>
            <a:endParaRPr lang="en-US" sz="1800" dirty="0"/>
          </a:p>
        </p:txBody>
      </p:sp>
      <p:sp>
        <p:nvSpPr>
          <p:cNvPr id="6" name="Cartão"/>
          <p:cNvSpPr/>
          <p:nvPr/>
        </p:nvSpPr>
        <p:spPr>
          <a:xfrm>
            <a:off x="457200" y="1965960"/>
            <a:ext cx="8229600" cy="640080"/>
          </a:xfrm>
          <a:prstGeom prst="roundRect">
            <a:avLst>
              <a:gd name="adj" fmla="val 14286"/>
            </a:avLst>
          </a:prstGeom>
          <a:solidFill>
            <a:schemeClr val="bg2"/>
          </a:solidFill>
          <a:ln w="12700">
            <a:solidFill>
              <a:schemeClr val="bg2"/>
            </a:solidFill>
            <a:prstDash val="solid"/>
          </a:ln>
        </p:spPr>
      </p:sp>
      <p:sp>
        <p:nvSpPr>
          <p:cNvPr id="7" name="Text 4"/>
          <p:cNvSpPr/>
          <p:nvPr/>
        </p:nvSpPr>
        <p:spPr>
          <a:xfrm>
            <a:off x="594360" y="2103120"/>
            <a:ext cx="365760" cy="365760"/>
          </a:xfrm>
          <a:prstGeom prst="ellipse">
            <a:avLst/>
          </a:prstGeom>
          <a:solidFill>
            <a:schemeClr val="accent3"/>
          </a:solidFill>
          <a:ln/>
        </p:spPr>
        <p:txBody>
          <a:bodyPr wrap="square" lIns="0" tIns="0" rIns="0" bIns="0" rtlCol="0" anchor="ctr"/>
          <a:lstStyle/>
          <a:p>
            <a:pPr algn="ctr" indent="0" marL="0">
              <a:buNone/>
            </a:pPr>
            <a:r>
              <a:rPr lang="en-US" sz="1300" b="1" dirty="0">
                <a:solidFill>
                  <a:schemeClr val="bg1"/>
                </a:solidFill>
              </a:rPr>
              <a:t>A</a:t>
            </a:r>
            <a:endParaRPr lang="en-US" sz="1300" dirty="0"/>
          </a:p>
        </p:txBody>
      </p:sp>
      <p:sp>
        <p:nvSpPr>
          <p:cNvPr id="8" name="Text 5"/>
          <p:cNvSpPr txBox="1"/>
          <p:nvPr/>
        </p:nvSpPr>
        <p:spPr>
          <a:xfrm>
            <a:off x="1097280" y="1965960"/>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o pior grupo de episódios.</a:t>
            </a:r>
            <a:endParaRPr lang="en-US" sz="1400" dirty="0"/>
          </a:p>
        </p:txBody>
      </p:sp>
      <p:sp>
        <p:nvSpPr>
          <p:cNvPr id="9" name="Cartão"/>
          <p:cNvSpPr/>
          <p:nvPr/>
        </p:nvSpPr>
        <p:spPr>
          <a:xfrm>
            <a:off x="457200" y="2679192"/>
            <a:ext cx="8229600" cy="640080"/>
          </a:xfrm>
          <a:prstGeom prst="roundRect">
            <a:avLst>
              <a:gd name="adj" fmla="val 14286"/>
            </a:avLst>
          </a:prstGeom>
          <a:solidFill>
            <a:schemeClr val="bg2"/>
          </a:solidFill>
          <a:ln w="12700">
            <a:solidFill>
              <a:schemeClr val="bg2"/>
            </a:solidFill>
            <a:prstDash val="solid"/>
          </a:ln>
        </p:spPr>
      </p:sp>
      <p:sp>
        <p:nvSpPr>
          <p:cNvPr id="10" name="Text 7"/>
          <p:cNvSpPr/>
          <p:nvPr/>
        </p:nvSpPr>
        <p:spPr>
          <a:xfrm>
            <a:off x="594360" y="281635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B</a:t>
            </a:r>
            <a:endParaRPr lang="en-US" sz="1300" dirty="0"/>
          </a:p>
        </p:txBody>
      </p:sp>
      <p:sp>
        <p:nvSpPr>
          <p:cNvPr id="11" name="Text 8"/>
          <p:cNvSpPr txBox="1"/>
          <p:nvPr/>
        </p:nvSpPr>
        <p:spPr>
          <a:xfrm>
            <a:off x="1097280" y="2679192"/>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os episódios de maior retorno, cujas ações serão imitadas.</a:t>
            </a:r>
            <a:endParaRPr lang="en-US" sz="1400" dirty="0"/>
          </a:p>
        </p:txBody>
      </p:sp>
      <p:sp>
        <p:nvSpPr>
          <p:cNvPr id="12" name="Cartão"/>
          <p:cNvSpPr/>
          <p:nvPr/>
        </p:nvSpPr>
        <p:spPr>
          <a:xfrm>
            <a:off x="457200" y="3392424"/>
            <a:ext cx="8229600" cy="640080"/>
          </a:xfrm>
          <a:prstGeom prst="roundRect">
            <a:avLst>
              <a:gd name="adj" fmla="val 14286"/>
            </a:avLst>
          </a:prstGeom>
          <a:solidFill>
            <a:schemeClr val="bg2"/>
          </a:solidFill>
          <a:ln w="12700">
            <a:solidFill>
              <a:schemeClr val="bg2"/>
            </a:solidFill>
            <a:prstDash val="solid"/>
          </a:ln>
        </p:spPr>
      </p:sp>
      <p:sp>
        <p:nvSpPr>
          <p:cNvPr id="13" name="Text 10"/>
          <p:cNvSpPr/>
          <p:nvPr/>
        </p:nvSpPr>
        <p:spPr>
          <a:xfrm>
            <a:off x="594360" y="352958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 11"/>
          <p:cNvSpPr txBox="1"/>
          <p:nvPr/>
        </p:nvSpPr>
        <p:spPr>
          <a:xfrm>
            <a:off x="1097280" y="3392424"/>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o conjunto de ações proibidas.</a:t>
            </a:r>
            <a:endParaRPr lang="en-US" sz="1400" dirty="0"/>
          </a:p>
        </p:txBody>
      </p:sp>
      <p:sp>
        <p:nvSpPr>
          <p:cNvPr id="15" name="Cartão"/>
          <p:cNvSpPr/>
          <p:nvPr/>
        </p:nvSpPr>
        <p:spPr>
          <a:xfrm>
            <a:off x="457200" y="4105656"/>
            <a:ext cx="8229600" cy="640080"/>
          </a:xfrm>
          <a:prstGeom prst="roundRect">
            <a:avLst>
              <a:gd name="adj" fmla="val 14286"/>
            </a:avLst>
          </a:prstGeom>
          <a:solidFill>
            <a:schemeClr val="bg2"/>
          </a:solidFill>
          <a:ln w="12700">
            <a:solidFill>
              <a:schemeClr val="bg2"/>
            </a:solidFill>
            <a:prstDash val="solid"/>
          </a:ln>
        </p:spPr>
      </p:sp>
      <p:sp>
        <p:nvSpPr>
          <p:cNvPr id="16" name="Text 13"/>
          <p:cNvSpPr/>
          <p:nvPr/>
        </p:nvSpPr>
        <p:spPr>
          <a:xfrm>
            <a:off x="594360" y="42428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D</a:t>
            </a:r>
            <a:endParaRPr lang="en-US" sz="1300" dirty="0"/>
          </a:p>
        </p:txBody>
      </p:sp>
      <p:sp>
        <p:nvSpPr>
          <p:cNvPr id="17" name="Text 14"/>
          <p:cNvSpPr txBox="1"/>
          <p:nvPr/>
        </p:nvSpPr>
        <p:spPr>
          <a:xfrm>
            <a:off x="1097280" y="4105656"/>
            <a:ext cx="7406640" cy="640080"/>
          </a:xfrm>
          <a:prstGeom prst="rect">
            <a:avLst/>
          </a:prstGeom>
          <a:noFill/>
          <a:ln/>
        </p:spPr>
        <p:txBody>
          <a:bodyPr wrap="square" lIns="0" tIns="0" rIns="0" bIns="0" rtlCol="0" anchor="ctr">
            <a:normAutofit/>
          </a:bodyPr>
          <a:lstStyle/>
          <a:p>
            <a:pPr indent="0" marL="0">
              <a:buNone/>
            </a:pPr>
            <a:r>
              <a:rPr lang="en-US" sz="1400" dirty="0">
                <a:solidFill>
                  <a:schemeClr val="tx1"/>
                </a:solidFill>
              </a:rPr>
              <a:t>o ambiente inicial.</a:t>
            </a:r>
            <a:endParaRPr lang="en-US" sz="14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Respostas do quiz</a:t>
            </a:r>
            <a:endParaRPr lang="en-US" sz="3000" dirty="0"/>
          </a:p>
        </p:txBody>
      </p:sp>
      <p:sp>
        <p:nvSpPr>
          <p:cNvPr id="3" name="Etiqueta"/>
          <p:cNvSpPr/>
          <p:nvPr/>
        </p:nvSpPr>
        <p:spPr>
          <a:xfrm>
            <a:off x="7223760" y="411480"/>
            <a:ext cx="1463040" cy="365760"/>
          </a:xfrm>
          <a:prstGeom prst="roundRect">
            <a:avLst>
              <a:gd name="adj" fmla="val 50000"/>
            </a:avLst>
          </a:prstGeom>
          <a:solidFill>
            <a:schemeClr val="accent4"/>
          </a:solidFill>
          <a:ln/>
        </p:spPr>
        <p:txBody>
          <a:bodyPr wrap="square" lIns="0" tIns="0" rIns="0" bIns="0" rtlCol="0" anchor="ctr"/>
          <a:lstStyle/>
          <a:p>
            <a:pPr algn="ctr" indent="0" marL="0">
              <a:buNone/>
            </a:pPr>
            <a:r>
              <a:rPr lang="en-US" sz="1200" b="1" dirty="0">
                <a:solidFill>
                  <a:schemeClr val="bg1"/>
                </a:solidFill>
              </a:rPr>
              <a:t>Quiz</a:t>
            </a:r>
            <a:endParaRPr lang="en-US" sz="1200" dirty="0"/>
          </a:p>
        </p:txBody>
      </p:sp>
      <p:sp>
        <p:nvSpPr>
          <p:cNvPr id="4" name="Cartão"/>
          <p:cNvSpPr/>
          <p:nvPr/>
        </p:nvSpPr>
        <p:spPr>
          <a:xfrm>
            <a:off x="457200" y="1188720"/>
            <a:ext cx="8229600" cy="475488"/>
          </a:xfrm>
          <a:prstGeom prst="roundRect">
            <a:avLst>
              <a:gd name="adj" fmla="val 23077"/>
            </a:avLst>
          </a:prstGeom>
          <a:solidFill>
            <a:schemeClr val="bg2"/>
          </a:solidFill>
          <a:ln w="12700">
            <a:solidFill>
              <a:schemeClr val="bg2"/>
            </a:solidFill>
            <a:prstDash val="solid"/>
          </a:ln>
        </p:spPr>
      </p:sp>
      <p:sp>
        <p:nvSpPr>
          <p:cNvPr id="5" name="Número"/>
          <p:cNvSpPr/>
          <p:nvPr/>
        </p:nvSpPr>
        <p:spPr>
          <a:xfrm>
            <a:off x="594360" y="1243584"/>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o"/>
          <p:cNvSpPr txBox="1"/>
          <p:nvPr/>
        </p:nvSpPr>
        <p:spPr>
          <a:xfrm>
            <a:off x="1097280" y="1188720"/>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1) c  —  O ambiente responde com Rₜ₊₁ e Sₜ₊₁.</a:t>
            </a:r>
            <a:endParaRPr lang="en-US" sz="1600" dirty="0"/>
          </a:p>
        </p:txBody>
      </p:sp>
      <p:sp>
        <p:nvSpPr>
          <p:cNvPr id="7" name="Cartão"/>
          <p:cNvSpPr/>
          <p:nvPr/>
        </p:nvSpPr>
        <p:spPr>
          <a:xfrm>
            <a:off x="457200" y="1773936"/>
            <a:ext cx="8229600" cy="475488"/>
          </a:xfrm>
          <a:prstGeom prst="roundRect">
            <a:avLst>
              <a:gd name="adj" fmla="val 23077"/>
            </a:avLst>
          </a:prstGeom>
          <a:solidFill>
            <a:schemeClr val="bg2"/>
          </a:solidFill>
          <a:ln w="12700">
            <a:solidFill>
              <a:schemeClr val="bg2"/>
            </a:solidFill>
            <a:prstDash val="solid"/>
          </a:ln>
        </p:spPr>
      </p:sp>
      <p:sp>
        <p:nvSpPr>
          <p:cNvPr id="8" name="Número"/>
          <p:cNvSpPr/>
          <p:nvPr/>
        </p:nvSpPr>
        <p:spPr>
          <a:xfrm>
            <a:off x="594360" y="1828800"/>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9" name="Texto"/>
          <p:cNvSpPr txBox="1"/>
          <p:nvPr/>
        </p:nvSpPr>
        <p:spPr>
          <a:xfrm>
            <a:off x="1097280" y="1773936"/>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2) b  —  γ pequeno reduz drasticamente o peso das recompensas distantes.</a:t>
            </a:r>
            <a:endParaRPr lang="en-US" sz="1600" dirty="0"/>
          </a:p>
        </p:txBody>
      </p:sp>
      <p:sp>
        <p:nvSpPr>
          <p:cNvPr id="10" name="Cartão"/>
          <p:cNvSpPr/>
          <p:nvPr/>
        </p:nvSpPr>
        <p:spPr>
          <a:xfrm>
            <a:off x="457200" y="2359152"/>
            <a:ext cx="8229600" cy="475488"/>
          </a:xfrm>
          <a:prstGeom prst="roundRect">
            <a:avLst>
              <a:gd name="adj" fmla="val 23077"/>
            </a:avLst>
          </a:prstGeom>
          <a:solidFill>
            <a:schemeClr val="bg2"/>
          </a:solidFill>
          <a:ln w="12700">
            <a:solidFill>
              <a:schemeClr val="bg2"/>
            </a:solidFill>
            <a:prstDash val="solid"/>
          </a:ln>
        </p:spPr>
      </p:sp>
      <p:sp>
        <p:nvSpPr>
          <p:cNvPr id="11" name="Número"/>
          <p:cNvSpPr/>
          <p:nvPr/>
        </p:nvSpPr>
        <p:spPr>
          <a:xfrm>
            <a:off x="594360" y="2414016"/>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2" name="Texto"/>
          <p:cNvSpPr txBox="1"/>
          <p:nvPr/>
        </p:nvSpPr>
        <p:spPr>
          <a:xfrm>
            <a:off x="1097280" y="2359152"/>
            <a:ext cx="7452360" cy="475488"/>
          </a:xfrm>
          <a:prstGeom prst="rect">
            <a:avLst/>
          </a:prstGeom>
          <a:noFill/>
          <a:ln/>
        </p:spPr>
        <p:txBody>
          <a:bodyPr wrap="square" lIns="0" tIns="0" rIns="0" bIns="0" rtlCol="0" anchor="ctr">
            <a:normAutofit/>
          </a:bodyPr>
          <a:lstStyle/>
          <a:p>
            <a:pPr indent="0" marL="0">
              <a:buNone/>
            </a:pPr>
            <a:r>
              <a:rPr lang="en-US" sz="1600" dirty="0">
                <a:solidFill>
                  <a:schemeClr val="tx1"/>
                </a:solidFill>
              </a:rPr>
              <a:t>3) b  —  Com recompensas atrasadas, é difícil saber qual ação merece o crédito.</a:t>
            </a:r>
            <a:endParaRPr lang="en-US" sz="1600" dirty="0"/>
          </a:p>
        </p:txBody>
      </p:sp>
      <p:sp>
        <p:nvSpPr>
          <p:cNvPr id="13" name="Cartão"/>
          <p:cNvSpPr/>
          <p:nvPr/>
        </p:nvSpPr>
        <p:spPr>
          <a:xfrm>
            <a:off x="457200" y="2944368"/>
            <a:ext cx="8229600" cy="694944"/>
          </a:xfrm>
          <a:prstGeom prst="roundRect">
            <a:avLst>
              <a:gd name="adj" fmla="val 15789"/>
            </a:avLst>
          </a:prstGeom>
          <a:solidFill>
            <a:schemeClr val="bg2"/>
          </a:solidFill>
          <a:ln w="12700">
            <a:solidFill>
              <a:schemeClr val="bg2"/>
            </a:solidFill>
            <a:prstDash val="solid"/>
          </a:ln>
        </p:spPr>
      </p:sp>
      <p:sp>
        <p:nvSpPr>
          <p:cNvPr id="14" name="Número"/>
          <p:cNvSpPr/>
          <p:nvPr/>
        </p:nvSpPr>
        <p:spPr>
          <a:xfrm>
            <a:off x="594360" y="3108960"/>
            <a:ext cx="365760" cy="365760"/>
          </a:xfrm>
          <a:prstGeom prst="ellipse">
            <a:avLst/>
          </a:prstGeom>
          <a:solidFill>
            <a:schemeClr val="accent4"/>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5" name="Texto"/>
          <p:cNvSpPr txBox="1"/>
          <p:nvPr/>
        </p:nvSpPr>
        <p:spPr>
          <a:xfrm>
            <a:off x="1097280" y="2944368"/>
            <a:ext cx="7452360" cy="694944"/>
          </a:xfrm>
          <a:prstGeom prst="rect">
            <a:avLst/>
          </a:prstGeom>
          <a:noFill/>
          <a:ln/>
        </p:spPr>
        <p:txBody>
          <a:bodyPr wrap="square" lIns="0" tIns="0" rIns="0" bIns="0" rtlCol="0" anchor="ctr">
            <a:normAutofit/>
          </a:bodyPr>
          <a:lstStyle/>
          <a:p>
            <a:pPr indent="0" marL="0">
              <a:buNone/>
            </a:pPr>
            <a:r>
              <a:rPr lang="en-US" sz="1600" dirty="0">
                <a:solidFill>
                  <a:schemeClr val="tx1"/>
                </a:solidFill>
              </a:rPr>
              <a:t>4) b  —  Selecionam-se os melhores episódios e treina-se um classificador para imitá-los.</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3" name="Título"/>
          <p:cNvSpPr txBox="1"/>
          <p:nvPr/>
        </p:nvSpPr>
        <p:spPr>
          <a:xfrm>
            <a:off x="457200" y="274320"/>
            <a:ext cx="6675120" cy="777240"/>
          </a:xfrm>
          <a:prstGeom prst="rect">
            <a:avLst/>
          </a:prstGeom>
          <a:noFill/>
          <a:ln/>
        </p:spPr>
        <p:txBody>
          <a:bodyPr wrap="square" lIns="0" tIns="0" rIns="0" bIns="0" rtlCol="0" anchor="ctr">
            <a:normAutofit/>
          </a:bodyPr>
          <a:lstStyle/>
          <a:p>
            <a:pPr indent="0" marL="0">
              <a:buNone/>
            </a:pPr>
            <a:r>
              <a:rPr lang="en-US" sz="3000" b="1" dirty="0">
                <a:solidFill>
                  <a:schemeClr val="tx2"/>
                </a:solidFill>
                <a:latin typeface="Cambria" pitchFamily="34" charset="0"/>
                <a:ea typeface="Cambria" pitchFamily="34" charset="-122"/>
                <a:cs typeface="Cambria" pitchFamily="34" charset="-120"/>
              </a:rPr>
              <a:t>Para discutir em grupo</a:t>
            </a:r>
            <a:endParaRPr lang="en-US" sz="3000" dirty="0"/>
          </a:p>
        </p:txBody>
      </p:sp>
      <p:sp>
        <p:nvSpPr>
          <p:cNvPr id="4" name="Etiqueta"/>
          <p:cNvSpPr/>
          <p:nvPr/>
        </p:nvSpPr>
        <p:spPr>
          <a:xfrm>
            <a:off x="7223760" y="411480"/>
            <a:ext cx="1463040" cy="365760"/>
          </a:xfrm>
          <a:prstGeom prst="roundRect">
            <a:avLst>
              <a:gd name="adj" fmla="val 50000"/>
            </a:avLst>
          </a:prstGeom>
          <a:solidFill>
            <a:schemeClr val="accent2"/>
          </a:solidFill>
          <a:ln/>
        </p:spPr>
        <p:txBody>
          <a:bodyPr wrap="square" lIns="0" tIns="0" rIns="0" bIns="0" rtlCol="0" anchor="ctr"/>
          <a:lstStyle/>
          <a:p>
            <a:pPr algn="ctr" indent="0" marL="0">
              <a:buNone/>
            </a:pPr>
            <a:r>
              <a:rPr lang="en-US" sz="1200" b="1" dirty="0">
                <a:solidFill>
                  <a:schemeClr val="bg1"/>
                </a:solidFill>
              </a:rPr>
              <a:t>Debate</a:t>
            </a:r>
            <a:endParaRPr lang="en-US" sz="1200" dirty="0"/>
          </a:p>
        </p:txBody>
      </p:sp>
      <p:sp>
        <p:nvSpPr>
          <p:cNvPr id="5" name="Cartão"/>
          <p:cNvSpPr/>
          <p:nvPr/>
        </p:nvSpPr>
        <p:spPr>
          <a:xfrm>
            <a:off x="457200" y="1188720"/>
            <a:ext cx="8229600" cy="694944"/>
          </a:xfrm>
          <a:prstGeom prst="roundRect">
            <a:avLst>
              <a:gd name="adj" fmla="val 15789"/>
            </a:avLst>
          </a:prstGeom>
          <a:solidFill>
            <a:schemeClr val="bg2"/>
          </a:solidFill>
          <a:ln w="12700">
            <a:solidFill>
              <a:schemeClr val="bg2"/>
            </a:solidFill>
            <a:prstDash val="solid"/>
          </a:ln>
        </p:spPr>
      </p:sp>
      <p:sp>
        <p:nvSpPr>
          <p:cNvPr id="6" name="Número"/>
          <p:cNvSpPr/>
          <p:nvPr/>
        </p:nvSpPr>
        <p:spPr>
          <a:xfrm>
            <a:off x="594360" y="135331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o"/>
          <p:cNvSpPr txBox="1"/>
          <p:nvPr/>
        </p:nvSpPr>
        <p:spPr>
          <a:xfrm>
            <a:off x="1097280" y="1188720"/>
            <a:ext cx="7452360" cy="694944"/>
          </a:xfrm>
          <a:prstGeom prst="rect">
            <a:avLst/>
          </a:prstGeom>
          <a:noFill/>
          <a:ln/>
        </p:spPr>
        <p:txBody>
          <a:bodyPr wrap="square" lIns="0" tIns="0" rIns="0" bIns="0" rtlCol="0" anchor="ctr">
            <a:normAutofit/>
          </a:bodyPr>
          <a:lstStyle/>
          <a:p>
            <a:pPr indent="0" marL="0">
              <a:buNone/>
            </a:pPr>
            <a:r>
              <a:rPr lang="en-US" sz="1800" dirty="0">
                <a:solidFill>
                  <a:schemeClr val="tx1"/>
                </a:solidFill>
              </a:rPr>
              <a:t>Explique com suas palavras a diferença entre aprendizado supervisionado e aprendizado por reforço.</a:t>
            </a:r>
            <a:endParaRPr lang="en-US" sz="1800" dirty="0"/>
          </a:p>
        </p:txBody>
      </p:sp>
      <p:sp>
        <p:nvSpPr>
          <p:cNvPr id="8" name="Cartão"/>
          <p:cNvSpPr/>
          <p:nvPr/>
        </p:nvSpPr>
        <p:spPr>
          <a:xfrm>
            <a:off x="457200" y="1993392"/>
            <a:ext cx="8229600" cy="475488"/>
          </a:xfrm>
          <a:prstGeom prst="roundRect">
            <a:avLst>
              <a:gd name="adj" fmla="val 23077"/>
            </a:avLst>
          </a:prstGeom>
          <a:solidFill>
            <a:schemeClr val="bg2"/>
          </a:solidFill>
          <a:ln w="12700">
            <a:solidFill>
              <a:schemeClr val="bg2"/>
            </a:solidFill>
            <a:prstDash val="solid"/>
          </a:ln>
        </p:spPr>
      </p:sp>
      <p:sp>
        <p:nvSpPr>
          <p:cNvPr id="9" name="Número"/>
          <p:cNvSpPr/>
          <p:nvPr/>
        </p:nvSpPr>
        <p:spPr>
          <a:xfrm>
            <a:off x="594360" y="2048256"/>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Texto"/>
          <p:cNvSpPr txBox="1"/>
          <p:nvPr/>
        </p:nvSpPr>
        <p:spPr>
          <a:xfrm>
            <a:off x="1097280" y="1993392"/>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O que é atribuição de crédito?</a:t>
            </a:r>
            <a:endParaRPr lang="en-US" sz="1800" dirty="0"/>
          </a:p>
        </p:txBody>
      </p:sp>
      <p:sp>
        <p:nvSpPr>
          <p:cNvPr id="11" name="Cartão"/>
          <p:cNvSpPr/>
          <p:nvPr/>
        </p:nvSpPr>
        <p:spPr>
          <a:xfrm>
            <a:off x="457200" y="2578608"/>
            <a:ext cx="8229600" cy="475488"/>
          </a:xfrm>
          <a:prstGeom prst="roundRect">
            <a:avLst>
              <a:gd name="adj" fmla="val 23077"/>
            </a:avLst>
          </a:prstGeom>
          <a:solidFill>
            <a:schemeClr val="bg2"/>
          </a:solidFill>
          <a:ln w="12700">
            <a:solidFill>
              <a:schemeClr val="bg2"/>
            </a:solidFill>
            <a:prstDash val="solid"/>
          </a:ln>
        </p:spPr>
      </p:sp>
      <p:sp>
        <p:nvSpPr>
          <p:cNvPr id="12" name="Número"/>
          <p:cNvSpPr/>
          <p:nvPr/>
        </p:nvSpPr>
        <p:spPr>
          <a:xfrm>
            <a:off x="594360" y="2633472"/>
            <a:ext cx="365760" cy="365760"/>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Texto"/>
          <p:cNvSpPr txBox="1"/>
          <p:nvPr/>
        </p:nvSpPr>
        <p:spPr>
          <a:xfrm>
            <a:off x="1097280" y="2578608"/>
            <a:ext cx="7452360" cy="475488"/>
          </a:xfrm>
          <a:prstGeom prst="rect">
            <a:avLst/>
          </a:prstGeom>
          <a:noFill/>
          <a:ln/>
        </p:spPr>
        <p:txBody>
          <a:bodyPr wrap="square" lIns="0" tIns="0" rIns="0" bIns="0" rtlCol="0" anchor="ctr">
            <a:normAutofit/>
          </a:bodyPr>
          <a:lstStyle/>
          <a:p>
            <a:pPr indent="0" marL="0">
              <a:buNone/>
            </a:pPr>
            <a:r>
              <a:rPr lang="en-US" sz="1800" dirty="0">
                <a:solidFill>
                  <a:schemeClr val="tx1"/>
                </a:solidFill>
              </a:rPr>
              <a:t>Cite dois marcos históricos do AR e explique a importância de cada um.</a:t>
            </a:r>
            <a:endParaRPr lang="en-US" sz="18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3" name="Círculo"/>
          <p:cNvSpPr/>
          <p:nvPr/>
        </p:nvSpPr>
        <p:spPr>
          <a:xfrm>
            <a:off x="6217920" y="548640"/>
            <a:ext cx="2743200" cy="2743200"/>
          </a:xfrm>
          <a:prstGeom prst="ellipse">
            <a:avLst/>
          </a:prstGeom>
          <a:solidFill>
            <a:schemeClr val="accent3">
              <a:alpha val="65000"/>
            </a:schemeClr>
          </a:solidFill>
          <a:ln w="12700">
            <a:solidFill>
              <a:schemeClr val="accent3"/>
            </a:solidFill>
            <a:prstDash val="solid"/>
          </a:ln>
        </p:spPr>
      </p:sp>
      <p:sp>
        <p:nvSpPr>
          <p:cNvPr id="4" name="Text 1"/>
          <p:cNvSpPr txBox="1"/>
          <p:nvPr/>
        </p:nvSpPr>
        <p:spPr>
          <a:xfrm>
            <a:off x="548640" y="1280160"/>
            <a:ext cx="5669280" cy="914400"/>
          </a:xfrm>
          <a:prstGeom prst="rect">
            <a:avLst/>
          </a:prstGeom>
          <a:noFill/>
          <a:ln/>
        </p:spPr>
        <p:txBody>
          <a:bodyPr wrap="square" lIns="0" tIns="0" rIns="0" bIns="0" rtlCol="0" anchor="ctr"/>
          <a:lstStyle/>
          <a:p>
            <a:pPr indent="0" marL="0">
              <a:buNone/>
            </a:pPr>
            <a:r>
              <a:rPr lang="en-US" sz="4000" b="1" dirty="0">
                <a:solidFill>
                  <a:schemeClr val="bg1"/>
                </a:solidFill>
                <a:latin typeface="Cambria" pitchFamily="34" charset="0"/>
                <a:ea typeface="Cambria" pitchFamily="34" charset="-122"/>
                <a:cs typeface="Cambria" pitchFamily="34" charset="-120"/>
              </a:rPr>
              <a:t>Até a próxima!</a:t>
            </a:r>
            <a:endParaRPr lang="en-US" sz="4000" dirty="0"/>
          </a:p>
        </p:txBody>
      </p:sp>
      <p:sp>
        <p:nvSpPr>
          <p:cNvPr id="5" name="Text 2"/>
          <p:cNvSpPr txBox="1"/>
          <p:nvPr/>
        </p:nvSpPr>
        <p:spPr>
          <a:xfrm>
            <a:off x="548640" y="2286000"/>
            <a:ext cx="5669280" cy="914400"/>
          </a:xfrm>
          <a:prstGeom prst="rect">
            <a:avLst/>
          </a:prstGeom>
          <a:noFill/>
          <a:ln/>
        </p:spPr>
        <p:txBody>
          <a:bodyPr wrap="square" lIns="0" tIns="0" rIns="0" bIns="0" rtlCol="0" anchor="t">
            <a:normAutofit/>
          </a:bodyPr>
          <a:lstStyle/>
          <a:p>
            <a:pPr indent="0" marL="0">
              <a:buNone/>
            </a:pPr>
            <a:r>
              <a:rPr lang="en-US" sz="1800" dirty="0">
                <a:solidFill>
                  <a:schemeClr val="accent1"/>
                </a:solidFill>
              </a:rPr>
              <a:t>Capítulo 1: Introdução ao Aprendizado por Reforço</a:t>
            </a:r>
            <a:endParaRPr lang="en-US" sz="1800" dirty="0"/>
          </a:p>
        </p:txBody>
      </p:sp>
      <p:sp>
        <p:nvSpPr>
          <p:cNvPr id="6" name="Text 3"/>
          <p:cNvSpPr txBox="1"/>
          <p:nvPr/>
        </p:nvSpPr>
        <p:spPr>
          <a:xfrm>
            <a:off x="548640" y="3291840"/>
            <a:ext cx="5669280" cy="731520"/>
          </a:xfrm>
          <a:prstGeom prst="rect">
            <a:avLst/>
          </a:prstGeom>
          <a:noFill/>
          <a:ln/>
        </p:spPr>
        <p:txBody>
          <a:bodyPr wrap="square" lIns="0" tIns="0" rIns="0" bIns="0" rtlCol="0" anchor="t">
            <a:normAutofit/>
          </a:bodyPr>
          <a:lstStyle/>
          <a:p>
            <a:pPr indent="0" marL="0">
              <a:buNone/>
            </a:pPr>
            <a:r>
              <a:rPr lang="en-US" sz="1600" dirty="0">
                <a:solidFill>
                  <a:schemeClr val="accent6"/>
                </a:solidFill>
              </a:rPr>
              <a:t>Pratique: refaça os códigos, resolva as questões e faça o projeto do capítulo.</a:t>
            </a:r>
            <a:endParaRPr lang="en-US" sz="1600" dirty="0"/>
          </a:p>
        </p:txBody>
      </p:sp>
      <p:sp>
        <p:nvSpPr>
          <p:cNvPr id="25" name="Slide Number Placeholder 0"/>
          <p:cNvSpPr>
            <a:spLocks noGrp="1"/>
          </p:cNvSpPr>
          <p:nvPr>
            <p:ph type="sldNum" sz="quarter" idx="4294967295"/>
          </p:nvPr>
        </p:nvSpPr>
        <p:spPr>
          <a:xfrm>
            <a:off x="8229600" y="48006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46</a:t>
            </a:fld>
            <a:endParaRPr lang="en-US"/>
          </a:p>
        </p:txBody>
      </p:sp>
    </p:spTree>
  </p:cSld>
  <p:clrMapOvr>
    <a:masterClrMapping/>
  </p:clrMapOvr>
</p:sld>
</file>

<file path=ppt/theme/theme1.xml><?xml version="1.0" encoding="utf-8"?>
<a:theme xmlns:a="http://schemas.openxmlformats.org/drawingml/2006/main" name="Aprendizado por Reforço">
  <a:themeElements>
    <a:clrScheme name="Aprendizado por Reforço">
      <a:dk1>
        <a:srgbClr val="1B1F3B"/>
      </a:dk1>
      <a:lt1>
        <a:srgbClr val="FFFFFF"/>
      </a:lt1>
      <a:dk2>
        <a:srgbClr val="14173F"/>
      </a:dk2>
      <a:lt2>
        <a:srgbClr val="F2F3FB"/>
      </a:lt2>
      <a:accent1>
        <a:srgbClr val="F59E0B"/>
      </a:accent1>
      <a:accent2>
        <a:srgbClr val="12A89A"/>
      </a:accent2>
      <a:accent3>
        <a:srgbClr val="6C5CE7"/>
      </a:accent3>
      <a:accent4>
        <a:srgbClr val="E84A8A"/>
      </a:accent4>
      <a:accent5>
        <a:srgbClr val="3B82F6"/>
      </a:accent5>
      <a:accent6>
        <a:srgbClr val="94A3B8"/>
      </a:accent6>
      <a:hlink>
        <a:srgbClr val="3B82F6"/>
      </a:hlink>
      <a:folHlink>
        <a:srgbClr val="6C5CE7"/>
      </a:folHlink>
    </a:clrScheme>
    <a:fontScheme name="Aprendizado por Reforç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Aprendizado por Reforço — Capítulo 1</dc:title>
  <dc:subject>PptxGenJS Presentation</dc:subject>
  <dc:creator>Araken de Medeiros Santos</dc:creator>
  <cp:lastModifiedBy>Araken de Medeiros Santos</cp:lastModifiedBy>
  <cp:revision>1</cp:revision>
  <dcterms:created xsi:type="dcterms:W3CDTF">2026-10-26T13:18:07Z</dcterms:created>
  <dcterms:modified xsi:type="dcterms:W3CDTF">2026-10-26T13:18:07Z</dcterms:modified>
</cp:coreProperties>
</file>