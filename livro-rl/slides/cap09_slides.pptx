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a5da8c5-cb0d-3811-e2a9-649594b8bdc4}">
          <p14:sldIdLst>
            <p14:sldId id="256"/>
          </p14:sldIdLst>
        </p14:section>
        <p14:section name="Início" id="{7093788c-17c0-17c5-2219-fc2c71e50d7d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Mão na massa" id="{ff945091-d2b4-6840-a4a0-50a8c48ec9bd}">
          <p14:sldIdLst>
            <p14:sldId id="278"/>
            <p14:sldId id="279"/>
            <p14:sldId id="280"/>
          </p14:sldIdLst>
        </p14:section>
        <p14:section name="Projeto do capítulo" id="{4818b5cb-edad-4e1e-012a-c3658d4385d3}">
          <p14:sldIdLst>
            <p14:sldId id="281"/>
            <p14:sldId id="282"/>
          </p14:sldIdLst>
        </p14:section>
        <p14:section name="Resumo" id="{7ecdbede-720c-899f-b686-52b393d09a7b}">
          <p14:sldIdLst>
            <p14:sldId id="283"/>
            <p14:sldId id="284"/>
          </p14:sldIdLst>
        </p14:section>
        <p14:section name="Quiz relâmpago" id="{85670faa-de2f-8dc4-cc31-6e0ec0162b7c}">
          <p14:sldIdLst>
            <p14:sldId id="285"/>
          </p14:sldIdLst>
        </p14:section>
        <p14:section name="Quiz" id="{8233f066-9d03-4f63-3df3-2cba45fc0301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Encerramento" id="{cf16cf73-a653-3126-cab5-53396ae72fb1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9.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Até aqui, aprendemos valores (v e q) e deduzimos a política (escolher a ação de maior valor). Esse caminho tem limitações: A alternativa é aprender a política π(a | s; θ) diretamente, como uma função suave de parâmetros θ, e ajustar θ para aumentar o retorno esperado. Esses são os métodos de gradiente de política (policy gradient).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Uma vantagem é que a exploração é embutida: a política já sorteia ações, sem precisar de ε-gulosa. E, ao final do treino, o desvio tende a diminuir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9.1 — À esquerda, uma política softmax para três ações. À direita, duas políticas gaussianas com a mesma média e desvios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Medimos a qualidade de θ pelo retorno esperado J(θ) (por exemplo, o valor do estado inicial sob π). Queremos subir J. Usamos a ascensão do gradiente: o oposto da descida. O problema é: como calcular ∇J(θ) se J depende do ambiente, que desconhecemos? A resposta é o resultado mais importante deste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teorema do gradiente de política (SUTTON et al., 2000) mostra que o gradiente do desempenho pode ser estimado apenas com amostras de episódios, sem derivar o ambiente: Em palavras: a direção de melhora é a média, sobre o que o agente viveu, de (retorno) × (direção que aumenta a probabilidade da ação tomada). O termo ∇ ln π(Aₜ | Sₜ) indica como mudar θ para tornar a ação Aₜ mais provável. O retorno Gₜ atua como nota: se foi alto, aumentamos a probabilidade da ação; se foi baixo, diminuímos.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9.2 — A ideia do gradiente de política: o retorno é a "nota" que reforça ou enfraquece as ações que o agente escolheu.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REINFORCE (WILLIAMS, 1992) é o algoritmo mais direto: É um método de Monte Carlo (Capítulo 5) para políticas. Herda as qualidades (sem viés, sem modelo) e os defeitos: variância alta, aprendizado lento e necessidade de episódios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Suponha que todos os retornos sejam positivos (por exemplo, no CartPole, cada episódio rende +1 por passo). Então toda ação tomada é "reforçada", mesmo as ruins: só muda o quanto. Isso gera muito ruído. A solução é subtrair uma linha de base b(s) do retorno: Como b(s) não depende da ação, a média do gradiente não muda (não introduz viés), mas a variância cai muito. A melhor escolha prática é b(s) ≈ v̂(s), o valor do estado. A diferença Gₜ − v̂(Sₜ) mede o quanto a ação foi melhor que o esperado: é a vantagem.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9.3 — Estimativas do gradiente numa política com três ações e retornos próximos de 10. À esquerda, sem linha de base: a variância é enorme. À direita, com linha de base: a média é a mesma, mas as estimativas ficam bem mais concentradas.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REINFORCE espera o fim do episódio. E se usássemos bootstrapping (Capítulo 6)? Em vez do retorno Gₜ, usamos o erro TD: O erro TD é uma estimativa da vantagem (quanto a ação superou o esperado). O sistema tem dois componentes: As atualizações, a cada passo, são: Essa arquitetura vem de Barto, Sutton e Anderson (1983), que a aplicaram ao problema do poste no carrinho (o CartPole!), e foi formalizada por Konda e Tsitsiklis (2000). Em comparação com o REINFORCE, o ator-crítico aprende a cada passo, com menos variância, mas com algum viés (o crítico é aproximado). O A2C (advantage actor-critic) usa lotes de passos de vários ambientes em paralelo. O A3C é a versão assíncrona: vários "trabalhadores" jogam em paralelo, cada um com sua cópia, e enviam gradientes a uma rede central (MNIH et al., 2016). Isso substitui a memória de experiências do DQN por diversidade de experiências em paralelo. O erro TD de 1 passo tem pouca variância, mas tem viés (depende de um crítico imperfeito). O retorno completo não tem viés, mas tem variância alta. A estimativa de vantagem generalizada (GAE) mistura as duas ideias com um parâmetro λ entre 0 e 1 (SCHULMAN et al., 2016): Com λ = 0 é o erro TD; com λ = 1 é Gₜ − v̂(Sₜ). Valores como λ = 0,95 funcionam bem. É um TD(λ) para vantagens e é usado no PPO (Capítulo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9.4 — O ator-crítico: o crítico calcula o erro TD, que serve para corrigir a si mesmo e para reforçar ou enfraquecer a ação do 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Para evitar que a política se torne determinística cedo demais, acrescenta-se à função objetivo um bônus de entropia (WILLIAMS; PENG, 1991). A entropia mede a incerteza da política (Apêndice I): é máxima quando todas as ações são igualmente prováveis. Um pequeno coeficiente (por exemplo, 0,01) mantém algum nível de exploração.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Há um perigo: uma atualização grande demais pode piorar muito a política, e como os dados vêm da própria política, o agente pode nunca se recuperar (ele passa a coletar dados ruins). Duas ideias ajudam: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9.5 — Região de confiança: a política só dá passos dentro de uma região em que confiamos nas estimativas. O PPO (Capítulo 10) obtém o mesmo efeito com um truque mais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linha a linha; peça que a turma justifique cada "cuidado".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9.6 — Curvas de aprendizado no CartPole (média de 3 sementes, média móvel). O REINFORCE puro fica bem abaixo; com linha de base e com ator-crítico, os agentes chegam ao máximo (500), mas o desempenho oscila e pode cair depois. As faixas mostram o mínimo e o máximo entre as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No banco de dados Bank Marketing (UCI), cada linha é um cliente contatado por telefone, e sabemos se ele contratou o depósito (MORO; CORTEZ; RITA, 2014). Cada ligação custa (tempo da equipe) e uma contratação rende um valor. A decisão é: ligar ou não para cada cliente? Definimos: ligar custa 8 e uma contratação rende 100. Então a recompensa de ligar é 100·y − 8 (y = 1 se contratou) e a de não ligar é 0. Tarefas: Ponto de partida: Entrega: notebook com o pré-processamento, a tabela de comparação, a curva de aprendizado da política e a discussão sobre feedback completo × parcial.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 softmax transforma preferências em probabilidades.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gradiente da log-softmax tem essa forma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Seus parâmetros são ajustados pela vantagem fornecida pelo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Evita que a política se torne determinística cedo demais.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Gradientes de Política e Atores-Críticos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9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1304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por que aprender a política diretamente pode ser melhor que aprender valores.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12864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73719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12864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políticas parametrizadas (softmax e gaussiana).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237008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26133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237008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Enunciar a ideia do teorema do gradiente de política e implementar o REINFORCE.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761152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78548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761152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a linha de base e demonstrar a redução de variância.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285297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309625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285297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um ator-crítico e descrever A2C, A3C e a vantagem generalizada (GAE).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3809441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383376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3809441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a motivação de TRPO e PPO (passos de confiança).</a:t>
            </a:r>
            <a:endParaRPr lang="en-US" sz="1600" dirty="0"/>
          </a:p>
        </p:txBody>
      </p:sp>
      <p:sp>
        <p:nvSpPr>
          <p:cNvPr id="23" name="Cartão"/>
          <p:cNvSpPr/>
          <p:nvPr/>
        </p:nvSpPr>
        <p:spPr>
          <a:xfrm>
            <a:off x="457200" y="4333585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úmero"/>
          <p:cNvSpPr/>
          <p:nvPr/>
        </p:nvSpPr>
        <p:spPr>
          <a:xfrm>
            <a:off x="594360" y="435791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5" name="Texto"/>
          <p:cNvSpPr txBox="1"/>
          <p:nvPr/>
        </p:nvSpPr>
        <p:spPr>
          <a:xfrm>
            <a:off x="1097280" y="4333585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Aplicar um gradiente de política a um problema de decisão com dados reais.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9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Aprender a política diretamente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Políticas parametrizadas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objetivo e a ascensão do gradiente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teorema do gradiente de política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REINFORCE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linha de base (baseline)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Atores-críticos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Entropia: incentivando a exploração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Passos de confiança: política natural e TRPO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Valor × política × ator-crítico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8" name="Cartão"/>
          <p:cNvSpPr/>
          <p:nvPr/>
        </p:nvSpPr>
        <p:spPr>
          <a:xfrm>
            <a:off x="466344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4142232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21208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quem vale a pena ligar?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política diretamente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17006"/>
          </a:xfrm>
          <a:prstGeom prst="roundRect">
            <a:avLst>
              <a:gd name="adj" fmla="val 177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14343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Até aqui, aprendemos valores (v e q) e deduzimos a política (escolher a ação de maior valor):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915454"/>
            <a:ext cx="7818120" cy="617006"/>
          </a:xfrm>
          <a:prstGeom prst="roundRect">
            <a:avLst>
              <a:gd name="adj" fmla="val 1778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6909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15454"/>
            <a:ext cx="704088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Ações contínuas: como escolher "o máximo de Q" quando a ação é um número real (torque de um motor)?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642189"/>
            <a:ext cx="7818120" cy="617006"/>
          </a:xfrm>
          <a:prstGeom prst="roundRect">
            <a:avLst>
              <a:gd name="adj" fmla="val 1778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8958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642189"/>
            <a:ext cx="704088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Políticas estocásticas: em jogos com informação oculta (pôquer, pedra-papel-tesoura), a política ótima é aleatória.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368923"/>
            <a:ext cx="7818120" cy="617006"/>
          </a:xfrm>
          <a:prstGeom prst="roundRect">
            <a:avLst>
              <a:gd name="adj" fmla="val 1778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62256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368923"/>
            <a:ext cx="704088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Mudanças bruscas: uma pequena mudança em Q pode alterar completamente a ação escolhida (a ação "pula")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4095657"/>
            <a:ext cx="8229600" cy="617006"/>
          </a:xfrm>
          <a:prstGeom prst="roundRect">
            <a:avLst>
              <a:gd name="adj" fmla="val 177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221281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4095657"/>
            <a:ext cx="745236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alternativa é aprender a política π(a | s; θ) diretamente, como uma função suave de parâmetros θ, e ajustar θ para aumentar o retorno esperado.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Treinador × analista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 analista (método de valor) calcula uma nota para cada jogada possível e escolhe a de maior nota.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parametrizadas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Ações discretas: softmax.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Ações contínuas: gaussiana.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Uma vantagem é que a exploração é embutida: a política já sorteia ações, sem precisar de ε-gulosa.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parametrizadas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À esquerda, uma política softmax para três açõ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010" y="1143000"/>
            <a:ext cx="7949979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À esquerda, uma política softmax para três 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objetivo e a ascensão do gradiente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Medimos a qualidade de θ pelo retorno esperado J(θ) (por exemplo, o valor do estado inicial sob π).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problema é: como calcular ∇J(θ) se J depende do ambiente, que desconhecemos?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teorema do gradiente de política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termo ∇ ln π(Aₜ | Sₜ) indica como mudar θ para tornar a ação Aₜ mais provável.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teorema do gradiente de política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∇J(θ) = Eπ [ Gₜ ∇ ln π(Aₜ | Sₜ; θ) ]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direção de melhora é a média, sobre o que o agente viveu, de (retorno) × (direção que aumenta a probabilidade da ação tomada).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teorema do gradiente de política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 ideia do gradiente de política: o retorno é a &quot;nota&quot; que reforça ou enfraquece as ações que o agente escolhe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58734"/>
            <a:ext cx="8229600" cy="2848892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ideia do gradiente de política: o retorno é a "nota" que reforça ou enfraquece as ações que o agente escolheu.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passo numérico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Exemplo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Uma política tem 3 ações com probabilidades (0,3; 0,4; 0,3).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 uma política softmax com preferências h, o gradiente de ln π(a) em relação a h(a′) vale 1[a′ = a] − π(a′).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REINFORCE (WILLIAMS, 1992) é o algoritmo mais direto: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Jogue um episódio com a política atual, registrando estados, ações e recompensas.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cada passo t, calcule o retorno Gₜ.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Atualize: θ ← θ + α Gₜ ∇ ln π(Aₜ | Sₜ; θ).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52958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58444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52958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 um método de Monte Carlo (Capítulo 5) para políticas.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de base (baseline)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Suponha que todos os retornos sejam positivos (por exemplo, no CartPole, cada episódio rende +1 por passo).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Como b(s) não depende da ação, a média do gradiente não muda (não introduz viés), mas a variância cai muito.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de base (baseline)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Estimativas do gradiente numa política com três ações e retornos próximos de 1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23" y="1143000"/>
            <a:ext cx="743415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Estimativas do gradiente numa política com três ações e retornos próximos de 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Atores-críticos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erro TD é uma estimativa da vantagem (quanto a ação superou o esperado):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ator (π, parâmetros θ): decide as ações;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crítico (v̂, parâmetros w): avalia os estados e fornece δ.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Atores-críticos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Essa arquitetura vem de Barto, Sutton e Anderson (1983), que a aplicaram ao problema do poste no carrinho (o CartPole!)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A2C e A3C: O A2C (advantage actor-critic) usa lotes de passos de vários ambientes em paralelo.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Vantagem generalizada (GAE): Com λ = 0 é o erro TD; com λ = 1 é Gₜ − v̂(Sₜ).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Atores-críticos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ator-crítico: o crítico calcula o erro TD, que serve para corrigir a si mesmo e para reforçar ou enfraquecer a ação do at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44" y="1143000"/>
            <a:ext cx="709051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ator-crítico: o crítico calcula o erro TD, que serve para corrigir a si mesmo e para reforçar ou enfraquecer a ação do ator.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Entropia: incentivando a exploração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9.8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 evitar que a política se torne determinística cedo demais, acrescenta-se à função objetivo um bônus de entropia (WILLIAMS; PENG, 1991).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de confiança: política natural e TRPO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9.9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Há um perigo: uma atualização grande demais pode piorar muito a política: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0665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Gradiente natural (KAKADE, 2002): mede "distância" entre políticas pela divergência KL (Apêndice I)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TRPO (Trust Region Policy Optimization): maximiza a melhoria sob a restrição de que a KL entre a política nova e 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de confiança: política natural e TRPO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Região de confiança: a política só dá passos dentro de uma região em que confiamos nas estimativ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6732" y="1143000"/>
            <a:ext cx="409053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Região de confiança: a política só dá passos dentro de uma região em que confiamos nas estimativas.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× política × ator-crítico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Quadro</a:t>
            </a:r>
            <a:endParaRPr lang="en-US" sz="1200" dirty="0"/>
          </a:p>
        </p:txBody>
      </p:sp>
      <p:graphicFrame>
        <p:nvGraphicFramePr>
          <p:cNvPr id="23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Métodos de valor (DQN)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Gradiente de política (REINFORCE)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Ator-crítico (A2C, PPO, SAC)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 que aprendem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q(s, 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π(a \| s)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π e v juntos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Ações contínuas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Difícil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Natural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Natural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Política estocástica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 (precisa de ε)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Variância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Baixa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Média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Eficiência de dados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Alta (off-policy)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Baixa (on-policy)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Média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Estabilidade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Frágil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Boa (passos pequenos)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9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efeito da linha de base na variância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REINFORCE e ator-crítico em PyTorch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Avaliando a política com intervalo de confiança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Curvas de aprendizado no CartPole (média de 3 sementes, média móvel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04" y="1143000"/>
            <a:ext cx="568039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Curvas de aprendizado no CartPole (média de 3 sementes, média móvel).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quem vale a pena ligar?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9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Definimos: ligar custa 8 e uma contratação rende 100.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o pré-processamento, a tabela de comparação, a curva de aprendizado da política e a discussão sobre feedback completo × parcial.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Prepare os dados: remova duration, trate valores ausentes, transforme categorias (OneHotEncoder) e padronize os números (StandardScaler)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96849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96849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Calcule as recompensas de referência no teste: ligar para todos, não ligar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9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Gradiente de política: aprender π(a | s; θ) diretamente, subindo o gradiente do retorno esperado.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Teorema: ∇J = E[Gₜ ∇ln π(Aₜ | Sₜ)]; reforça ações que deram bons retornos.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REINFORCE é Monte Carlo para políticas: sem viés, mas com variância alta.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linha de base (por exemplo, v̂(s)) reduz a variância sem introduzir viés.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9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Atores-críticos: o crítico calcula o erro TD, que serve de vantagem para o ator.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entropia mantém a exploração; TRPO e PPO limitam o tamanho do passo.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 feedback completo, o aprendizado supervisionado costuma bastar.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Para ações discretas, uma política parametrizada típica usa: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função softmax sobre preferências h(s, a).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função ReLU como saída.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distribuição gaussiana.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tabela fixa.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Para uma política softmax, a derivada de ln π(a) em relação à preferência h(a′)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1[a′ = a] − π(a′).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π(a′).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1 − G.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ator, num ator-crítico: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a política, que decide as ações.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o modelo do ambiente.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 a função valor.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 o desconto.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bônus de entropia na função objetivo serve para: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manter a política com algum nível de aleatoriedade e incentivar a exploração.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eliminar a exploração.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aumentar o desconto.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reduzir a memória.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a  —  A softmax transforma preferências em probabilidades.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a  —  O gradiente da log-softmax tem essa forma simples.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a  —  Seus parâmetros são ajustados pela vantagem fornecida pelo crítico.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a  —  Evita que a política se torne determinística cedo demais.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Dê três motivos para aprender a política diretamente em vez de derivá-la de valores Q.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Compare REINFORCE e ator-crítico quanto a viés, variância e momento da atualização.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experimento de variância, por que as médias dos gradientes com e sem linha de base são iguais, mas os desvios-padrão diferem?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9: Gradientes de Política e Atores-Críticos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9</dc:title>
  <dc:subject>PptxGenJS Presentation</dc:subject>
  <dc:creator>Araken de Medeiros Santos</dc:creator>
  <cp:lastModifiedBy>Araken de Medeiros Santos</cp:lastModifiedBy>
  <cp:revision>1</cp:revision>
  <dcterms:created xsi:type="dcterms:W3CDTF">2026-10-26T13:18:09Z</dcterms:created>
  <dcterms:modified xsi:type="dcterms:W3CDTF">2026-10-26T13:18:09Z</dcterms:modified>
</cp:coreProperties>
</file>