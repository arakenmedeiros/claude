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bf3c6c3-3087-ccf8-b496-73ce3c79862d}">
          <p14:sldIdLst>
            <p14:sldId id="256"/>
          </p14:sldIdLst>
        </p14:section>
        <p14:section name="Início" id="{a1d4bcf2-8e8e-75e0-8c4c-cbf2f9c5fcd0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Mão na massa" id="{5c8bd7f9-bcbe-5eef-87f5-fc1242e02826}">
          <p14:sldIdLst>
            <p14:sldId id="278"/>
            <p14:sldId id="279"/>
            <p14:sldId id="280"/>
            <p14:sldId id="281"/>
          </p14:sldIdLst>
        </p14:section>
        <p14:section name="Projeto do capítulo" id="{7bfc9ef4-2e63-4468-109d-d7a23a3487a7}">
          <p14:sldIdLst>
            <p14:sldId id="282"/>
            <p14:sldId id="283"/>
          </p14:sldIdLst>
        </p14:section>
        <p14:section name="Resumo" id="{c24ac93c-6809-9cdb-e190-0d181e3413dd}">
          <p14:sldIdLst>
            <p14:sldId id="284"/>
            <p14:sldId id="285"/>
          </p14:sldIdLst>
        </p14:section>
        <p14:section name="Quiz relâmpago" id="{35baafcb-5cc1-d68f-f904-e2344d8aa8fa}">
          <p14:sldIdLst>
            <p14:sldId id="286"/>
          </p14:sldIdLst>
        </p14:section>
        <p14:section name="Quiz" id="{1b5d5af5-402d-cf76-8a00-7f33f6632680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Encerramento" id="{fa49e8f6-347b-b75c-59f6-30dc4125da9b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11. Apresente a pergunta central do capítulo e o roteiro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pergunte quem já conhece algum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aula: cada item é uma estação da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Um enxadrista experiente não testa jogadas no tabuleiro real. Ele imagina: "se eu mover o bispo, ele responde com a torre, então eu...". Ele tem um modelo da dinâmica do jogo na cabeça e planeja com ele. Até aqui, quase todos os métodos eram livres de modelo: aprendiam valores ou políticas direto da experiência. O aprendizado baseado em modelo (model-based) acrescenta uma etapa: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linha a linha; peça que a turma justifique cada "cuidado".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Um modelo é qualquer coisa que o agente use para prever como o ambiente reage. Há dois tipos principais: O modelo pode ser dado (as regras do xadrez, um simulador físico) ou aprendido dos dados, por aprendizado supervisionado: a entrada é (s, a), e a saída é o próximo estado e a recompensa. Aqui o scikit-learn brilha: qualquer regressor serve. Um modelo aprendido nunca é perfeito. Ao encadear previsões (prever o passo 2 a partir da previsão do passo 1, e assim por diante), os erros se acumulam, e o futuro distante fica irreal. Daí a regra prática: planeje com horizontes curtos e replaneje com frequência.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11.1 — Erro de previsão de um modelo de CartPole aprendido com 8.000 transições: o erro cresce a cada passo previsto à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Dyna (SUTTON, 1991) é uma arquitetura simples e elegante que mistura aprendizado e planejamento. A cada passo real, o agente faz três coisas: O Dyna-Q é o Dyna com o Q-learning tabular. Com n = 0 é o Q-learning puro. Com n grande, cada passo real equivale a dezenas de passos de aprendizado. No labirinto abaixo, isso reduz o aprendizado de centenas de passos para dezenas.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11.2 — A arquitetura Dyna: cada passo real alimenta o modelo, que gera muitos passos imaginados para atualizar a política.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11.3 — O labirinto do Dyna e a curva de aprendizado com diferentes números de passos de planejamento (média de 10 sementes).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Dyna planeja em segundo plano para melhorar a política. A alternativa é planejar na hora de decidir: dado o estado atual, usar o modelo para escolher a melhor ação agora, sem necessidade de política global. O MPC (model predictive control) é muito usado em engenharia. A cada passo: Replanejar corrige os erros do modelo. Quando as sequências são sorteadas ao acaso, o método se chama random shooting. Versões mais refinadas otimizam as sequências (por exemplo, o método da entropia cruzada do Capítulo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11.4 — MPC com amostragem aleatória: sorteia sequências, simula no modelo, executa a primeira ação da melhor e replaneja.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Em jogos e problemas de decisão discretos, a busca em árvore de Monte Carlo (Monte Carlo Tree Search, MCTS) planeja construindo, aos poucos, uma árvore de jogadas futuras, concentrando o esforço nos ramos mais promissores (COULOM, 2006; KOCSIS; SZEPESVÁRI, 2006; BROWNE et al., 2012). Cada iteração tem quatro fases: onde w/n é a taxa de vitórias do filho (exploração do que já se sabe), n o número de visitas ao filho, N o do pai e c uma constante (cerca de 1,4). Depois de milhares de iterações, escolhe-se a jogada mais visitada da raiz. A MCTS tem duas qualidades notáveis: não precisa de uma função de avaliação feita à mão (usa simulações) e é anytime (quanto mais tempo, melhor a decisão).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11.5 — As quatro fases do MCTS.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Avaliar posições do Go com simulações aleatórias não bastava. O AlphaGo combinou a MCTS com redes neurais profundas: uma rede de política (para sugerir jogadas promissoras) e uma rede de valor (para avaliar posições), treinadas com partidas de humanos e, depois, com autojogo e AR (SILVER et al., 2016). O AlphaZero simplificou e generalizou: sem nenhum dado humano, partindo só das regras, aprendeu Go, xadrez e shogi apenas jogando contra si mesmo (SILVER et al., 2017; 2018). O ciclo é: O MuZero foi além: nem as regras são dadas. Ele aprende um modelo (em um espaço latente, "abstrato") apenas daquilo que importa para o planejamento: a recompensa, a política e o valor, e ainda assim planeja com MCTS. Igualou o AlphaZero em Go, xadrez e shogi e superou métodos anteriores em Atari (SCHRITTWIESER et al., 2020).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11.6 — O ciclo do AlphaZero: a MCTS melhora a rede, e a rede melhora a MCTS.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Em problemas com imagens e dinâmicas complexas, o modelo é uma rede neural: O agente tende a explorar as falhas do modelo: procura regiões em que o modelo erra a favor dele. Mitigações: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Evite quando o ambiente é muito complexo para modelar com os dados disponíveis ou quando o erro do modelo é mais prejudicial que a ineficiência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os códigos do capítulo ao vivo ou peça que os alunos rodem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11.7 — Retorno do MPC conforme a quantidade de transições aleatórias usadas para aprender o modelo (3 episódios por barra; as barras de erro mostram o desvio-padrão). Mesmo com 500 transições, o planejamento supera muito o agente aleatório (≈ 22). As diferenças entre as barras são pequenas diante da variação entre episódios, então não se deve concluir que mais dados piorem o resultado: faltam episódios para distinguir.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11.8 — Resultado do MCTS contra um jogador aleatório, em função do número de simulações por jogada.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Contexto. No Capítulo 7, vimos o painel mensal de clientes (recência, frequência, gasto) da base Online Retail (UCI). Agora construímos um modelo de mundo do cliente: dado o estado atual, prevê o estado e o gasto do mês seguinte. Com ele, podemos simular o futuro de cada cliente, e avaliar o quão confiável é essa simulação. Tarefas: Ponto de partida: Entrega: notebook com a avaliação por horizonte, a medida de incerteza com o conjunto, a comparação dos três valores de vida e a conclusão sobre os usos adequados do simulador.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Um modelo imperfeito leva a decisões ruins no mundo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Sem planejamento, só há aprendizado direto.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São repetidas a cada iteração.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A MCTS serve como professor mais forte que 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 de 3 a 4 pessoas; 5 minutos de discussão e depois compartilhamento.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retomando a pergunta central e antecipando o próximo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nner" descr="/home/user/claude/livro-rl/figs/banner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"/>
            <a:ext cx="9144000" cy="1721877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Baseado em Modelo e Planejamento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Aprendizado por Reforço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Araken de Medeiros Santos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Distinguir métodos livres de modelo e baseados em modelo, com vantagens e riscos.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Descrever a arquitetura Dyna e implementar o Dyna-Q.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Aprender um modelo de dinâmica com scikit-learn e usá-lo em controle preditivo (MPC).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o acúmulo de erros do modelo e como mitigá-lo.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52958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58444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52958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 a busca em árvore de Monte Carlo (MCTS) e explicar o AlphaZero e o MuZero.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457200" y="411480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594360" y="416966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1097280" y="411480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Construir e validar um simulador de clientes a partir de dados reais.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07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Pensar antes de agir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466344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307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é um modelo?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45720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Dyna: aprender, planejar e agir juntos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466344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8745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Planejamento em tempo de decisão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45720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Busca em árvore de Monte Carlo (MCTS)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466344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441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AlphaGo a MuZero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5720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Modelos de mundo profundos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466344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0083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usar métodos baseados em modelo?</a:t>
            </a:r>
            <a:endParaRPr lang="en-US" sz="1400" dirty="0"/>
          </a:p>
        </p:txBody>
      </p:sp>
      <p:sp>
        <p:nvSpPr>
          <p:cNvPr id="29" name="Cartão"/>
          <p:cNvSpPr/>
          <p:nvPr/>
        </p:nvSpPr>
        <p:spPr>
          <a:xfrm>
            <a:off x="45720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32" name="Cartão"/>
          <p:cNvSpPr/>
          <p:nvPr/>
        </p:nvSpPr>
        <p:spPr>
          <a:xfrm>
            <a:off x="466344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5753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Projeto do capítulo: um "mundo imaginado" de clientes</a:t>
            </a:r>
            <a:endParaRPr lang="en-US" sz="1400" dirty="0"/>
          </a:p>
        </p:txBody>
      </p:sp>
      <p:sp>
        <p:nvSpPr>
          <p:cNvPr id="35" name="Cartão"/>
          <p:cNvSpPr/>
          <p:nvPr/>
        </p:nvSpPr>
        <p:spPr>
          <a:xfrm>
            <a:off x="457200" y="406908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0584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 capítulo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antes de agir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enxadrista experiente não testa jogadas no tabuleiro real.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Até aqui, quase todos os métodos eram livres de modelo: aprendiam valores ou políticas direto da experiência: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Aprender um modelo do ambiente (prever o próximo estado e a recompensa).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163824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4564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163824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Planejar com o modelo, ou seja, usá-lo para simular experiências e melhorar a política ou o valor.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antes de agir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Quadro</a:t>
            </a:r>
            <a:endParaRPr lang="en-US" sz="1200" dirty="0"/>
          </a:p>
        </p:txBody>
      </p:sp>
      <p:graphicFrame>
        <p:nvGraphicFramePr>
          <p:cNvPr id="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Livre de modelo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Baseado em modelo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Aprende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Valores ou política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Modelo + valores/política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Eficiência de dados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Baixa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Custo computacional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Baixo por passo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Alto (planeja)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Risco principal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Instabilidade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Erros do modelo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Exemplo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DQN, PPO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Dyna, MPC, AlphaZero, MuZero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 mental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dia a dia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Atletas usam visualização: ensaiam mentalmente uma jogada antes de executá-la.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modelo?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modelo é qualquer coisa que o agente use para prever como o ambiente reage: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Modelo de distribuição: dá todas as probabilidades de resultado, p(s′, r | s, a).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Modelo de amostras: dado (s, a), sorteia um resultado (s′, r).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94436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1089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94436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modelo pode ser dado (as regras do xadrez, um simulador físico) ou aprendido dos dados, por aprendizado supervisionado: a entrada é (s, a)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74904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80390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74904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perigo: erros que se acumulam: Um modelo aprendido nunca é perfeito.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modelo?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Erro de previsão de um modelo de CartPole aprendido com 8.000 transições: o erro cresce a cada passo previsto à fren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377" y="1143000"/>
            <a:ext cx="5345245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Erro de previsão de um modelo de CartPole aprendido com 8.000 transições: o erro cresce a cada passo previsto à frente.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Dyna: aprender, planejar e agir juntos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Dyna (SUTTON, 1991) é uma arquitetura simples e elegante que mistura aprendizado e planejamento: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99339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17627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9339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Aprende direto: atualiza Q com a experiência real (como no Q-learning).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Aprende o modelo: guarda o que aconteceu (s, a → r, s′).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163824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4564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163824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Planeja: executa n atualizações simuladas, escolhendo pares (s, a) já vistos e usando o modelo para gerar r e s′.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96849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96849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Dyna-Q é o Dyna com o Q-learning tabular.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Dyna: aprender, planejar e agir juntos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A arquitetura Dyna: cada passo real alimenta o modelo, que gera muitos passos imaginados para atualizar a polític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362" y="1143000"/>
            <a:ext cx="6215277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 arquitetura Dyna: cada passo real alimenta o modelo, que gera muitos passos imaginados para atualizar a política.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Dyna: aprender, planejar e agir juntos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labirinto do Dyna e a curva de aprendizado com diferentes números de passos de planejamento (média de 10 sementes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982" y="1143000"/>
            <a:ext cx="7726036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labirinto do Dyna e a curva de aprendizado com diferentes números de passos de planejamento (média de 10 sementes).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em tempo de decisão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Dyna planeja em segundo plano para melhorar a política.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Controle preditivo por modelo (MPC): O MPC (model predictive control) é muito usado em engenharia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Sorteie muitas sequências de ações de horizonte H (por exemplo, 15 passos).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163824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34670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16382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Simule cada sequência no modelo e some as recompensas previstas.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868680" y="374904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Marcador"/>
          <p:cNvSpPr/>
          <p:nvPr/>
        </p:nvSpPr>
        <p:spPr>
          <a:xfrm>
            <a:off x="1051560" y="393192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o"/>
          <p:cNvSpPr txBox="1"/>
          <p:nvPr/>
        </p:nvSpPr>
        <p:spPr>
          <a:xfrm>
            <a:off x="1508760" y="374904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Execute só a primeira ação da melhor sequência.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em tempo de decisão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MPC com amostragem aleatória: sorteia sequências, simula no modelo, executa a primeira ação da melhor e replanej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411" y="1143000"/>
            <a:ext cx="7591178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MPC com amostragem aleatória: sorteia sequências, simula no modelo, executa a primeira ação da melhor e replaneja.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em árvore de Monte Carlo (MCTS)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 jogos e problemas de decisão discretos, a busca em árvore de Monte Carlo: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Seleção: desce a árvore a partir do estado atual escolhendo filhos pela regra UCT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52374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onde w/n é a taxa de vitórias do filho (exploração do que já se sabe), n o número de visitas ao filho, N o do pai e c uma constante (cerca de 1,4).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163824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34670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16382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Expansão: acrescenta um novo nó (uma jogada ainda não tentada).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em árvore de Monte Carlo (MCTS)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11.5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Simulação (rollout): joga a partida aleatoriamente até o fim, a partir do novo nó.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Retropropagação: atualiza vitórias e visitas em todos os nós do caminho de volta.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Depois de milhares de iterações, escolhe-se a jogada mais visitada da raiz.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31089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MCTS tem duas qualidades notáveis: não precisa de uma função de avaliação feita à mão (usa simulações) e é anytime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em árvore de Monte Carlo (MCTS)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As quatro fases do MC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14130"/>
            <a:ext cx="8229600" cy="2538101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As quatro fases do MCTS.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AlphaGo a MuZero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Avaliar posições do Go com simulações aleatórias não bastava.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AlphaZero simplificou e generalizou: sem nenhum dado humano, partindo só das regras, aprendeu Go: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Autojogo: a MCTS, guiada pela rede, escolhe as jogadas das partidas.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163824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4564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163824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Dados: para cada posição, guardam-se as probabilidades de visita da MCTS (um "professor" melhor que a rede) e 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AlphaGo a MuZero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11.6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3716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Treino: a rede aprende a prever as jogadas da MCTS e o resultado.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rede melhorada guia a MCTS seguinte.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MuZero foi além: nem as regras são dadas.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AlphaGo a MuZero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ciclo do AlphaZero: a MCTS melhora a rede, e a rede melhora a MC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354" y="1143000"/>
            <a:ext cx="7267291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ciclo do AlphaZero: a MCTS melhora a rede, e a rede melhora a MCTS.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mundo profundos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47241"/>
          </a:xfrm>
          <a:prstGeom prst="roundRect">
            <a:avLst>
              <a:gd name="adj" fmla="val 245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29461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47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 problemas com imagens e dinâmicas complexas, o modelo é uma rede neural: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45689"/>
            <a:ext cx="7818120" cy="653660"/>
          </a:xfrm>
          <a:prstGeom prst="roundRect">
            <a:avLst>
              <a:gd name="adj" fmla="val 1678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017655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45689"/>
            <a:ext cx="704088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World Models (HA; SCHMIDHUBER, 2018): aprendem uma representação comprimida do mundo e uma rede recorrente que prevê o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09077"/>
            <a:ext cx="7818120" cy="653660"/>
          </a:xfrm>
          <a:prstGeom prst="roundRect">
            <a:avLst>
              <a:gd name="adj" fmla="val 1678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781043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09077"/>
            <a:ext cx="704088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Dreamer (HAFNER et al., 2020): aprende um modelo latente e treina o agente apenas com trajetórias imaginadas.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272466"/>
            <a:ext cx="7818120" cy="653660"/>
          </a:xfrm>
          <a:prstGeom prst="roundRect">
            <a:avLst>
              <a:gd name="adj" fmla="val 1678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5444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272466"/>
            <a:ext cx="704088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PILCO (DEISENROTH; RASMUSSEN, 2011): usa processos gaussianos que modelam a incerteza e é muito eficiente em dados em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868680" y="4035854"/>
            <a:ext cx="7818120" cy="653660"/>
          </a:xfrm>
          <a:prstGeom prst="roundRect">
            <a:avLst>
              <a:gd name="adj" fmla="val 1678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Marcador"/>
          <p:cNvSpPr/>
          <p:nvPr/>
        </p:nvSpPr>
        <p:spPr>
          <a:xfrm>
            <a:off x="1051560" y="430782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o"/>
          <p:cNvSpPr txBox="1"/>
          <p:nvPr/>
        </p:nvSpPr>
        <p:spPr>
          <a:xfrm>
            <a:off x="1508760" y="4035854"/>
            <a:ext cx="7040880" cy="65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MBPO (JANNER et al., 2019): usa o modelo para gerar rollouts curtos, a partir de estados reais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mundo profundos (cont.)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11.7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868680" y="1188720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1508760" y="1188720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Conjuntos de modelos (CHUA et al., 2018): vários modelos treinados com dados reamostrados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Incerteza e exploração do modelo: O agente tende a explorar as falhas do modelo: procura regiões em que o modelo erra a favor dele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868680" y="2798064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"/>
          <p:cNvSpPr/>
          <p:nvPr/>
        </p:nvSpPr>
        <p:spPr>
          <a:xfrm>
            <a:off x="1051560" y="298094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o"/>
          <p:cNvSpPr txBox="1"/>
          <p:nvPr/>
        </p:nvSpPr>
        <p:spPr>
          <a:xfrm>
            <a:off x="1508760" y="279806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Horizontes curtos e replanejamento.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868680" y="3383280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arcador"/>
          <p:cNvSpPr/>
          <p:nvPr/>
        </p:nvSpPr>
        <p:spPr>
          <a:xfrm>
            <a:off x="1051560" y="36758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o"/>
          <p:cNvSpPr txBox="1"/>
          <p:nvPr/>
        </p:nvSpPr>
        <p:spPr>
          <a:xfrm>
            <a:off x="1508760" y="3383280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Conjuntos de modelos e penalidade pela incerteza (desconfiar onde os modelos discordam).</a:t>
            </a:r>
            <a:endParaRPr lang="en-US" sz="1600" dirty="0"/>
          </a:p>
        </p:txBody>
      </p:sp>
      <p:sp>
        <p:nvSpPr>
          <p:cNvPr id="16" name="Cartão"/>
          <p:cNvSpPr/>
          <p:nvPr/>
        </p:nvSpPr>
        <p:spPr>
          <a:xfrm>
            <a:off x="868680" y="41879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Marcador"/>
          <p:cNvSpPr/>
          <p:nvPr/>
        </p:nvSpPr>
        <p:spPr>
          <a:xfrm>
            <a:off x="1051560" y="43708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o"/>
          <p:cNvSpPr txBox="1"/>
          <p:nvPr/>
        </p:nvSpPr>
        <p:spPr>
          <a:xfrm>
            <a:off x="1508760" y="41879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Misturar dados reais e simulados.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métodos baseados em modelo?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11.8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868680" y="1188720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arcador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1508760" y="1188720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Dados reais são caros (robôs, saúde, processos industriais): o modelo economiza interações.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993392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28600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993392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regras são conhecidas (jogos de tabuleiro): o modelo é perfeito e a busca é poderosa.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798064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98094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79806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Há segurança em jogo: planejar antes de agir evita erros caros.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38328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54787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38328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Evite quando o ambiente é muito complexo para modelar com os dados disponíveis ou quando o erro do modelo é mais prejudicial que a ineficiência 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Hora de programar com Python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programar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2990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Dyna-Q no labirinto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258318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8897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76606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Aprendendo o modelo do CartPole e medindo o acúmulo de erros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70916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1495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MPC com o modelo aprendido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6835140" y="1371600"/>
            <a:ext cx="1851660" cy="29260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40930" y="1600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018020" y="2423160"/>
            <a:ext cx="14859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MCTS na velha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Retorno do MPC conforme a quantidade de transições aleatórias usadas para aprender o modelo (3 episódios por barra; as barras de erro mostram o desvio-padrão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898" y="1143000"/>
            <a:ext cx="5292203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Retorno do MPC conforme a quantidade de transições aleatórias usadas para aprender o modelo (3 episódios por barra; as barras de erro mostram o desvio-padrão).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Resultado do MCTS contra um jogador aleatório, em função do número de simulações por jogad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714" y="1143000"/>
            <a:ext cx="4562573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Resultado do MCTS contra um jogador aleatório, em função do número de simulações por jogada.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um "mundo imaginado" de clientes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Entrega: notebook com a avaliação por horizonte, a medida de incerteza com o conjunto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Carregue painel_clientes.csv e monte (estado atual) → (próximo estado, gasto).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Divida os clientes em treino e teste (GroupKFold).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52958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58444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52958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Meça o erro de 1 passo no teste.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11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Baseado em modelo: aprender um modelo (s, a → s′, r) e planejar com ele; muito mais eficiente em dados, porém sujeito a erros do modelo.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Os erros do modelo se acumulam com o horizonte: planeje curto e replaneje.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Dyna: aprende direto, aprende o modelo e planeja com passos imaginados; o Dyna-Q acelera muito o aprendizado.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11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MPC: simula sequências de ações no modelo e executa a primeira da melhor, replanejando sempre.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MCTS: seleção (UCT), expansão, simulação e retropropagação; AlphaZero e MuZero a combinam com redes neurais e autojogo.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Incerteza (conjuntos de modelos) e validação no ambiente real protegem contra a exploração das falhas do modelo.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relâmpago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Teste o que você aprendeu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1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principal risco do aprendizado baseado em modelo é: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erros do modelo, que o agente pode explorar.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falta de recompensas.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excesso de dados.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impossibilidade de usar redes neurais.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2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Dyna-Q com n = 0 passos de planejamento equivale a: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Q-learning puro.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Monte Carlo.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programação dinâmica.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SARSA(λ).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 quatro fases da MCTS são: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seleção, expansão, simulação e retropropagação.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coleta, treino, avaliação e teste.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amostragem, normalização, predição e perda.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exploração, aproveitamento, desconto e recompensa.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4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AlphaZero, a rede é treinada para prever: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probabilidades de visita da MCTS e o resultado da partida.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o resultado.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a jogada humana.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próximo quadro da imagem.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do quiz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1) a  —  Um modelo imperfeito leva a decisões ruins no mundo real.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2) a  —  Sem planejamento, só há aprendizado direto.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3) a  —  São repetidas a cada iteração.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4) a  —  A MCTS serve como professor mais forte que a rede.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 em grupo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Debate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Compare aprendizado livre de modelo e baseado em modelo quanto a eficiência de dados, custo computacional e riscos.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Calcule o valor UCT, com c = 1,4, de um filho com w = 6 vitórias, n = 10 visitas e pai com N = 50 visitas.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Explique por que o modelo de dinâmica do CartPole prevê a variação do estado (Δs) em vez do próximo estado.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 próxima!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Capítulo 11: Aprendizado Baseado em Modelo e Planejamento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Pratique: refaça os códigos, resolva as questões e faça o projeto do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por Reforço">
  <a:themeElements>
    <a:clrScheme name="Aprendizado por Reforço">
      <a:dk1>
        <a:srgbClr val="1B1F3B"/>
      </a:dk1>
      <a:lt1>
        <a:srgbClr val="FFFFFF"/>
      </a:lt1>
      <a:dk2>
        <a:srgbClr val="14173F"/>
      </a:dk2>
      <a:lt2>
        <a:srgbClr val="F2F3FB"/>
      </a:lt2>
      <a:accent1>
        <a:srgbClr val="F59E0B"/>
      </a:accent1>
      <a:accent2>
        <a:srgbClr val="12A89A"/>
      </a:accent2>
      <a:accent3>
        <a:srgbClr val="6C5CE7"/>
      </a:accent3>
      <a:accent4>
        <a:srgbClr val="E84A8A"/>
      </a:accent4>
      <a:accent5>
        <a:srgbClr val="3B82F6"/>
      </a:accent5>
      <a:accent6>
        <a:srgbClr val="94A3B8"/>
      </a:accent6>
      <a:hlink>
        <a:srgbClr val="3B82F6"/>
      </a:hlink>
      <a:folHlink>
        <a:srgbClr val="6C5CE7"/>
      </a:folHlink>
    </a:clrScheme>
    <a:fontScheme name="Aprendizado por Reforç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por Reforço — Capítulo 11</dc:title>
  <dc:subject>PptxGenJS Presentation</dc:subject>
  <dc:creator>Araken de Medeiros Santos</dc:creator>
  <cp:lastModifiedBy>Araken de Medeiros Santos</cp:lastModifiedBy>
  <cp:revision>1</cp:revision>
  <dcterms:created xsi:type="dcterms:W3CDTF">2026-10-26T13:18:21Z</dcterms:created>
  <dcterms:modified xsi:type="dcterms:W3CDTF">2026-10-26T13:18:21Z</dcterms:modified>
</cp:coreProperties>
</file>