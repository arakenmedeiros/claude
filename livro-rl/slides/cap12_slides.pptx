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0ee4ef7-1038-f5d8-fba9-ac0b468f9051}">
          <p14:sldIdLst>
            <p14:sldId id="256"/>
          </p14:sldIdLst>
        </p14:section>
        <p14:section name="Início" id="{a143c24d-20c8-9068-4268-6c476063eb49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Mão na massa" id="{41c3b1a2-9803-148c-b5dd-72a61afcd7bb}">
          <p14:sldIdLst>
            <p14:sldId id="273"/>
            <p14:sldId id="274"/>
            <p14:sldId id="275"/>
          </p14:sldIdLst>
        </p14:section>
        <p14:section name="Projeto do capítulo" id="{4a714192-abf9-9752-3ebb-011de777f922}">
          <p14:sldIdLst>
            <p14:sldId id="276"/>
            <p14:sldId id="277"/>
          </p14:sldIdLst>
        </p14:section>
        <p14:section name="Resumo" id="{401ef6f0-1cd2-53d1-2ba2-e364228ec7e9}">
          <p14:sldIdLst>
            <p14:sldId id="278"/>
            <p14:sldId id="279"/>
          </p14:sldIdLst>
        </p14:section>
        <p14:section name="Quiz relâmpago" id="{9248b9c8-ca5f-d4ec-db7a-51e0de2752fb}">
          <p14:sldIdLst>
            <p14:sldId id="280"/>
          </p14:sldIdLst>
        </p14:section>
        <p14:section name="Quiz" id="{f605c28c-1703-827a-d1c9-cee299b08692}">
          <p14:sldIdLst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Encerramento" id="{962de7e3-867f-e5fa-0a18-a59f3c41fc65}">
          <p14:sldIdLst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12. Apresente a pergunta central do capítulo e o roteiro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com a turma e pergunte quem já conhece algum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mapa da aula: cada item é uma estação da viagem.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Até aqui, o agente aprendia interagindo: agia, observava, ajustava. Mas há muitos problemas em que isso é impossível, perigoso ou caro: Nessas situações, temos um conjunto fixo de dados D = {(s, a, r, s′)}, gerado por alguma política de comportamento (humanos, sistemas antigos), e queremos: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citem outro exemplo do próprio cotidiano.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A forma mais simples é a clonagem de comportamento (behavioral cloning, BC): transformar o problema em aprendizado supervisionado. Dados pares (estado, ação do especialista), treina-se um classificador (ou regressor) que prevê a ação do especialista a partir do estado. O sistema ALVINN, de Pomerleau (1991), aprendeu a dirigir um veículo assim, observando um motorista humano. A BC é simples e estável, mas tem um problema clássico. Durante o treino, o aprendiz só vê estados visitados pelo especialista. Ao executar a política aprendida, ele comete pequenos erros e chega a estados que o especialista nunca visitou, onde o classificador não foi treinado e erra mais. Os erros se acumulam com o tempo: um erro por passo vira, em T passos, um erro da ordem de T² (ROSS; GORDON; BAGNELL, 2011). O DAgger (Dataset Aggregation) resolve esse problema pedindo ao especialista que rotule os estados visitados pelo aprendiz (ROSS; GORDON; BAGNELL, 2011): O custo é precisar do especialista disponível durante o treino (para rotular).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12.1 — Acúmulo de erros na clonagem de comportamento: o aprendiz sai da trajetória do especialista e entra em estados que nunca viu.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Em vez de imitar as ações, podemos inferir qual recompensa o especialista parece estar maximizando e depois otimizar essa recompensa. Isso é o aprendizado por reforço inverso (IRL) (NG; RUSSELL, 2000). A vantagem do IRL é que a recompensa inferida generaliza melhor que as ações copiadas e ajuda a entender o que o especialista valoriza.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No AR offline (também chamado de batch RL), queremos uma política melhor que a dos dados, aprendendo apenas do conjunto fixo (LEVINE et al., 2020). Algoritmos off-policy como o Q-learning parecem resolver, mas há uma armadilha. Ao calcular o alvo y = r + γ maxₐ′ Q(s′, a′), o Q-learning avalia ações a′ que nunca aparecem nos dados. A rede, sem exemplos, superestima o valor dessas ações (extrapolação). A política passa a preferir ações nunca testadas, e, sem poder interagir, ninguém corrige o erro. Resultado: colapso do desempenho. Há benchmarks como o D4RL para comparar algoritmos offline (FU et al., 2020).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12.2 — O AR offline "enxerga" só uma parte do espaço de ações. O valor das ações fora dos dados é extrapolado e costuma ser superestimado.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Antes de colocar uma política nova em produção, queremos estimar seu valor com os dados antigos. Esse é o problema da avaliação off-policy (off-policy evaluation, OPE). Considere o caso mais simples, um bandit com dados registrados: para cada exemplo temos o contexto x, a ação a tomada pela política de registro (ou de comportamento, π₀) e a recompensa y. Queremos estimar o valor de uma política-alvo π: O desafio: só conhecemos a recompensa da ação que de fato foi tomada. O que teria acontecido com a outra ação é desconhecido. Isso se chama dado contrafactual faltante. Seja e(x) = P(a | x) a propensão: a probabilidade de a política de registro ter escolhido a ação a no contexto x. Seja μ̂(x, a) um modelo do resultado esperado (treinado com os dados). Em palavras: "comece pela previsão do modelo e corrija o erro dela, nos casos em que a ação coincide, com o peso de importância". É consistente se o modelo OU a propensão estiver correto (DUDÍK; LANGFORD; LI, 2011). Para decisões de alto risco, existem métodos que dão limites de confiança conservadores para o valor de uma política (THOMAS; THEOCHAROUS; GHAVAMZADEH, 2015), e métodos para avaliação em sequências (THOMAS; BRUNSKILL, 2016).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fórmula em voz alta, termo a termo, e traduza com a frase "em palavras".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linha a linha; peça que a turma justifique cada "cuidado".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Todos esses métodos tentam responder a uma pergunta causal: "o que teria acontecido se tivéssemos feito outra coisa?". Dados observacionais podem enganar: Em marketing, o equivalente é: "o banco liga por celular para clientes que já parecem mais receptivos". A taxa de sucesso do celular parece maior, mas parte é efeito de quem foi escolhido. Ajustar pelas propensões ajuda somente se as variáveis relevantes forem observadas.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citem outro exemplo do próprio cotidiano.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Execute os códigos do capítulo ao vivo ou peça que os alunos rodem em duplas.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12.3 — Comparação dos estimadores de avaliação off-policy num experimento simulado (dados sintéticos, 200 repetições): o método direto (DM) é enviesado (seu modelo é mal especificado) e pouco disperso; o IPS é praticamente sem viés, mas o mais disperso; o SNIPS e o duplamente robusto (DR) mantêm o viés baixo com dispersão um pouco menor. A linha tracejada é o valor verdadeiro.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Contexto. O banco do Bank Marketing quer saber se sempre contatar por celular aumentaria as contratações. Você fará uma avaliação off-policy com intervalos de confiança e uma análise crítica de suas hipóteses. Tarefas: Ponto de partida (bootstrap do DR): Entrega: notebook com as estimativas, os intervalos, o diagnóstico de sobreposição, a análise de sensibilidade e a conclusão crítica.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Prevê a ação do especialista dado o estado.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O discriminador fornece a recompensa para o aprendiz.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Usa regressão por expectis sobre ações dos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O viés vem de erros de especificação do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Divida a turma em grupos de 3 a 4 pessoas; 5 minutos de discussão e depois compartilhamento.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retomando a pergunta central e antecipando o próximo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Araken de Medeiros Santos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Araken de Medeiros Santos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nner" descr="/home/user/claude/livro-rl/figs/banner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0040"/>
            <a:ext cx="9144000" cy="1721877"/>
          </a:xfrm>
          <a:prstGeom prst="rect">
            <a:avLst/>
          </a:prstGeom>
        </p:spPr>
      </p:pic>
      <p:sp>
        <p:nvSpPr>
          <p:cNvPr id="4" name="Título"/>
          <p:cNvSpPr txBox="1"/>
          <p:nvPr/>
        </p:nvSpPr>
        <p:spPr>
          <a:xfrm>
            <a:off x="548640" y="2331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Offline, por Imitação e Avaliação de Políticas</a:t>
            </a:r>
            <a:endParaRPr lang="en-US" sz="38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Aprendizado por Reforço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Araken de Medeiros Santos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12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56276"/>
          </a:xfrm>
          <a:prstGeom prst="roundRect">
            <a:avLst>
              <a:gd name="adj" fmla="val 240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3397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562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Explicar por que e quando aprender sem interagir com o ambiente.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54724"/>
            <a:ext cx="8229600" cy="456276"/>
          </a:xfrm>
          <a:prstGeom prst="roundRect">
            <a:avLst>
              <a:gd name="adj" fmla="val 240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799983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54724"/>
            <a:ext cx="7452360" cy="4562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Implementar a clonagem de comportamento e explicar o acúmulo de erros e o DAgger.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320729"/>
            <a:ext cx="8229600" cy="456276"/>
          </a:xfrm>
          <a:prstGeom prst="roundRect">
            <a:avLst>
              <a:gd name="adj" fmla="val 240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365987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320729"/>
            <a:ext cx="7452360" cy="4562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Descrever, em linhas gerais, o aprendizado por reforço inverso e a imitação adversarial.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2886733"/>
            <a:ext cx="8229600" cy="456276"/>
          </a:xfrm>
          <a:prstGeom prst="roundRect">
            <a:avLst>
              <a:gd name="adj" fmla="val 240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2931991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2886733"/>
            <a:ext cx="7452360" cy="4562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Explicar o problema do deslocamento de distribuição e as ideias de BCQ, CQL e IQL.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452737"/>
            <a:ext cx="8229600" cy="666865"/>
          </a:xfrm>
          <a:prstGeom prst="roundRect">
            <a:avLst>
              <a:gd name="adj" fmla="val 164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360329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452737"/>
            <a:ext cx="7452360" cy="666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Estimar o valor de uma política a partir de dados registrados (IPS, SNIPS, método direto e duplamente robusto).</a:t>
            </a:r>
            <a:endParaRPr lang="en-US" sz="1600" dirty="0"/>
          </a:p>
        </p:txBody>
      </p:sp>
      <p:sp>
        <p:nvSpPr>
          <p:cNvPr id="20" name="Cartão"/>
          <p:cNvSpPr/>
          <p:nvPr/>
        </p:nvSpPr>
        <p:spPr>
          <a:xfrm>
            <a:off x="457200" y="4229331"/>
            <a:ext cx="8229600" cy="456276"/>
          </a:xfrm>
          <a:prstGeom prst="roundRect">
            <a:avLst>
              <a:gd name="adj" fmla="val 240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úmero"/>
          <p:cNvSpPr/>
          <p:nvPr/>
        </p:nvSpPr>
        <p:spPr>
          <a:xfrm>
            <a:off x="594360" y="4274589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o"/>
          <p:cNvSpPr txBox="1"/>
          <p:nvPr/>
        </p:nvSpPr>
        <p:spPr>
          <a:xfrm>
            <a:off x="1097280" y="4229331"/>
            <a:ext cx="7452360" cy="4562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Diferenciar associação e causalidade em dados observacionais.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12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23444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307592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234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Aprender sem interagir</a:t>
            </a:r>
            <a:endParaRPr lang="en-US" sz="1400" dirty="0"/>
          </a:p>
        </p:txBody>
      </p:sp>
      <p:sp>
        <p:nvSpPr>
          <p:cNvPr id="8" name="Cartão"/>
          <p:cNvSpPr/>
          <p:nvPr/>
        </p:nvSpPr>
        <p:spPr>
          <a:xfrm>
            <a:off x="4663440" y="123444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130759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1234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Aprendizado por imitação</a:t>
            </a:r>
            <a:endParaRPr lang="en-US" sz="1400" dirty="0"/>
          </a:p>
        </p:txBody>
      </p:sp>
      <p:sp>
        <p:nvSpPr>
          <p:cNvPr id="11" name="Cartão"/>
          <p:cNvSpPr/>
          <p:nvPr/>
        </p:nvSpPr>
        <p:spPr>
          <a:xfrm>
            <a:off x="457200" y="1801368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8745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18013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Aprendizado por reforço inverso</a:t>
            </a:r>
            <a:endParaRPr lang="en-US" sz="1400" dirty="0"/>
          </a:p>
        </p:txBody>
      </p:sp>
      <p:sp>
        <p:nvSpPr>
          <p:cNvPr id="14" name="Cartão"/>
          <p:cNvSpPr/>
          <p:nvPr/>
        </p:nvSpPr>
        <p:spPr>
          <a:xfrm>
            <a:off x="4663440" y="1801368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1874520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212080" y="18013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Aprendizado por reforço offline</a:t>
            </a:r>
            <a:endParaRPr lang="en-US" sz="1400" dirty="0"/>
          </a:p>
        </p:txBody>
      </p:sp>
      <p:sp>
        <p:nvSpPr>
          <p:cNvPr id="17" name="Cartão"/>
          <p:cNvSpPr/>
          <p:nvPr/>
        </p:nvSpPr>
        <p:spPr>
          <a:xfrm>
            <a:off x="457200" y="2368296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441448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236829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Avaliação de políticas a partir de dados registrados</a:t>
            </a:r>
            <a:endParaRPr lang="en-US" sz="1400" dirty="0"/>
          </a:p>
        </p:txBody>
      </p:sp>
      <p:sp>
        <p:nvSpPr>
          <p:cNvPr id="20" name="Cartão"/>
          <p:cNvSpPr/>
          <p:nvPr/>
        </p:nvSpPr>
        <p:spPr>
          <a:xfrm>
            <a:off x="4663440" y="2368296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244144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212080" y="236829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Associação e causalidade</a:t>
            </a:r>
            <a:endParaRPr lang="en-US" sz="1400" dirty="0"/>
          </a:p>
        </p:txBody>
      </p:sp>
      <p:sp>
        <p:nvSpPr>
          <p:cNvPr id="23" name="Cartão"/>
          <p:cNvSpPr/>
          <p:nvPr/>
        </p:nvSpPr>
        <p:spPr>
          <a:xfrm>
            <a:off x="457200" y="2935224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300837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005840" y="29352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Mão na massa</a:t>
            </a:r>
            <a:endParaRPr lang="en-US" sz="1400" dirty="0"/>
          </a:p>
        </p:txBody>
      </p:sp>
      <p:sp>
        <p:nvSpPr>
          <p:cNvPr id="26" name="Cartão"/>
          <p:cNvSpPr/>
          <p:nvPr/>
        </p:nvSpPr>
        <p:spPr>
          <a:xfrm>
            <a:off x="4663440" y="2935224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3008376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212080" y="29352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Projeto do capítulo: auditando a escolha do canal de contato</a:t>
            </a:r>
            <a:endParaRPr lang="en-US" sz="1400" dirty="0"/>
          </a:p>
        </p:txBody>
      </p:sp>
      <p:sp>
        <p:nvSpPr>
          <p:cNvPr id="29" name="Cartão"/>
          <p:cNvSpPr/>
          <p:nvPr/>
        </p:nvSpPr>
        <p:spPr>
          <a:xfrm>
            <a:off x="457200" y="3502152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575304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005840" y="35021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Resumo do capítulo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sem interagir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12.1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Até aqui, o agente aprendia interagindo: agia, observava, ajustava: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Saúde: não podemos testar tratamentos aleatórios em pacientes.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35915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5420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35915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Direção autônoma: não podemos "explorar" batendo carros.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868680" y="2944368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arcador"/>
          <p:cNvSpPr/>
          <p:nvPr/>
        </p:nvSpPr>
        <p:spPr>
          <a:xfrm>
            <a:off x="1051560" y="312724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o"/>
          <p:cNvSpPr txBox="1"/>
          <p:nvPr/>
        </p:nvSpPr>
        <p:spPr>
          <a:xfrm>
            <a:off x="1508760" y="294436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Recomendação e publicidade: já existem anos de logs de decisões passadas.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868680" y="3529584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Marcador"/>
          <p:cNvSpPr/>
          <p:nvPr/>
        </p:nvSpPr>
        <p:spPr>
          <a:xfrm>
            <a:off x="1051560" y="3712464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o"/>
          <p:cNvSpPr txBox="1"/>
          <p:nvPr/>
        </p:nvSpPr>
        <p:spPr>
          <a:xfrm>
            <a:off x="1508760" y="3529584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Indústria: parar uma fábrica para experimentar custa muito.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sem interagir (cont.)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12.1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Nessas situações, temos um conjunto fixo de dados D = {(s, a, r, s′)}: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Imitar o comportamento (aprendizado por imitação);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868680" y="235915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Marcador"/>
          <p:cNvSpPr/>
          <p:nvPr/>
        </p:nvSpPr>
        <p:spPr>
          <a:xfrm>
            <a:off x="1051560" y="25420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o"/>
          <p:cNvSpPr txBox="1"/>
          <p:nvPr/>
        </p:nvSpPr>
        <p:spPr>
          <a:xfrm>
            <a:off x="1508760" y="235915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Aprender uma política melhor que a dos dados (aprendizado por reforço offline);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868680" y="2944368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Marcador"/>
          <p:cNvSpPr/>
          <p:nvPr/>
        </p:nvSpPr>
        <p:spPr>
          <a:xfrm>
            <a:off x="1051560" y="312724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o"/>
          <p:cNvSpPr txBox="1"/>
          <p:nvPr/>
        </p:nvSpPr>
        <p:spPr>
          <a:xfrm>
            <a:off x="1508760" y="294436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Avaliar uma política nova antes de colocá-la em produção (avaliação off-policy).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a cozinhar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No dia a dia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Você pode aprender assistindo a um chef (imitação), lendo as avaliações de pratos servidos e descobrindo quais combinações funcionam (offline) 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por imitação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12.2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932688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4721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Clonagem de comportamento: A forma mais simples é a clonagem de comportamento (behavioral cloning, BC): transformar o problema em aprendizado supervisionado.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2231136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3957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2231136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acúmulo de erros: Durante o treino, o aprendiz só vê estados visitados pelo especialista.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457200" y="3035808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32004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3035808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DAgger: O DAgger (Dataset Aggregation) resolve esse problema pedindo ao especialista que rotule os estados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por imitação (cont.)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12.2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868680" y="1188720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rcador"/>
          <p:cNvSpPr/>
          <p:nvPr/>
        </p:nvSpPr>
        <p:spPr>
          <a:xfrm>
            <a:off x="1051560" y="137160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1508760" y="118872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Treine o aprendiz com os dados atuais.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Execute o aprendiz e registre os estados que ele visita.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868680" y="235915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Marcador"/>
          <p:cNvSpPr/>
          <p:nvPr/>
        </p:nvSpPr>
        <p:spPr>
          <a:xfrm>
            <a:off x="1051560" y="25420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o"/>
          <p:cNvSpPr txBox="1"/>
          <p:nvPr/>
        </p:nvSpPr>
        <p:spPr>
          <a:xfrm>
            <a:off x="1508760" y="235915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Peça ao especialista a ação correta para esses estados.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por imitação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Acúmulo de erros na clonagem de comportamento: o aprendiz sai da trajetória do especialista e entra em estados que nunca viu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3562" y="1143000"/>
            <a:ext cx="5636877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Acúmulo de erros na clonagem de comportamento: o aprendiz sai da trajetória do especialista e entra em estados que nunca viu.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por reforço inverso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12.3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17006"/>
          </a:xfrm>
          <a:prstGeom prst="roundRect">
            <a:avLst>
              <a:gd name="adj" fmla="val 1778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14343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1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Em vez de imitar as ações, podemos inferir qual recompensa o especialista parece estar maximizando e depois otimizar essa recompensa.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868680" y="1915454"/>
            <a:ext cx="7818120" cy="617006"/>
          </a:xfrm>
          <a:prstGeom prst="roundRect">
            <a:avLst>
              <a:gd name="adj" fmla="val 17784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2169094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915454"/>
            <a:ext cx="7040880" cy="61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Aprendizado por aprendiz (apprenticeship learning): encontra uma política cujas estatísticas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642189"/>
            <a:ext cx="7818120" cy="617006"/>
          </a:xfrm>
          <a:prstGeom prst="roundRect">
            <a:avLst>
              <a:gd name="adj" fmla="val 17784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89582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642189"/>
            <a:ext cx="7040880" cy="61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Entropia máxima (ZIEBART et al., 2008): entre as recompensas compatíveis com o especialista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868680" y="3368923"/>
            <a:ext cx="7818120" cy="617006"/>
          </a:xfrm>
          <a:prstGeom prst="roundRect">
            <a:avLst>
              <a:gd name="adj" fmla="val 17784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arcador"/>
          <p:cNvSpPr/>
          <p:nvPr/>
        </p:nvSpPr>
        <p:spPr>
          <a:xfrm>
            <a:off x="1051560" y="362256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o"/>
          <p:cNvSpPr txBox="1"/>
          <p:nvPr/>
        </p:nvSpPr>
        <p:spPr>
          <a:xfrm>
            <a:off x="1508760" y="3368923"/>
            <a:ext cx="7040880" cy="61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GAIL (generative adversarial imitation learning): treina um discriminador que tenta distinguir trajetórias do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4095657"/>
            <a:ext cx="8229600" cy="617006"/>
          </a:xfrm>
          <a:prstGeom prst="roundRect">
            <a:avLst>
              <a:gd name="adj" fmla="val 1778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4221281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4095657"/>
            <a:ext cx="7452360" cy="61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vantagem do IRL é que a recompensa inferida generaliza melhor que as ações copiadas e ajuda a entender o que o especialista valoriza.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por reforço offline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12.4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 AR offline (também chamado de batch RL), queremos uma política melhor que a dos dados, aprendendo apenas do conjunto fixo (LEVINE et al., 2020).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problema do deslocamento de distribuição: Ao calcular o alvo y = r + γ maxₐ′ Q(s′, a′), o Q-learning avalia ações a′ que nunca aparecem nos dados.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457200" y="279806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96265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798064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ideia comum: confiar apenas no que os dados mostram: Restringir a política a ações próximas das dos dados: BCQ (FUJIMOTO; MEGER; PRECUP, 2019).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por reforço offline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O AR offline &quot;enxerga&quot; só uma parte do espaço de açõ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5256" y="1143000"/>
            <a:ext cx="5153487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O AR offline "enxerga" só uma parte do espaço de ações.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de políticas a partir de dados registrados</a:t>
            </a:r>
            <a:endParaRPr lang="en-US" sz="24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12.5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Antes de colocar uma política nova em produção, queremos estimar seu valor com os dados antigos.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04825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desafio: só conhecemos a recompensa da ação que de fato foi tomada.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578608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7432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578608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Os estimadores: Seja e(x) = P(a | x) a propensão: a probabilidade de a política de registro ter escolhido a ação a no contexto x.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338328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54787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338328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Condições necessárias: Sobreposição (positividade): se a política-alvo escolhe uma ação em algum contexto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de políticas a partir de dados registrados</a:t>
            </a:r>
            <a:endParaRPr lang="en-US" sz="24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Fórmula</a:t>
            </a:r>
            <a:endParaRPr lang="en-US" sz="1200" dirty="0"/>
          </a:p>
        </p:txBody>
      </p:sp>
      <p:sp>
        <p:nvSpPr>
          <p:cNvPr id="5" name="Fórmula"/>
          <p:cNvSpPr/>
          <p:nvPr/>
        </p:nvSpPr>
        <p:spPr>
          <a:xfrm>
            <a:off x="731520" y="1325880"/>
            <a:ext cx="7680960" cy="128016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V̂_DR = média[ μ̂(x, π(x)) + 1[a = π(x)] / e(x, a) × ( y − μ̂(x, a) ) ]</a:t>
            </a:r>
            <a:endParaRPr lang="en-US" sz="2200" dirty="0"/>
          </a:p>
        </p:txBody>
      </p:sp>
      <p:sp>
        <p:nvSpPr>
          <p:cNvPr id="6" name="Etiqueta"/>
          <p:cNvSpPr/>
          <p:nvPr/>
        </p:nvSpPr>
        <p:spPr>
          <a:xfrm>
            <a:off x="731520" y="283464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EM PALAVRAS</a:t>
            </a:r>
            <a:endParaRPr lang="en-US" sz="1100" dirty="0"/>
          </a:p>
        </p:txBody>
      </p:sp>
      <p:sp>
        <p:nvSpPr>
          <p:cNvPr id="7" name="Texto"/>
          <p:cNvSpPr txBox="1"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"comece pela previsão do modelo e corrija o erro dela, nos casos em que a ação coincide, com o peso de importância". É consistente se o modelo OU a propensão estiver correto (DUDÍK; LANGFORD; LI, 2011).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de políticas a partir de dados registrados</a:t>
            </a:r>
            <a:endParaRPr lang="en-US" sz="24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Quadro</a:t>
            </a:r>
            <a:endParaRPr lang="en-US" sz="1200" dirty="0"/>
          </a:p>
        </p:txBody>
      </p:sp>
      <p:graphicFrame>
        <p:nvGraphicFramePr>
          <p:cNvPr id="16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Estimador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Viés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Variância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Precisa de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DM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 o modelo é ruim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Baixa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Modelo do resultado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IPS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Nenhum (propensão correta)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Propensões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SNIPS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Pequeno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Média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Propensões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Pequeno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Média/baixa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Ambos (basta um correto)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Associação e causalidade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12.6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Em marketing, o equivalente é: "o banco liga por celular para clientes que já parecem mais receptivos".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exemplo clássico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Atenção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Hospitais enviam os pacientes mais graves para a UTI.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Hora de programar com Python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programar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12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371600"/>
            <a:ext cx="1143000" cy="292608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8660" y="16002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23160"/>
            <a:ext cx="777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Um especialista para o CartPole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1874520" y="1371600"/>
            <a:ext cx="1143000" cy="292608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25980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057400" y="2423160"/>
            <a:ext cx="777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Clonagem de comportamento e acúmulo de erros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3291840" y="1371600"/>
            <a:ext cx="1143000" cy="292608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4330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2423160"/>
            <a:ext cx="777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DAgger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709160" y="1371600"/>
            <a:ext cx="1143000" cy="292608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60620" y="16002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2423160"/>
            <a:ext cx="777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AR offline com o Fitted Q-Iteration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6126480" y="1371600"/>
            <a:ext cx="1143000" cy="292608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77940" y="16002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2423160"/>
            <a:ext cx="777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Avaliação off-policy com dados do Bank Marketing</a:t>
            </a:r>
            <a:endParaRPr lang="en-US" sz="1600" dirty="0"/>
          </a:p>
        </p:txBody>
      </p:sp>
      <p:sp>
        <p:nvSpPr>
          <p:cNvPr id="20" name="Cartão"/>
          <p:cNvSpPr/>
          <p:nvPr/>
        </p:nvSpPr>
        <p:spPr>
          <a:xfrm>
            <a:off x="7543800" y="1371600"/>
            <a:ext cx="1143000" cy="292608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95260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7726680" y="2423160"/>
            <a:ext cx="777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Qual estimador é melhor? Um experimento controlado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Comparação dos estimadores de avaliação off-policy num experimento simul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8017" y="1143000"/>
            <a:ext cx="5627966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Comparação dos estimadores de avaliação off-policy num experimento simulado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do capítulo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auditando a escolha do canal de contato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12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Contexto.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9385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Entrega: notebook com as estimativas, os intervalos, o diagnóstico de sobreposição, a análise de sensibilidade e a conclusão crítica.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578608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7432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578608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Reproduza a Seção 12.7.5 e calcule DM, IPS, SNIPS e DR para "sempre celular" e "sempre telefone fixo".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338328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54787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338328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Calcule intervalos de confiança de 95% para o DR por bootstrap (sklearn.utils.resample), reamostrando os exemplos.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418795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418795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Verifique a sobreposição: faça um histograma da propensão e(x).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capítulo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12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Offline: aprender de dados fixos quando interagir é caro ou perigoso.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457200" y="1773936"/>
            <a:ext cx="8229600" cy="932688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20574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773936"/>
            <a:ext cx="7452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Imitação: BC é aprendizado supervisionado de ações do especialista, mas erros se acumulam fora da distribuição; o DAgger rotula os estados visitados pelo aprendiz.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457200" y="281635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87121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81635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IRL/GAIL: inferem a recompensa (ou a distribuição) do especialista.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capítulo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12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AR offline: o deslocamento de distribuição faz o Q-learning superestimar ações fora dos dados; BCQ, CQL e IQL restringem ou penalizam essas ações.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OPE: DM (modelo), IPS/SNIPS (pesos) e DR (os dois) estimam o valor de uma política com dados registrados; exigem sobreposição e propensões corretas.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457200" y="2798064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85292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79806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Associação ≠ causalidade: variáveis ocultas podem invalidar as conclusões.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relâmpago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Teste o que você aprendeu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1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clonagem de comportamento (BC) trata o problema como: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aprendizado supervisionado de ações do especialista a partir de estados.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aprendizado por reforço com recompensas.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agrupamento.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planejamento.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2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GAIL (imitação adversarial generativa) usa: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 discriminador que distingue trajetórias do especialista e do aprendiz.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apenas regras escritas.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uma árvore de decisão.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Q-learning tabular.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3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IQL aprende valores: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 avaliar ações fora do conjunto de dados.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apenas com ações aleatórias.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 um modelo do ambiente.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 Monte Carlo.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4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método direto (DM) estima o valor da política: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usando um modelo do resultado esperado, com baixa variância mas possível viés.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usando apenas pesos de importância.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 simulação do ambiente real.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 dados.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Respostas do quiz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1) a  —  Prevê a ação do especialista dado o estado.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2) a  —  O discriminador fornece a recompensa para o aprendiz.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457200" y="235915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4140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35915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3) a  —  Usa regressão por expectis sobre ações dos dados.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457200" y="294436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úmero"/>
          <p:cNvSpPr/>
          <p:nvPr/>
        </p:nvSpPr>
        <p:spPr>
          <a:xfrm>
            <a:off x="594360" y="2999232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o"/>
          <p:cNvSpPr txBox="1"/>
          <p:nvPr/>
        </p:nvSpPr>
        <p:spPr>
          <a:xfrm>
            <a:off x="1097280" y="294436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4) a  —  O viés vem de erros de especificação do modelo.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discutir em grupo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Debate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Dê três situações reais em que o AR offline é preferível ao online e explique por quê.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Defina avaliação off-policy e explique por que ela é importante antes de implantar uma política.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457200" y="2798064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85292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79806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Descreva o experimento semissintético da Seção 12.7.6 e por que ele é útil.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rculo"/>
          <p:cNvSpPr/>
          <p:nvPr/>
        </p:nvSpPr>
        <p:spPr>
          <a:xfrm>
            <a:off x="6217920" y="548640"/>
            <a:ext cx="2743200" cy="2743200"/>
          </a:xfrm>
          <a:prstGeom prst="ellipse">
            <a:avLst/>
          </a:prstGeom>
          <a:solidFill>
            <a:schemeClr val="accent3">
              <a:alpha val="6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2801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a próxima!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Capítulo 12: Aprendizado Offline, por Imitação e Avaliação de Políticas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Pratique: refaça os códigos, resolva as questões e faça o projeto do capítulo.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rendizado por Reforço">
  <a:themeElements>
    <a:clrScheme name="Aprendizado por Reforço">
      <a:dk1>
        <a:srgbClr val="1B1F3B"/>
      </a:dk1>
      <a:lt1>
        <a:srgbClr val="FFFFFF"/>
      </a:lt1>
      <a:dk2>
        <a:srgbClr val="14173F"/>
      </a:dk2>
      <a:lt2>
        <a:srgbClr val="F2F3FB"/>
      </a:lt2>
      <a:accent1>
        <a:srgbClr val="F59E0B"/>
      </a:accent1>
      <a:accent2>
        <a:srgbClr val="12A89A"/>
      </a:accent2>
      <a:accent3>
        <a:srgbClr val="6C5CE7"/>
      </a:accent3>
      <a:accent4>
        <a:srgbClr val="E84A8A"/>
      </a:accent4>
      <a:accent5>
        <a:srgbClr val="3B82F6"/>
      </a:accent5>
      <a:accent6>
        <a:srgbClr val="94A3B8"/>
      </a:accent6>
      <a:hlink>
        <a:srgbClr val="3B82F6"/>
      </a:hlink>
      <a:folHlink>
        <a:srgbClr val="6C5CE7"/>
      </a:folHlink>
    </a:clrScheme>
    <a:fontScheme name="Aprendizado por Reforç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Aprendizado por Reforço — Capítulo 12</dc:title>
  <dc:subject>PptxGenJS Presentation</dc:subject>
  <dc:creator>Araken de Medeiros Santos</dc:creator>
  <cp:lastModifiedBy>Araken de Medeiros Santos</cp:lastModifiedBy>
  <cp:revision>1</cp:revision>
  <dcterms:created xsi:type="dcterms:W3CDTF">2026-10-26T13:18:09Z</dcterms:created>
  <dcterms:modified xsi:type="dcterms:W3CDTF">2026-10-26T13:18:09Z</dcterms:modified>
</cp:coreProperties>
</file>