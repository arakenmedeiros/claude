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Bem-vindos ao capítulo 6. Apresente o tema e o que os alunos serão capazes de fazer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 e peça aos alunos que, ao final, retomem a lista e se autoavaliem.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história e faça a pergunta à turma antes de avançar. Dê um minuto para respostas.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generativos usam os dados sem rótulo naturalmente: eles informam p(x).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tipos de covariância: spherical, diag, tied e full.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self-training é um EM duro.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Garantia matemática do 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Reduzir o peso dos sem rótulo atenua o dano sem eliminá-lo.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com o Cap.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também a referência que já conhece a proporção real de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64 dimensões, a suposição gaussiana é fraca.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reescrevam estes pontos com as próprias palavras. Os números vêm dos experimentos executados no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1) d — O discriminativo aprende a probabilidade da classe dado o exemplo, ou a fronteira. | 2) a — O passo E dá a cada exemplo sem rótulo uma probabilidade por classe. | 3) b — O ganho foi de +4,8 p.p., contra +5,9 com peso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Discuta as justificativas. Convide quem errou a explicar o raciocínio.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exercício tem solução comentada no Apêndice D, e o projeto, solução e rubrica no Apêndice E. Incentive a execução do código antes de ver 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a frase do capítulo e anuncie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ixa do capítu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6B6D4"/>
                </a:solidFill>
              </a:rPr>
              <a:t>CAPÍTULO 6  ·  PARTE II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Modelos Generativos e o Algoritmo EM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3977640"/>
            <a:ext cx="10058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Aprendizado Semissupervisionado  · 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conquistar neste capítulo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71016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34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Diferenciar classificadores generativos e discriminativos.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37944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Explicar o modelo de mistura de gaussianas e as opções de covariância.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04872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36829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Entender o algoritmo EM (passos E e M) e sua versão semissupervisionada.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352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Implementar o EM semissupervisionado do zero e acompanhar a log-verossimilhança.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5021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Reconhecer quando a suposição do modelo falha e como o peso dos dados sem rótulo mitiga o risco.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4105656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069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Aplicar Naive Bayes com EM a texto e o GMM do scikit-learn ao Digits.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6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Para começar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Um aplicativo sugere o gênero de músicas novas. Ele trata cada gênero como uma receita (ritmo, instrumentos, andamento). As músicas sem gênero ajudam a refinar as receitas. Mas e se um 'gênero' for, na verdade, dois estilos misturados?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FCD34D"/>
                </a:solidFill>
              </a:rPr>
              <a:t>O que acontece quando a receita está errada?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6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Generativo × discriminativo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6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À esquerda, o classificador discriminativo desenha só a fronteira. À direita, o generativo estima uma gaussiana para cada classe, e a fronteira vem das duas curva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14580"/>
            <a:ext cx="4206240" cy="160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Discriminativo: aprende a fronteira, p(y|x)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Generativo: aprende como os dados são gerados, p(x|y) e p(y)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Classifica pela regra de Bayes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Um aprende a distinguir gatos de cães; o outro aprende a desenhar cada um.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classe é uma 'receita'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6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 abordagem generativa: cada classe tem uma &quot;receita&quot; (distribuição) e uma proporção. Os dados sem rótulo ajudam a estimar as duas coisa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85190"/>
            <a:ext cx="4206240" cy="20074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Mistura de gaussianas (GMM)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Cada classe = uma curva em forma de sino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covariance_type define a forma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6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O EM em ação. Os pontos coloridos são os 6 rotulados (estrelas), e os demais recebem cor segundo a probabilidade de serem da classe laranja. As elipses são as gaussianas estimada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870412"/>
            <a:ext cx="4206240" cy="1288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E: dar a cada exemplo sem rótulo uma probabilidade por classe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M: reestimar o modelo com esses pesos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Repetir até estabilizar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É um 'self-training suave': em vez de aceitar só os confiantes, usa todos, com pesos.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log-verossimilhança só sobe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6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 log-verossimilhança a cada iteração. O salto inicial é grande, e depois o ganho é mínim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51575"/>
            <a:ext cx="4206240" cy="24746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 cada iteração, nunca diminui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 salto vem quando os sem rótulo entram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suposição vale e quando falha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6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005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</a:rPr>
              <a:t>+11,2 p.p.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suposição válida (6 rótulos)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32020" y="1280160"/>
            <a:ext cx="40005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32020" y="141732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</a:rPr>
              <a:t>−15,1 p.p.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869180" y="237744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grupos cruzados: suposição inválida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794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" y="3840480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Receita errada, prato errado: mais dados sem rótulo pioram o modelo.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cruzado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6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No cenário cruzado, com os 10 rotulados as gaussianas têm a orientação certa e o acerto é de 90% (neste sorteio). Depois do EM, cada gaussiana se ajusta a um grupo (em cima e embaixo), e o acerto cai para 50%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2096355"/>
            <a:ext cx="4206240" cy="138512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As gaussianas se ajustam aos grupos errados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Os rótulos viram 'ruído' diante da forma dos dados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Texto: Naive Bayes com 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6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O Naive Bayes com EM e o resultado no SMS Spam (40 rótulos, 10 sorteios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30531"/>
            <a:ext cx="4206240" cy="15681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SMS Spam, 40 rótulos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F1 de 44,5% para 90,3%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Parte do ganho vem de corrigir a proporção das classes (69,2% com a proporção real)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Contar palavras 'suspeitas' e atualizar a crença, como no Bayes.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GMM no Digits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6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O esquema do cluster-e-rotula e o resultado no Digits com 50 rótulo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2053436"/>
            <a:ext cx="4206240" cy="14709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Cluster-e-rotula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85,0% contra 84,5% da referência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Praticamente igual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Escolhas práticas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6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Escolha o tipo de covariância com poucos dados (simples)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Pese os dados sem rótulo (λ &lt; 1)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Compare com referência que conheça a proporção das classes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7772400" cy="3246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Generativo: estima p(x | y) e p(y) e classifica pela regra de Bayes. Discriminativo: estima p(y | x). Os generativos têm uso natural para dados sem rótulo.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GMM: cada classe é uma gaussiana. O covariance_type define a forma permitida.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EM: alterna E (probabilidades de classe para os exemplos sem rótulo) e M (reestimar o modelo). A log-verossimilhança nunca diminui.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Com a suposição válida, o EM ganhou 11,2 p.p. com 6 rótulos. Com ela inválida (cenário cruzado), perdeu até 15,1 p.p.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Reduzir o peso dos dados sem rótulo atenua o dano, sem eliminá-lo.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Naive Bayes + EM no SMS: F1 de 44,5% para 90,3%. Parte do ganho vem de corrigir a proporção das classes: compare com uma referência que a conheça (69,2%).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No Digits, o GMM semissupervisionado ficou igual à referência (85,0% contra 84,5%).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6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relâmpago: 3 perguntas, 2 minutos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1. Um classificador discriminativo estima diretamente: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p(x | y).    b) p(x).    c) a log-verossimilhança dos exemplos sem rótulo.    d) p(y | x).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2. No passo E do EM semissupervisionado, calcula-se: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a probabilidade de cada exemplo sem rótulo pertencer a cada classe (responsabilidades).    b) o rótulo verdadeiro dos exemplos.    c) o número de atributos.    d) a acurácia no teste.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3. No cenário alinhado, com peso 0,1 para os dados sem rótulo, o ganho do EM foi de: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-8 p.p.    b) 4,8 p.p., a maior parte do ganho total.    c) 0 p.p.    d) 50 p.p.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6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do quiz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1. Resposta D: p(y | x).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O discriminativo aprende a probabilidade da classe dado o exemplo, ou a fronteira.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2. Resposta A: a probabilidade de cada exemplo sem rótulo pertencer a cada classe (responsabilidades).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O passo E dá a cada exemplo sem rótulo uma probabilidade por classe.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3. Resposta B: 4,8 p.p., a maior parte do ganho total.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O ganho foi de +4,8 p.p., contra +5,9 com peso 1.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6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obra: exercícios e projeto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88720"/>
            <a:ext cx="5120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1 (básico): GMM não supervisionado no Iris e o BIC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2 (intermediário): EM semissupervisionado no Wine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3 (intermediário): NB + EM com mais rótulos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4 (intermediário): Quantas componentes? O BIC no Digits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5 (avançado): EM mole e EM duro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280160"/>
            <a:ext cx="2880360" cy="3017520"/>
          </a:xfrm>
          <a:prstGeom prst="roundRect">
            <a:avLst>
              <a:gd name="adj" fmla="val 317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89320" y="1371600"/>
            <a:ext cx="2606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Projeto do capítulo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Generativo ou discriminativo? A curva de aprendizado com poucos rótulos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6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Leve para casa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Se a receita está errada, mais dados sem rótulo pioram o prato.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</a:rPr>
              <a:t>Próximo capítulo: separação por baixa densidade — S3VM, TSVM e entropia.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6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issupervisionado">
  <a:themeElements>
    <a:clrScheme name="Semissupervision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EF4444"/>
      </a:accent4>
      <a:accent5>
        <a:srgbClr val="06B6D4"/>
      </a:accent5>
      <a:accent6>
        <a:srgbClr val="8B5CF6"/>
      </a:accent6>
      <a:hlink>
        <a:srgbClr val="4F46E5"/>
      </a:hlink>
      <a:folHlink>
        <a:srgbClr val="8B5CF6"/>
      </a:folHlink>
    </a:clrScheme>
    <a:fontScheme name="Semissupervision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6 — Modelos Generativos e o Algoritmo EM</dc:title>
  <dc:subject>Aprendizado Semissupervisionado</dc:subject>
  <dc:creator>Araken de Medeiros Santos</dc:creator>
  <cp:lastModifiedBy>Araken de Medeiros Santos</cp:lastModifiedBy>
  <cp:revision>1</cp:revision>
  <dcterms:created xsi:type="dcterms:W3CDTF">2026-10-26T18:39:13Z</dcterms:created>
  <dcterms:modified xsi:type="dcterms:W3CDTF">2026-10-26T18:39:13Z</dcterms:modified>
</cp:coreProperties>
</file>