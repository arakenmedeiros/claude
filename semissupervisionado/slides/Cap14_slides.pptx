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ao capítulo 14. Apresente o tema e o que os alunos serão capazes de fazer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os objetivos em voz alta e peça aos alunos que, ao final, retomem a lista e se autoavaliem.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e faça a pergunta à turma antes de avançar. Dê um minuto para respostas.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Salton e Buckley (1988); Deerwester et al. (1990).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Espelho público do conjunto.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Resultados negativos: self-training e EM não ajudaram.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era o pior método com rótulos balanceados virou o melhor com rótulos ao acaso.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escala das probabilidades muda com a representação.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ganho mais robusto veio de usar texto sem rótulo para a representação.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UDA original usou back-translation.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aos alunos que reescrevam estes pontos com as próprias palavras. Os números vêm dos experimentos executados no livro.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Gabarito: 1) a — Palavras comuns pesam pouco. | 2) d — Por exemplo, 81,7% de avaliações positivas. | 3) d — O limiar deve ser escolhido sem usar o 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Discuta as justificativas. Convide quem errou a explicar o raciocínio.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solução comentada no Apêndice D, e o projeto, solução e rubrica no Apêndice E. Incentive a execução do código antes de ver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a frase do capítulo e anuncie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aixa do capítu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0B981"/>
                </a:solidFill>
              </a:rPr>
              <a:t>CAPÍTULO 14  ·  PARTE IV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Texto: Classificando Opiniões com Poucos Rótulos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548640" y="3977640"/>
            <a:ext cx="100584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</a:rPr>
              <a:t>Aprendizado Semissupervisionado  ·  Araken de Medeiros Santos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conquistar neste capítulo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271016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71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234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Explicar como transformar texto em números (saco de palavras, TF-IDF, LSA).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1837944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1837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Aplicar métodos semissupervisionados a um problema de texto com poucos rótulos.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2404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368296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Perceber como a proporção das classes (prevalência) afeta as métricas e a escolha do método.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2920" y="2971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935224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Entender por que o limiar do self-training não é "portátil" entre representações.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02920" y="353872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502152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</a:rPr>
              <a:t>Usar texto sem rótulo para aprender uma representação (LSA) e medir o ganho.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Para começar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Uma rede de restaurantes recebe milhares de avaliações por mês. A gerente só tem tempo de rotular 40. Será que um classificador decente sai de 40 rótulos? As milhares sem rótulo ajudam?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i="1" dirty="0">
                <a:solidFill>
                  <a:srgbClr val="FCD34D"/>
                </a:solidFill>
              </a:rPr>
              <a:t>O que você apostaria?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texto aos números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Saco de palavras: contagem, sem ordem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TF-IDF: palavras raras pesam mais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LSA: dimensões aprendidas sem rótulos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Contar as palavras de uma sacola, sem olhar a ordem em que entraram.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dados: Yelp 1 × 5 estrelas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4.086 avaliações, 81,7% positivas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Classes desbalanceadas: use F1 macro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Sempre-positivo: 82% de acurácia, F1 macro ≈ 45%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rótulos balanceados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66,3%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TF-IDF + regressão logística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223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223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71,1%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34594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LSA + regressão logística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1720" y="1280160"/>
            <a:ext cx="25908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41720" y="1417320"/>
            <a:ext cx="259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60,1%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6278880" y="2377440"/>
            <a:ext cx="2316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Naive Bayes + EM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O self-training não adicionou nenhum pseudo-rótulo (limiar 0,8).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Rótulos ao acaso: a prevalência muda tudo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029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4444"/>
                </a:solidFill>
              </a:rPr>
              <a:t>44,9%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reg. logística: prevê 100% positivo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32020" y="1280160"/>
            <a:ext cx="4000500" cy="2286000"/>
          </a:xfrm>
          <a:prstGeom prst="roundRect">
            <a:avLst>
              <a:gd name="adj" fmla="val 48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32020" y="1417320"/>
            <a:ext cx="4000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0B981"/>
                </a:solidFill>
              </a:rPr>
              <a:t>60,1%</a:t>
            </a:r>
            <a:endParaRPr lang="en-US" sz="3800" dirty="0"/>
          </a:p>
        </p:txBody>
      </p:sp>
      <p:sp>
        <p:nvSpPr>
          <p:cNvPr id="10" name="Text 8"/>
          <p:cNvSpPr txBox="1"/>
          <p:nvPr/>
        </p:nvSpPr>
        <p:spPr>
          <a:xfrm>
            <a:off x="4869180" y="2377440"/>
            <a:ext cx="37261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Label Spreading sobre LSA (o melhor!)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7947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40480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Com 6 negativos em 40, o modelo aposta sempre no 'positivo'.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limiar do self-training não é portátil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512064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TF-IDF: nenhum passa até 0,7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LSA: 0,7 → quase todos entram, F1 cai a 40,0%</a:t>
            </a:r>
            <a:endParaRPr lang="en-US" sz="20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000" dirty="0">
                <a:solidFill>
                  <a:srgbClr val="1F2937"/>
                </a:solidFill>
              </a:rPr>
              <a:t>LSA: 0,6 → F1 74,7%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897880" y="1463040"/>
            <a:ext cx="2834640" cy="2468880"/>
          </a:xfrm>
          <a:prstGeom prst="roundRect">
            <a:avLst>
              <a:gd name="adj" fmla="val 3704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07608" y="1508760"/>
            <a:ext cx="26151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</a:rPr>
              <a:t>Pense assim  </a:t>
            </a:r>
            <a:pPr indent="0" marL="0">
              <a:buNone/>
            </a:pPr>
            <a:r>
              <a:rPr lang="en-US" sz="1700" dirty="0">
                <a:solidFill>
                  <a:srgbClr val="1F2937"/>
                </a:solidFill>
              </a:rPr>
              <a:t>Uma pequena mudança no termostato liga o aquecedor inteiro.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a representação com texto sem rótulo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0" y="1188720"/>
            <a:ext cx="42062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6" name="Image 0" descr="F1 macro da regressão logística conforme a representação, para 40, 200 e 1.000 rótul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1670048"/>
            <a:ext cx="4206240" cy="223774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1188720"/>
            <a:ext cx="393192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40 rótulos: +6,8 pontos com LSA de 30 dimensões</a:t>
            </a:r>
            <a:endParaRPr lang="en-US" sz="18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1F2937"/>
                </a:solidFill>
              </a:rPr>
              <a:t>1.000 rótulos: a vantagem some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dados para texto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Tradução de ida e volta (back-translation)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Troca de sinônimos, inserção e remoção (EDA)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Cuidado: trocar 'bom' por 'ruim' muda a classe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para texto com poucos rótulos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88720"/>
            <a:ext cx="8229600" cy="3383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Referência forte: TF-IDF + regressão logística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Aprenda uma representação com texto sem rótulo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Sorteie os rótulos como o mundo é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Cuidado com pseudo-rótulos</a:t>
            </a:r>
            <a:endParaRPr lang="en-US" sz="22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</a:rPr>
              <a:t>Vários sorteios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memorizar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7772400" cy="3246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Texto vira número por saco de palavras, TF-IDF ou LSA. A LSA é aprendida sem rótulos.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 Yelp (4.086 avaliações, 81,7% positivas), com 40 rótulos balanceados: referência 66,3% de F1 macro; LSA + regressão logística 71,1%.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self-training não adicionou nenhum pseudo-rótulo com limiar 0,8, e o Naive Bayes + EM não ajudou (60,1%): resultados negativos.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Label Spreading teve 51,0% com rótulos balanceados, mas 60,1% (o melhor) com rótulos ao acaso: a prevalência das classes decide.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Com rótulos ao acaso (proporção real), a regressão logística previu 100% positivo (F1 macro de cerca de 45%).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O limiar do self-training não é portátil: depende da escala das probabilidades. Com a LSA, 0,7 fez o F1 cair a 40,0% e 0,6 o levou a 74,7%.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A LSA vale mais com 40 rótulos (+6,8 pontos) e perde a vantagem com 1.000.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relâmpago: 3 perguntas, 2 minutos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1. No TF-IDF, uma palavra recebe mais peso quando: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é frequente no documento e rara na coleção.    b) é frequente em todos os documentos.    c) tem muitas letras.    d) é rara no documento.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2. Prevalência de uma classe é: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limiar de decisão.    b) o número de rótulos da classe.    c) a confiança do modelo.    d) a proporção dessa classe na população.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11827"/>
                </a:solidFill>
              </a:rPr>
              <a:t>3. Para decidir um limiar de confiança, convém olhar: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</a:rPr>
              <a:t>a) o tamanho do vocabulário.    b) apenas a acurácia no treino.    c) apenas o valor usado em outro artigo.    d) a distribuição das confianças e a precisão dos pseudo-rótulos em validação.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do quiz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188720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25296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1. Resposta A: é frequente no documento e rara na coleção.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Palavras comuns pesam pouco.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359152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39572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2. Resposta D: a proporção dessa classe na população.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Por exemplo, 81,7% de avaliações positivas.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529584"/>
            <a:ext cx="8229600" cy="1078992"/>
          </a:xfrm>
          <a:prstGeom prst="roundRect">
            <a:avLst>
              <a:gd name="adj" fmla="val 6780"/>
            </a:avLst>
          </a:prstGeom>
          <a:solidFill>
            <a:srgbClr val="ECFDF5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3. Resposta D: a distribuição das confianças e a precisão dos pseudo-rótulos em validação.</a:t>
            </a:r>
            <a:endParaRPr lang="en-US" sz="15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O limiar deve ser escolhido sem usar o teste.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Mãos à obra: exercícios e projeto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32688"/>
            <a:ext cx="822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02920" y="1188720"/>
            <a:ext cx="5120640" cy="3291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1 (básico): Saco de palavras e TF-IDF à mão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2 (intermediário): Prevalência e métricas no SMS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3 (intermediário): Pesos de classe com rótulos ao acaso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4 (intermediário): LSA no SMS</a:t>
            </a:r>
            <a:endParaRPr lang="en-US" sz="15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Exercício 5 (avançado): O grafo para texto: k e alpha no Label Spreading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52160" y="1280160"/>
            <a:ext cx="2880360" cy="3017520"/>
          </a:xfrm>
          <a:prstGeom prst="roundRect">
            <a:avLst>
              <a:gd name="adj" fmla="val 3175"/>
            </a:avLst>
          </a:prstGeom>
          <a:solidFill>
            <a:srgbClr val="FFFBE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89320" y="1371600"/>
            <a:ext cx="2606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</a:rPr>
              <a:t>Projeto do capítulo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Painel de satisfação com 100 rótulos: escolhendo o método no Yelp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9E0B"/>
                </a:solidFill>
              </a:rPr>
              <a:t>Leve para casa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Em texto, o que mais ajuda é aprender a representação com o texto sem rótulo.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66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D1D5DB"/>
                </a:solidFill>
              </a:rPr>
              <a:t>Próximo capítulo: imagens na prática, roupas com poucos rótulos.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Cap. 14 · Aprendizado Semissupervisionado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ssupervisionado">
  <a:themeElements>
    <a:clrScheme name="Semissupervision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F59E0B"/>
      </a:accent2>
      <a:accent3>
        <a:srgbClr val="10B981"/>
      </a:accent3>
      <a:accent4>
        <a:srgbClr val="EF4444"/>
      </a:accent4>
      <a:accent5>
        <a:srgbClr val="06B6D4"/>
      </a:accent5>
      <a:accent6>
        <a:srgbClr val="8B5CF6"/>
      </a:accent6>
      <a:hlink>
        <a:srgbClr val="4F46E5"/>
      </a:hlink>
      <a:folHlink>
        <a:srgbClr val="8B5CF6"/>
      </a:folHlink>
    </a:clrScheme>
    <a:fontScheme name="Semissupervision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14 — Texto: Classificando Opiniões com Poucos Rótulos</dc:title>
  <dc:subject>Aprendizado Semissupervisionado</dc:subject>
  <dc:creator>Araken de Medeiros Santos</dc:creator>
  <cp:lastModifiedBy>Araken de Medeiros Santos</cp:lastModifiedBy>
  <cp:revision>1</cp:revision>
  <dcterms:created xsi:type="dcterms:W3CDTF">2026-10-26T18:39:16Z</dcterms:created>
  <dcterms:modified xsi:type="dcterms:W3CDTF">2026-10-26T18:39:16Z</dcterms:modified>
</cp:coreProperties>
</file>