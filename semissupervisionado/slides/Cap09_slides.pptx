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Bem-vindos ao capítulo 9. Apresente o tema e o que os alunos serão capazes de fazer ao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os objetivos em voz alta e peça aos alunos que, ao final, retomem a lista e se autoavaliem.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 a história e faça a pergunta à turma antes de avançar. Dê um minuto para respostas.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Goodfellow et al. (2016); LeCun et al. (2015).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 ativação não linear, a rede inteira seria uma reta.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ReLU: zero se negativo, identidade se positivo.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Adam: variante que ajusta o passo de cada peso.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primeiras camadas detectam bordas; as últimas, objetos.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MNIST, 100 rótulos, CNN sem aumento de dados.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Cria versões novas das imagens rotuladas.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8,4 pontos a mais sem nenhum rótulo adicional.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 1.500 passos, a mesma receita chega a 93,2% (Cap. 10).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aos alunos que reescrevam estes pontos com as próprias palavras. Os números vêm dos experimentos executados no livro.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Gabarito: 1) c — Pesos e viés são os números aprendidos. | 2) c — Treinar é reduzir a perda. | 3) b — Evita que a rede dependa demais de poucos neurônios.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Discuta as justificativas. Convide quem errou a explicar o raciocínio.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exercício tem solução comentada no Apêndice D, e o projeto, solução e rubrica no Apêndice E. Incentive a execução do código antes de ver a solução.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Encerre com a frase do capítulo e anuncie o próximo 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aixa do capítul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72187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011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8B5CF6"/>
                </a:solidFill>
              </a:rPr>
              <a:t>CAPÍTULO 9  ·  PARTE III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42316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Redes Neurais Essenciais para Quem Tem Poucos Rótulos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3977640"/>
            <a:ext cx="10058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4160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</a:rPr>
              <a:t>Aprendizado Semissupervisionado  ·  Araken de Medeiros Santos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vai conquistar neste capítulo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271016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271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2344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Explicar o que é um neurônio artificial, uma camada e uma rede neural, sem fórmulas desnecessárias.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37944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1837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180136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Descrever como uma rede aprende (perda, gradiente, retropropagação, taxa de aprendizado, épocas).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404872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" y="2404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368296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Entender, de modo intuitivo, a convolução e o pooling de uma rede convolucional (CNN).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2971800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2935224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Treinar uma CNN em PyTorch e usar o scikit-learn para redes pequenas.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02920" y="3538728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2920" y="3538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350215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Medir o sobreajuste quando há poucos rótulos e o efeito do aumento de dados.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02920" y="4105656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02920" y="4105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40690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Estabelecer a referência supervisionada forte que os métodos dos próximos capítulos terão de superar.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9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9E0B"/>
                </a:solidFill>
              </a:rPr>
              <a:t>Para começar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8046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Uma fábrica inspeciona peças em uma linha de montagem. O primeiro inspetor olha bordas; o segundo combina bordas em cantos; o terceiro reconhece um '8'. Uma rede neural é isso: inspetores em camadas.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31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FCD34D"/>
                </a:solidFill>
              </a:rPr>
              <a:t>Quem programa o que cada inspetor procura? Ninguém.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Cap. 9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rede é uma linha de montagem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9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0" y="1188720"/>
            <a:ext cx="42062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Uma rede neural como linha de montagem: cada camada transforma o que recebe da anterior em algo mais abstrat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751828"/>
            <a:ext cx="4206240" cy="207418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1188720"/>
            <a:ext cx="3931920" cy="3291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Camadas transformam o que recebem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Aprendem sozinhas o que procurar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neurônio artificial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9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0" y="1188720"/>
            <a:ext cx="42062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O neurônio artificial: entradas multiplicadas por pesos, somadas com um viés e transformadas por uma função de ativaçã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563675"/>
            <a:ext cx="4206240" cy="190185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1188720"/>
            <a:ext cx="3931920" cy="2651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Entradas × pesos, somadas com um viés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A ativação decide o que sai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02920" y="393192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12648" y="3977640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Pense assim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Um júri que pondera as opiniões e dá um veredito.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Funções de ativação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9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822960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Três funções de ativação. A ReLU (Nair; Hinton, 2010) é a mais usada nas camadas escondidas hoje, por ser simples e treinar bem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48846"/>
            <a:ext cx="8229600" cy="248578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3931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</a:rPr>
              <a:t>Sigmoide   ·   Tangente   ·   ReLU: a mais usada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rede aprende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9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0" y="1188720"/>
            <a:ext cx="42062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O mesmo &quot;vale&quot; percorrido com três taxas de aprendizad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832374"/>
            <a:ext cx="4206240" cy="136445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1188720"/>
            <a:ext cx="3931920" cy="2651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Perda: o tamanho do erro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Gradiente: a inclinação do morro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Retropropagação: a 'culpa' de cada peso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Taxa de aprendizado: o tamanho do passo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02920" y="393192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12648" y="3977640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Pense assim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Descer a montanha na neblina, sentindo a inclinação sob os pés.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convolucionais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9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0" y="1188720"/>
            <a:ext cx="42062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Convolução em um dígito do MNIST: dois filtros de borda (feitos à mão) e o resultado do max pooling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886363"/>
            <a:ext cx="4206240" cy="125647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1188720"/>
            <a:ext cx="3931920" cy="2651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Um filtro desliza pela imagem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O mesmo filtro, menos pesos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Pooling resume e reduz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02920" y="393192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12648" y="3977640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Pense assim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Procurar uma letra numa página passando uma lupa.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Poucos rótulos: o sobreajuste em ação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9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4000500" cy="2286000"/>
          </a:xfrm>
          <a:prstGeom prst="roundRect">
            <a:avLst>
              <a:gd name="adj" fmla="val 480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417320"/>
            <a:ext cx="4000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8B5CF6"/>
                </a:solidFill>
              </a:rPr>
              <a:t>99,7%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77440"/>
            <a:ext cx="37261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acerto nos 100 rotulados (treino)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32020" y="1280160"/>
            <a:ext cx="4000500" cy="2286000"/>
          </a:xfrm>
          <a:prstGeom prst="roundRect">
            <a:avLst>
              <a:gd name="adj" fmla="val 480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32020" y="1417320"/>
            <a:ext cx="4000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F4444"/>
                </a:solidFill>
              </a:rPr>
              <a:t>81,8%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4869180" y="2377440"/>
            <a:ext cx="37261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acerto no teste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379476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2648" y="3840480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Pense assim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Decorou o gabarito da lista, errou a prova.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Aumento de dados: rótulos de graça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9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0" y="1188720"/>
            <a:ext cx="42062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Um mesmo &quot;7&quot; do MNIST (linha de cima), e variações com aumento fraco (meio) e forte (embaixo)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419256"/>
            <a:ext cx="4206240" cy="21906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1188720"/>
            <a:ext cx="3931920" cy="2651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Gira, desloca, apaga, adiciona ruído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O rótulo continua o mesmo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02920" y="393192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12648" y="3977640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Pense assim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Um '7' levemente torto ainda é um '7'.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aumento vale muitos rótulos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9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0" y="1188720"/>
            <a:ext cx="42062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Acurácia no teste com 100 rótulos: 81,8% sem aumento, 88,3% com aumento fraco e 90,2% com fort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534916"/>
            <a:ext cx="4206240" cy="250800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1188720"/>
            <a:ext cx="3931920" cy="3291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Nenhum: 81,8%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Fraco: 88,3%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Forte: 90,2%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referência que os próximos capítulos vão enfrentar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9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0" y="1188720"/>
            <a:ext cx="42062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Acurácia da CNN supervisionada com aumento forte em função do número de rótulos. A linha tracejada marca o Label Spreading do Capítulo 8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254039"/>
            <a:ext cx="4206240" cy="252112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1188720"/>
            <a:ext cx="3931920" cy="2651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CNN com aumento forte: 90,2% (400 passos)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Label Spreading (Cap. 8): 88,7%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Orçamento de treino faz parte da referência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02920" y="393192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12648" y="3977640"/>
            <a:ext cx="8010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Pense assim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Escolha bem o adversário: o campeão de ontem pode perder para o de hoje.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memorizar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EEF2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280160"/>
            <a:ext cx="7772400" cy="3246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Uma rede neural é uma sequência de camadas de neurônios (soma ponderada + ativação). O treino ajusta os pesos para reduzir a perda, seguindo o gradiente (retropropagação, Adam).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CNNs olham por filtros que deslizam sobre a imagem, o que reduz o número de pesos e aproveita a vizinhança dos pixels.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Com poucos rótulos, redes decoram o treino: no MNIST com 100 rótulos, 99,7% no treino e 81,8% no teste.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No Digits com 50 rótulos, a MLP não superou a regressão logística (85,6% a 86,4% contra 86,5%).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O aumento de dados forte elevou a CNN de 81,8% para 90,2% sem nenhum rótulo adicional.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A referência supervisionada deve ser forte: ela superou o Label Spreading do Capítulo 8 (88,7%). Com 300, 1.000 e 3.000 rótulos, a mesma receita chega a 93,9%, 95,7% e 96,8%.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9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relâmpago: 3 perguntas, 2 minutos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88720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25296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1. Um neurônio artificial calcula: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a) somente a média das entradas.    b) a diferença entre rótulo e previsão.    c) uma soma ponderada das entradas, mais um viés, seguida de uma função de ativação.    d) o maior valor das entradas, sem pesos.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359152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395728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2. A perda (loss) de uma rede é: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a) o número de camadas.    b) a taxa de aprendizado.    c) um número que mede o erro da rede.    d) o número de épocas.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3529584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566160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3. O dropout consiste em: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a) remover camadas depois do treino.    b) desligar neurônios ao acaso durante o treino.    c) duplicar o conjunto de treino.    d) apagar exemplos de teste.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9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Gabarito do quiz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88720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25296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65F46"/>
                </a:solidFill>
              </a:rPr>
              <a:t>1. Resposta C: uma soma ponderada das entradas, mais um viés, seguida de uma função de ativação.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Pesos e viés são os números aprendidos.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359152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395728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65F46"/>
                </a:solidFill>
              </a:rPr>
              <a:t>2. Resposta C: um número que mede o erro da rede.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Treinar é reduzir a perda.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3529584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566160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65F46"/>
                </a:solidFill>
              </a:rPr>
              <a:t>3. Resposta B: desligar neurônios ao acaso durante o treino.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Evita que a rede dependa demais de poucos neurônios.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9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Mãos à obra: exercícios e projeto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188720"/>
            <a:ext cx="5120640" cy="3291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Exercício 1 (básico): Uma rede pequena à mão, só com NumPy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Exercício 2 (intermediário): Quantos neurônios escondidos?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Exercício 3 (intermediário): Convolução à mão como extração de atributos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Exercício 4 (intermediário): A taxa de aprendizado da CNN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Exercício 5 (avançado): Aumento de dados no Fashion-MNIST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852160" y="1280160"/>
            <a:ext cx="2880360" cy="3017520"/>
          </a:xfrm>
          <a:prstGeom prst="roundRect">
            <a:avLst>
              <a:gd name="adj" fmla="val 3175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89320" y="1371600"/>
            <a:ext cx="2606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</a:rPr>
              <a:t>Projeto do capítulo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 referência supervisionada para roupas: quanto vale um rótulo no Fashion-MNIST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9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31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9E0B"/>
                </a:solidFill>
              </a:rPr>
              <a:t>Leve para casa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8046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Escolha bem a referência: ela decide se o seu método parece um herói.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5661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1D5DB"/>
                </a:solidFill>
              </a:rPr>
              <a:t>Próximo capítulo: regularização por consistência.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Cap. 9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missupervisionado">
  <a:themeElements>
    <a:clrScheme name="Semissupervisionado">
      <a:dk1>
        <a:srgbClr val="1F2937"/>
      </a:dk1>
      <a:lt1>
        <a:srgbClr val="FFFFFF"/>
      </a:lt1>
      <a:dk2>
        <a:srgbClr val="111827"/>
      </a:dk2>
      <a:lt2>
        <a:srgbClr val="F3F4F6"/>
      </a:lt2>
      <a:accent1>
        <a:srgbClr val="4F46E5"/>
      </a:accent1>
      <a:accent2>
        <a:srgbClr val="F59E0B"/>
      </a:accent2>
      <a:accent3>
        <a:srgbClr val="10B981"/>
      </a:accent3>
      <a:accent4>
        <a:srgbClr val="EF4444"/>
      </a:accent4>
      <a:accent5>
        <a:srgbClr val="06B6D4"/>
      </a:accent5>
      <a:accent6>
        <a:srgbClr val="8B5CF6"/>
      </a:accent6>
      <a:hlink>
        <a:srgbClr val="4F46E5"/>
      </a:hlink>
      <a:folHlink>
        <a:srgbClr val="8B5CF6"/>
      </a:folHlink>
    </a:clrScheme>
    <a:fontScheme name="Semissupervisionado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Cap. 9 — Redes Neurais Essenciais para Quem Tem Poucos Rótulos</dc:title>
  <dc:subject>Aprendizado Semissupervisionado</dc:subject>
  <dc:creator>Araken de Medeiros Santos</dc:creator>
  <cp:lastModifiedBy>Araken de Medeiros Santos</cp:lastModifiedBy>
  <cp:revision>1</cp:revision>
  <dcterms:created xsi:type="dcterms:W3CDTF">2026-10-26T18:39:14Z</dcterms:created>
  <dcterms:modified xsi:type="dcterms:W3CDTF">2026-10-26T18:39:14Z</dcterms:modified>
</cp:coreProperties>
</file>