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Bem-vindos ao capítulo 12. Apresente o tema e o que os alunos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 e peça aos alunos que, ao final, retomem a lista e se autoavaliem.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história e faça a pergunta à turma antes de avançar. Dê um minuto para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Bengio et al. (2013).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'rótulo' vem dos próprios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MoCo usa fila de negativos; BYOL e SimSiam dispensam negativos.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sempre com uma referência supervisionada forte.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honesto: no nosso orçamento, o pré-treino não superou a referência forte.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mudança entre as duas visões, o par é trivial.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ganho é maior na faixa intermediária.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Exercício 5: o mesmo procedimento deu +15 pontos no MNIST.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reescrevam estes pontos com as próprias palavras. Os números vêm dos experimentos executados no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1) b — Como prever a rotação de uma imagem. | 2) d — Sem mudanças, o par fica trivial. | 3) a — Os poucos rótulos são usados só no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Discuta as justificativas. Convide quem errou a explicar o raciocínio.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solução comentada no Apêndice D, e o projeto, solução e rubrica no Apêndice E. Incentive a execução do código antes de ver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a frase do capítulo e anuncie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ixa do capítu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5CF6"/>
                </a:solidFill>
              </a:rPr>
              <a:t>CAPÍTULO 12  ·  PARTE III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Aprendizado Auto-supervisionado e Contrastivo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10058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Aprendizado Semissupervisionado  · 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conquistar neste capítulo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7101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Explicar a ideia do aprendizado auto-supervisionado e das tarefas-pretexto.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37944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Descrever o aprendizado contrastivo (SimCLR) e a perda NT-Xent, e citar MoCo, BYOL e SimSiam.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3682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Implementar um pré-treino contrastivo e um pré-treino por predição de rotação em PyTorch.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352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Avaliar uma representação por sonda linear e por ajuste fino, e compará-las com a referência supervisionada.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02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Medir o efeito do aumento de dados e do número de rótulos sobre a representação aprendida.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12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Para começar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Uma criança olha milhares de fotos de animais sem que ninguém diga os nomes e já aprende a agrupar: bico, quatro patas, pelo. Quando alguém diz 'isto é um gato' duas ou três vezes, ela generaliza com facilidade.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CD34D"/>
                </a:solidFill>
              </a:rPr>
              <a:t>Dá para aprender a ver sem rótulos?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12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etapas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12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Duas etapas: (1) pré-treino sem rótulo, em uma tarefa inventada; (2) uso da representação com poucos rótul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41469"/>
            <a:ext cx="4206240" cy="19462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1. Pré-treino sem rótulos, em uma tarefa inventada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2. Poucos rótulos para usar a representação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Primeiro aprender a olhar, depois dar nomes.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Tarefas-pretexto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12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Prever a rotação aplicada à imagem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Prever a posição de recortes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Preencher palavras escondidas (BERT)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97880" y="146304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07608" y="1508760"/>
            <a:ext cx="2615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O corretor que sugere a próxima palavra foi treinado sem ninguém rotular.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contrastivo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12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prendizado contrastivo: a versão A e a versão B do mesmo exemplo devem ficar perto na representação; exemplos diferentes, long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627461"/>
            <a:ext cx="4206240" cy="177427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Duas versões do mesmo exemplo ficam perto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Exemplos diferentes ficam longe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SimCLR: perda NT-Xent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Na festa dos gêmeos de roupa trocada, você aprende a ignorar a roupa.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avaliar uma representação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12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Sonda linear: congela o codificador e treina só um classificador linear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Ajuste fino: treina a rede toda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experimento principal (MNIST, 100 rótulos)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12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Seis abordagens com os mesmos 100 rótulos no MNIS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415596"/>
            <a:ext cx="4206240" cy="21980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Pixels: 76,5%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Sonda SimCLR: 91,8%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CNN do zero: 93,2% (venceu)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Rotação: 68,5% (pior que sem treino)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Nem todo curso preparatório serve para a prova.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aumento é a alma do contraste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12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SimCLR no MNIST: acerto da sonda linear conforme o aumento usado para criar as duas visõ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444713"/>
            <a:ext cx="4206240" cy="26884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Sem aumento: 77,1%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Fraco: 82,6%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Forte: 91,8%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rótulos fazem falta?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12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curácia conforme o número de rótulos, com e sem a representação aprendida sem rótul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13447"/>
            <a:ext cx="4206240" cy="25509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Ganho de até +15,3 pontos com 100 rótulos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Vale mais de dez vezes o número de rótulos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no Fashion-MNIST não ajudou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12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B5CF6"/>
                </a:solidFill>
              </a:rPr>
              <a:t>69,8%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regressão logística sobre pixels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320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20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</a:rPr>
              <a:t>67,3%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8691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sonda sobre o SimCLR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 bem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12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Comece pela sonda linear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Pré-treine por tempo suficiente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Escolha a tarefa-pretexto com cuidado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Orçamento pequeno? Prefira UDA ou FixMatch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7772400" cy="3246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aprendizado auto-supervisionado inventa uma tarefa-pretexto com os dados sem rótulo para aprender uma representação; os poucos rótulos entram depois (sonda linear ou ajuste fino).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SimCLR aproxima duas versões aumentadas do mesmo exemplo e afasta os demais (perda NT-Xent).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No MNIST com 100 rótulos: pixels 76,5%; codificador sem treino 77,2%; sonda sobre o SimCLR 91,8%; CNN do zero com aumento forte 93,2%.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 rotação como pretexto deu 68,5%, pior que um codificador sem treino. O ajuste fino (88,9%) foi pior que a sonda.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aumento decide: sem aumento, 77,1%; fraco, 82,6%; forte, 91,8%.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ganho do pré-treino sobre os pixels é maior com 30 a 300 rótulos (até +15,3 pontos).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Com nosso orçamento (10.000 imagens, 1.500 passos), o pré-treino não superou a referência supervisionada forte.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12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relâmpago: 3 perguntas, 2 minutos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1. Uma tarefa-pretexto (pretext task) é: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um tipo de rótulo humano.    b) uma tarefa criada só para forçar o modelo a aprender uma representação útil.    c) um conjunto de teste.    d) a tarefa final do projeto.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2. O aumento de dados é fundamental no SimCLR porque: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reduz o número de exemplos.    b) elimina a perda.    c) substitui o codificador.    d) define o que a representação deve ignorar (as mudanças) e o que deve manter.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3. Uma vantagem do pré-treino auto-supervisionado é: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poder usar muitos dados sem rótulo, que são baratos.    b) funcionar sem aumento de dados.    c) não precisar de computação.    d) dispensar os rótulos para sempre.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12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do quiz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1. Resposta B: uma tarefa criada só para forçar o modelo a aprender uma representação útil.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Como prever a rotação de uma imagem.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2. Resposta D: define o que a representação deve ignorar (as mudanças) e o que deve manter.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Sem mudanças, o par fica trivial.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3. Resposta A: poder usar muitos dados sem rótulo, que são baratos.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Os poucos rótulos são usados só no final.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12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obra: exercícios e projeto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5120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1 (básico): A perda NT-Xent à mão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2 (intermediário): Rotação como tarefa-pretexto no Digits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3 (intermediário): A temperatura do SimCLR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4 (intermediário): Vizinho mais próximo, regressão logística e sonda linear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5 (avançado): SimCLR no Fashion-MNIST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280160"/>
            <a:ext cx="2880360" cy="3017520"/>
          </a:xfrm>
          <a:prstGeom prst="roundRect">
            <a:avLst>
              <a:gd name="adj" fmla="val 317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1371600"/>
            <a:ext cx="2606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Projeto do capítulo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Quanto vale cada rótulo depois do pré-treino? A curva rótulos × acurácia no MNIST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12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Leve para casa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 pré-treino não é almoço grátis: precisa de aumento certo, tempo e uma referência forte.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</a:rPr>
              <a:t>Próximo capítulo: modelos generativos profundos, VAE e GAN.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12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issupervisionado">
  <a:themeElements>
    <a:clrScheme name="Semissupervision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EF4444"/>
      </a:accent4>
      <a:accent5>
        <a:srgbClr val="06B6D4"/>
      </a:accent5>
      <a:accent6>
        <a:srgbClr val="8B5CF6"/>
      </a:accent6>
      <a:hlink>
        <a:srgbClr val="4F46E5"/>
      </a:hlink>
      <a:folHlink>
        <a:srgbClr val="8B5CF6"/>
      </a:folHlink>
    </a:clrScheme>
    <a:fontScheme name="Semissupervision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12 — Aprendizado Auto-supervisionado e Contrastivo</dc:title>
  <dc:subject>Aprendizado Semissupervisionado</dc:subject>
  <dc:creator>Araken de Medeiros Santos</dc:creator>
  <cp:lastModifiedBy>Araken de Medeiros Santos</cp:lastModifiedBy>
  <cp:revision>1</cp:revision>
  <dcterms:created xsi:type="dcterms:W3CDTF">2026-10-26T18:39:15Z</dcterms:created>
  <dcterms:modified xsi:type="dcterms:W3CDTF">2026-10-26T18:39:15Z</dcterms:modified>
</cp:coreProperties>
</file>