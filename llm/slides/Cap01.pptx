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 do Capítulo 1: Introdução aos Grandes Modelos de Linguagem. Apresente o objetivo geral e como o capítulo se encaixa no livro.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Boas-vindas ao primeiro capítulo. Diga que ele constrói o vocabulário e o mapa mental dos demais, sem exigir matemática avançada. Leia os seis objetivos em voz alta e peça que a turma marque qual lhe parece mais difícil; volte a essa marcação no fim da aula. Destaque que o último objetivo é o mais prático: decidir quando usar ou não um LLM. Pergunte: quem já usou um assistente de conversação para resumir um texto? Armadilha: não prometa que vão ver LLMs reais; os experimentos do capítulo usam um corpus sintético e n-gramas, que ilustram o conceito sem medir o desempenho de modelos reais.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 a cena como uma pequena história: a pessoa está cansada, confia no texto bonito e só percebe o erro por acaso. Esse é o retrato do que torna os LLMs fascinantes e perigosos ao mesmo tempo: texto de alta qualidade, em escala, com pouco esforço, mas sem garantia de correção. Faça a pergunta-guia à turma e anote as respostas no quadro; ao final do capítulo, compare com o que aprenderam. Mencione que o livro ensina a entender o funcionamento interno, construir aplicações e medir com método se o resultado é bom o bastante. Armadilha: não culpar só o modelo; o erro pode nascer em outras camadas, assunto da seção sobre sistemas.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 imagem da mesa de som de um estúdio: o som final depende da posição de cada botão, e ninguém ajusta milhões de botões à mão. No treinamento, um programa gira os botões aos poucos, comparando a saída com exemplos, até errar menos. Explique que parâmetro é simplesmente um número interno que o modelo guarda. Pergunta à turma: se uma mesa tivesse um bilhão de botões, o que seria difícil para um técnico humano? Armadilha: a analogia não diz que cada botão tem um significado individual; o comportamento emerge do conjunto. Isso será retomado nos capítulos sobre treinamento.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Faça o jogo com a turma: escreva a frase no quadro e peça sugestões. Provavelmente aparecerão prova, aula e reunião; ninguém dirá geladeira. Mostre que cada pessoa atribuiu, sem perceber, graus de expectativa às palavras. É isso que um modelo de linguagem faz: uma máquina de expectativas sobre texto. Escrever uma frase inteira é repetir o passo: prever, escolher, acrescentar, prever de novo. Pergunta: o que muda na expectativa se a frase começar com Ontem, na feira? Armadilha: expectativa não é certeza nem verdade; é plausibilidade segundo padrões do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Defina os dois termos antes de qualquer fórmula. Token é a unidade que o modelo manipula; por ora, palavra ou pedaço de palavra, e o Capítulo 3 detalha a divisão do texto. Modelo de linguagem é aquele que dá probabilidade a sequências de tokens ou, de forma equivalente, estima a probabilidade do próximo token dado o contexto. Dê um exemplo oral com a frase do slide anterior. Pergunta à turma: por que os dois jeitos de dizer são equivalentes? A resposta aparece no próximo slide com a regra da cadeia. Armadilha: não confundir token com palavra; muitas vezes é menor que uma palavra.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Leia a fórmula em voz alta, símbolo por símbolo: probabilidade de o token w na posição t, dado que os tokens anteriores foram w1 até w t menos um. A barra vertical é o dado que. Exemplo oral: a probabilidade de prova depois de estudar para a é alta; depois de colocar o leite na, é baixa. O contexto muda a distribuição. Pergunta: em que ponto da frase a incerteza é maior, no começo ou no fim? Armadilha: a probabilidade é sobre todo o vocabulário, não sobre uma única palavra; o modelo devolve uma distribuição inteira, cujas probabilidades somam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que a regra da cadeia liga as duas definições do slide anterior: a probabilidade de uma frase inteira é o produto das probabilidades de cada passo. O símbolo de produto é apenas multiplicar de t igual a 1 até n. Dê a ideia de que cada palavra paga um pedágio de probabilidade: quanto mais improvável a escolha, maior o pedágio. Pergunta à turma: se um passo tiver probabilidade quase zero, o que acontece com o produto todo? Resposta: a frase inteira fica improvável. Armadilha: a regra é uma identidade da probabilidade; o difícil é estimar cada fator, e é aí que modelos diferem.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Faça a conta no quadro, multiplicando passo a passo. Repita que os valores são hipotéticos e servem só para ilustrar o mecanismo; não vêm de nenhum modelo real. Chame atenção para o resultado: mesmo uma frase perfeitamente natural tem probabilidade pequena, 1,5%, porque cada passo desconta um pouco. Pergunta: o que aconteceria com o produto numa frase de cem palavras? Fica minúsculo, e isso motiva o uso de logaritmos no slide seguinte. Armadilha: probabilidade baixa de uma frase não significa que ela seja errada ou estranha; frases longas têm probabilidade baixa quase sempre.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 o problema prático: multiplicar muitos números pequenos gera um número tão minúsculo que o computador o representa mal, então trabalhamos com logaritmos, que viram soma. No exemplo, o logaritmo natural de 0,015 é cerca de menos 4,20; dividindo por quatro passos, menos 1,05 por token; elevando e ao oposto, cerca de 2,86. Leia a perplexidade como a incerteza média: como se o modelo escolhesse entre cerca de 2,9 opções igualmente prováveis a cada passo. Pergunta: perplexidade menor é melhor ou pior? Menor é melhor. Armadilha: perplexidade não mede verdade, só surpresa.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o dado como imagem: um dado justo de seis faces dá seis resultados igualmente prováveis, um de duas faces é uma moeda. Dizer que a perplexidade é cerca de 2,9 equivale a dizer que o modelo, em média, está tão incerto quanto estaria ao sortear entre pouco menos de três opções. Menos faces significa menos incerteza. Pergunta à turma: um modelo que sempre acerta com certeza total teria um dado de quantas faces? Uma. Armadilha: a analogia vale para a média; em passos específicos a incerteza varia muito. E perplexidade menor não garante texto verdadeiro, só que o modelo se surpreende menos com o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é o primeiro grande alerta do livro. Probabilidade alta diz que a frase é plausível segundo os padrões do texto com que o modelo aprendeu, e não que seja verdadeira. O exemplo da capital da Austrália funciona bem: o erro é comum em textos, então pode ter probabilidade considerável. Pergunte à turma que outros erros populares eles conhecem. Relacione com a situação inicial: o resumo fluente com número inventado. Armadilha: dizer que o modelo mente; ele não tem intenção, apenas produz o que é estatisticamente plausível. O remédio é verificar, medir e documentar, temas dos capítulos finais.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 que a forma mais antiga de estimar probabilidades é contar. Num corpus, conta-se quantas vezes cada sequência aparece. Bigrama usa o token anterior; trigrama, os dois anteriores. A fórmula do slide é uma razão de contagens: quantas vezes o par apareceu dividido por quantas vezes o primeiro token apareceu. Exemplo oral: se depois de o aparece estudante em 100 de 500 ocorrências, a estimativa é 0,2. Mencione que Shannon, em 1948, já aproximava a língua por sequências estatísticas. Pergunta: que informação um bigrama ignora? Tudo que veio antes do token anterior. Armadilha: o modelo não sabe o que é um estudante; só resume contagens.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Corpus sintético em português, escrito por regras para o livro; é pequeno de propósito, para enxergar o mecanismo. O código treina um modelo de trigramas com suavização aditiva e pede a distribuição do próximo token depois de o estudante. Chame atenção para três coisas: o modelo devolve uma distribuição sobre todo o vocabulário, as probabilidades somam 1 e os verbos prováveis são só os que aparecem naquele corpus. O vocabulário tem 44 tokens. Pergunta: por que estuda e empresta têm valores tão próximos? Porque o corpus sintético é regular. Armadilha: isto não é um LLM e não mede o desempenho de modelos reais.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Imagine um restaurante que anota todas as combinações de entrada, prato e sobremesa que já serviu. As possíveis são incontáveis e as servidas são poucas; para a maioria, a tabela está vazia. Com um vocabulário de 50 mil tokens, os trigramas possíveis chegam a 1,25 vezes dez elevado a 14, e nenhum corpus cobre isso. Esse problema se chama esparsidade dos dados. Pergunta à turma: o que um modelo de contagem faz diante de uma combinação nunca vista? Dá probabilidade zero ou, com suavização, uma pequena massa. Armadilha: aumentar n parece melhorar o contexto, mas piora a esparsidade.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Apresente a saída para a esparsidade: modelos neurais não tabelam contagens, aprendem representações numéricas chamadas embeddings, em que palavras parecidas ficam próximas. Assim, o aprendizado sobre estudante também ajuda frases sobre aluno, o que a tabela de contagens não faz. Cite Bengio e colaboradores, 2003, como a proposta que virou base do que veio depois. Os embeddings serão detalhados no Capítulo 3. Pergunta: que ganho há em palavras parecidas ficarem próximas? Generalização. Armadilha: proximidade no espaço aprendido não prova que os significados sejam idênticos; o Capítulo 3 discute essa limitação.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o gráfico e leia os três números, que vêm da execução real do código: 26,96 para unigramas, 3,17 para bigramas e 2,40 para trigramas, medidos em frases de teste que o modelo não viu. O unigrama ignora o contexto e acerta pouco; bigrama e trigrama usam o contexto e reduzem muito a perplexidade. A diferença entre os dois últimos é pequena porque a estrutura do corpus é simples. Pergunta: o que esperar em textos reais? O ganho de aumentar n esbarra na esparsidade. Armadilha: não generalizar estes valores para a língua real nem para LLMs; o corpus é sintético e artificialmente regular.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é o Exemplo 1 resolvido do capítulo. O laço treina três modelos no mesmo corpus e mede a perplexidade nas frases de teste. Peça que a turma preveja a ordem dos resultados antes de revelar a saída; a maioria acerta que o trigrama vai melhor. Leia os números: 26,96, 3,17 e 2,40. Interprete: o contexto reduz muito a surpresa, mas o ganho do bigrama para o trigrama é pequeno neste corpus simples. Pergunta: por que, em textos reais, não basta aumentar n indefinidamente? Esparsidade. Armadilha: perplexidade é medida em dados de teste; medir no treino esconderia o problema.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Defina LLM: um modelo de linguagem neural, tipicamente baseado no Transformer, treinado com enorme quantidade de texto e muitos parâmetros, de centenas de milhões a centenas de bilhões. Não existe limiar oficial, e o termo mudou com o tempo. Os três ingredientes são parâmetros, dados e computação. Cite Kaplan e colegas, que mostraram leis de potência para a perda, e Hoffmann e colegas, que argumentaram por crescimento equilibrado de parâmetros e dados. Diga que o Capítulo 5 retoma esses resultados com ressalvas. Pergunta: o que significa previsível aqui? Segue uma lei de potência. Armadilha: emergência de capacidades é hipótese em debate, não fato geral.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termos IA, aprendizado de máquina, aprendizado profundo e PLN costumam ser usados como sinônimos, mas se encaixam como bonecas russas, com uma sobreposição importante. Use exemplos do cotidiano: o corretor do celular é PLN; o filtro de spam é aprendizado de máquina; um robô aspirador que desvia de móveis é IA. Nem tudo que é IA aprende; nem tudo que aprende é profundo. Os LLMs ficam na interseção entre aprendizado profundo e PLN. Pergunta: um sistema de regras gramaticais manuais é IA? É PLN e pode ser considerado IA, mas não é aprendizado de máquina. Armadilha: a figura é conceitual, sem proporções reais.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Percorra a linha do tempo mostrando que cada passo respondeu a uma limitação do anterior. Shannon, em 1948, propõe aproximar a língua por sequências estatísticas; Bengio e colegas, em 2003, aprendem embeddings e previsão juntos; word2vec, em 2013; sequência a sequência e atenção, em 2014 e 2015; Transformer, em 2017; ELMo e BERT, em 2018; GPT-2 e GPT-3, este com 175 bilhões de parâmetros, em 2019 e 2020; e, em 2022, o ajuste com preferências humanas. Pergunta: qual desses marcos vocês já ouviram citar? Armadilha: a seleção é nossa e simplifica uma história com muitos autores; outros marcos importantes foram omitidos.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o restaurante para separar as quatro camadas: modelo, aplicação, interface de conversação e sistema completo. Se o prato chega errado, a causa pode estar no cozinheiro, que é o modelo; na receita ou na cozinha, que é a aplicação; no garçom que anotou mal o pedido, que é a interface; ou no estoque de ingredientes, que é a recuperação de documentos do sistema. Reforce que um nome de chatbot é um produto, e não um modelo. Pergunta: quando uma resposta está errada, em que camada vocês procurariam primeiro? Armadilha: nunca usar ChatGPT como sinônimo de LLM; o nome designa um produto e os modelos por trás mudam.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a figura e associe cada camada à analogia do restaurante. O modelo transforma tokens em probabilidades do próximo token. A aplicação é o código que prepara a entrada, chama o modelo e trata a saída. A interface é a forma de interação: janela de chat, voz ou ponto de acesso de API. O sistema completo soma recuperação de documentos, ferramentas, filtros, registros e supervisão humana. Uma resposta errada pode vir do modelo, da aplicação, da recuperação ou de uma instrução oculta da interface. Pergunta: qual camada vocês controlam ao usar um chat público? Muito pouco. Armadilha: esquecer que a qualidade final depende do sistema, e não só do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modelo de brinquedo é uma função determinística que escolhe, dentro do texto recebido, a frase mais parecida com a pergunta. Ela não é um LLM e foi escrita só para tornar as camadas visíveis; a base consultada é a da Universidade Federal Aurora, fictícia. A mesma pergunta tem três destinos: sem contexto, nada a dizer; com contexto irrelevante, uma frase irrelevante com a mesma confiança; só no sistema, com recuperação, aparece a resposta correta, com a fonte D12 registrada. Esse padrão é o tema do Capítulo 11. Aqui mostramos o trecho do sistema e duas das três saídas. Armadilha: recuperar ajuda a ancorar, mas não garante correção.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Apresente as três perguntas como um checklist que a turma pode levar para o trabalho. Primeira: existe solução mais simples? Uma página de perguntas frequentes com busca, regras ou um classificador pequeno podem bastar. Segunda: como saberei que a resposta está certa? Sem forma de verificar, o risco é maior. Terceira: qual o custo de um erro? Contraste um rascunho de e-mail com uma dosagem de remédio. Use o exemplo do capítulo: para responder sobre prazo de trancamento, recuperação mais LLM com citação da fonte costuma equilibrar utilidade e controle, desde que haja avaliação e supervisão. Armadilha: cinco acertos em testes próprios não provam confiabilidade; o Capítulo 16 ensina a medir.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Resuma os erros mais comuns do capítulo. Primeiro, tratar o nome de um produto como sinônimo de LLM. Segundo, confiar na fluência e julgar por poucos exemplos: cinco acertos escolhidos por quem testa são amostra pequena. Terceiro, ignorar a data de corte: o modelo não sabe o que veio depois dos dados de treinamento. Quarto, lembrar a limitação do próprio capítulo: os números vêm de um corpus sintético e de n-gramas, e o modelo de brinquedo não é um LLM. Quinto, em saúde, direito e finanças, o LLM apoia e não substitui profissionais. Pergunta: qual desses erros vocês já cometeram? Armadilha: tratar a cronologia como lista completa.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Apresente a atividade como um experimento pequeno e reprodutível. O ponto central é registrar qual serviço, qual versão e qual data, porque serviços de conversação mudam de modelo, de instruções ocultas e de políticas sem aviso; sem registro, nem você consegue repetir o teste meses depois. Sugira o exemplo da Lei Geral de Proteção de Dados aprovada em 2008 como premissa errada embutida. O entregável é uma tabela e um parágrafo de conclusão. Pergunta à turma: repetir a mesma pergunta três vezes dá sempre a mesma resposta? Armadilha: não coloque dados pessoais ou confidenciais no serviço externo.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Dê um minuto para a turma pensar e peça que votem por mão levantada antes da resposta. A alternativa correta é a B: probabilidade alta indica plausibilidade segundo os padrões dos textos de treinamento, não verdade. Comente por que as outras falham: verdade não decorre do volume de dados; alta probabilidade não exige que a frase tenha sido vista literalmente; e em contextos jurídicos a verificação é indispensável. Ligue ao exemplo da capital da Austrália. Pergunta: quem escolheu A, por que a ideia de muitos dados parece convincente? Armadilha: confundir fluência, probabilidade e correção.</a:t>
            </a:r>
          </a:p>
          <a:p/>
          <a:p>
            <a:r>
              <a:t>RESPOSTA: B. Probabilidade mede plausibilidade estatística. Erros comuns em textos de treinamento também recebem probabilidade considerável.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Peça que a turma recorde o exemplo da frase de quatro palavras com 0,015 e imagine cem palavras. A resposta é a C: o produto de muitos números pequenos fica tão minúsculo que o computador o representa mal; somar logaritmos evita isso. Desmonte as outras: a regra da cadeia vale sem logaritmos; logaritmos de probabilidades são negativos ou zero, não maiores que 1; e nada tem a ver com treinar o modelo. Mencione que o logaritmo preserva a ordem, então comparar frases continua válido. Pergunta: qual a vantagem adicional de trabalhar com somas? Elas são numericamente estáveis. Armadilha: achar que o logaritmo muda o resultado; ele só muda a representação.</a:t>
            </a:r>
          </a:p>
          <a:p/>
          <a:p>
            <a:r>
              <a:t>RESPOSTA: C. O motivo é numérico (underflow). O logaritmo transforma produto em soma e mantém a ordem das probabilidades.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Relembre a demonstração com o modelo de brinquedo: sem contexto não havia resposta; com recuperação, a multa de R$ 1,50 por dia apareceu com a fonte. A resposta correta é a D: o mesmo modelo, com acesso à evidência, produz outro resultado, logo a qualidade depende do sistema completo. As outras alternativas inventam causas sem apoio no cenário. Pergunta à turma: se o assistente ainda errasse mesmo com a base, onde procurariam o problema? Na recuperação, no prompt ou na validação. Armadilha: lembrar que recuperar ajuda a ancorar respostas, mas não garante correção.</a:t>
            </a:r>
          </a:p>
          <a:p/>
          <a:p>
            <a:r>
              <a:t>RESPOSTA: D. A diferença está no acesso à evidência: a recuperação muda a resposta mesmo mantendo o mesmo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Revise os pontos principais e volte à pergunta-guia do começo: o que o modelo estava fazendo ao escrever aquela linha? Estava escolhendo tokens plausíveis, um passo de cada vez, sem verificar contra a fonte. Retome o marcador que a turma fez nos objetivos: qual ficou mais claro? Reforce a mensagem final do capítulo: fluência não é correção; verifique, meça e documente. Pergunta: se tivessem de explicar a um colega em trinta segundos o que é um LLM, o que diriam? Ouça duas respostas. Armadilha: sair da aula achando que perplexidade baixa significa modelo confiável. Anuncie que o próximo capítulo dá a base matemática para tudo que vem depois.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anner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6591"/>
            <a:ext cx="12191695" cy="229577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310896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06B6D4"/>
                </a:solidFill>
                <a:latin typeface="Calibri"/>
              </a:rPr>
              <a:t>Parte I — Fundamentos dos modelos de linguagem  ·  Capítulo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Introdução aos Grandes Modelos de Linguagem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6984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 i="0">
                <a:solidFill>
                  <a:srgbClr val="C7D2FE"/>
                </a:solidFill>
                <a:latin typeface="Calibri"/>
              </a:rPr>
              <a:t>Grandes Modelos de Linguagem: do básico à aplicação</a:t>
            </a:r>
          </a:p>
          <a:p>
            <a:pPr algn="l"/>
            <a:r>
              <a:rPr sz="1800" b="0" i="0">
                <a:solidFill>
                  <a:srgbClr val="C7D2FE"/>
                </a:solidFill>
                <a:latin typeface="Calibri"/>
              </a:rPr>
              <a:t>Araken de Medeiros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 que você vai aprender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Definir modelo de linguagem, token e distribuição do próximo token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Calcular probabilidade, log e perplexidade de uma frase simples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Situar LLMs em relação a IA, aprendizado de máquina e PLN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Descrever marcos da história, de n-gramas ao Transformer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Distinguir modelo, aplicação, interface e sistema completo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Avaliar com três perguntas se um LLM é a escolha certa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Situação inicial: o resumo com um erro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Domingo, 23h: você cola dois artigos e pede cinco linhas de resumo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O resumo sai fluente, com tom de especialista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Mas a terceira linha cita um número que não existe no artigo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Fluência não é garantia de correção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Pergunta-guia: o que o modelo estava fazendo ao escrever aquela linha?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Parâmetros são botões de uma mesa de som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4/32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Treinar um modelo é girar milhões (ou bilhões) de botões, aos poucos, até a saída soar bem.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Cada botão é um parâmetro: um número interno do modelo. O aprendizado de máquina ajusta esses números a partir de exemplos, em vez de depender de regras escritas à mão.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Completar frases: um jogo de expectativas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5/32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"Hoje à noite vou estudar para a ______" — você pensou em prova, aula ou reunião. Dificilmente em geladeira.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Sem perceber, você deu graus de expectativa a cada palavra possível. Um modelo de linguagem faz exatamente isso: diz o quanto cada continuação é plausível.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 que é um modelo de linguagem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6/32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Token: unidade de texto, palavra ou pedaço de palavra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Modelo de linguagem: atribui probabilidade a sequências de tokens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Equivale a estimar o próximo token dado o contexto anterior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Escrever um texto é repetir: prever, escolher, acrescentar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Probabilidade do próximo token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7/32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400" b="1" i="0">
                <a:solidFill>
                  <a:srgbClr val="4F46E5"/>
                </a:solidFill>
                <a:latin typeface="Cambria Math"/>
              </a:rPr>
              <a:t>P( wₜ | w₁, …, wₜ₋₁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Lê-se: probabilidade de wₜ na posição t, dado o que veio antes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A barra vertical significa "dado que"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O contexto anterior muda a distribuição do próximo token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Regra da cadeia: probabilidade de uma frase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8/32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400" b="1" i="0">
                <a:solidFill>
                  <a:srgbClr val="4F46E5"/>
                </a:solidFill>
                <a:latin typeface="Cambria Math"/>
              </a:rPr>
              <a:t>P(w₁,…,wₙ) = ∏ₜ P(wₜ | w₁,…,wₜ₋₁)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O símbolo ∏ significa produto: multiplique todos os termos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A probabilidade da frase é o produto das probabilidades de cada passo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É por isso que prever o próximo token basta para avaliar frases inteiras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Exemplo: "o estudante lê o livro"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9/32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Valores hipotéticos, só para ilustrar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P(o) = 0,30  ·  P(estudante | o) = 0,40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P(lê | o estudante) = 0,25  ·  P(o | o estudante lê) = 0,50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Produto: 0,30 × 0,40 × 0,25 × 0,50 = 0,015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A probabilidade da frase é 1,5%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Logaritmos e perplexidade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10/32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400" b="1" i="0">
                <a:solidFill>
                  <a:srgbClr val="4F46E5"/>
                </a:solidFill>
                <a:latin typeface="Cambria Math"/>
              </a:rPr>
              <a:t>ln P = Σₜ ln P(wₜ | …)     PPL = exp( −ln P / n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Multiplicar muitos números pequenos estoura a precisão do computador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Logaritmo transforma produto em soma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No exemplo: ln 0,015 ≈ −4,20; por token, −1,05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Perplexidade: e^1,05 ≈ 2,86 opções igualmente prováveis por passo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Perplexidade é um dado com N faces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11/32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Perplexidade 2,86 é como lançar, a cada passo, um dado justo de cerca de 3 faces e ter de adivinhar o resultado.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Quanto menos faces, menos incerteza: o modelo está mais seguro. Um modelo muito incerto equivale a um dado com muitas faces.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Plausível não é o mesmo que verdadeiro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12/32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Probabilidade alta mede plausibilidade segundo os textos de treino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"A capital da Austrália é Sydney" pode receber probabilidade considerável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Erros comuns nos textos também são aprendidos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Fluência e probabilidade alta não substituem verificação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N-gramas: a ideia de contar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13/32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Corpus: grande conjunto de textos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N-grama: sequência de n tokens consecutivos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Bigrama olha só o token anterior; trigrama olha dois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P(wₜ | wₜ₋₁) ≈ contagem(wₜ₋₁, wₜ) / contagem(wₜ₋₁)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Ideia antiga: Shannon (1948) já gerava texto aproximado assim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Um modelo de trigramas em 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14/32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from llmdidatico import corpus, modelos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frases = corpus.frases_lm(n=3000, seed=0)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treino, teste = frases[:2400], frases[2400:]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lm = modelos.NgramaLM(n=3, k=0.05).ajustar(treino)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contexto = ["o", "estudante"]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dist = lm.distribuicao(contexto)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top = sorted(zip(lm.vocab, dist), key=lambda x: -x[1])[:5]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for tok, p in top: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print(f"  {tok:&lt;12s} {p:.3f}")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print("Soma:", round(float(dist.sum()), 6))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Próximo token após 'o estudante':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estuda       0.172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empresta     0.165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escreve      0.165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devolve      0.154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lê           0.123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Esparsidade: decorar todas as combinações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15/32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É como tentar decorar o cardápio de todas as refeições possíveis: quase nenhuma combinação você já comeu.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Com 50 mil tokens, há 50.000³ = 1,25 × 10¹⁴ trigramas possíveis. Nenhum corpus os cobre; a maioria tem contagem zero.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Modelos neurais e embeddings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16/32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Em vez de tabelar contagens, aprendem representações numéricas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Embeddings: palavras parecidas ficam próximas (Capítulo 3)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O que se aprende sobre "estudante" ajuda a prever frases sobre "aluno"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Ideia proposta para linguagem por Bengio et al. (2003)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Perplexidade de n-gramas no corpus sintético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17/32</a:t>
            </a:r>
          </a:p>
        </p:txBody>
      </p:sp>
      <p:pic>
        <p:nvPicPr>
          <p:cNvPr id="7" name="Picture 6" descr="f01_pp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49" y="1143000"/>
            <a:ext cx="676910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0" y="12801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Menor perplexidade é melhor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Unigrama ignora o contexto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Bigrama e trigrama reduzem muito a perplexidade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Calibri"/>
              </a:rPr>
              <a:t>Dados reais calculados: n=1, 26,96; n=2, 3,17; n=3, 2,40. Corpus artificial, muito mais regular que a língua real.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Comparando unigrama, bigrama e trigrama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18/32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for n in (1, 2, 3):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m = modelos.NgramaLM(n=n, k=0.05).ajustar(treino)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print(f"n={n}: perplexidade no teste = "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  f"{m.perplexidade(teste):.2f}")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n=1: perplexidade no teste = 26.96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n=2: perplexidade no teste = 3.17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n=3: perplexidade no teste = 2.40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 que torna um modelo "grande"?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19/32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LLM: modelo de linguagem neural, tipicamente Transformer, em grande escala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Três ingredientes crescem juntos: parâmetros, dados e computação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Não há limiar oficial entre pequeno e grande; o termo é relativo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Kaplan et al. (2020): a perda cai de forma previsível com a escala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Hoffmann et al. (2022): parâmetros e dados devem crescer em equilíbrio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IA, aprendizado de máquina, aprendizado profundo e PLN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20/32</a:t>
            </a:r>
          </a:p>
        </p:txBody>
      </p:sp>
      <p:pic>
        <p:nvPicPr>
          <p:cNvPr id="7" name="Picture 6" descr="f01_aninha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363" y="1143000"/>
            <a:ext cx="6376873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0" y="12801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IA ⊃ AM ⊃ AP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PLN cruza esses conjuntos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LLMs ficam na interseção de aprendizado profundo e PLN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Calibri"/>
              </a:rPr>
              <a:t>Figura conceitual: os tamanhos não representam proporções reais.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Uma linha do tempo seletiva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21/32</a:t>
            </a:r>
          </a:p>
        </p:txBody>
      </p:sp>
      <p:pic>
        <p:nvPicPr>
          <p:cNvPr id="7" name="Picture 6" descr="f01_histor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59518"/>
            <a:ext cx="7498079" cy="35389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0" y="12801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1948 Shannon; 2003 modelo neural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2013 word2vec; 2017 Transformer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2018 ELMo e BERT; 2020 GPT-3 (175 bilhões de parâmetros)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2022 ajuste por preferências humanas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Calibri"/>
              </a:rPr>
              <a:t>Marcos citados no livro; seleção nossa, não uma lista completa.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Um restaurante, quatro camadas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22/32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Modelo é o cozinheiro; aplicação é a receita e a cozinha; interface é o garçom e o cardápio; sistema é o restaurante inteiro.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Se o prato chega errado, a falha pode estar no cozinheiro, na receita, no pedido anotado ou no estoque. Sem separar as camadas, não se sabe onde consertar.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Modelo, aplicação, interface e sistema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23/32</a:t>
            </a:r>
          </a:p>
        </p:txBody>
      </p:sp>
      <p:pic>
        <p:nvPicPr>
          <p:cNvPr id="7" name="Picture 6" descr="f01_camad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426" y="1143000"/>
            <a:ext cx="7240747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0" y="12801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Modelo: parâmetros treinados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Aplicação: monta o prompt, chama o modelo, trata a saída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Interface: chat, voz ou API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Sistema: tudo ao redor, inclusive recuperação e supervisão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Calibri"/>
              </a:rPr>
              <a:t>A mesma pergunta atravessa as quatro camadas; cada uma pode introduzir ganhos ou erros.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As camadas em código: do modelo ao sistema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24/32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# modelo_brinquedo e aplicacao definidos antes (NÃO é um LLM)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def sistema(pergunta):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bm = modelos.BM25([modelos.tokenizar_sem_stop(d[3]) for d in DOCS])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s = bm.pontuar(modelos.tokenizar_sem_stop(pergunta))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melhor = int(s.argmax())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resposta = aplicacao(pergunta, DOCS[melhor][3])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return {"resposta": resposta,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    "fonte": DOCS[melhor][0] + " — " + DOCS[melhor][2]}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pergunta = "Qual o valor da multa por atraso na devolução de livros?"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print(aplicacao(pergunta))                    # só o modelo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print(sistema(pergunta)["resposta"])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1) só o modelo, sem contexto  : Não encontrei informação para responder.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3) sistema com recuperação    : O atraso na devolução gera multa de R$ 1,50 por dia e por exemplar.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 fonte registrada           : D12 — Multas da biblioteca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Três perguntas antes de adotar um LLM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25/32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1. Existe uma solução mais simples? Regras, busca ou classificador pequeno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2. Como saberei que a resposta está certa?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3. Qual o custo de um erro?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Rascunho de e-mail: erro barato. Dosagem de remédio: erro caro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A decisão se baseia em risco e verificabilidade, não em modismo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Erros frequentes e limitações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26/32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Tratar "ChatGPT" como sinônimo de LLM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Confiar na fluência ou julgar por cinco exemplos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Ignorar a data de corte dos dados de treinamento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Exemplos do capítulo usam corpus sintético e n-gramas, não LLMs reais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Em saúde, direito e finanças: apoiar profissionais, nunca substituí-los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Mãos à obra: Plausibilidade versus verdade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27/32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1. Escolha uma interface de conversação e anote nome, versão e data do teste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2. Prepare cinco perguntas que você consegue verificar em fonte confiável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3. Em duas delas, embuta um erro na premissa; veja se o modelo corrige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4. Preencha tabela: pergunta, resposta, correta (sim/não/parcial), como verificou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5. Repita a pergunta mais difícil três vezes e compare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6. Escreva um parágrafo: em que casos a fluência escondeu um erro?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Pare e pense: probabilidade de uma frase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28/32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Uma frase recebe probabilidade alta de um modelo de linguagem. O que se pode concluir?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A)  Que a frase é verdadeira, pois o modelo foi treinado com muitos dados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73552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2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B)  Que ela é plausível segundo os textos de treino; não que seja verdadeira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86783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86783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C)  Que a frase foi vista literalmente no treinamento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0016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0016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D)  Que a frase pode ser usada sem verificação em contextos jurídicos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Pare e pense: somar logaritmos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29/32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Por que se somam logaritmos de probabilidades em vez de multiplicar as probabilidades?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A)  Porque a regra da cadeia só vale com logaritmos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73552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2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B)  Porque logaritmos tornam as probabilidades maiores que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86783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86783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C)  Porque o produto de muitos números pequenos fica minúsculo e é mal representado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0016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0016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D)  Porque logaritmos eliminam a necessidade de treinar o modelo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Pare e pense: qual camada?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30/32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Um assistente acerta ao consultar a base de políticas e erra sem consultá-la. Isso mostra que: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A)  O modelo foi treinado com dados incorretos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73552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2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B)  O tokenizador está corrompido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86783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86783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C)  Modelos nunca devem ser combinados com bases de dados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0016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0016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D)  A qualidade final depende do sistema completo, não só do modelo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 que vale a pena lembrar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31/32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Modelo de linguagem: estima o próximo token dado o contexto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Probabilidade de frase = produto; na prática, soma de logaritmos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Perplexidade: incerteza média; menor é melhor, mas não mede verdade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N-gramas contam; modelos neurais aprendem representações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LLM: modelo neural, em geral Transformer, em grande escala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Separe modelo, aplicação, interface e sistema; fluência não é correção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Para ir além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32/32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BROWN, T. B. et al. Language models are few-shot learners. In: NeurIPS, 33., 2020.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KAPLAN, J. et al. Scaling laws for neural language models. arXiv:2001.08361, 2020.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HOFFMANN, J. et al. Training compute-optimal large language models. arXiv:2203.15556, 2022.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VASWANI, A. et al. Attention is all you need. In: NeurIPS, 30., 2017.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BENGIO, Y. et al. A neural probabilistic language model. JMLR, v. 3, p. 1137-1155, 2003.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SHANNON, C. E. A mathematical theory of communication. Bell System Technical Journal, v. 27, n. 3, 1948.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JURAFSKY, D.; MARTIN, J. H. Speech and language processing. 3. ed. (rascunho). Stanford, 2024.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