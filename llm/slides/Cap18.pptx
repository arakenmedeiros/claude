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do Capítulo 18: Projetos integradores. Apresente o objetivo geral e como o capítulo se encaixa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Bem-vindos ao último capítulo do livro. Aqui não há técnica nova: o objetivo é juntar tudo o que vimos em seis projetos completos, cada um com o mesmo molde. Percorra os seis objetivos em voz alta e destaque o terceiro, que é a marca do capítulo: o veredito honesto, que compara o intervalo inteiro, e não só a média, ao critério. Avise já que quase todos os vereditos serão inconclusivos, e que isso é intencional. Lembre que não houve acesso a LLMs reais: os números descrevem simuladores e o desenho do sistema. Pergunta à turma: quem já viu uma demonstração impressionante que depois não funcionou no dia a dia? Anote as respostas, pois voltaremos a 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a história da equipe de cinco pessoas que entrega uma demonstração brilhante e é desarmada por quatro perguntas simples da diretora. Mostre que o código existe, mas faltam requisitos escritos, critério de aceitação, intervalo de confiança e plano de governança. Aponte a figura à direita: é o molde que todos os seis projetos seguem, com setas de volta indicando que a análise de erros realimenta requisitos, dados e arquitetura. Diga que o critério de aceitação é escrito antes de medir. Pergunta à turma: se vocês fossem a diretora, qual das quatro perguntas seria a mais difícil de responder hoje? Armadilha: não tratar o molde como burocracia; ele é o que separa projeto de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imagem do arqueiro que atira a flecha na parede e só depois desenha o alvo em volta: acertou em cheio, claro. Ligue ao projeto: se a equipe escreve o critério de aceitação depois de ver o resultado, ele tende a coincidir com o que já foi medido. No molde do capítulo, o critério vem na semana um, aprovado pelo dono do produto, antes de qualquer medição. Exemplo oral: critério de recuperação maior ou igual a 0,85 escrito antes de rodar a busca. Pergunta à turma: quem aqui já ajustou uma meta depois do resultado? Armadilha: confundir critério com desejo; o critério é um número e um intervalo, e diz quando está pronto.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com pesquisa eleitoral: ninguém declara vencedor quando a diferença está dentro da margem de erro. Aqui, a mesma taxa observada de 0,90 é inconclusiva com 30 casos, porque o intervalo de Wilson, de 0,744 a 0,965, atravessa o critério de 0,80, e passa a atender com 100 casos, com limite inferior de 0,826. Explique que inconclusivo não é meio bom, meio ruim: significa que os dados não decidem. A ação correta é coletar mais casos. Pergunta à turma: se a taxa fosse 0,80 com 10 casos, o que diríamos? Resposta: intervalo de 0,490 a 0,943, inconclusivo. Armadilha: declarar atende ou não atende com intervalo que cruza o critério.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o primeiro projeto: um assistente de normas acadêmicas de uma universidade que não existe. O ponto central é o custo do erro: um prazo errado faz o estudante perder a matrícula, então o sistema deve responder somente com base nos documentos, citar a fonte e se abster quando não souber. Mostre os quatro requisitos e seus critérios, escritos antes de medir. Os dados são os 60 documentos e 56 consultas do pacote, sendo 36 diretas, 10 paráfrases e 10 sem resposta. Pergunta à turma: entre responder errado e dizer não sei, qual é pior neste caso? Armadilha: lembrar que o gerador é simulado, não é um LLM, e que os números descrevem o desenho do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a figura da esquerda para a direita: a pergunta entra, a busca híbrida combina BM25 e LSA com fusão por posição, o prompt é montado com delimitadores, o gerador simulado responde, e a verificação de citação decide entre responder e se abster. Enfatize que cada seta é uma fronteira que o relatório mede separadamente: assim, quando algo falha, sabemos se foi recuperação, geração ou política. Lembre dos Capítulos 10 e 11 de onde vêm as peças. Pergunta à turma: se a resposta saiu errada, em quantos lugares da figura o erro pode ter nascido? Armadilha: medir apenas a resposta final e perder a capacidade de diagnosticar onde o sistema falhou.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resultado do Projeto 1, com gerador simulado, não um LLM. Os cinco vereditos saem inconclusivos. A resposta correta é 0,609, com intervalo de 0,465 a 0,736: não dá para dizer que passa nem que reprova o critério de 0,70. A abstenção correta é perfeita, 10 em 10, mas com 10 casos o intervalo vai de 0,722 a 1,000. A fidelidade é 1,000 em 56 casos, porém o limite inferior de 0,936 fica abaixo de 0,95. Veredito honesto: nada decidido, faltam casos. Mencione a varredura do limiar: com 0,3, resposta correta de 0,739 e abstenção correta de 0,600; com 0,5, abstenção de 1,000 ao custo de 21,7 por cento de abstenções indevidas. A escolha é do dono do produto. Nas paráfrases, só 1 de 8 acerta. Pergunta: o que fazer com inconclusivo?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qualquer número, deixe o escopo claro: este projeto não é um sistema clínico. Ele só responde sobre organização de serviços de uma rede fictícia e encaminha a profissional de saúde ou à urgência. Todos os dados são sintéticos, e dados de saúde reais exigiriam base legal, avaliação de impacto e validação por profissionais. O erro mais grave não é uma resposta de serviço errada, e sim deixar de encaminhar uma urgência, por isso o critério de revocação de urgência é de 0,99. Destaque a ideia dos dois conjuntos: 54 perguntas de desenvolvimento e 18 cegas, escritas depois de congelar as regras. Pergunta à turma: por que precisamos de perguntas cegas? Armadilha: tratar o exercício como se fosse aplicável a pacientes.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decisão de arquitetura mais importante é a ordem: os guardrails de urgência e de pedido clínico vêm antes do RAG e respondem com texto fixo, nunca gerado. Só perguntas de serviço chegam ao RAG. Dados pessoais são mascarados antes de qualquer registro. Explique por que texto fixo: a mensagem mais crítica não deve depender de um gerador que pode errar ou ser manipulado, e um texto revisado por pessoas é determinístico e auditável. Mas seja franco: as regras do roteador são determinísticas e imperfeitas, e o resultado mostrará o quanto. Pergunta à turma: se o roteador falhar em reconhecer uma urgência, para onde a pergunta vai? Resposta: para o RAG, o que é um problema. Armadilha: achar que uma camada de regras resolve sozinha um risco desta gravidade.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resultado mais importante do projeto, e é desfavorável. No desenvolvimento, as regras acertam tudo, mas porque foram escritas olhando essas perguntas. No conjunto cego, a revocação de urgência cai para 0,167, com 1 acerto em 6, e intervalo de 0,030 a 0,564. Cinco urgências, como um bebê que não respira direito, não foram reconhecidas. A revocação clínica cai para 0,333 e três perguntas de serviço foram desviadas por palavras como dose e febre. O critério de 0,99 não é atendido: trate como bloqueio de liberação. Mitigações: linha fixa de urgência em toda resposta, léxico revisado por profissionais, classificador treinado e viés a favor de encaminhar. Cuidado com a equidade: a lacuna entre registros está confundida com o tipo de pergunta, então é inconclusiva.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com o aluno que decora o gabarito da prova do ano passado: tira dez naquela prova, mas não aprendeu a matéria. As regras do roteador de saúde fizeram exatamente isso com as perguntas de desenvolvimento. O conjunto cego, escrito depois de congelar as regras, é a prova nova. Reforce a disciplina: o teste não pode influenciar decisões, e se ajustarmos as regras até o cego chegar a 1,000, ele vira desenvolvimento e precisamos de outro. Pergunta à turma: como saber se uma nota alta é aprendizado ou decoreba? Resposta: medir em casos que o sistema nunca viu. Armadilha: descartar o conjunto cego por ser pequeno em vez de aceitar o recado que ele dá.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terceiro projeto acrescenta três exigências ao RAG do Projeto 1. Primeira: a norma citada precisa estar vigente na data de referência, porque versões antigas não podem aparecer. Segunda: alguns atos são restritos a perfis, como público, servidor e jurídico. Terceira: cada consulta deixa uma trilha de auditoria. Frise que o sistema não decide: ele localiza e cita, e a decisão é do agente público. Os dados são 17 atos fictícios com número, início e fim de vigência, perfil e vínculos de substituição, por exemplo a Portaria 45/2025 revogando a 12/2023, e 30 consultas. Critérios: zero normas fora da vigência, zero vazamentos de perfil. Pergunta à turma: qual o risco de citar uma norma revogada? Armadilha: tomar o sistema como parecer jurídico.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ideia central da figura é onde o filtro entra: antes de escolher os k melhores, e não depois. Primeiro o pré-filtro remove o que está fora da vigência ou acima do perfil do usuário; só então vêm a busca, o RAG e a verificação de citação. No fim, a trilha de auditoria encadeada por hash registra a consulta com o usuário pseudonimizado: o mesmo usuário gera sempre o mesmo código, mas o nome não aparece. Diga que o hash encadeado detecta adulteração, mas não a impede; uma trilha séria também exige armazenamento com acesso restrito e cópias. Pergunta à turma: o que acontece se filtrarmos só depois de escolher? Adiante: veremos na próxima analogia e no resultado. Armadilha: achar que a trilha impede fraude.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 tabela de saída. O modo ingênuo, sem filtro, acerta 18 de 30, vaza documentos acima do perfil em 16 consultas e traz normas fora da vigência em 13: é o que acontece com uma busca comum sobre um acervo com versões. O pós-filtro com k igual a 3 acerta 30 de 30, mas com k igual a 1 acerta só 25, porque a melhor norma era a revogada e foi removida depois, sem sobrar nada. O pré-filtro acerta 30 de 30 nos dois casos, sem vazamento. Veredito honesto: bom resultado, mas zero vazamentos em 30 casos é compatível com taxa verdadeira de até cerca de 11 por cento; a bancada não prova ausência de vazamento. Faltam testes de fronteira de datas e casos adversários. A tabela omite a linha do ingênuo com k igual a 1, que está no capítulo.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um restaurante: se você escolhe o prato preferido e só depois o garçom avisa que acabou, você fica sem jantar. Se o garçom retira do cardápio os pratos esgotados antes, você escolhe entre os que existem. Ligue ao Projeto 3: o pós-filtro com k igual a 1 pega a melhor norma, que era a revogada, remove-a depois e não sobra nada; o pré-filtro escolhe só entre as normas vigentes e permitidas ao perfil. A mesma lógica vale para permissões: o documento restrito nem deve ser candidato. Pergunta à turma: em que outro sistema vocês já viram esse erro de filtrar tarde demais? Armadilha: revelar, na resposta, que o ato restrito existe; a resposta deve ser idêntica a não consta.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quarto projeto, uma operadora fictícia recebe mensagens de clientes. Metade dos pedidos pode ser automatizada com ferramentas, como rastrear pedido, reenviar fatura, cancelar assinatura com confirmação e responder dúvida de plano; a outra metade, como reclamação e suporte técnico, deve ir a um humano. O custo do erro varia por ação: reenviar fatura é inofensivo, cancelar é irreversível, e por isso exige confirmação. Os dados são mensagens geradas por modelos de frase e 24 mensagens escritas à mão para medir generalização, mais 80 casos de atendimento. Pergunta à turma: quais ações merecem confirmação humana e por quê? Armadilha: tratar todas as ações com o mesmo grau de cuidado.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a lógica da figura: um classificador barato decide se a conversa é automatizável; só então entra o agente, com ferramentas de menor privilégio, confirmação para ações irreversíveis e plano B. O plano B é repetir a chamada uma vez e, se falhar, transferir a um atendente humano com protocolo. Explique o princípio estrutural: não chame o componente caro onde o destino já é conhecido. Lembre que o agente vem do Capítulo 14, com argumentos validados por pydantic, e que a decisão é de um modelo por regras, não de um LLM. O modelo apenas propõe a ação; validação, confirmação e plano B ficam no código. Pergunta à turma: por que ter plano B e não apenas repetir sempre? Armadilha: esquecer que transferir também custa atendentes.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 tabela de cima para baixo. O classificador de TF-IDF com regressão logística acerta 1,000 nos textos gerados pelos mesmos modelos de frase do treino, mas 0,833 nas 24 mensagens novas, com intervalo de 0,641 a 0,933: o número alto era memorização. Com 30 por cento de falhas de ferramenta, o sucesso vai de 0,878 sem plano B para 0,927 com plano B, diferença pareada de mais 0,050, pequena mas detectável. O preço: a fração enviada a humanos sobe de 0,550 para 0,623. Nenhum cancelamento sem confirmação em 1 600 execuções, mas zero não é impossibilidade; falta teste adversário. O custo cai 31 por cento e a latência 28, valores hipotéticos e por construção. Veredito: promissor, mas inconclusivo na generalização.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quinto projeto trata de documentação técnica de uma API fictícia, a API Faróis. A equipe quer três coisas: buscar a página certa, resumir cada página e extrair os campos de cada endpoint em JSON validado para alimentar outro sistema. Na extração, um erro silencioso é pior que uma recusa, porque um método HTTP errado quebra quem consome o JSON. Os dados são 36 páginas sintéticas em três estilos: 12 em tabela, 12 em prosa e 12 ruidosas, com rótulos variantes, erros e campos ausentes, cada uma com gabarito. O estilo ruidoso tenta imitar a bagunça real, sem a ter. Pergunta à turma: o que é pior, um JSON recusado ou um JSON válido porém errado? Armadilha: os extratores são regras, não um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o pipeline de extração: o extrator produz JSON como texto, com falhas de formato típicas, como cerca de código ou prefixo; um reparo determinístico limpa o texto; e o esquema do pydantic valida método em lista fechada, caminho com padrão, ao menos um parâmetro, versão no formato n.n e inteiro positivo. O que não valida vai para revisão humana. Mostre que o esquema barra o que o texto fluente esconderia: no exemplo do capítulo, um JSON ruim gerou 5 erros de validação. Mas avise o limite: quando o extrator erra dentro do formato, por exemplo trocando um método válido por outro, o esquema não percebe. Pergunta à turma: válido significa correto? Armadilha: confiar apenas na validação de esquema.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os resultados. A busca lexical acerta 18 de 18 quando a consulta repete as palavras da página, mas com sinônimos como incluir e apagar cai para 0,444 entre os 3 primeiros: o critério de busca não é atendido, de novo o vocabulário distante do Capítulo 10. O remédio é busca híbrida ou glossário de sinônimos. Na extração, o v1 vale 0,333 e o v2 vai de 0,722 para 0,944 com reparo: dois ganhos independentes, cobertura de estilos e reparo de formato. Mas o critério de 0,95 fica inconclusivo, porque o intervalo atravessa 0,95. Os dois erros restantes estão nas páginas ruidosas, por versão mínima ausente, e o esquema recusou o JSON incompleto em vez de aceitá-lo. Quanto ao resumo, ROUGE-L mede sobreposição de palavras, não fidelidade.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projeto final junta tudo em um único sistema para a secretaria da universidade fictícia: responde dúvidas sobre normas com RAG, executa tarefas simples com ferramentas, como calcular multa, consultar prazo e protocolar trancamento com confirmação, e resiste a ataques, com custo conhecido, avaliação automática a cada mudança e governança. Mostre a lista de camadas e seus capítulos de origem: aplicação em camadas no 9, RAG no 11, agente no 14, segurança e governança no 17, avaliação no 16, custo no 15. A bancada tem 182 casos em oito estratos, cada um com critério escrito antes. Compara-se a v1, sem camadas, com a v2, com todas as camadas, nos mesmos casos. Pergunta à turma: o que a v2 deve melhorar e o que pode piorar?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Siga o pedido pela figura: ele atravessa as camadas de entrada, que mascaram dados pessoais, aplicam filtro e controlam custo; depois o roteamento, que envia ao RAG ou ao agente; o provedor com robustez, com nova tentativa e plano B; a validação e o filtro de saída. Tudo é registrado em uma trilha de auditoria. A bancada, fora do caminho do usuário, executa os casos por estrato e gera o relatório automático. Enfatize que o sistema é maior que o modelo: qualidade, segurança e custo vêm das camadas ao redor do componente de linguagem. Diga também que o componente de linguagem é um simulador de regras. Pergunta à turma: que camada vocês removeriam primeiro se o custo apertasse? E o que se perderia? Armadilha: tirar camada sem rodar a bancada.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 relatório como um revisor leria. Dos oito estratos, dois atendem, o agente e os ataques do catálogo; um não atende, as paráfrases do RAG, por causa da recuperação com vocabulário distante; e cinco são inconclusivos. A comparação pareada com a v1 mostra onde as camadas valem: ataques do catálogo, mais 0,452; injeção indireta, mais 0,400; privacidade no registro, mais 1,000. Há um custo: mensagens legítimas bloqueadas caem 0,250, porque o filtro de entrada recusou 3 das 12. Segurança e utilidade se negociam, e a bancada torna a negociação visível. Custo e latência são hipotéticos. Veredito honesto do capítulo: liberar apenas para piloto restrito, com revisão humana, e ampliar a bancada até os inconclusivos se resolverem. Mudar o limiar para 0,6 só piorou e não deve ser aprovado.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é a lição de honestidade do livro. Leia cada par de frases e peça à turma que reescreva a frase vistosa na versão honesta. Lembre que todos os dados são sintéticos, os componentes de linguagem são simuladores de regras, preços e latências são hipotéticos, e os adaptadores reais, marcados python-ni, não foram executados. A equidade foi medida por um único atributo e com poucos casos. O resultado cego do Projeto 2 mostra que regras por palavras-chave não são confiáveis nem para detectar urgências, e as normas do Projeto 3 são fictícias: não é aconselhamento jurídico. Reforce também os erros frequentes: critério escrito depois do resultado, só médias sem intervalo e esconder o que ficou inconclusivo. Pergunta final: qual dessas frases já apareceu em uma apresentação que vocês viram?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Proponha a atividade como trabalho de quatro semanas em equipes de três a seis pessoas, ou de uma tarde, em versão reduzida. Semana um: problema, requisitos e critérios aprovados antes de qualquer código. Semana dois: dados e bancada, separando desenvolvimento e teste, e uma linha de base simples. Semana três: arquitetura, primeira medição com intervalo e análise de erros. Semana quatro: riscos, custo, relatório, cartão do sistema e ensaio da apresentação. Duas regras valem ouro: quem constrói não monta o conjunto de teste, e toda decisão relevante vai para um registro de decisões de uma linha. Sugira uma apresentação de dez a quinze minutos, com uma tabela de taxa, IC e veredito, incluindo o que ficou inconclusivo. Domínios possíveis: educação, saúde sintética, jurídico, atendimento ou documentação.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um minuto para a turma votar antes de revelar. Quem escolheu a letra A caiu na armadilha de olhar só a média. Retome a analogia da pesquisa eleitoral: dentro da margem de erro, não se declara vencedor. O intervalo de 0,744 a 0,965 inclui valores abaixo de 0,80, então os dados não decidem. Pergunte: o que fazer? Coletar mais casos; com 100, o limite inferior é 0,826. Erro comum: confundir inconclusivo com meio bom. Significa apenas que os dados não decidem.</a:t>
            </a:r>
          </a:p>
          <a:p/>
          <a:p>
            <a:r>
              <a:t>RESPOSTA: B. O veredito compara o intervalo inteiro, e não só a média, ao critério. Com 100 casos, o mesmo 0,90 passa a atender.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à turma que pense no custo de uma urgência perdida antes de votar. A alternativa de acrescentar regras até o cego chegar a 1,000 é tentadora, mas faz do cego um conjunto de desenvolvimento e destrói a medida honesta. A resposta correta trata o resultado como bloqueio e age no projeto: linha fixa de urgência em todas as respostas de serviço, léxico revisado por profissionais, classificador treinado e viés a favor de encaminhar. Retome a analogia do gabarito decorado. A decisão de qual taxa de desvio é aceitável cabe a pessoas e profissionais, não ao código.</a:t>
            </a:r>
          </a:p>
          <a:p/>
          <a:p>
            <a:r>
              <a:t>RESPOSTA: C. Ajustar regras ao conjunto cego o transforma em desenvolvimento; é preciso novas medidas e outras barreiras, como linha fixa de urgência e classificador validado.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Retome a analogia do cardápio. Peça que alguém explique com as próprias palavras por que filtrar depois pode deixar o usuário sem resposta. Com k igual a 1, a melhor norma é a revogada; o pós-filtro a remove e nada sobra, daí 25 de 30. O pré-filtro escolhe só entre as normas vigentes e permitidas e acerta 30 de 30. Lembre o limite: zero vazamentos em 30 casos é compatível com taxa de até cerca de 11 por cento, então a bancada não prova ausência de vazamento. Faltam testes de fronteira de datas e casos adversários.</a:t>
            </a:r>
          </a:p>
          <a:p/>
          <a:p>
            <a:r>
              <a:t>RESPOSTA: C. No pós-filtro, se a melhor norma é a revogada, ela é removida depois e pode não sobrar nada: 25 de 30 com k = 1, contra 30 de 30 no pré-filtro.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a síntese pedindo que a turma diga cada item com as próprias palavras. Os três eixos: meça antes de afirmar, porque taxa sem intervalo é opinião e inconclusivo é uma resposta legítima; o sistema é maior que o modelo, e a qualidade, a segurança e o custo vêm das camadas ao redor; e quem usa precisa poder conferir, com fontes, abstenção, trilha e limites declarados. Lembre o veredito do projeto integrador: liberar apenas para piloto restrito, com revisão humana, e ampliar a bancada. Feche o livro com o hábito proposto: diante de um número impressionante, perguntar com que dados, quantos casos, com que intervalo e com que limites. Lembre que versões, preços e nomes de parâmetros mudam e devem ser conferidos na documentação vigente; os princípios envelhecem devagar. Obrigado a todos.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591"/>
            <a:ext cx="12191695" cy="22957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Parte V  · 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Projetos integradores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Grandes Modelos de Linguagem: do básico à aplicação</a:t>
            </a:r>
          </a:p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você vai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Planejar um projeto com LLM de ponta a ponta: problema, requisitos, dados, arquitetura, riscos e relatório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Executar seis projetos completos em CPU e medir cada um com intervalo de confiança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Comparar o intervalo com o critério e dizer: atende, não atende ou inconclusivo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Analisar erros por tipo e por subgrupo, com mitigação e responsável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Combinar camadas, bancada, custo e governança num sistema integrador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Declarar com honestidade o que o simulador não permite afirmar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Situação inicial: a demo brilhante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Equipe monta um assistente com IA em três semanas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A diretora pergunta: para quem é? Como sabemos que funciona?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E quando erra? Quem responde se der problema?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Sem requisitos, critério, intervalo ou governança: demo, não projeto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Solução: um molde comum, do problema ao relatório</a:t>
            </a:r>
          </a:p>
        </p:txBody>
      </p:sp>
      <p:pic>
        <p:nvPicPr>
          <p:cNvPr id="8" name="Picture 7" descr="f18_mol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29082"/>
            <a:ext cx="5852160" cy="2148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pintar o alvo depois da flecha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Critério de aceitação é pintar o alvo ANTES de atirar. Pintar depois sempre dá na mosca.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Se o critério é escrito depois de ver os números, ele se encaixa neles. Escrito antes, vira a regra do jogo, e o veredito passa a significar alguma coisa.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pesquisa eleitoral e margem de erro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A mesma taxa de 90% pode ser conclusiva ou não. Depende de quantos casos foram ouvidos.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Com 30 casos, o intervalo vai de 0,744 a 0,965 e cruza o critério de 0,80: inconclusivo. Com 100 casos, o limite inferior é 0,826: atende.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1 (educação): o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Estudantes perguntam prazos e regras da Universidade Federal Aurora (fictícia)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Resposta errada tem custo real, como um prazo perdido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Regra: responder só com base nos documentos, citar a fonte e dizer que não sabe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Dados: 60 documentos e 56 consultas, todos escritos por nós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Critérios: recuperação &gt;= 0,85; resposta correta &gt;= 0,70; abstenção &gt;= 0,90; fidelidade &gt;= 0,95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1: arquitetura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7/32</a:t>
            </a:r>
          </a:p>
        </p:txBody>
      </p:sp>
      <p:pic>
        <p:nvPicPr>
          <p:cNvPr id="7" name="Picture 6" descr="f18_p1_ar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26424"/>
            <a:ext cx="10698480" cy="40051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Pergunta, busca híbrida, prompt com delimitadores, gerador simulado, verificação de citação e abstenção.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1: resultado e veredito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pipe, ix, idf = P.montar_rag(DOCS, limiar=0.5)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linhas = rag.avaliar(pipe, CONSULTAS)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m = P.metricas_rag(linhas)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trecho do bloco do capítulo: taxa, IC de Wilson e veredito por critério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métrica             taxa [IC95% de Wilson] (n)           critério  veredito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recuperacao         0.891 [0.770; 0.953] (n=46)           &gt;= 0.85  inconclusivo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resposta_correta    0.609 [0.465; 0.736] (n=46)           &gt;= 0.70  inconclusivo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abstencao_correta   1.000 [0.722; 1.000] (n=10)           &gt;= 0.90  inconclusivo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alucinacao          0.000 [0.000; 0.278] (n=10)           &lt;= 0.10  inconclusivo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fidelidade          1.000 [0.936; 1.000] (n=56)           &gt;= 0.95  inconclusivo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2 (saúde): o problema e o escopo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Informativo: horários, documentos e agendamento de uma rede fictícia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Não diagnostica, não indica dose nem conduta, não interpreta exames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Pior erro: deixar de encaminhar uma urgência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Dados sintéticos: 54 perguntas de desenvolvimento e 18 cegas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Critério mais duro: revocação de urgência &gt;= 0,99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2: arquitetura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10/32</a:t>
            </a:r>
          </a:p>
        </p:txBody>
      </p:sp>
      <p:pic>
        <p:nvPicPr>
          <p:cNvPr id="7" name="Picture 6" descr="f18_p2_ar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26424"/>
            <a:ext cx="10698480" cy="40051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Guardrails de urgência e clínica antes do RAG, com texto fixo; dados pessoais mascarados antes do registro.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2: o resultado cego é desfavorável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11/32</a:t>
            </a:r>
          </a:p>
        </p:txBody>
      </p:sp>
      <p:pic>
        <p:nvPicPr>
          <p:cNvPr id="7" name="Picture 6" descr="f18_p2_guar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14490"/>
            <a:ext cx="7498079" cy="42290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Desenvolvimento: urgência 1,000, porque as regras viram essas perguntas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Cego: urgência 0,167 (1 de 6; IC de 0,030 a 0,564)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Critério de 0,99: não atendido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Veredito: liberação bloqueada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Revocação dos guardrails no desenvolvimento e no conjunto cego, com IC95% de Wilson. Simulação, poucos casos.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decorar o gabarito da prova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Regras escritas olhando o teste são como decorar o gabarito: nota 10 na prova antiga, zero na nova.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No Projeto 2, a urgência foi 1,000 onde as regras foram escritas e 0,167 no conjunto cego. Por isso o conjunto cego existe e não pode virar treino.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3 (jurídico e público): o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Prefeitura de Vila Aurora (fictícia): portarias e decretos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 norma citada precisa estar vigente na data de referência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Alguns atos são restritos a perfis: público, servidor, jurídico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Cada consulta deixa trilha de auditoria; o sistema cita, não decide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Dados: 17 normas fictícias e 30 consultas com data e perfil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3: arquitetura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14/32</a:t>
            </a:r>
          </a:p>
        </p:txBody>
      </p:sp>
      <p:pic>
        <p:nvPicPr>
          <p:cNvPr id="7" name="Picture 6" descr="f18_p3_ar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26424"/>
            <a:ext cx="10698480" cy="40051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Pré-filtro de vigência e perfil, depois RAG, verificação de citação e trilha encadeada por hash.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3: três formas de filtrar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modo in ("ingenuo", "pos_filtro", "pre_filtro"):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for k in (1, 3):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sis = P.ConsultaNormas(NORMAS, META, NIVEL, modo=modo, k=k)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L = P.avaliar_normas(sis, CONSULTAS_NORMAS)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modo         k  respostas ok  vazamentos  fora da vigência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ingenuo      3         18/30          16                13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pos_filtro   1         25/30           0                 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pos_filtro   3         30/30           0                 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pre_filtro   1         30/30           0                 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pre_filtro   3         30/30           0                 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filtrar o cardápio antes de escolher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Pré-filtro é tirar do cardápio os pratos esgotados ANTES de decidir. Pós-filtro é escolher e só então descobrir que acabou.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Se o prato preferido é a norma revogada, o pós-filtro a descarta depois e não sobra opção. O pré-filtro escolhe entre o que é permitido.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4 (atendimento): o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Operadora fictícia: metade dos pedidos é automatizável, metade vai a humano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Ferramentas: pedido, fatura, cancelamento (com confirmação) e FAQ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Cancelar é irreversível; reenviar fatura é inofensivo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Dados: 80 casos e 24 mensagens novas escritas à mão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Critérios: intenção &gt;= 0,90; sucesso &gt;= 0,90 com 30% de falhas; zero cancelamento sem confirmação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4: arquitetura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18/32</a:t>
            </a:r>
          </a:p>
        </p:txBody>
      </p:sp>
      <p:pic>
        <p:nvPicPr>
          <p:cNvPr id="7" name="Picture 6" descr="f18_p4_ar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26424"/>
            <a:ext cx="10698480" cy="40051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Classificador barato na frente; o agente só entra se for automatizável, com menor privilégio, confirmação e plano B.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4: resultado e veredito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Medida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Resultado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Leitura honesta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Intenção, modelos de frase (n=320)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1,000 [0,988; 1,000]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Memorização: treino e teste da mesma fonte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Intenção, mensagens novas (n=24)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0,833 [0,641; 0,933]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IC cruza o critério de 0,90: inconclusivo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Sucesso, 30% de falha, sem plano 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0,878 [0,830; 0,922]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Linha de base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Sucesso, 30% de falha, com plano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0,927 [0,882; 0,965]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Melhora pareada +0,050 [+0,027; +0,075]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Enviados a humano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0,550 para 0,623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Plano B troca falhas por transferências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Cancelamento sem confirmação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 em 1 600 execuções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Vale para esta política e estes casos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Custo e latência (hipotéticos)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-31% e -28%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Efeito por construção, não medida real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5 (documentação técnica): o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Equipe mantém a documentação de uma API fictícia, a API Faróis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Quer buscar a página certa, resumi-la e extrair campos em JSON validado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Erro silencioso é pior que recusa: método HTTP errado quebra quem consome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Dados: 36 páginas em três estilos (tabela, prosa, ruidoso)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Critérios: busca &gt;= 0,90; JSON válido &gt;= 0,95; todos os campos corretos &gt;= 0,90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5: arquitetura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21/32</a:t>
            </a:r>
          </a:p>
        </p:txBody>
      </p:sp>
      <p:pic>
        <p:nvPicPr>
          <p:cNvPr id="7" name="Picture 6" descr="f18_p5_ar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26424"/>
            <a:ext cx="10698480" cy="40051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Busca lexical, resumo extrativo e extração: texto em JSON, reparo determinístico, esquema pydantic e revisão humana.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5: resultado e veredito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22/32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Medida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Resultado (IC95% de Wilson)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Leitura honesta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Busca, consulta literal, top 3 (n=18)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1,000 [0,824; 1,000]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Funciona com as mesmas palavras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Busca, sinônimos, top 3 (n=18)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0,444 [0,246; 0,663]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Não atende: vocabulário distante derruba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Extração v1, com reparo (n=36)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0,333 [0,202; 0,497]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Cobre só um estilo de página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Extração v2, sem reparo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0,722 [0,560; 0,842]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Cobre mais estilos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Extração v2, com reparo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0,944 [0,819; 0,985]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Inconclusivo diante de 0,95 (válido)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Páginas ruidosas, v2 com reparo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10 de 12 corretas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Erros: versão mínima ausente, recusados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6 (integrador): o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Um sistema só para a secretaria: normas (RAG), tarefas com ferramentas e defesa contra ataques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Camadas: provedor com plano B, RAG, agente, segurança, avaliação, custo e governança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Bancada de 182 casos em 8 estratos, critério escrito antes por estrato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Duas configurações comparadas nos mesmos casos: v1 sem camadas, v2 com todas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É o projeto que a banca vai avaliar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6: arquitetura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24/32</a:t>
            </a:r>
          </a:p>
        </p:txBody>
      </p:sp>
      <p:pic>
        <p:nvPicPr>
          <p:cNvPr id="7" name="Picture 6" descr="f18_p6_ar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26424"/>
            <a:ext cx="10698480" cy="40051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Entrada (PII, filtro, custo), roteamento, provedor com robustez, validação e filtro de saída, com trilha de auditoria; a bancada fica fora do caminho do usuário.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Projeto 6: relatório da bancada (v2)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25/32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Estrato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Taxa [IC95% de Wilson]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Critério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Veredito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rag_direta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0,711 [0,552; 0,830]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0,80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inconclusivo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rag_parafrase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0,125 [0,022; 0,471]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não atende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rag_sem_resposta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1,000 [0,722; 1,000]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inconclusivo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agente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0,976 [0,877; 0,996]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atende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injecao_indireta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1,000 [0,839; 1,000]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inconclusivo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ataque_catalogo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0,952 [0,842; 0,987]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atende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legitima_bloqueada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0,750 [0,468; 0,911]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inconclusivo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pii_no_registro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1,000 [0,722; 1,000]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inconclusivo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NÃO afirmar com estes projetos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Não: o assistente alcançou X% de acerto. Sim: X% em casos sintéticos, com simulador de regras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Não: o sistema é seguro, justo ou aprovado. Sim: atende, não atende ou inconclusivo por estrato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Não: o custo será Z. Preços e latências são hipotéticos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Não: o modelo X se comportaria assim. Nenhum modelo real foi executado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Não: o sistema de saúde ajuda no diagnóstico, nem é parecer jurídico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Prefira: neste conjunto de N casos, o IC95% foi [a; b], inconclusivo diante do critério 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Mãos à obra: um sétimo projeto, com o molde completo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1. Escolha um domínio e escreva problema, usuários e três requisitos com critérios, antes de qualquer código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2. Crie 30 a 50 casos sintéticos com origem declarada: desenvolvimento e teste, com casos sem resposta e adversários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3. Monte uma linha de base simples e meça cada critério com IC de Wilson e veredito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4. Analise os erros por tipo e proponha uma melhoria; meça com comparação pareada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5. Escreva o relatório de uma página, riscos com responsáveis e um parágrafo sobre o que não pode afirmar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6. Registre sementes, versões e hash dos casos; revise com outra pessoa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veredito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Um estrato tem taxa observada 0,90 com n = 30 e critério de 0,80. Qual o veredito pelo intervalo de Wilson?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Atende, porque 0,90 passa de 0,80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Inconclusivo: o intervalo (cerca de 0,74 a 0,97) atravessa o critério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Não atende, porque o intervalo inclui valores abaixo de 0,80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Atende, porque 30 casos bastam sempre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conjunto cego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No conjunto cego do Projeto 2, a revocação de urgência foi 0,167 (no desenvolvimento, 1,000). Qual a decisão coerente?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Liberar, pois no desenvolvimento foi 1,000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Liberar com um aviso pequeno no rodapé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Tratar como bloqueio de liberação e reduzir o risco por projeto, não só por regras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Acrescentar regras até o cego chegar a 1,000 e liberar sem novo conjunto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pré-filtro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Por que, no Projeto 3, o pré-filtro de vigência e perfil supera o pós-filtro com k = 1?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O pré-filtro dispensa metadados de vigência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O pós-filtro nunca devolve resultados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O pré-filtro filtra antes de escolher os k melhores, então a norma permitida não é perdida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O pré-filtro é mais lento e, por isso, mais seguro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vale a pena lembrar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Projeto verificável: problema, critérios escritos antes, dados com origem, avaliação com IC, riscos com responsáveis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O veredito compara o intervalo ao critério; com dezenas de casos, inconclusivo é o normal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Regras ajustadas olhando o teste enganam: urgência 1,000 no desenvolvimento, 0,167 no cego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Filtre vigência e permissão antes de recuperar; trilha encadeada com usuário pseudonimizado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Meça com mensagens novas; plano B troca falhas por transferências; extração válida não é correta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Bancada por estrato, regressão, cartão do sistema e governança viram evidência; nada de afirmar sobre modelos reais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Para ir além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WILSON, E. B. Probable inference, the law of succession, and statistical inference. Journal of the American Statistical Association, v. 22, n. 158, p. 209-212, 1927.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MCNEMAR, Q. Note on the sampling error of the difference between correlated proportions or percentages. Psychometrika, v. 12, n. 2, p. 153-157, 1947.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LEWIS, P. et al. Retrieval-augmented generation for knowledge-intensive NLP tasks. In: NeurIPS, 33., 2020. p. 9459-9474.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YAO, S. et al. ReAct: synergizing reasoning and acting in language models. In: ICLR, 11.,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MITCHELL, M. et al. Model cards for model reporting. In: FAT*, 2019. p. 220-229. DOI: 10.1145/3287560.3287596.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NATIONAL INSTITUTE OF STANDARDS AND TECHNOLOGY. AI risk management framework (AI RMF 1.0). Gaithersburg: NIST, 2023. DOI: 10.6028/NIST.AI.100-1.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GANGULI, D. et al. Red teaming language models to reduce harms. arXiv:2209.07858, 2022.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ANTHROPIC. Claude API documentation e SDK para Python. Disponível em: https://platform.claude.com/docs/en/api/sdks/python. Conferir a versão vigente.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