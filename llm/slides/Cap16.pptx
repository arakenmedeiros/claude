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16: Avaliação de LLMs e de aplicações.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com a pergunta do capítulo: como saber, com dados e com margem de erro declarada, se um sistema funciona, se a nova versão é melhor e se continua funcionando em produção. Leia os seis objetivos e destaque três palavras: método, cuidado e honestidade sobre a incerteza. Não é preciso estatística avançada. Avise que, como não havia acesso a LLMs reais, os experimentos usam o SimuladorLLM, um simulador de regras que não é um LLM, um gerador extrativo simulado e um juiz simulado cujos vieses nós programamos; a vantagem é conhecer a verdade e conferir se o método a recupera. Pergunta à turma: como vocês decidem que uma resposta de assistente está boa? Armadilha: tomar os números das simulações como comportamento de modelos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a história. Uma equipe troca o prompt do assistente da secretaria e anuncia que ficou melhor, porque testou dez perguntas e as respostas estavam ótimas. Duas semanas depois, as reclamações sobem. As dez perguntas eram as mais fáceis e escolhidas por quem escreveu o prompt; ninguém conferiu se havia o valor correto; ninguém comparou com a versão anterior nas mesmas perguntas; e a melhora percebida era em boa parte acaso da geração. Avaliar separa uma demonstração de um sistema em que se pode confiar. Pergunta: quantos erros aparecem nessa história? Peça que a turma liste. Armadilha: achar que o problema era falta de estatística sofisticada; era falta de cuidado e de método.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régua elástica resume as três dificuldades. Primeiro, saídas abertas: existem muitas respostas corretas escritas de modos diferentes, então comparar por igualdade subestima o acerto e comparar por semelhança superficial pode superestimar. Segundo, variabilidade: com amostragem, a mesma entrada gera saídas diferentes, e uma execução é uma única amostra de um processo aleatório. Terceiro, sensibilidade ao prompt: pequenas mudanças de redação ou de ordem dos exemplos mudam o resultado, de modo que quem compara dois modelos com um prompt pode estar comparando dois prompts. Há ainda uma quarta: o que é bom depende do uso e do custo de cada tipo de erro. Pergunta: no seu trabalho, qual erro custa mais? Armadilha: medir uma vez e declarar vitória.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perplexidade é a avaliação intrínseca, medida no modelo isolado; a extrínseca mede o desempenho na tarefa. No experimento, o modelo de caracteres tem perplexidade 1,29, menor que a dos modelos de palavras, 3,19 e 2,43, mas isso é só porque cada caractere é mais fácil de prever que cada palavra. Na escala justa, bits por caractere, a ordem muda: o trigrama de palavras, 0,247, supera o modelo de caracteres, 0,367. O modelo de caracteres é uma simplificação e a comparação é aproximada. Lição: não compare perplexidade sem conferir a unidade, e não use perplexidade para decidir se um assistente serve para uma tarefa; meça a tarefa. Pergunta: por que os tokens de tamanhos diferentes atrapalham?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com um professor que aplica uma prova só com as questões que os alunos já treinaram. Todo mundo vai bem e ninguém aprende nada sobre o que falta. O teste deve parecer com o uso real, com a mesma proporção de casos fáceis e difíceis, e incluir deliberadamente casos ambíguos, com erros de digitação, contraditórios e fora do escopo. Quando há subgrupos importantes, divida em estratos e relate cada um, porque a média esconde onde o sistema falha. Na base fictícia da Universidade Federal Aurora há 38 perguntas diretas, 8 por paráfrase e 10 sem resposta; um sistema que acerta todas as diretas e falha nas demais parece bom na média e é ruim onde mais importa. Armadilha: casos difíceis demais subestimam a nota geral; por isso se relata por estrato.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estimar uma proporção com margem de erro e e confiança de 95%, o número de casos é o quadrado de 1,96 vezes p vezes um menos p, dividido por e ao quadrado; o pior caso é p igual a 0,5, que dá 385 casos para mais ou menos 5 pontos. Três lições. Precisão custa caro: passar de 5 para 2 pontos, com p igual a 0,8, vai de 246 para 1 537 casos. Zero erro não é zero de risco: 30 acertos em 30 são compatíveis com uma taxa verdadeira de apenas 88,6%. Detectar diferenças pequenas exige muitos casos: 3 pontos de diferença com 20% de discordância pedem cerca de 1 742 casos. Se for impossível rotular tanto, seja honesto e diga que o teste só distingue diferenças maiores. A tabela mostra só algumas linhas da saída.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gráfico mostra a largura do intervalo de confiança de 95%, calculado pelo método de Wilson, para três taxas verdadeiras de acerto. A largura cai com a raiz do número de casos, e por isso reduzir a incerteza pela metade exige quadruplicar o conjunto de teste. O intervalo de Wilson é preferível ao intervalo normal simples quando n é pequeno ou quando a proporção está perto de 0 ou 1. A mensagem prática é sempre relatar o intervalo junto com o acerto: dizer 94% sem dizer em quantos casos esconde se a incerteza é de dois ou de vinte pontos. Pergunta à turma: se vocês só podem rotular 100 casos, que tipo de conclusão é honesto? Armadilha: confundir um número alto com uma conclusão firme.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o aluno recebeu as questões da prova na véspera, a nota não diz o que ele sabe. Na contaminação, o conteúdo do teste já foi visto pelo sistema: nos dados de treinamento do modelo, nos exemplos do prompt, na base de documentos do RAG ou em casos quase idênticos aos do desenvolvimento. Carlini e colegas mostram que modelos podem memorizar trechos dos dados de treinamento. Com modelos de terceiros normalmente não se sabe o que há no treino; por isso a defesa mais segura é usar dados privados e recentes. E há um vazamento mais sutil: olhar o teste a cada versão do prompt e escolher a melhor nota transforma o teste em desenvolvimento. Regra: separe os conjuntos antes de começar e consulte o teste raramente. Pergunta: quem já ajustou algo olhando o teste?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procedimento é simples e geral: calcular a sobreposição de n-gramas, por exemplo de quatro palavras, entre cada caso de teste e o material de desenvolvimento, exemplos de prompt e documentos; remover ou marcar os casos muito sobrepostos; e dividir os dados por grupos, para que quase-duplicatas não atravessem a fronteira. No experimento sintético, que tem poucos modelos de frase e por isso exagera, 67,5% das mensagens de teste têm 80% ou mais dos 4-gramas já vistos. Um memorizador, que só repete rótulos, acerta 25,4% do teste inteiro: 100% nas mensagens repetidas e 0% nas inéditas. Isso mostra o estrago de uma nota inflada. Pergunta: como dividir dados de um mesmo cliente? Por grupos.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o sistema é o simulador de regras, não um LLM. A acurácia é 0,942, com intervalo de Wilson de 0,917 a 0,959. A matriz de confusão, que o capítulo imprime inteira, mostra quais classes se confundem: mensagens de alteracao_cadastro que erram viram segunda_via, 14 casos, e as de reclamacao viram elogio, 13 casos, ou indefinido, 1 caso. É essa informação que orienta o próximo passo: mais exemplos nessas fronteiras, uma regra ou um humano na decisão. O último exemplo mostra que a acurácia sozinha engana: um sistema inútil que diz sempre normal acerta 95%, mas o F1 macro cai para 0,487. F1 macro pesa as classes igualmente e revela falha em classes raras. Pergunta: quando usar F1 micro? Armadilha: relatar só a média.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Referência: o atraso na devolução gera multa de R$ 1,50 por dia e por exemplar. A paráfrase correta recebe ROUGE-1 de 0,74, menos que a resposta com o número errado, 0,93: para métricas de sobreposição, trocar 1,50 por 5,00 é um erro de um token, embora seja o erro que importa ao usuário. A correspondência exata rejeita a paráfrase correta. A similaridade semântica dá 0,95 ao número errado e 0,98 à resposta incompleta: embeddings capturam o assunto, mas são cegos a números, negações e detalhes. Conclusões: verifique fatos críticos por regra; use sobreposição com várias referências e só quando a forma importa; calibre a métrica com julgamento humano. Embeddings aqui são LSA, não um LLM. Pergunta: qual resposta o usuário preferiria receber?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RAG tem duas partes que falham de formas diferentes, e somar tudo numa nota só esconde onde está o problema. Avalie a recuperação, com hit, recall e MRR, e a geração dado o contexto: correção, fidelidade e abstenção. O gerador aqui é extrativo e simulado, não um LLM. A recuperação é excelente nas perguntas diretas, 0,97, e fraca nas paráfrases, 0,62 no top 3, onde o vocabulário não coincide; o remédio está na busca. A geração, mesmo com o documento certo, acerta só 0,78, porque o gerador escolhe a frase errada; o remédio estaria no prompt ou no modelo. Leia como um médico lê um exame. Pergunta: se a recuperação falhou, a geração pode acertar? Raramente, só por sorte.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Varra o limiar de abstenção. Com limiar 4,5 no escore do BM25, o sistema recusa corretamente 60% das perguntas sem resposta e recusa indevidamente 17% das respondíveis. Subindo para 10, a recusa correta vai a 90%, mas a recusa indevida sobe para 48%, quase metade das perguntas respondíveis. Não existe limiar sem custo; a escolha depende de qual erro é mais caro, o que se discute no caso jurídico. Sobre fidelidade: o gerador simulado altera um número em 15% das respostas, e o verificador, que confere se todo número aparece no contexto, sinalizou as cinco alterações sem falso alarme. Mas números inventados que por coincidência apareçam em outro trecho do contexto passariam. Pergunta: no caso jurídico, que erro é mais grave?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Quando um LLM julga a resposta de outro, Zheng e colegas relatam que um juiz forte pode concordar com preferências humanas num grau comparável à concordância entre humanos, mas o mesmo trabalho descreve vieses sistemáticos. Posição: tende a favorecer a resposta apresentada em certa posição. Verbosidade: favorece respostas mais longas, mesmo sem mais conteúdo. Autopreferência: favorece respostas parecidas com as que ele mesmo produziria. São também limitações conhecidas a dificuldade de julgar raciocínio que o próprio juiz não domina e a sensibilidade à redação da rubrica. Compare ao árbitro que, sem perceber, favorece o time da casa. Pergunta: como descobrir o viés de um árbitro? Pondo-o para julgar jogos de qualidade idêntica. Armadilha: tratar a nota do juiz como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não havia LLM real, usamos uma classe de simulação por regras, em que os vieses estão no código e por isso conhecemos a resposta certa. Com pares de qualidade idêntica, um juiz sem viés escolhe a primeira resposta em cerca de metade das vezes, 0,47; com viés de posição 1,0, escolhe a primeira em 97% dos pares. A troca de ordem faz o viés desaparecer: nos 600 pares com qualidade diferente e viés 0,8, a concordância com humanos nos casos decididos sobe de 0,868 para 0,950, mas só 79% dos pares ficam decididos, e o resto vira empate. O viés de verbosidade não se corrige trocando a ordem: com viés 1,0, o juiz escolhe a melhor resposta, a curta, em apenas 21% dos pares. Não interprete os tamanhos como típicos de nenhum juiz real. Pergunta: o que fazer com os empates?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dois avaliadores concordam em 90% dos casos, isso é bom? Depende do quanto concordariam por acaso. O kappa de Cohen corrige a concordância observada pela esperada ao acaso, calculada a partir da frequência com que cada avaliador usa cada categoria. Resolva o exemplo: 100 respostas, ambos dizem boa em 60 e ruim em 20; A boa e B ruim em 15, o inverso em 5. A concordância observada é 0,80. A diz boa em 75 e B em 65, então o acaso dá 0,75 vezes 0,65 mais 0,25 vezes 0,35, que é 0,575. O kappa é 0,225 dividido por 0,425, cerca de 0,53, moderado: o guia de anotação precisa de revisão. As faixas de Landis e Koch são convenções. Pergunta: por que 80% de concordância bruta engana?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três avaliadores simulados erram quase sempre por um ponto. Por isso o kappa nominal, 0,66, e o alfa nominal, 0,65, são moderados, enquanto o kappa ponderado, de 0,88 a 0,90, e o alfa ordinal, 0,88, mostram concordância forte. A escolha da escala deve refletir o uso: se um ponto de desacordo é tolerável, use a versão ordinal. O alfa de Krippendorff admite qualquer número de avaliadores, dados faltantes e várias escalas; a implementação do pacote foi conferida contra a definição por força bruta e o kappa, contra o scikit-learn. O paradoxo do kappa: com uma categoria dominante, a concordância bruta é de 96% e o kappa só 0,58, porque o acaso já prevê muita concordância. Relate bruta e kappa juntos, com a distribuição das categorias.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Mesmo um juiz imperfeito é útil se soubermos quanto ele erra. Rotule com humanos uma amostra aleatória, estime a sensibilidade, a fração dos realmente bons que ele aprova, e a especificidade, a fração dos realmente ruins que ele reprova, e corrija a taxa de aprovação observada pela relação de Rogan e Gladen. Exemplo: aprovação de 60%, sensibilidade 0,95, especificidade 0,80; o numerador é 0,40, o denominador 0,75, e a taxa verdadeira estimada é cerca de 0,53, ou seja, 7 pontos eram excesso do juiz. Na simulação com viés de verbosidade, o juiz aprovou 59,6%, a verdade era 48,1% e, com 200 rótulos, a taxa corrigida foi 0,517, com IC de 0,459 a 0,570, que inclui a verdade. O método não é mágico: depende de amostra aleatória e de o juiz errar de modo parecido nos casos rotulados e nos demais.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regra de ouro: avalie os dois sistemas nos mesmos casos e use um teste pareado; só os casos discordantes informam a diferença. No exemplo, a v3 acerta 95,5% e a v2, 79,4%; em 129 casos só a v3 acerta e em nenhum só a v2 acerta, o que dá p-valor minúsculo e uma diferença de 16 pontos, com intervalo de 13,6 a 18,6. O McNemar exato foi conferido com a conta manual da binomial. Nas múltiplas comparações, sem correção saíram 3 falsos positivos entre 99 variantes equivalentes; Holm e as demais correções os eliminaram sem perder a variante realmente melhor. Quando a diferença é grande, qualquer método a detecta; as correções importam quando as diferenças são pequenas e há muitas comparações. Armadilha: significativo não é o mesmo que importante; defina uma margem de relevância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comparação tem 5% de chance de apontar uma diferença que não existe. Com cem comparações a esse nível, espera-se cerca de cinco falsos positivos, como num sorteio em que cada bilhete tem uma pequena chance de premiação e você comprou cem. As correções mais usadas são Bonferroni, que multiplica cada valor-p pelo número de comparações, Holm, mais poderosa com o mesmo controle, e Benjamini-Hochberg, que controla a proporção de falsas descobertas e é menos rigorosa. Combine o teste com uma margem de relevância definida de antemão: com 100 000 casos, uma diferença de 0,2 ponto pode ser significativa e irrelevante para o negócio. Pergunta à turma: quantos prompts já testaram antes de escolher um? Armadilha: relatar só o vencedor.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avaliação de um sistema com amostragem é uma amostra de um processo aleatório. A variação entre sementes do simulador v2, desvio de cerca de 1,2 ponto, é da ordem do desvio binomial de 1,4 ponto esperado de um sorteio com 800 casos; a variação por ordem dos casos é menor, 0,3 ponto. A temperatura muda o quadro: com T de 0,25 o acerto médio do classificador de apoio, que não é um LLM, é 0,996 e com T igual a 2 cai para 0,327, e o desvio entre execuções cresce de 0,2 para 2 pontos. Duas mensagens: relate temperatura e semente, pois sem elas o resultado é irreproduzível; e avalie com a configuração de produção, repetida K vezes. A variação entre execuções soma-se à do conjunto de teste, e o intervalo deve cobrir as duas.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avaliação não termina na entrega. A regressão contínua dispara o conjunto de testes a cada mudança, e um portão decide se ela segue, com margem de não inferioridade e proteção por estrato. Os cenários são simulados: a queda difusa de 5% é barrada pelo intervalo da diferença; a queda concentrada na categoria elogio, de apenas 1,5 ponto na média geral mas 12 pontos naquela categoria, passa pelo critério global e só é pega pela proteção por estrato. Na carta de controle, a abstenção salta de cerca de 8% para 15% a partir da semana 9 e os alertas disparam nas semanas 9, 10 e 12; a semana 11 ficou dentro dos limites por oscilação do acaso. O monitor não diz por que mudou; é um sinal para investigar. O código mostra só o esqueleto do portão.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Benchmarks públicos são conjuntos padronizados que permitem comparar modelos, como perguntas de múltipla escolha de muitas áreas, problemas de matemática do ensino fundamental ou baterias amplas com vários cenários. A utilidade é real, mas os limites também. O que medem não é o que você precisa: geralmente é múltipla escolha, em inglês, com dados públicos. Saturam quando os melhores modelos chegam perto do teto. Podem estar contaminados. São sensíveis ao formato do prompt, ao número de exemplos e ao modo de extrair a resposta. E, quando a nota vira objetivo, o sistema é otimizado para a nota. Neste livro não reproduzimos números de benchmarks de modelos reais, pois mudam com versão e configuração; consulte as fontes primárias, com data. Pergunta: que benchmark representaria a secretaria da sua universidade?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Inspirado nos cartões de modelo e nas fichas de dados, um cartão de avaliação registra o sistema avaliado, com versão do prompt, modelo e versão, parâmetros como temperatura e semente e a data; o conjunto de teste, com origem, tamanho, estratos, hash do conteúdo, como foi anotado e a concordância entre anotadores; as métricas com intervalos de confiança, por estrato e no geral; as limitações e usos não recomendados; os riscos e salvaguardas; e a comparação com a linha de base e a decisão. No exemplo do capítulo, o cartão da v3 do simulador registra 0,955 de acerto, IC de Wilson de 0,938 a 0,967 e diferença de 0,161 sobre a v2, e declara as limitações: dados sintéticos, sem avaliação humana e uma única semente. Com serviços externos, registre o identificador exato do modelo e a data. Normas mudam; consulte a versão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Resuma os erros: avaliar com dez ou vinte casos; ajustar o prompt olhando o teste; comparar sistemas em casos diferentes; relatar só a média, sem estratos nem intervalo; usar uma única execução de sistema com amostragem; tomar BLEU, ROUGE ou similaridade como prova de correção; confiar no juiz sem validação; ignorar contaminação; testar muitas variantes e relatar a melhor sem correção; tratar benchmark público como teste do seu caso; esquecer a abstenção; não registrar versão, semente e data. Reforce as limitações: todos os experimentos usam simuladores, os dados são sintéticos com poucos modelos de frase, os avaliadores humanos e a segunda correção do caso educacional são simulados, as fórmulas de amostra são aproximações normais, bootstrap supõe casos independentes e as faixas de kappa são convenções. Nada aqui é aconselhamento jurídico.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cada dupla escolha uma tarefa com resposta verificável, como classificar mensagens ou extrair valores. No passo dois, o ponto crítico é separar desenvolvimento e teste antes de ajustar qualquer coisa; se possível, uma segunda pessoa rotula uma parte e vocês calculam o kappa. No passo três, as duas versões, que podem ser dois prompts ou um prompt e uma regra, rodam nos mesmos casos, três vezes cada, com tudo registrado. No quatro, métricas por estrato com intervalos de Wilson, diferença pareada com bootstrap e McNemar. O parágrafo final responde se a diferença é distinguível do acaso, se é relevante e o que o teste não cobre. Com 30 casos de teste, avise que só diferenças grandes serão detectáveis. O exercício prático 16.1 e o projeto final trazem versões com os simuladores do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a turma pensar antes. A resposta é o F1 macro ou a revocação da classe fraude. Retome o código: o classificador que diz sempre normal tem acurácia 0,950, mas F1 macro 0,487, porque a revocação da classe fraude é zero. A acurácia sozinha é a alternativa tentadora e é exatamente a que engana quando as classes são desbalanceadas. Tokens por resposta e temperatura não têm relação com o acerto por classe. Pergunta de aprofundamento: e se as duas classes fossem igualmente raras e igualmente graves? Aí a escolha entre F1 macro e micro muda; no problema de rótulo único com todas as previsões válidas, o F1 micro é igual à acurácia.</a:t>
            </a:r>
          </a:p>
          <a:p/>
          <a:p>
            <a:r>
              <a:t>RESPOSTA: C. A revocação de fraude seria zero, e o F1 macro cairia a cerca de 0,49.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o árbitro que favorece o time da casa. A solução é fazê-lo julgar o jogo nas duas ordens e só aceitar o vencedor quando as duas decisões coincidem; discordância vira empate. No experimento, com viés de posição 0,8, a concordância com humanos nos casos decididos subiu de 0,868 para 0,950, mas só 79% dos pares ficaram decididos. Mostre que apresentar sempre a melhor em primeiro lugar pressupõe saber qual é a melhor, o que invalida a avaliação. Lembre que a troca de ordem não corrige o viés de verbosidade. Pergunta de aprofundamento: o que fazer com os empates? Mais julgamentos ou revisão humana.</a:t>
            </a:r>
          </a:p>
          <a:p/>
          <a:p>
            <a:r>
              <a:t>RESPOSTA: A. Discordância entre as ordens vira empate.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loteria de cem bilhetes. A resposta é cerca de 5: cada comparação tem 5% de chance de falso positivo mesmo quando não há diferença real. A alternativa de nenhum falso positivo é a mais tentadora, porque as variantes são mesmo equivalentes, mas é justamente a equivalência que torna cada alarme falso. Na simulação do capítulo, sem correção saíram 3 falsos positivos entre 99, número compatível com o esperado; Bonferroni, Holm e Benjamini-Hochberg zeraram os falsos positivos sem perder a variante realmente melhor. Pergunta de aprofundamento: por que Holm é preferida a Bonferroni? Mais poderosa com o mesmo controle. Armadilha: correção não substitui a margem de relevância.</a:t>
            </a:r>
          </a:p>
          <a:p/>
          <a:p>
            <a:r>
              <a:t>RESPOSTA: D. Cada comparação tem 5% de chance de falso positivo; Holm ou Benjamini-Hochberg corrigem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retomando a história das dez perguntas e responda ao que deu errado. Avaliar LLMs é difícil por saídas abertas, variabilidade e sensibilidade ao prompt; por isso meça várias vezes com a configuração de produção e relate a incerteza. A perplexidade é intrínseca e não comparável entre tokenizadores. O conjunto de teste precisa ser representativo, estratificado, com casos difíceis e sem resposta, de tamanho calculado, separado do desenvolvimento e livre de contaminação. Métricas de texto não verificam fatos. Em RAG, separe recuperação, geração, abstenção e fidelidade. O juiz tem vieses e precisa de protocolo e validação humana. Compare com testes pareados e corrija múltiplas comparações. Benchmarks são triagem. Registre tudo em um cartão. Pergunta final: o que vocês mudariam no último teste que fizeram?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referências indicam as fontes dos métodos usados. Zheng e colegas descrevem o uso de LLM como juiz e seus vieses; Papineni e Lin criaram o BLEU e o ROUGE em contextos de tradução e de resumos, o que lembra que usá-los para respostas factuais é extrapolação. Efron e Tibshirani cobrem o bootstrap, Cohen o kappa, Krippendorff o alfa, McNemar o teste pareado e Holm a correção de múltiplas comparações. As referências completas em ABNT estão no final do capítulo. Como as normas e os frameworks de governança mudam, consulte as versões vigentes. Sugira que a turma leia primeiro o trabalho sobre juízes e depois discuta os vieses medidos na simulação.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V — Avaliação e uso responsável  · 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Avaliação de LLMs e de aplicações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Explicar por que avaliar LLMs é mais difícil que avaliar um classificador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Desenhar um teste representativo, calcular o número de casos e evitar contaminação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Escolher métricas adequadas e saber o que cada uma não enxerga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Avaliar separadamente recuperação e geração em um RAG, com abstenção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Usar um LLM como juiz com protocolo e medir concordância (kappa, alfa)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Comparar sistemas com testes pareados e montar regressão e relato responsável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Dez perguntas e uma conclusão apressada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equipe troca o prompt e testa com umas dez perguntas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As dez eram as mais fáceis, escolhidas por quem escreveu o prompt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Ninguém conferiu o valor correto nas respostas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Ninguém comparou com a versão anterior nos mesmos casos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Duas semanas depois, as reclamações sobem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medir a mesa com régua elástica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Medir um sistema com LLM é medir uma mesa com uma régua que muda de tamanho a cada medida.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A mesa também muda de forma a cada vez. Não adianta medir uma vez e anunciar: meça várias vezes, em vários lugares, e diga quanto a medida balança. Três causas: saídas abertas, variabilidade e sensibilidade ao prompt.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perplexidade não compara tokenizadores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bi  = NgramaLM(n=2, k=0.1).ajustar(treino)    # palavras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tri = NgramaLM(n=3, k=0.1).ajustar(treino)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car = NgramaLM(n=5, k=0.05).ajustar(chars_treino)  # caracteres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print(bi.perplexidade(teste), tri.perplexidade(teste))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print(car.perplexidade(chars_teste))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converter log-probabilidade em bits por caractere (mesma unidade)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perplexidade por TOKEN (palavra): bigramas 3.19 | trigramas 2.43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perplexidade por CARACTERE: modelo de caracteres (5-gramas) 1.29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bigramas (palavras)      bits por caractere = 0.323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trigramas (palavras)     bits por caractere = 0.247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5-gramas de caracteres   bits por caractere = 0.367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a prova só com questões fáceis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Um conjunto de teste é a prova do sistema. Se só tem questões fáceis, a nota alta não diz nada.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A prova deve parecer com o uso real: mesmos tipos de pergunta, erros de digitação, casos difíceis e perguntas sem resposta. Divida em estratos e relate cada um. Na base fictícia: 38 diretas, 8 por paráfrase e 10 sem resposta.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quantos casos são necessários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from llmdidatico.aval_llm import n_proporcao, ic_wilson, n_pareado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n = z^2 p(1-p) / e^2, z = 1,96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p in (0.5, 0.8, 0.9, 0.95):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print(p, [n_proporcao(p, m) for m in (0.10, 0.05, 0.03, 0.02)])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 in (10, 30, 100, 300):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print(n, ic_wilson(n, n))      # n acertos em n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print(n_pareado(0.03, 0.20))       # delta = 3 pp, discordância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 ±10.0pp ± 5.0pp ± 3.0pp ± 2.0pp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0.50      97     385    1068    2401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0.80      62     246     683    1537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30 acertos em  30: IC95% [0.886; 1,000]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100 acertos em 100: IC95% [0.963; 1,000]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0.03      870      1742      2614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Reduzir a incerteza pela metade custa quatro vezes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8/32</a:t>
            </a:r>
          </a:p>
        </p:txBody>
      </p:sp>
      <p:pic>
        <p:nvPicPr>
          <p:cNvPr id="7" name="Picture 6" descr="f16_amost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49" y="1143000"/>
            <a:ext cx="65659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A largura cai com a raiz de n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Metade da incerteza: quadruplicar o teste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Wilson é melhor que o normal simples com n pequeno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Informe o IC, não só o acerto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Largura do IC de 95% (Wilson) para a taxa de acerto em função do número de casos.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vazar a prova 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Contaminação é o aluno ter visto a prova antes: a nota mede memória, não capacidade.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conteúdo do teste já foi visto: no treino, nos exemplos do prompt, na base do RAG ou em quase-duplicatas do desenvolvimento. Defesa mais segura: dados privados e recentes. Separe desenvolvimento e teste antes de ajustar qualquer coisa.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medindo a sobreposição e a memória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ngr(t, n=4):                 # 4-gramas de palavras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w = tokens(t); return {tuple(w[i:i+n]) for i in range(max(1, len(w)-n+1))}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vistos = set().union(*(ngr(t) for t in Xdev))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sobreposição de cada mensagem de teste com o desenvolvimento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memoria = {" ".join(tokens(t)): r for t, r in zip(Xdev, ydev)}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pred = [memoria.get(" ".join(tokens(t)), "indefinido") for t in Xte]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'memorizador': só repete o rótulo de mensagens já vistas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mensagens de teste com 80% ou mais dos 4-gramas já vistos no desenvolvimento: 0.675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mensagens de teste idênticas a alguma do desenvolvimento: 0.254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acerto de um 'memorizador' no teste inteiro: 0.254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nas mensagens repetidas: 1.000 (n=122) | nas inéditas: 0.000 (n=358)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a acurácia sozinha engana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X, y = corpus.intencoes(60, seed=21)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sim = SimuladorLLM("v3", semente=0)          # simulador de regras, não é LLM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pred = [json.loads(sim.responder(t))["intencao"] for t in X]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print(classification_report(y, pred, labels=INTENCOES, digits=3))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cm = confusion_matrix(y, pred, labels=rotulos)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desbalanceado: 5% de 'fraude'; classificador que diz sempre 'normal'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alteracao_cadastro 1.000 0.767 0.868 60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reclamacao         1.000 0.767 0.868 60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acurácia 0.942 | F1 micro 0.942 | F1 macro (8 categorias) 0.942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acurácia com IC de Wilson 95%: 0.942 [0.917; 0.959]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desbalanceado (5% de 'fraude'), sempre 'normal': acurácia 0.950, F1 macro 0.487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Métricas de texto: o que elas não veem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Candidato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ROUGE-1 F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Cosseno LSA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paráfrase correta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0,74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número errado (5,00 em vez de 1,50)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incompleta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0,33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irrelevante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cópia literal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Diagnóstico de um RAG simulado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13/32</a:t>
            </a:r>
          </a:p>
        </p:txBody>
      </p:sp>
      <p:pic>
        <p:nvPicPr>
          <p:cNvPr id="7" name="Picture 6" descr="f16_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1143000"/>
            <a:ext cx="70104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Diretas: recuperação 0,97 no top 3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Paráfrases: apenas 0,62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Geração dado o contexto: 0,78 nas diretas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Sem resposta: recusa correta 0,60 com limiar 4,5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Recuperação, resposta correta e correta dado que recuperou. Sistema simulado, não um LLM.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Abstenção e fidelidade: sem limiar grátis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Limiar 4,5: recusa correta 0,60; recusas indevidas 0,17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Limiar 10: recusa correta 0,90; recusas indevidas 0,48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escolha do limiar é decisão de política, não só técnica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Verificador de números pegou as 5 alterações simuladas, sem falso alarme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Vale neste cenário: número inventado que aparece em outro trecho passaria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árbitro e o time da casa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Um juiz automático pode ter preferências que nada têm a ver com a qualidade, como um árbitro que favorece o time da casa.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Viés de posição: favorece a primeira resposta. Verbosidade: favorece a mais longa. Autopreferência: favorece o estilo que ele mesmo produziria. Os tamanhos variam com juiz, tarefa e prompt: meça os do seu caso.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um juiz simulado com vieses programados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JuizEnviesado: SIMULAÇÃO por regras (não é um LLM)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iguais = [(resposta(2, 80, "outro"), resposta(2, 80, "outro"))] * 500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vp in (0.0, 0.3, 0.6, 1.0):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j = JuizEnviesado(vies_posicao=vp, semente=1)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primeira = np.mean([j.comparar(a, b) == 1 for a, b in iguais])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comparar_protocolo(a, b, True): julga nas duas ordens; discordância = empate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viés de posição   prefere a 1ª (sem troca)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       0.0                      0.468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       1.0                      0.974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sem troca de ordem   decididos 1.000 | concordância nos decididos 0.868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com troca de ordem   decididos 0.793 | concordância nos decididos 0.950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viés 1.0: o juiz escolhe a melhor (curta) em 0.208 dos pares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Kappa de Cohen: concordância descontado o acaso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κ = (p_o − p_e) / (1 − p_e)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p_o: concordância observada; p_e: concordância esperada ao acaso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Exemplo: p_o = 0,80, p_e = 0,575, logo κ ≈ 0,53 (moderado)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Faixas como 0,41 a 0,60 são convenções, não leis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Notas ordenadas: use o kappa ponderado ou o alfa de Krippendorff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kappa, alfa e o paradoxo do kappa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3 avaliadores humanos SIMULADOS, notas de 0 a 3, 150 itens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kappa_cohen(a, b)  # conferido contra cohen_kappa_score (diferença &lt; 1e-12)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alfa_krippendorff(dados)               # nominal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alfa_krippendorff(dados, 'ordinal')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alfa_krippendorff(faltantes)           # ~20% de anotações faltantes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paradoxo: categoria dominante (95%), concordância bruta alta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H1-H2: kappa 0.661 | ponderado quadrático 0.898 | concordância bruta 0.747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alfa (3 avaliadores, sem faltantes): nominal 0.653 | ordinal 0.884 | intervalo 0.886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com ~20% de anotações faltantes:  nominal 0.713 | ordinal 0.914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conferência por definição: nominal 0.713 | intervalo 0.916 (pacote: 0.916)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paradoxo do kappa: concordância 0.96, mas kappa 0.579 (prevalência de 95%)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Calibrar o juiz com uma amostra humana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π̂ = (p_obs + e − 1) / (s + e − 1)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s: sensibilidade; e: especificidade do juiz, medidas em amostra rotulada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Exemplo: juiz aprova 60%, s = 0,95, e = 0,80, logo π̂ ≈ 0,53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Simulação: juiz aprovou 59,6%; verdade 48,1%; corrigido 51,7%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 amostra deve ser aleatória e representativa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comparar duas versões nos mesmos casos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a2, a3 = acertos("v2"), acertos("v3")      # simuladores de regras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 = mcnemar(a3, a2)                          # b = só v3 certa; c = só v2 certa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mu, lo, hi = bootstrap_pareado(a3, a2, seed=0)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ps = [mcnemar(v, a2)["p_exato"] for v in variantes]   # 99 equivalentes + v3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correções: bonferroni(ps), holm(ps), benjamini_hochberg(ps)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acerto v2 0.794 | v3 0.955 | n=800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McNemar v3 vs v2: b=129, c=0; p exato 2.94e-39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bootstrap pareado da diferença: +0.161 IC95% [+0.136; +0.186]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sem correção       :  3 falsos positivos entre 99 | v3 detectada: True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Holm               :  0 falsos positivos entre 99 | v3 detectada: True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comprar cem bilhetes de loteria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Quem compara cem variantes e relata a melhor é como quem compra cem bilhetes e comemora o premiado.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Com 100 comparações a 5% de nível, esperam-se cerca de 5 falsos positivos. Bonferroni, Holm e Benjamini-Hochberg corrigem isso. Defina também uma margem de relevância: só trocar de sistema se o ganho for de pelo menos 2 pontos.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variação por semente, ordem e temperatura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accs = np.array([acerto_v2(s, base) for s in range(20)])      # 20 sementes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ords = np.array([acerto_v2(0, rng.permutation(len(X))) for _ in range(20)])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classificador de apoio (NÃO é LLM), amostrado com temperatura T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T in (0.25, 0.5, 1.0, 2.0):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acc = [np.mean(np.array([amostrar(l, r, T=T) for l in logits]) == yv)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for r in rngs]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v2 em 20 sementes: média 0.801, desvio-padrão 0.0115, mín 0.782, máx 0.821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v2, semente fixa, 20 ordens dos casos: média 0.791, desvio 0.0027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T   média      dp     mín     máx   (20 execuções, 800 casos)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0.25   0.996  0.0017   0.994   0.999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2.0   0.327  0.0205   0.285   0.369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portão de regressão e carta de controle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portao(base_ok, novo_ok, estratos, margem=0.03, queda_estrato=0.10):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m, lo, hi = bootstrap_pareado(novo_ok, base_ok, n=2000)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# reprova se lo &lt; -margem ou se algum estrato cair mais que queda_estrato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...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carta de controle: referência das semanas 1-6, limites de 3 desvios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monitoramento com dados SIMULADOS (abstenção semanal)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queda leve (-1%, difusa)            -0.009  APROVADO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queda difusa (-5%)                  -0.048  REPROVADO IC da diferença [-0.062; -0.033] passa de -0.03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queda concentrada em 'elogio'       -0.015  REPROVADO estrato 'elogio' caiu -0.12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limites 3 desvios [0.030; 0.121]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semana  9: 0.180 &lt;-- ALERTA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Benchmarks públicos: triagem, não decisão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Dão linguagem comum e triagem inicial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Medem uma tarefa específica, não a sua aplicação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Saturam quando os melhores modelos chegam ao teto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Podem estar contaminados por serem públicos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Quando a nota vira alvo, deixa de ser boa medida (lei de Goodhart)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Relato responsável: o cartão de avaliação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Sistema: versão do prompt, modelo, parâmetros, semente, data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Teste: origem, tamanho, estratos, hash, anotação e concordância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Métricas com IC, por estrato; número de execuções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Limitações, usos não recomendados, riscos e salvaguardas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Comparação com a linha de base e a decisão tomada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 e limites deste capítulo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Poucos casos, só a média, uma única execução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Ajustar o prompt olhando o teste; ignorar contaminação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Usar BLEU, ROUGE ou similaridade como prova de correção factual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Confiar no juiz sem trocar a ordem nem validar com humanos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Experimentos usam simuladores e dados sintéticos: ilustram métodos, não LLMs reais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Teste mínimo para duas versões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1. Escolha uma tarefa com resposta verificável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2. Escreva 60 casos em estratos; separe 30 para desenvolvimento e 30 para teste antes de ajustar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3. Rode as duas versões nos mesmos casos, 3 vezes, anotando modelo, versão, data, temperatura e semente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4. Calcule métricas por estrato com Wilson, a diferença pareada com bootstrap e o McNemar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5. Conclua: distinguível do acaso? Relevante? O que o teste não cobre? Preencha o cartão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a acurácia que engana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Em um teste, 95% dos casos são normais e 5% são fraude. Um sistema que diz sempre normal tem acurácia de 0,95. Que métrica revelaria o problema?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A própria acurácia, que já mostra com clareza que o sistema é inútil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O número médio de tokens por resposta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O F1 macro, ou a revocação da classe fraude, que pesam as classes por igual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A temperatura de geração usada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o viés de posição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Como se mitiga o viés de posição de um juiz em comparações de pares?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Julgando nas duas ordens e aceitando um vencedor só quando os dois julgamentos concordam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Apresentando sempre a melhor resposta em primeiro lugar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Usando um único juiz e uma única ordem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Removendo a rubrica, para o juiz decidir sem critérios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cem variantes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Ao comparar 100 variantes equivalentes a 5% de nível, sem correção, espera-se cerca de quantos falsos positivos?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Nenhum, já que as variantes são realmente equivalentes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50, pois metade das comparações tende a dar diferença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95, pois o nível vale para cada acerto individual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Avaliar LLMs é difícil: saídas abertas, variabilidade, sensibilidade ao prompt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O teste é o instrumento: representativo, estratificado, dimensionado e sem contaminação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ROUGE e similaridade não verificam fatos; em RAG, avalie recuperação, geração e abstenção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Juiz automático: rubrica, troca de ordem, validação com humanos (kappa, alfa)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Compare com testes pareados, corrija múltiplas comparações, defina margem de relevância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Depois da entrega: regressão, monitoramento e cartão de avaliação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ZHENG, L. et al. Judging LLM-as-a-judge with MT-Bench and Chatbot Arena. NeurIPS, 36.,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PAPINENI, K. et al. BLEU: a method for automatic evaluation of machine translation. ACL, 40., 2002.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LIN, C.-Y. ROUGE: a package for automatic evaluation of summaries. 2004. p. 74-81.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EFRON, B.; TIBSHIRANI, R. J. An introduction to the bootstrap. Nova York: Chapman &amp; Hall, 1993.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COHEN, J. A coefficient of agreement for nominal scales. Educational and Psychological Measurement, v. 20, n. 1, p. 37-46, 1960.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KRIPPENDORFF, K. Content analysis: an introduction to its methodology. 2. ed. Thousand Oaks: Sage, 2004.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MCNEMAR, Q. Note on the sampling error of the difference between correlated proportions or percentages. Psychometrika, v. 12, n. 2, p. 153-157, 1947.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HOLM, S. A simple sequentially rejective multiple test procedure. Scandinavian Journal of Statistics, v. 6, n. 2, p. 65-70, 1979.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