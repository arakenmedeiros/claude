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Abertura do Capítulo 4: Atenção e arquitetura Transformer. Apresente o objetivo geral e como o capítulo se encaixa no livro.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Bem-vindos ao Capítulo 4, o coração dos modelos de linguagem atuais. Vamos construir, passo a passo, o mecanismo de atenção e a arquitetura Transformer. Ao final, vocês devem conseguir calcular uma atenção à mão, explicar por que dividimos por raiz de dk, descrever a máscara causal, montar um bloco completo em NumPy e estimar quantos parâmetros ele tem. Também vamos separar as três famílias de arquitetura. Aviso de honestidade: todos os exemplos usam pesos aleatórios ou valores escolhidos, sem treinamento; mostram a mecânica e os formatos, não o comportamento de um modelo real. Pergunta inicial à turma: quando vocês leem uma frase longa, como sabem a que palavra um pronome se refere?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Leia a frase em voz alta e pergunte quem acertou a prova: provavelmente a aluna. Troque o final para precisava corrigir a prova: agora é a professora. Nosso cérebro olha as outras palavras e pondera quais importam. O modelo de linguagem precisa fazer algo equivalente, em cada posição, para centenas ou milhares de palavras ao mesmo tempo. Contexto histórico: até 2017, o recurso dominante eram redes recorrentes, que leem o texto palavra por palavra e carregam um resumo numa memória de tamanho fixo; no fim de um parágrafo longo os detalhes do início podem ter se perdido, e o processamento sequencial é difícil de acelerar. Mencione a pergunta guia: como decidir quais posições são relevantes e treinar isso em paralelo, em escala? A atenção, de Bahdanau, Cho e Bengio, e o Transformer, de Vaswani e colaboradores, respondem a isso. Pergunta: que palavras vocês olharam para decidir?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 mapa conceitual como roteiro. Consultas, chaves e valores alimentam a atenção. Várias cabeças, representações posicionais, conexões residuais e normalização compõem o bloco Transformer. Blocos empilhados formam as arquiteturas encoder, decoder e encoder-decoder. Diga que vamos percorrer o mapa da esquerda para a direita e que, ao final, vocês devem conseguir contar parâmetros de um bloco. Revise os pré-requisitos do Capítulo 2: produto escalar, multiplicação de matrizes com a regra de formatos, softmax e variância; e do Capítulo 3: embeddings. Dica prática do capítulo: escreva sempre os formatos das matrizes; se as dimensões não fecham, a fórmula está errada. Pergunta: quem se lembra do formato do produto de uma matriz m por n com outra n por 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Analogia do capítulo. Você chega à biblioteca com uma pergunta, a consulta, em inglês query. Cada livro tem uma etiqueta na lombada, a chave, key, e um conteúdo, o valor, value. Você compara a pergunta com todas as etiquetas, descobre quais livros combinam mais e lê um resumo ponderado dos conteúdos: mais atenção aos livros mais parecidos com a pergunta, menos aos demais. Os limites da analogia: na biblioteca você escolhe um livro; na atenção o modelo mistura todos os valores. E consulta, chave e valor não são significados fixos: são projeções aprendidas, cujo papel emerge do treinamento. Pergunta à turma: que pergunta você levaria a uma biblioteca para resolver o pronome ela?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Percorra os quatro passos do capítulo. Primeiro, cada token gera uma consulta, uma chave e um valor, três vetores obtidos por multiplicação de matrizes. Segundo, a consulta de um token é comparada, por produto escalar, com as chaves de todos os tokens, resultando em uma pontuação para cada par. Terceiro, as pontuações passam por um softmax e viram pesos que somam 1. Quarto, a saída do token é a média dos valores, ponderada por esses pesos. A intuição central: a atenção é uma média ponderada cujos pesos dependem do conteúdo. Em uma média comum, todos pesam igual; aqui o modelo decide a quem dar peso, a cada token e a cada camada. Pergunta: por que a saída é um vetor novo para cada posição?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Apresente a fórmula com os formatos. X tem T linhas, uma por token, e d colunas. As matrizes de pesos W_Q, W_K e W_V são aprendidas e produzem Q e K de formato T por dk e V de formato T por dv. O produto Q vezes K transposta dá uma matriz T por T com a pontuação de todos os pares de uma só vez. O softmax é aplicado linha a linha, de modo que cada linha vira uma distribuição de pesos sobre os tokens. Multiplicar por V faz a média ponderada e o resultado tem formato T por dv. Armadilha clássica: aplicar o softmax no eixo errado; deve ser sobre as chaves, a última dimensão. Pergunta: se a matriz de pontuações é T por T, por que ela cresce depressa com textos longos?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é a justificativa do fator, uma das derivações essenciais do capítulo. Suponha que as componentes de q e de k sejam independentes, com média 0 e variância 1. Cada produto q_i vezes k_i tem média 0 e variância 1, e o produto escalar é a soma de dk termos independentes, logo a variância é dk. Dividindo por raiz de dk a variância volta a 1, qualquer que seja dk. Sem a divisão, o desvio-padrão cresce com raiz de dk e as pontuações grandes empurram o softmax para a saturação: um peso próximo de 1 e os demais perto de 0, o que torna os gradientes minúsculos. Pergunta à turma: se dk for 64, qual o desvio-padrão sem escala? Raiz de 64, igual a 8. Lembre que a hipótese de independência é uma idealização.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Simulação com vetores gaussianos, não um modelo treinado. As primeiras linhas confirmam a teoria: a variância do produto escalar é próxima de dk, 4,0, 63,4 e 1.020,0 para dk igual a 4, 64 e 1.024, e fica perto de 1 depois da divisão. As duas últimas linhas mostram o efeito no softmax sobre 10 chaves: o peso máximo médio, sem escala, vai de 0,492 com dk igual a 4 até 0,967 com dk igual a 1.024, quase saturado; com escala, fica por volta de 0,3, moderado. O código resumido omite linhas de cabeçalho impressas no capítulo. Pergunta: o que significa, na prática, um peso máximo de 0,967? O token escolhe quase um único vizinho. Com escala, o modelo continua flexível e os gradientes viáveis.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Exemplo resolvido, que também pode ser feito à mão. Com dk igual a 2, as pontuações escalonadas são o produto Q K transposta dividido por raiz de 2, cerca de 1,414. Na linha 1, as pontuações são 0,707, 0 e 0,707; as exponenciais valem 2,028, 1 e 2,028, soma 5,056, e os pesos são 0,401, 0,198 e 0,401, como na saída real. A saída da linha 1 é 0,401 vezes o valor 1, 0, mais 0,198 vezes 0, 2, mais 0,401 vezes 3, 3, aproximadamente 1,604 e 1,599. O token 1 recebeu uma mistura dos três valores, com mais peso nos tokens 1 e 3, cujas chaves se parecem mais com sua consulta. Pergunta: por que cada linha de pesos soma 1? Porque o softmax normaliza. Os valores aqui foram escolhidos, não aprendidos.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Analogia: uma prova em que a resposta da questão 5 já está escrita na folha. Se o aluno pudesse ler as respostas, tiraria nota alta sem ter aprendido. Num modelo que gera texto, o token na posição t não pode ver os tokens posteriores: na geração eles ainda não existem, e no treinamento vê-los seria colar, pois a resposta estaria na entrada. A máscara causal impede isso. Aviso do capítulo, importante: um erro de máscara costuma passar despercebido porque o treinamento funciona, e a perda cai muito rápido, justamente porque o modelo está colando. Por isso há um teste de vazamento, que veremos no código. Pergunta à turma: se a perda cair rápido demais no início do treino, devemos comemorar ou desconfiar? Desconfiar e testar a máscara.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figura compara as duas máscaras para seis tokens. Na bidirecional, usada em encoders, todos os tokens veem todos. Na causal, usada em decoders, cada token vê apenas a si e aos anteriores. Implementação: antes do softmax, as pontuações dos pares com j maior que i são substituídas por menos infinito, na prática um número muito negativo; como e elevado a menos infinito é zero, esses pares recebem peso zero e as linhas continuam somando 1. Resultado: matriz de pesos triangular inferior; a saída do token i depende só dos tokens 1 a i. Vantagem para o treino: com uma única passada, o modelo prevê o próximo token em todas as posições, cada uma vendo só seu passado. Armadilha: aplicar a máscara depois do softmax, que quebra a soma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Mesmos Q, K e V do exemplo anterior, agora com máscara. A máscara é triangular inferior: 1 onde o token pode olhar. Na linha 1, o token só enxerga a si mesmo, peso 1. Na linha 2, só os tokens 1 e 2, com pesos 0,33 e 0,67, e a saída vira 0,33 e 1,34. Confira à mão, como no capítulo: pontuações 0 e 0,707, exponenciais 1 e 2,028, soma 3,028, pesos 0,330 e 0,670. O valor 3, 3 do token 3 não contribuiu. A linha 3 pode ver todos e é igual à do caso sem máscara. Pergunta: se mudarmos só o token 3, quais saídas mudam? Apenas a do token 3. Esse é o princípio do teste de vazamento que faremos adiante.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Analogia: um comitê. Peça a três colegas que leiam o mesmo parágrafo; um presta atenção na concordância verbal, outro nas referências dos pronomes, outro no tema. Depois juntam as anotações. As cabeças da atenção funcionam de forma parecida: cada uma tem suas próprias matrizes e produz um tipo de média por token. Com h cabeças e dimensão do modelo d, cada cabeça trabalha com dk igual a d dividido por h; as saídas são concatenadas, voltando à dimensão d, e misturadas pela matriz de saída W_O. O bloco de atenção tem 4 d ao quadrado parâmetros. Cuidado, ponto essencial: a analogia sugere papéis claros, mas muitas cabeças são redundantes ou difusas; não afirme que a cabeça 3 cuida de pronomes. Pergunta: por que o custo é parecido com o de uma única atenção de dimensão 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slide protege a turma de uma interpretação tentadora. Ao ver um mapa de atenção, é fácil dizer que o modelo olhou aquela palavra porque ela decidiu a resposta. A literatura mostra que os pesos podem ser alterados sem mudar a saída e que a interpretação como explicação é contestada, nos trabalhos de Jain e Wallace, e de Wiegreffe e Pinter, ambos de 2019. Algumas cabeças têm padrões interpretáveis em alguns modelos, mas muitas são redundantes ou difusas. Portanto, mapas de atenção servem como pistas, nunca como prova. No código do capítulo, a atenção multicabeça com 4 cabeças e d igual a 16 produz pesos de formato 4, 6, 6, e o bloco de atenção tem 1.024 parâmetros, igual a 4 d ao quadrado. Pergunta: que outras evidências, além do mapa, vocês exigiriam antes de explicar uma decisão do modelo?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Fato desconcertante: se embaralharmos a ordem dos tokens de entrada, a saída de cada token continua a mesma, apenas reordenada do mesmo jeito. Para a atenção sozinha, o cachorro mordeu o homem e o homem mordeu o cachorro são o mesmo saco de palavras. Precisamos injetar informação de posição. A solução original, de Vaswani e colaboradores, soma ao embedding um vetor de posição com senos e cossenos de frequências diferentes; dimensões de baixo índice oscilam rápido e distinguem vizinhas, as de alto índice oscilam devagar. Alternativas: posições aprendidas, relativas e rotacionais, RoPE, de Su e colaboradores. A escolha afeta o tratamento de textos mais longos que os do treino. No experimento do capítulo, sem posições a igualdade vale, e com posições a ordem passa a importar. Pergunta: por que a posição 0 vale 0, 1, 0,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Analogia do cotidiano: o revisor de texto que anota à margem em vez de reescrever o documento inteiro. O texto original continua lá, e cada revisor acrescenta sua contribuição. Em vez de calcular y igual a F de x, a camada calcula y igual a x mais F de x: a entrada atalha a camada e é somada à sua saída, de modo que a camada aprende apenas a correção. O capítulo usa outra imagem: uma rodovia da informação ao longo da pilha, à qual cada camada acrescenta algo. Motivo prático: redes com muitas camadas são difíceis de treinar porque os gradientes podem sumir ou explodir, e o atalho dá ao gradiente um caminho direto. Referência: He e colaboradores, 2016. Pergunta à turma: o que aconteceria se uma camada aprendesse F igual a zero?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normalização de camada padroniza cada vetor de token entre suas d dimensões. Calcule a média μ e a variância σ ao quadrado, subtraia a média e divida pela raiz da variância mais ε, uma constante pequena que evita divisão por zero. Depois, γ e β, parâmetros aprendidos, reescalam o resultado. Ba, Kiros e Hinton propuseram a técnica em 2016. Uma variante mais simples, a RMSNorm, de Zhang e Sennrich, omite a subtração da média. Há duas posições: pós-LN, depois da soma residual, como no Transformer original, e pré-LN, antes da subcamada, dentro do ramo residual; a pré-LN costuma treinar de forma mais estável em modelos profundos, segundo Xiong e colaboradores. Pergunta: por que normalizar ajuda se as magnitudes das ativações variam muito entre camadas?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Código resumido, sem γ e β, que no capítulo são opcionais; a saída exibida inclui linhas do código completo. A linha 2 é a linha 1 multiplicada por 100, e a normalização produz exatamente o mesmo resultado: menos 1,342, menos 0,447, 0,447 e 1,342. Ela remove a escala. Esse é o motivo de a normalização estabilizar o treinamento mesmo quando as magnitudes das ativações variam muito entre camadas. A RMSNorm, na linha 1, dá 0,365, 0,73, 1,095 e 1,461, pois não subtrai a média. Pergunta à turma: como fica a média da linha 1 após a LayerNorm? Zero, com desvio-padrão 1, como a saída mostra. Cuidado: com γ e β aprendidos, o resultado final não terá mais média 0 e variância 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bloco tem, além da atenção, uma pequena rede aplicada separadamente a cada posição. Ela multiplica por W1, expandindo de d para d_ff, aplica uma função de ativação não linear, como ReLU ou GELU, e multiplica por W2, comprimindo de volta para d. Costuma-se usar d_ff próximo de 4d. Sem a não linearidade, as duas camadas colapsariam numa única transformação linear. Parâmetros: 2 vezes d vezes d_ff, ou 8 d ao quadrado quando d_ff é 4d, o dobro da atenção. A intuição de divisão de trabalho, a atenção move informação entre posições e a FFN processa a de cada posição, é didática, não uma descrição rigorosa. Há indícios de que parte do conhecimento factual fica nas FFNs, mas é tema de pesquisa, não fato estabelecido. Pergunta: por que a FFN não mistura posições?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Juntando as peças, um bloco em formato pré-LN calcula X linha igual a X mais a multicabeça aplicada à normalização de X, e X duas linhas igual a X linha mais a FFN aplicada à normalização de X linha. As setas de atalho na figura são as conexões residuais. Um LLM do tipo decoder é uma pilha de N blocos idênticos em formato, cada um com parâmetros próprios, precedida de embeddings com posições e seguida de uma normalização final e de uma projeção linear para o vocabulário, cujo resultado são os logits do próximo token, tema do Capítulo 2. O esquema é simplificado: omite vieses, dropout, inicialização, paralelismo e tipos numéricos de baixa precisão, que variam entre modelos. Pergunta à turma: onde cada ideia que vimos aparece na figura: atenção, máscara, posições, residual, normalização?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classe BlocoTransformer, no capítulo, monta o bloco pré-LN com NumPy; aqui aparece só o teste. Entrada e saída têm o mesmo formato, 8 por 32. O bloco tem 12.448 parâmetros contra 12 d ao quadrado igual a 12.288; a diferença são os vieses. O teste de vazamento: alteramos apenas os tokens 6 a 8 e verificamos que as saídas dos tokens 1 a 5 não mudam com a máscara causal; sem máscara, elas mudam. Mensagem do capítulo: sempre verifique que um modelo causal não deixa informação do futuro vazar para o passado. Um erro de máscara costuma passar despercebido, porque o treinamento funciona e a perda cai muito rápido. Os pesos são aleatórios, então só a mecânica é testada. Pergunta: como automatizar esse teste num projeto?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Desprezando vieses e normalizações, cada bloco tem 4 d ao quadrado parâmetros na atenção e 8 d ao quadrado na FFN, total 12 d ao quadrado. Com N blocos e uma tabela de embeddings V por d, possivelmente compartilhada com a projeção de saída, o total é aproximadamente 12 N d ao quadrado mais V d. Exemplo hipotético do capítulo: N igual a 12, d igual a 768 e V igual a 50.000. Blocos: 12 vezes 12 vezes 768 ao quadrado, 84.934.656, cerca de 84,9 milhões. Embeddings: 38,4 milhões. Total aproximado: 123,3 milhões; o código real imprime 123.334.656. Em float16, 2 bytes por parâmetro, cerca de 247 MB. É uma configuração hipotética, que mostra ordem de grandeza. Exemplo 2: d igual a 512 e d_ff igual a 2.048 dá 3,1 milhões por bloco. Pergunta: que fração do bloco é a FFN? Dois terços.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tabela resume as três famílias. Somente encoder: atenção bidirecional, objetivo típico de prever palavras mascaradas, usos como classificação, embeddings e busca, exemplo BERT. Somente decoder: atenção causal, objetivo de prever o próximo token, usada para geração e como base dos LLMs de conversação, exemplo a família GPT. Encoder-decoder: encoder bidirecional e decoder causal com atenção cruzada, para tradução e resumo; exemplos: o Transformer original, T5 e BART. Na atenção cruzada, as consultas vêm do decoder e as chaves e valores, da saída do encoder: é assim que, em tradução, cada palavra gerada olha para a frase de origem. Nos decoder-only, o mesmo objetivo serve ao pré-treino e à geração, o que simplifica o treino em escala; isso não torna as demais famílias obsoletas. Pergunta: qual família para classificar e-mails?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 simples, não um benchmark de modelo real: calcula o tamanho da matriz T por T de pontuações, para 32 cabeças, em float16, de uma única camada, se ela fosse materializada. Com T igual a 1.024, 0,07 GB; com 4.096, 1,07 GB; com 16.384, 17,18 GB. Dobrar o comprimento quadruplica o número. Exemplo 3 do capítulo: de 2.048 para 8.192 tokens, a matriz cresce 16 vezes, enquanto projeções e FFN crescem 4 vezes. Respostas existentes: implementações eficientes que calculam a mesma atenção exata sem armazenar a matriz completa, como a FlashAttention, de Dao e colaboradores, e variantes como a atenção por consultas agrupadas, de Ainslie e colaboradores. O Capítulo 6 traz o cache de chaves e valores, e o 15, as técnicas de eficiência. Pergunta: por que contextos longos são caros?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Revise os erros do capítulo. Esquecer o fator 1 sobre raiz de dk, o que torna o treino instável com dk grande. Aplicar o softmax no eixo errado; deve ser sobre as chaves. Aplicar a máscara depois do softmax, porque ela precisa entrar antes para que os pesos continuem somando 1; ou ter uma máscara invertida ou sem a diagonal. Confundir dimensões: dk por cabeça é d dividido por h. Esquecer as posições, e o modelo trata a entrada como saco de palavras. Interpretar pesos de atenção como explicação garantida. Ignorar o custo quadrático ao planejar contextos longos. Limitações: os exemplos usam pesos aleatórios e omitem detalhes reais; a estimativa de parâmetros é aproximada e usa configuração hipotética. Pergunta à turma: qual desses erros não geraria mensagem de erro? Quase todos, e é por isso que testes são importantes.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Atividade prática do capítulo, com o Exercício prático 4.1 guiando a implementação. Passo 1: implementar a atenção como na seção 4.7 e conferir com os valores do exemplo de três tokens. Passo 2: seis tokens com embeddings aleatórios de dimensão 8, projeções com matrizes aleatórias e pesos com e sem máscara, mostrados com imshow. Passo 3: teste automático de que, com máscara, alterar o token 6 não muda as saídas dos tokens 1 a 5. Passo 4: acrescentar a codificação posicional senoidal e confirmar que embaralhar deixa de apenas reordenar a saída. Passo 5: um parágrafo sobre a importância do teste de vazamento. Armadilhas: máscara invertida e softmax no eixo errado. Sugira trabalho em duplas, 20 minutos, e discussão dos resultados. Pergunta final: o que o teste detectaria que a perda de treino não detecta?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Dê um minuto para a turma pensar antes de revelar. A resposta certa é C. Com componentes independentes de média 0 e variância 1, a variância do produto escalar é dk, e dividir por raiz de dk restaura variância 1. Isso evita que o softmax sature, com um peso próximo de 1 e os demais perto de 0, o que prejudicaria os gradientes. Retome a simulação: sem escala e com dk igual a 1.024, o peso máximo médio foi 0,967; com escala, 0,321. As demais alternativas são falsas: a soma dos pesos é sempre 1 por causa do softmax, o fator não adiciona parâmetros e não torna pontuações negativas. Pergunta: o que aconteceria com dk muito grande e sem o fator? O treino ficaria instável.</a:t>
            </a:r>
          </a:p>
          <a:p/>
          <a:p>
            <a:r>
              <a:t>RESPOSTA: C. Com componentes independentes de variância 1, Var(q·k) = dk; dividir por √dk restaura variância 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resposta é C. Antes do softmax, as pontuações dos pares com o token consultado vindo depois são substituídas por um número muito negativo, na prática menos infinito. Como e elevado a menos infinito é zero, esses pares recebem peso zero e as linhas continuam somando 1. A alternativa A é o erro frequente: zerar depois do softmax sem renormalizar deixa as linhas com soma menor que 1. Peça que alguém explique por que remover os últimos tokens não é a mesma coisa: cada posição precisa de sua própria visão do passado. Retome o exemplo do token 2: pesos 0,33 e 0,67 e saída 0,33 e 1,34, sem contribuição do valor 3, 3. Pergunta: qual teste mostra que a máscara está correta? O teste de vazamento do bloco.</a:t>
            </a:r>
          </a:p>
          <a:p/>
          <a:p>
            <a:r>
              <a:t>RESPOSTA: C. Como e^(−∞) = 0, esses pares recebem peso zero e as linhas continuam somando 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resposta é D. A matriz de pontuações é T por T, então cresce com T ao quadrado: dobrar T quadruplica o número de elementos. Retome a tabela do código: de 1.024 para 4.096, que é quatro vezes mais tokens, a matriz passou de 0,07 GB para 1,07 GB, cerca de 16 vezes mais. Já as projeções e a FFN crescem linearmente com T. Se alguém respondeu A, pergunte se estava pensando nas partes lineares do bloco. Conecte à prática: para textos longos o termo quadrático passa a dominar, o que explica o esforço de pesquisa em atenção eficiente, como FlashAttention e atenção por consultas agrupadas. Pergunta: se T for multiplicado por 4, por quanto cresce a matriz? Por 16. Cuidado: os valores de GB do slide são para uma camada, em float16, com 32 cabeças.</a:t>
            </a:r>
          </a:p>
          <a:p/>
          <a:p>
            <a:r>
              <a:t>RESPOSTA: D. A matriz é T × T, crescendo com T².</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Revise com a turma, pedindo que cada aluno complete uma frase. A atenção é uma média ponderada dos valores, com pesos dados pelo softmax das similaridades entre consulta e chaves. A fórmula é softmax de Q K transposta sobre raiz de dk, vezes V, e o fator mantém a variância das pontuações em 1. A máscara causal é triangular inferior, permite treinar em paralelo e impede vazamento do futuro. As cabeças são várias atenções em subespaços de dimensão d sobre h, concatenadas e misturadas por W_O. A atenção não conhece a ordem, então precisa de posições. Residuais facilitam o fluxo do gradiente, a normalização estabiliza a escala e a FFN processa cada posição. Parâmetros: cerca de 12 N d ao quadrado mais V d. Encoder, decoder e encoder-decoder servem a fins diferentes. Próximo capítulo: como esses modelos aprendem. Pergunta final: o que ficou mais claro?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anner4.png"/>
          <p:cNvPicPr>
            <a:picLocks noChangeAspect="1"/>
          </p:cNvPicPr>
          <p:nvPr/>
        </p:nvPicPr>
        <p:blipFill>
          <a:blip r:embed="rId2"/>
          <a:stretch>
            <a:fillRect/>
          </a:stretch>
        </p:blipFill>
        <p:spPr>
          <a:xfrm>
            <a:off x="0" y="406591"/>
            <a:ext cx="12191695" cy="2295778"/>
          </a:xfrm>
          <a:prstGeom prst="rect">
            <a:avLst/>
          </a:prstGeom>
        </p:spPr>
      </p:pic>
      <p:sp>
        <p:nvSpPr>
          <p:cNvPr id="4" name="Rectangle 3"/>
          <p:cNvSpPr/>
          <p:nvPr/>
        </p:nvSpPr>
        <p:spPr>
          <a:xfrm>
            <a:off x="0" y="3108960"/>
            <a:ext cx="12191695" cy="7315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383280"/>
            <a:ext cx="10698480" cy="457200"/>
          </a:xfrm>
          <a:prstGeom prst="rect">
            <a:avLst/>
          </a:prstGeom>
          <a:noFill/>
        </p:spPr>
        <p:txBody>
          <a:bodyPr wrap="square" anchor="t" lIns="45720" rIns="45720">
            <a:spAutoFit/>
          </a:bodyPr>
          <a:lstStyle/>
          <a:p>
            <a:pPr algn="l"/>
            <a:r>
              <a:rPr sz="2000" b="1" i="0">
                <a:solidFill>
                  <a:srgbClr val="06B6D4"/>
                </a:solidFill>
                <a:latin typeface="Calibri"/>
              </a:rPr>
              <a:t>Parte I — Fundamentos dos modelos de linguagem  ·  Capítulo 4</a:t>
            </a:r>
          </a:p>
        </p:txBody>
      </p:sp>
      <p:sp>
        <p:nvSpPr>
          <p:cNvPr id="6" name="TextBox 5"/>
          <p:cNvSpPr txBox="1"/>
          <p:nvPr/>
        </p:nvSpPr>
        <p:spPr>
          <a:xfrm>
            <a:off x="731520" y="3840480"/>
            <a:ext cx="10698480" cy="1463040"/>
          </a:xfrm>
          <a:prstGeom prst="rect">
            <a:avLst/>
          </a:prstGeom>
          <a:noFill/>
        </p:spPr>
        <p:txBody>
          <a:bodyPr wrap="square" anchor="t" lIns="45720" rIns="45720">
            <a:spAutoFit/>
          </a:bodyPr>
          <a:lstStyle/>
          <a:p>
            <a:pPr algn="l"/>
            <a:r>
              <a:rPr sz="4400" b="1" i="0">
                <a:solidFill>
                  <a:srgbClr val="FFFFFF"/>
                </a:solidFill>
                <a:latin typeface="Calibri"/>
              </a:rPr>
              <a:t>Atenção e arquitetura Transformer</a:t>
            </a:r>
          </a:p>
        </p:txBody>
      </p:sp>
      <p:sp>
        <p:nvSpPr>
          <p:cNvPr id="7" name="TextBox 6"/>
          <p:cNvSpPr txBox="1"/>
          <p:nvPr/>
        </p:nvSpPr>
        <p:spPr>
          <a:xfrm>
            <a:off x="731520" y="5669280"/>
            <a:ext cx="10698480" cy="822960"/>
          </a:xfrm>
          <a:prstGeom prst="rect">
            <a:avLst/>
          </a:prstGeom>
          <a:noFill/>
        </p:spPr>
        <p:txBody>
          <a:bodyPr wrap="square" anchor="t" lIns="45720" rIns="45720">
            <a:spAutoFit/>
          </a:bodyPr>
          <a:lstStyle/>
          <a:p>
            <a:pPr algn="l"/>
            <a:r>
              <a:rPr sz="1800" b="0" i="0">
                <a:solidFill>
                  <a:srgbClr val="C7D2FE"/>
                </a:solidFill>
                <a:latin typeface="Calibri"/>
              </a:rPr>
              <a:t>Grandes Modelos de Linguagem: do básico à aplicação</a:t>
            </a:r>
          </a:p>
          <a:p>
            <a:pPr algn="l"/>
            <a:r>
              <a:rPr sz="1800" b="0" i="0">
                <a:solidFill>
                  <a:srgbClr val="C7D2FE"/>
                </a:solidFill>
                <a:latin typeface="Calibri"/>
              </a:rPr>
              <a:t>Araken de Medeiros Santos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O que você vai aprender</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2/32</a:t>
            </a:r>
          </a:p>
        </p:txBody>
      </p:sp>
      <p:sp>
        <p:nvSpPr>
          <p:cNvPr id="7" name="TextBox 6"/>
          <p:cNvSpPr txBox="1"/>
          <p:nvPr/>
        </p:nvSpPr>
        <p:spPr>
          <a:xfrm>
            <a:off x="731520" y="1371600"/>
            <a:ext cx="10698480" cy="4846320"/>
          </a:xfrm>
          <a:prstGeom prst="rect">
            <a:avLst/>
          </a:prstGeom>
          <a:noFill/>
        </p:spPr>
        <p:txBody>
          <a:bodyPr wrap="square">
            <a:spAutoFit/>
          </a:bodyPr>
          <a:lstStyle/>
          <a:p>
            <a:pPr>
              <a:spcAft>
                <a:spcPts val="800"/>
              </a:spcAft>
            </a:pPr>
            <a:r>
              <a:rPr sz="1679">
                <a:solidFill>
                  <a:srgbClr val="4F46E5"/>
                </a:solidFill>
                <a:latin typeface="Calibri"/>
              </a:rPr>
              <a:t>● </a:t>
            </a:r>
            <a:r>
              <a:rPr sz="2400">
                <a:solidFill>
                  <a:srgbClr val="1F2937"/>
                </a:solidFill>
                <a:latin typeface="Calibri"/>
              </a:rPr>
              <a:t>Entender a atenção como média ponderada guiada por consulta, chave e valor</a:t>
            </a:r>
          </a:p>
          <a:p>
            <a:pPr>
              <a:spcAft>
                <a:spcPts val="800"/>
              </a:spcAft>
            </a:pPr>
            <a:r>
              <a:rPr sz="1679">
                <a:solidFill>
                  <a:srgbClr val="4F46E5"/>
                </a:solidFill>
                <a:latin typeface="Calibri"/>
              </a:rPr>
              <a:t>● </a:t>
            </a:r>
            <a:r>
              <a:rPr sz="2400">
                <a:solidFill>
                  <a:srgbClr val="1F2937"/>
                </a:solidFill>
                <a:latin typeface="Calibri"/>
              </a:rPr>
              <a:t>Calcular a atenção à mão e em NumPy, e justificar o fator 1/√dk</a:t>
            </a:r>
          </a:p>
          <a:p>
            <a:pPr>
              <a:spcAft>
                <a:spcPts val="800"/>
              </a:spcAft>
            </a:pPr>
            <a:r>
              <a:rPr sz="1679">
                <a:solidFill>
                  <a:srgbClr val="4F46E5"/>
                </a:solidFill>
                <a:latin typeface="Calibri"/>
              </a:rPr>
              <a:t>● </a:t>
            </a:r>
            <a:r>
              <a:rPr sz="2400">
                <a:solidFill>
                  <a:srgbClr val="1F2937"/>
                </a:solidFill>
                <a:latin typeface="Calibri"/>
              </a:rPr>
              <a:t>Descrever a máscara causal e o que ela impede</a:t>
            </a:r>
          </a:p>
          <a:p>
            <a:pPr>
              <a:spcAft>
                <a:spcPts val="800"/>
              </a:spcAft>
            </a:pPr>
            <a:r>
              <a:rPr sz="1679">
                <a:solidFill>
                  <a:srgbClr val="4F46E5"/>
                </a:solidFill>
                <a:latin typeface="Calibri"/>
              </a:rPr>
              <a:t>● </a:t>
            </a:r>
            <a:r>
              <a:rPr sz="2400">
                <a:solidFill>
                  <a:srgbClr val="1F2937"/>
                </a:solidFill>
                <a:latin typeface="Calibri"/>
              </a:rPr>
              <a:t>Explicar cabeças, posições, residuais e normalização</a:t>
            </a:r>
          </a:p>
          <a:p>
            <a:pPr>
              <a:spcAft>
                <a:spcPts val="800"/>
              </a:spcAft>
            </a:pPr>
            <a:r>
              <a:rPr sz="1679">
                <a:solidFill>
                  <a:srgbClr val="4F46E5"/>
                </a:solidFill>
                <a:latin typeface="Calibri"/>
              </a:rPr>
              <a:t>● </a:t>
            </a:r>
            <a:r>
              <a:rPr sz="2400">
                <a:solidFill>
                  <a:srgbClr val="1F2937"/>
                </a:solidFill>
                <a:latin typeface="Calibri"/>
              </a:rPr>
              <a:t>Montar um bloco Transformer e estimar seus parâmetros e o custo da atenção</a:t>
            </a:r>
          </a:p>
          <a:p>
            <a:pPr>
              <a:spcAft>
                <a:spcPts val="800"/>
              </a:spcAft>
            </a:pPr>
            <a:r>
              <a:rPr sz="1679">
                <a:solidFill>
                  <a:srgbClr val="4F46E5"/>
                </a:solidFill>
                <a:latin typeface="Calibri"/>
              </a:rPr>
              <a:t>● </a:t>
            </a:r>
            <a:r>
              <a:rPr sz="2400">
                <a:solidFill>
                  <a:srgbClr val="1F2937"/>
                </a:solidFill>
                <a:latin typeface="Calibri"/>
              </a:rPr>
              <a:t>Distinguir encoder, decoder e encoder-decoder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Quem é "ela"?</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3/32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"A professora disse à aluna que ela tinha acertado a prova."</a:t>
            </a:r>
          </a:p>
          <a:p>
            <a:pPr>
              <a:spcAft>
                <a:spcPts val="800"/>
              </a:spcAft>
            </a:pPr>
            <a:r>
              <a:rPr sz="1539">
                <a:solidFill>
                  <a:srgbClr val="4F46E5"/>
                </a:solidFill>
                <a:latin typeface="Calibri"/>
              </a:rPr>
              <a:t>● </a:t>
            </a:r>
            <a:r>
              <a:rPr sz="2200">
                <a:solidFill>
                  <a:srgbClr val="1F2937"/>
                </a:solidFill>
                <a:latin typeface="Calibri"/>
              </a:rPr>
              <a:t>Com outro final, "ela" passa a ser a professora</a:t>
            </a:r>
          </a:p>
          <a:p>
            <a:pPr>
              <a:spcAft>
                <a:spcPts val="800"/>
              </a:spcAft>
            </a:pPr>
            <a:r>
              <a:rPr sz="1539">
                <a:solidFill>
                  <a:srgbClr val="4F46E5"/>
                </a:solidFill>
                <a:latin typeface="Calibri"/>
              </a:rPr>
              <a:t>● </a:t>
            </a:r>
            <a:r>
              <a:rPr sz="2200">
                <a:solidFill>
                  <a:srgbClr val="1F2937"/>
                </a:solidFill>
                <a:latin typeface="Calibri"/>
              </a:rPr>
              <a:t>Seu cérebro pondera quais palavras da frase importam</a:t>
            </a:r>
          </a:p>
          <a:p>
            <a:pPr>
              <a:spcAft>
                <a:spcPts val="800"/>
              </a:spcAft>
            </a:pPr>
            <a:r>
              <a:rPr sz="1539">
                <a:solidFill>
                  <a:srgbClr val="4F46E5"/>
                </a:solidFill>
                <a:latin typeface="Calibri"/>
              </a:rPr>
              <a:t>● </a:t>
            </a:r>
            <a:r>
              <a:rPr sz="2200">
                <a:solidFill>
                  <a:srgbClr val="1F2937"/>
                </a:solidFill>
                <a:latin typeface="Calibri"/>
              </a:rPr>
              <a:t>O modelo precisa fazer algo equivalente, em cada posição</a:t>
            </a:r>
          </a:p>
          <a:p>
            <a:pPr>
              <a:spcAft>
                <a:spcPts val="800"/>
              </a:spcAft>
            </a:pPr>
            <a:r>
              <a:rPr sz="1539">
                <a:solidFill>
                  <a:srgbClr val="4F46E5"/>
                </a:solidFill>
                <a:latin typeface="Calibri"/>
              </a:rPr>
              <a:t>● </a:t>
            </a:r>
            <a:r>
              <a:rPr sz="2200">
                <a:solidFill>
                  <a:srgbClr val="1F2937"/>
                </a:solidFill>
                <a:latin typeface="Calibri"/>
              </a:rPr>
              <a:t>Até 2017: redes recorrentes, palavra por palavra; atenção (Bahdanau et al., 2015) e Transformer (Vaswani et al., 2017) mudaram isso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O mapa do capítulo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4/32</a:t>
            </a:r>
          </a:p>
        </p:txBody>
      </p:sp>
      <p:pic>
        <p:nvPicPr>
          <p:cNvPr id="7" name="Picture 6" descr="f04_mapa.png"/>
          <p:cNvPicPr>
            <a:picLocks noChangeAspect="1"/>
          </p:cNvPicPr>
          <p:nvPr/>
        </p:nvPicPr>
        <p:blipFill>
          <a:blip r:embed="rId3"/>
          <a:stretch>
            <a:fillRect/>
          </a:stretch>
        </p:blipFill>
        <p:spPr>
          <a:xfrm>
            <a:off x="1347678" y="1143000"/>
            <a:ext cx="9466164" cy="4572000"/>
          </a:xfrm>
          <a:prstGeom prst="rect">
            <a:avLst/>
          </a:prstGeom>
        </p:spPr>
      </p:pic>
      <p:sp>
        <p:nvSpPr>
          <p:cNvPr id="8" name="TextBox 7"/>
          <p:cNvSpPr txBox="1"/>
          <p:nvPr/>
        </p:nvSpPr>
        <p:spPr>
          <a:xfrm>
            <a:off x="731520" y="5806440"/>
            <a:ext cx="10698480" cy="640080"/>
          </a:xfrm>
          <a:prstGeom prst="rect">
            <a:avLst/>
          </a:prstGeom>
          <a:noFill/>
        </p:spPr>
        <p:txBody>
          <a:bodyPr wrap="square" anchor="t" lIns="45720" rIns="45720">
            <a:spAutoFit/>
          </a:bodyPr>
          <a:lstStyle/>
          <a:p>
            <a:pPr algn="ctr"/>
            <a:r>
              <a:rPr sz="1400" b="0" i="1">
                <a:solidFill>
                  <a:srgbClr val="6B7280"/>
                </a:solidFill>
                <a:latin typeface="Calibri"/>
              </a:rPr>
              <a:t>Consultas, chaves e valores alimentam a atenção; cabeças, posições, residuais e normalização compõem o bloco; blocos empilhados formam as arquiteturas.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Atenção é uma ida à biblioteca</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5/32</a:t>
            </a:r>
          </a:p>
        </p:txBody>
      </p:sp>
      <p:sp>
        <p:nvSpPr>
          <p:cNvPr id="7" name="Rounded Rectangle 6"/>
          <p:cNvSpPr/>
          <p:nvPr/>
        </p:nvSpPr>
        <p:spPr>
          <a:xfrm>
            <a:off x="640080" y="1371600"/>
            <a:ext cx="10881360" cy="2377440"/>
          </a:xfrm>
          <a:prstGeom prst="roundRect">
            <a:avLst/>
          </a:prstGeom>
          <a:solidFill>
            <a:srgbClr val="CFFAFE"/>
          </a:solidFill>
          <a:ln>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2194560"/>
          </a:xfrm>
          <a:prstGeom prst="rect">
            <a:avLst/>
          </a:prstGeom>
          <a:noFill/>
        </p:spPr>
        <p:txBody>
          <a:bodyPr wrap="square" anchor="ctr" lIns="45720" rIns="45720">
            <a:spAutoFit/>
          </a:bodyPr>
          <a:lstStyle/>
          <a:p>
            <a:pPr algn="l"/>
            <a:r>
              <a:rPr sz="2600" b="1" i="0">
                <a:solidFill>
                  <a:srgbClr val="1F2937"/>
                </a:solidFill>
                <a:latin typeface="Calibri"/>
              </a:rPr>
              <a:t>Você chega com uma pergunta, compara com as etiquetas das lombadas e lê um resumo ponderado dos conteúdos.</a:t>
            </a:r>
          </a:p>
        </p:txBody>
      </p:sp>
      <p:sp>
        <p:nvSpPr>
          <p:cNvPr id="9" name="TextBox 8"/>
          <p:cNvSpPr txBox="1"/>
          <p:nvPr/>
        </p:nvSpPr>
        <p:spPr>
          <a:xfrm>
            <a:off x="822960" y="4023360"/>
            <a:ext cx="10515600" cy="2194560"/>
          </a:xfrm>
          <a:prstGeom prst="rect">
            <a:avLst/>
          </a:prstGeom>
          <a:noFill/>
        </p:spPr>
        <p:txBody>
          <a:bodyPr wrap="square" anchor="t" lIns="45720" rIns="45720">
            <a:spAutoFit/>
          </a:bodyPr>
          <a:lstStyle/>
          <a:p>
            <a:pPr algn="l"/>
            <a:r>
              <a:rPr sz="2100" b="0" i="0">
                <a:solidFill>
                  <a:srgbClr val="1F2937"/>
                </a:solidFill>
                <a:latin typeface="Calibri"/>
              </a:rPr>
              <a:t>Pergunta = consulta (query). Etiqueta = chave (key). Conteúdo = valor (value). Mais atenção aos livros que combinam; menos aos demais.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O fluxo da atenção para um token</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6/32</a:t>
            </a:r>
          </a:p>
        </p:txBody>
      </p:sp>
      <p:pic>
        <p:nvPicPr>
          <p:cNvPr id="7" name="Picture 6" descr="f04_qkv.png"/>
          <p:cNvPicPr>
            <a:picLocks noChangeAspect="1"/>
          </p:cNvPicPr>
          <p:nvPr/>
        </p:nvPicPr>
        <p:blipFill>
          <a:blip r:embed="rId3"/>
          <a:stretch>
            <a:fillRect/>
          </a:stretch>
        </p:blipFill>
        <p:spPr>
          <a:xfrm>
            <a:off x="365760" y="1618276"/>
            <a:ext cx="7498079" cy="3621447"/>
          </a:xfrm>
          <a:prstGeom prst="rect">
            <a:avLst/>
          </a:prstGeom>
        </p:spPr>
      </p:pic>
      <p:sp>
        <p:nvSpPr>
          <p:cNvPr id="8" name="TextBox 7"/>
          <p:cNvSpPr txBox="1"/>
          <p:nvPr/>
        </p:nvSpPr>
        <p:spPr>
          <a:xfrm>
            <a:off x="8046720" y="1280160"/>
            <a:ext cx="3840480" cy="4572000"/>
          </a:xfrm>
          <a:prstGeom prst="rect">
            <a:avLst/>
          </a:prstGeom>
          <a:noFill/>
        </p:spPr>
        <p:txBody>
          <a:bodyPr wrap="square">
            <a:spAutoFit/>
          </a:bodyPr>
          <a:lstStyle/>
          <a:p>
            <a:pPr>
              <a:spcAft>
                <a:spcPts val="800"/>
              </a:spcAft>
            </a:pPr>
            <a:r>
              <a:rPr sz="1189">
                <a:solidFill>
                  <a:srgbClr val="4F46E5"/>
                </a:solidFill>
                <a:latin typeface="Calibri"/>
              </a:rPr>
              <a:t>● </a:t>
            </a:r>
            <a:r>
              <a:rPr sz="1700">
                <a:solidFill>
                  <a:srgbClr val="1F2937"/>
                </a:solidFill>
                <a:latin typeface="Calibri"/>
              </a:rPr>
              <a:t>1. Cada token gera consulta, chave e valor</a:t>
            </a:r>
          </a:p>
          <a:p>
            <a:pPr>
              <a:spcAft>
                <a:spcPts val="800"/>
              </a:spcAft>
            </a:pPr>
            <a:r>
              <a:rPr sz="1189">
                <a:solidFill>
                  <a:srgbClr val="4F46E5"/>
                </a:solidFill>
                <a:latin typeface="Calibri"/>
              </a:rPr>
              <a:t>● </a:t>
            </a:r>
            <a:r>
              <a:rPr sz="1700">
                <a:solidFill>
                  <a:srgbClr val="1F2937"/>
                </a:solidFill>
                <a:latin typeface="Calibri"/>
              </a:rPr>
              <a:t>2. Produto escalar consulta · chaves: uma pontuação por par</a:t>
            </a:r>
          </a:p>
          <a:p>
            <a:pPr>
              <a:spcAft>
                <a:spcPts val="800"/>
              </a:spcAft>
            </a:pPr>
            <a:r>
              <a:rPr sz="1189">
                <a:solidFill>
                  <a:srgbClr val="4F46E5"/>
                </a:solidFill>
                <a:latin typeface="Calibri"/>
              </a:rPr>
              <a:t>● </a:t>
            </a:r>
            <a:r>
              <a:rPr sz="1700">
                <a:solidFill>
                  <a:srgbClr val="1F2937"/>
                </a:solidFill>
                <a:latin typeface="Calibri"/>
              </a:rPr>
              <a:t>3. Softmax: pesos que somam 1</a:t>
            </a:r>
          </a:p>
          <a:p>
            <a:pPr>
              <a:spcAft>
                <a:spcPts val="800"/>
              </a:spcAft>
            </a:pPr>
            <a:r>
              <a:rPr sz="1189">
                <a:solidFill>
                  <a:srgbClr val="4F46E5"/>
                </a:solidFill>
                <a:latin typeface="Calibri"/>
              </a:rPr>
              <a:t>● </a:t>
            </a:r>
            <a:r>
              <a:rPr sz="1700">
                <a:solidFill>
                  <a:srgbClr val="1F2937"/>
                </a:solidFill>
                <a:latin typeface="Calibri"/>
              </a:rPr>
              <a:t>4. Saída: média dos valores ponderada pelos pesos</a:t>
            </a:r>
          </a:p>
        </p:txBody>
      </p:sp>
      <p:sp>
        <p:nvSpPr>
          <p:cNvPr id="9" name="TextBox 8"/>
          <p:cNvSpPr txBox="1"/>
          <p:nvPr/>
        </p:nvSpPr>
        <p:spPr>
          <a:xfrm>
            <a:off x="731520" y="5806440"/>
            <a:ext cx="10698480" cy="640080"/>
          </a:xfrm>
          <a:prstGeom prst="rect">
            <a:avLst/>
          </a:prstGeom>
          <a:noFill/>
        </p:spPr>
        <p:txBody>
          <a:bodyPr wrap="square" anchor="t" lIns="45720" rIns="45720">
            <a:spAutoFit/>
          </a:bodyPr>
          <a:lstStyle/>
          <a:p>
            <a:pPr algn="ctr"/>
            <a:r>
              <a:rPr sz="1400" b="0" i="1">
                <a:solidFill>
                  <a:srgbClr val="6B7280"/>
                </a:solidFill>
                <a:latin typeface="Calibri"/>
              </a:rPr>
              <a:t>A consulta do token é comparada com as chaves de todos; o softmax produz pesos; a saída é a soma dos valores ponderada.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 fórmula da atenção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7/32</a:t>
            </a:r>
          </a:p>
        </p:txBody>
      </p:sp>
      <p:sp>
        <p:nvSpPr>
          <p:cNvPr id="7" name="TextBox 6"/>
          <p:cNvSpPr txBox="1"/>
          <p:nvPr/>
        </p:nvSpPr>
        <p:spPr>
          <a:xfrm>
            <a:off x="731520" y="1463040"/>
            <a:ext cx="10698480" cy="2194560"/>
          </a:xfrm>
          <a:prstGeom prst="rect">
            <a:avLst/>
          </a:prstGeom>
          <a:noFill/>
        </p:spPr>
        <p:txBody>
          <a:bodyPr wrap="square" anchor="ctr" lIns="45720" rIns="45720">
            <a:spAutoFit/>
          </a:bodyPr>
          <a:lstStyle/>
          <a:p>
            <a:pPr algn="ctr"/>
            <a:r>
              <a:rPr sz="3400" b="1" i="0">
                <a:solidFill>
                  <a:srgbClr val="4F46E5"/>
                </a:solidFill>
                <a:latin typeface="Cambria Math"/>
              </a:rPr>
              <a:t>Atenção(Q, K, V) = softmax( Q Kᵀ / √dk ) V</a:t>
            </a:r>
          </a:p>
        </p:txBody>
      </p:sp>
      <p:sp>
        <p:nvSpPr>
          <p:cNvPr id="8" name="TextBox 7"/>
          <p:cNvSpPr txBox="1"/>
          <p:nvPr/>
        </p:nvSpPr>
        <p:spPr>
          <a:xfrm>
            <a:off x="731520" y="4023360"/>
            <a:ext cx="10698480" cy="2286000"/>
          </a:xfrm>
          <a:prstGeom prst="rect">
            <a:avLst/>
          </a:prstGeom>
          <a:noFill/>
        </p:spPr>
        <p:txBody>
          <a:bodyPr wrap="square">
            <a:spAutoFit/>
          </a:bodyPr>
          <a:lstStyle/>
          <a:p>
            <a:pPr>
              <a:spcAft>
                <a:spcPts val="800"/>
              </a:spcAft>
            </a:pPr>
            <a:r>
              <a:rPr sz="1400">
                <a:solidFill>
                  <a:srgbClr val="4F46E5"/>
                </a:solidFill>
                <a:latin typeface="Calibri"/>
              </a:rPr>
              <a:t>● </a:t>
            </a:r>
            <a:r>
              <a:rPr sz="2000">
                <a:solidFill>
                  <a:srgbClr val="1F2937"/>
                </a:solidFill>
                <a:latin typeface="Calibri"/>
              </a:rPr>
              <a:t>Q = X·W_Q, K = X·W_K, V = X·W_V: projeções aprendidas da entrada X (T × d)</a:t>
            </a:r>
          </a:p>
          <a:p>
            <a:pPr>
              <a:spcAft>
                <a:spcPts val="800"/>
              </a:spcAft>
            </a:pPr>
            <a:r>
              <a:rPr sz="1400">
                <a:solidFill>
                  <a:srgbClr val="4F46E5"/>
                </a:solidFill>
                <a:latin typeface="Calibri"/>
              </a:rPr>
              <a:t>● </a:t>
            </a:r>
            <a:r>
              <a:rPr sz="2000">
                <a:solidFill>
                  <a:srgbClr val="1F2937"/>
                </a:solidFill>
                <a:latin typeface="Calibri"/>
              </a:rPr>
              <a:t>Q Kᵀ: matriz T × T com a pontuação de todos os pares</a:t>
            </a:r>
          </a:p>
          <a:p>
            <a:pPr>
              <a:spcAft>
                <a:spcPts val="800"/>
              </a:spcAft>
            </a:pPr>
            <a:r>
              <a:rPr sz="1400">
                <a:solidFill>
                  <a:srgbClr val="4F46E5"/>
                </a:solidFill>
                <a:latin typeface="Calibri"/>
              </a:rPr>
              <a:t>● </a:t>
            </a:r>
            <a:r>
              <a:rPr sz="2000">
                <a:solidFill>
                  <a:srgbClr val="1F2937"/>
                </a:solidFill>
                <a:latin typeface="Calibri"/>
              </a:rPr>
              <a:t>Softmax linha a linha: cada linha vira uma distribuição de pesos</a:t>
            </a:r>
          </a:p>
          <a:p>
            <a:pPr>
              <a:spcAft>
                <a:spcPts val="800"/>
              </a:spcAft>
            </a:pPr>
            <a:r>
              <a:rPr sz="1400">
                <a:solidFill>
                  <a:srgbClr val="4F46E5"/>
                </a:solidFill>
                <a:latin typeface="Calibri"/>
              </a:rPr>
              <a:t>● </a:t>
            </a:r>
            <a:r>
              <a:rPr sz="2000">
                <a:solidFill>
                  <a:srgbClr val="1F2937"/>
                </a:solidFill>
                <a:latin typeface="Calibri"/>
              </a:rPr>
              <a:t>Multiplicar por V faz a média ponderada: um vetor por token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Por que dividir por raiz de dk?</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8/32</a:t>
            </a:r>
          </a:p>
        </p:txBody>
      </p:sp>
      <p:sp>
        <p:nvSpPr>
          <p:cNvPr id="7" name="TextBox 6"/>
          <p:cNvSpPr txBox="1"/>
          <p:nvPr/>
        </p:nvSpPr>
        <p:spPr>
          <a:xfrm>
            <a:off x="731520" y="1463040"/>
            <a:ext cx="10698480" cy="2194560"/>
          </a:xfrm>
          <a:prstGeom prst="rect">
            <a:avLst/>
          </a:prstGeom>
          <a:noFill/>
        </p:spPr>
        <p:txBody>
          <a:bodyPr wrap="square" anchor="ctr" lIns="45720" rIns="45720">
            <a:spAutoFit/>
          </a:bodyPr>
          <a:lstStyle/>
          <a:p>
            <a:pPr algn="ctr"/>
            <a:r>
              <a:rPr sz="3400" b="1" i="0">
                <a:solidFill>
                  <a:srgbClr val="4F46E5"/>
                </a:solidFill>
                <a:latin typeface="Cambria Math"/>
              </a:rPr>
              <a:t>Var(q·k) = dk     →     Var(q·k / √dk) = 1</a:t>
            </a:r>
          </a:p>
        </p:txBody>
      </p:sp>
      <p:sp>
        <p:nvSpPr>
          <p:cNvPr id="8" name="TextBox 7"/>
          <p:cNvSpPr txBox="1"/>
          <p:nvPr/>
        </p:nvSpPr>
        <p:spPr>
          <a:xfrm>
            <a:off x="731520" y="4023360"/>
            <a:ext cx="10698480" cy="2286000"/>
          </a:xfrm>
          <a:prstGeom prst="rect">
            <a:avLst/>
          </a:prstGeom>
          <a:noFill/>
        </p:spPr>
        <p:txBody>
          <a:bodyPr wrap="square">
            <a:spAutoFit/>
          </a:bodyPr>
          <a:lstStyle/>
          <a:p>
            <a:pPr>
              <a:spcAft>
                <a:spcPts val="800"/>
              </a:spcAft>
            </a:pPr>
            <a:r>
              <a:rPr sz="1400">
                <a:solidFill>
                  <a:srgbClr val="4F46E5"/>
                </a:solidFill>
                <a:latin typeface="Calibri"/>
              </a:rPr>
              <a:t>● </a:t>
            </a:r>
            <a:r>
              <a:rPr sz="2000">
                <a:solidFill>
                  <a:srgbClr val="1F2937"/>
                </a:solidFill>
                <a:latin typeface="Calibri"/>
              </a:rPr>
              <a:t>Componentes independentes, média 0 e variância 1</a:t>
            </a:r>
          </a:p>
          <a:p>
            <a:pPr>
              <a:spcAft>
                <a:spcPts val="800"/>
              </a:spcAft>
            </a:pPr>
            <a:r>
              <a:rPr sz="1400">
                <a:solidFill>
                  <a:srgbClr val="4F46E5"/>
                </a:solidFill>
                <a:latin typeface="Calibri"/>
              </a:rPr>
              <a:t>● </a:t>
            </a:r>
            <a:r>
              <a:rPr sz="2000">
                <a:solidFill>
                  <a:srgbClr val="1F2937"/>
                </a:solidFill>
                <a:latin typeface="Calibri"/>
              </a:rPr>
              <a:t>q·k é soma de dk termos: a variância cresce com dk</a:t>
            </a:r>
          </a:p>
          <a:p>
            <a:pPr>
              <a:spcAft>
                <a:spcPts val="800"/>
              </a:spcAft>
            </a:pPr>
            <a:r>
              <a:rPr sz="1400">
                <a:solidFill>
                  <a:srgbClr val="4F46E5"/>
                </a:solidFill>
                <a:latin typeface="Calibri"/>
              </a:rPr>
              <a:t>● </a:t>
            </a:r>
            <a:r>
              <a:rPr sz="2000">
                <a:solidFill>
                  <a:srgbClr val="1F2937"/>
                </a:solidFill>
                <a:latin typeface="Calibri"/>
              </a:rPr>
              <a:t>Pontuações enormes saturam o softmax: um peso perto de 1, o resto perto de 0</a:t>
            </a:r>
          </a:p>
          <a:p>
            <a:pPr>
              <a:spcAft>
                <a:spcPts val="800"/>
              </a:spcAft>
            </a:pPr>
            <a:r>
              <a:rPr sz="1400">
                <a:solidFill>
                  <a:srgbClr val="4F46E5"/>
                </a:solidFill>
                <a:latin typeface="Calibri"/>
              </a:rPr>
              <a:t>● </a:t>
            </a:r>
            <a:r>
              <a:rPr sz="2000">
                <a:solidFill>
                  <a:srgbClr val="1F2937"/>
                </a:solidFill>
                <a:latin typeface="Calibri"/>
              </a:rPr>
              <a:t>Gradientes minúsculos prejudicam o treinamento (Vaswani et al., 2017)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verificando o escalonamento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9/32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rng = np.random.default_rng(0)</a:t>
            </a:r>
          </a:p>
          <a:p>
            <a:pPr algn="l"/>
            <a:r>
              <a:rPr sz="1300" b="0" i="0">
                <a:solidFill>
                  <a:srgbClr val="E0E7FF"/>
                </a:solidFill>
                <a:latin typeface="Consolas"/>
              </a:rPr>
              <a:t>for dk in (4, 16, 64, 256, 1024):</a:t>
            </a:r>
          </a:p>
          <a:p>
            <a:pPr algn="l"/>
            <a:r>
              <a:rPr sz="1300" b="0" i="0">
                <a:solidFill>
                  <a:srgbClr val="E0E7FF"/>
                </a:solidFill>
                <a:latin typeface="Consolas"/>
              </a:rPr>
              <a:t>    q = rng.normal(size=(20000, dk)); k = rng.normal(size=(20000, dk))</a:t>
            </a:r>
          </a:p>
          <a:p>
            <a:pPr algn="l"/>
            <a:r>
              <a:rPr sz="1300" b="0" i="0">
                <a:solidFill>
                  <a:srgbClr val="E0E7FF"/>
                </a:solidFill>
                <a:latin typeface="Consolas"/>
              </a:rPr>
              <a:t>    d = (q * k).sum(axis=1)</a:t>
            </a:r>
          </a:p>
          <a:p>
            <a:pPr algn="l"/>
            <a:r>
              <a:rPr sz="1300" b="0" i="0">
                <a:solidFill>
                  <a:srgbClr val="E0E7FF"/>
                </a:solidFill>
                <a:latin typeface="Consolas"/>
              </a:rPr>
              <a:t>    print(f"{dk:&lt;5} {d.var():&gt;8.1f} {(d / np.sqrt(dk)).var():&gt;12.2f}")</a:t>
            </a:r>
          </a:p>
          <a:p>
            <a:pPr algn="l"/>
            <a:r>
              <a:rPr sz="1300" b="0" i="0">
                <a:solidFill>
                  <a:srgbClr val="E0E7FF"/>
                </a:solidFill>
                <a:latin typeface="Consolas"/>
              </a:rPr>
              <a:t/>
            </a:r>
          </a:p>
          <a:p>
            <a:pPr algn="l"/>
            <a:r>
              <a:rPr sz="1300" b="0" i="0">
                <a:solidFill>
                  <a:srgbClr val="E0E7FF"/>
                </a:solidFill>
                <a:latin typeface="Consolas"/>
              </a:rPr>
              <a:t>for dk in (4, 64, 1024):</a:t>
            </a:r>
          </a:p>
          <a:p>
            <a:pPr algn="l"/>
            <a:r>
              <a:rPr sz="1300" b="0" i="0">
                <a:solidFill>
                  <a:srgbClr val="E0E7FF"/>
                </a:solidFill>
                <a:latin typeface="Consolas"/>
              </a:rPr>
              <a:t>    q = rng.normal(size=(2000, 1, dk)); k = rng.normal(size=(2000, 10, dk))</a:t>
            </a:r>
          </a:p>
          <a:p>
            <a:pPr algn="l"/>
            <a:r>
              <a:rPr sz="1300" b="0" i="0">
                <a:solidFill>
                  <a:srgbClr val="E0E7FF"/>
                </a:solidFill>
                <a:latin typeface="Consolas"/>
              </a:rPr>
              <a:t>    s = (q * k).sum(-1)</a:t>
            </a:r>
          </a:p>
          <a:p>
            <a:pPr algn="l"/>
            <a:r>
              <a:rPr sz="1300" b="0" i="0">
                <a:solidFill>
                  <a:srgbClr val="E0E7FF"/>
                </a:solidFill>
                <a:latin typeface="Consolas"/>
              </a:rPr>
              <a:t>    print(f"{dk:&lt;5} {softmax(s).max(1).mean():&gt;10.3f} {softmax(s / np.sqrt(dk)).max(1).mean():&gt;11.3f}")</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dk    var(q·k)  var(q·k/√dk)</a:t>
            </a:r>
          </a:p>
          <a:p>
            <a:pPr algn="l"/>
            <a:r>
              <a:rPr sz="1200" b="0" i="0">
                <a:solidFill>
                  <a:srgbClr val="D1FAE5"/>
                </a:solidFill>
                <a:latin typeface="Consolas"/>
              </a:rPr>
              <a:t>4          4.0         1.00</a:t>
            </a:r>
          </a:p>
          <a:p>
            <a:pPr algn="l"/>
            <a:r>
              <a:rPr sz="1200" b="0" i="0">
                <a:solidFill>
                  <a:srgbClr val="D1FAE5"/>
                </a:solidFill>
                <a:latin typeface="Consolas"/>
              </a:rPr>
              <a:t>64        63.4         0.99</a:t>
            </a:r>
          </a:p>
          <a:p>
            <a:pPr algn="l"/>
            <a:r>
              <a:rPr sz="1200" b="0" i="0">
                <a:solidFill>
                  <a:srgbClr val="D1FAE5"/>
                </a:solidFill>
                <a:latin typeface="Consolas"/>
              </a:rPr>
              <a:t>1024    1020.0         1.00</a:t>
            </a:r>
          </a:p>
          <a:p>
            <a:pPr algn="l"/>
            <a:r>
              <a:rPr sz="1200" b="0" i="0">
                <a:solidFill>
                  <a:srgbClr val="D1FAE5"/>
                </a:solidFill>
                <a:latin typeface="Consolas"/>
              </a:rPr>
              <a:t>4         0.492       0.303</a:t>
            </a:r>
          </a:p>
          <a:p>
            <a:pPr algn="l"/>
            <a:r>
              <a:rPr sz="1200" b="0" i="0">
                <a:solidFill>
                  <a:srgbClr val="D1FAE5"/>
                </a:solidFill>
                <a:latin typeface="Consolas"/>
              </a:rPr>
              <a:t>1024      0.967       0.321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atenção com três tokens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10/32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def atencao(Q, K, V, mascara=None):</a:t>
            </a:r>
          </a:p>
          <a:p>
            <a:pPr algn="l"/>
            <a:r>
              <a:rPr sz="1300" b="0" i="0">
                <a:solidFill>
                  <a:srgbClr val="E0E7FF"/>
                </a:solidFill>
                <a:latin typeface="Consolas"/>
              </a:rPr>
              <a:t>    dk = Q.shape[-1]</a:t>
            </a:r>
          </a:p>
          <a:p>
            <a:pPr algn="l"/>
            <a:r>
              <a:rPr sz="1300" b="0" i="0">
                <a:solidFill>
                  <a:srgbClr val="E0E7FF"/>
                </a:solidFill>
                <a:latin typeface="Consolas"/>
              </a:rPr>
              <a:t>    S = Q @ K.T / np.sqrt(dk)</a:t>
            </a:r>
          </a:p>
          <a:p>
            <a:pPr algn="l"/>
            <a:r>
              <a:rPr sz="1300" b="0" i="0">
                <a:solidFill>
                  <a:srgbClr val="E0E7FF"/>
                </a:solidFill>
                <a:latin typeface="Consolas"/>
              </a:rPr>
              <a:t>    if mascara is not None:</a:t>
            </a:r>
          </a:p>
          <a:p>
            <a:pPr algn="l"/>
            <a:r>
              <a:rPr sz="1300" b="0" i="0">
                <a:solidFill>
                  <a:srgbClr val="E0E7FF"/>
                </a:solidFill>
                <a:latin typeface="Consolas"/>
              </a:rPr>
              <a:t>        S = np.where(mascara, S, -1e9)</a:t>
            </a:r>
          </a:p>
          <a:p>
            <a:pPr algn="l"/>
            <a:r>
              <a:rPr sz="1300" b="0" i="0">
                <a:solidFill>
                  <a:srgbClr val="E0E7FF"/>
                </a:solidFill>
                <a:latin typeface="Consolas"/>
              </a:rPr>
              <a:t>    A = softmax(S, axis=-1)</a:t>
            </a:r>
          </a:p>
          <a:p>
            <a:pPr algn="l"/>
            <a:r>
              <a:rPr sz="1300" b="0" i="0">
                <a:solidFill>
                  <a:srgbClr val="E0E7FF"/>
                </a:solidFill>
                <a:latin typeface="Consolas"/>
              </a:rPr>
              <a:t>    return A @ V, A</a:t>
            </a:r>
          </a:p>
          <a:p>
            <a:pPr algn="l"/>
            <a:r>
              <a:rPr sz="1300" b="0" i="0">
                <a:solidFill>
                  <a:srgbClr val="E0E7FF"/>
                </a:solidFill>
                <a:latin typeface="Consolas"/>
              </a:rPr>
              <a:t/>
            </a:r>
          </a:p>
          <a:p>
            <a:pPr algn="l"/>
            <a:r>
              <a:rPr sz="1300" b="0" i="0">
                <a:solidFill>
                  <a:srgbClr val="E0E7FF"/>
                </a:solidFill>
                <a:latin typeface="Consolas"/>
              </a:rPr>
              <a:t>Q = K = np.array([[1.0, 0.0], [0.0, 1.0], [1.0, 1.0]])</a:t>
            </a:r>
          </a:p>
          <a:p>
            <a:pPr algn="l"/>
            <a:r>
              <a:rPr sz="1300" b="0" i="0">
                <a:solidFill>
                  <a:srgbClr val="E0E7FF"/>
                </a:solidFill>
                <a:latin typeface="Consolas"/>
              </a:rPr>
              <a:t>V = np.array([[1.0, 0.0], [0.0, 2.0], [3.0, 3.0]])</a:t>
            </a:r>
          </a:p>
          <a:p>
            <a:pPr algn="l"/>
            <a:r>
              <a:rPr sz="1300" b="0" i="0">
                <a:solidFill>
                  <a:srgbClr val="E0E7FF"/>
                </a:solidFill>
                <a:latin typeface="Consolas"/>
              </a:rPr>
              <a:t>saida, pesos = atencao(Q, K, V)</a:t>
            </a:r>
          </a:p>
          <a:p>
            <a:pPr algn="l"/>
            <a:r>
              <a:rPr sz="1300" b="0" i="0">
                <a:solidFill>
                  <a:srgbClr val="E0E7FF"/>
                </a:solidFill>
                <a:latin typeface="Consolas"/>
              </a:rPr>
              <a:t>print(pesos.round(3)); print(saida.round(3))</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[[0.401 0.198 0.401]</a:t>
            </a:r>
          </a:p>
          <a:p>
            <a:pPr algn="l"/>
            <a:r>
              <a:rPr sz="1200" b="0" i="0">
                <a:solidFill>
                  <a:srgbClr val="D1FAE5"/>
                </a:solidFill>
                <a:latin typeface="Consolas"/>
              </a:rPr>
              <a:t> [0.198 0.401 0.401]</a:t>
            </a:r>
          </a:p>
          <a:p>
            <a:pPr algn="l"/>
            <a:r>
              <a:rPr sz="1200" b="0" i="0">
                <a:solidFill>
                  <a:srgbClr val="D1FAE5"/>
                </a:solidFill>
                <a:latin typeface="Consolas"/>
              </a:rPr>
              <a:t> [0.248 0.248 0.503]]</a:t>
            </a:r>
          </a:p>
          <a:p>
            <a:pPr algn="l"/>
            <a:r>
              <a:rPr sz="1200" b="0" i="0">
                <a:solidFill>
                  <a:srgbClr val="D1FAE5"/>
                </a:solidFill>
                <a:latin typeface="Consolas"/>
              </a:rPr>
              <a:t>[[1.604 1.599]</a:t>
            </a:r>
          </a:p>
          <a:p>
            <a:pPr algn="l"/>
            <a:r>
              <a:rPr sz="1200" b="0" i="0">
                <a:solidFill>
                  <a:srgbClr val="D1FAE5"/>
                </a:solidFill>
                <a:latin typeface="Consolas"/>
              </a:rPr>
              <a:t> [1.401 2.006]</a:t>
            </a:r>
          </a:p>
          <a:p>
            <a:pPr algn="l"/>
            <a:r>
              <a:rPr sz="1200" b="0" i="0">
                <a:solidFill>
                  <a:srgbClr val="D1FAE5"/>
                </a:solidFill>
                <a:latin typeface="Consolas"/>
              </a:rPr>
              <a:t> [1.759 2.007]]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Máscara causal: não vale espiar o gabarito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11/32</a:t>
            </a:r>
          </a:p>
        </p:txBody>
      </p:sp>
      <p:sp>
        <p:nvSpPr>
          <p:cNvPr id="7" name="Rounded Rectangle 6"/>
          <p:cNvSpPr/>
          <p:nvPr/>
        </p:nvSpPr>
        <p:spPr>
          <a:xfrm>
            <a:off x="640080" y="1371600"/>
            <a:ext cx="10881360" cy="2377440"/>
          </a:xfrm>
          <a:prstGeom prst="roundRect">
            <a:avLst/>
          </a:prstGeom>
          <a:solidFill>
            <a:srgbClr val="CFFAFE"/>
          </a:solidFill>
          <a:ln>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2194560"/>
          </a:xfrm>
          <a:prstGeom prst="rect">
            <a:avLst/>
          </a:prstGeom>
          <a:noFill/>
        </p:spPr>
        <p:txBody>
          <a:bodyPr wrap="square" anchor="ctr" lIns="45720" rIns="45720">
            <a:spAutoFit/>
          </a:bodyPr>
          <a:lstStyle/>
          <a:p>
            <a:pPr algn="l"/>
            <a:r>
              <a:rPr sz="2600" b="1" i="0">
                <a:solidFill>
                  <a:srgbClr val="1F2937"/>
                </a:solidFill>
                <a:latin typeface="Calibri"/>
              </a:rPr>
              <a:t>Ao prever a próxima palavra, o modelo não pode ler as palavras seguintes, como numa prova sem olhar o gabarito.</a:t>
            </a:r>
          </a:p>
        </p:txBody>
      </p:sp>
      <p:sp>
        <p:nvSpPr>
          <p:cNvPr id="9" name="TextBox 8"/>
          <p:cNvSpPr txBox="1"/>
          <p:nvPr/>
        </p:nvSpPr>
        <p:spPr>
          <a:xfrm>
            <a:off x="822960" y="4023360"/>
            <a:ext cx="10515600" cy="2194560"/>
          </a:xfrm>
          <a:prstGeom prst="rect">
            <a:avLst/>
          </a:prstGeom>
          <a:noFill/>
        </p:spPr>
        <p:txBody>
          <a:bodyPr wrap="square" anchor="t" lIns="45720" rIns="45720">
            <a:spAutoFit/>
          </a:bodyPr>
          <a:lstStyle/>
          <a:p>
            <a:pPr algn="l"/>
            <a:r>
              <a:rPr sz="2100" b="0" i="0">
                <a:solidFill>
                  <a:srgbClr val="1F2937"/>
                </a:solidFill>
                <a:latin typeface="Calibri"/>
              </a:rPr>
              <a:t>Na geração, os tokens futuros ainda não existem. No treino, vê-los seria "colar": a resposta estaria na entrada.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Máscaras: bidirecional e causal</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12/32</a:t>
            </a:r>
          </a:p>
        </p:txBody>
      </p:sp>
      <p:pic>
        <p:nvPicPr>
          <p:cNvPr id="7" name="Picture 6" descr="f04_mascara.png"/>
          <p:cNvPicPr>
            <a:picLocks noChangeAspect="1"/>
          </p:cNvPicPr>
          <p:nvPr/>
        </p:nvPicPr>
        <p:blipFill>
          <a:blip r:embed="rId3"/>
          <a:stretch>
            <a:fillRect/>
          </a:stretch>
        </p:blipFill>
        <p:spPr>
          <a:xfrm>
            <a:off x="365760" y="1402727"/>
            <a:ext cx="7498079" cy="4052546"/>
          </a:xfrm>
          <a:prstGeom prst="rect">
            <a:avLst/>
          </a:prstGeom>
        </p:spPr>
      </p:pic>
      <p:sp>
        <p:nvSpPr>
          <p:cNvPr id="8" name="TextBox 7"/>
          <p:cNvSpPr txBox="1"/>
          <p:nvPr/>
        </p:nvSpPr>
        <p:spPr>
          <a:xfrm>
            <a:off x="8046720" y="1280160"/>
            <a:ext cx="3840480" cy="4572000"/>
          </a:xfrm>
          <a:prstGeom prst="rect">
            <a:avLst/>
          </a:prstGeom>
          <a:noFill/>
        </p:spPr>
        <p:txBody>
          <a:bodyPr wrap="square">
            <a:spAutoFit/>
          </a:bodyPr>
          <a:lstStyle/>
          <a:p>
            <a:pPr>
              <a:spcAft>
                <a:spcPts val="800"/>
              </a:spcAft>
            </a:pPr>
            <a:r>
              <a:rPr sz="1189">
                <a:solidFill>
                  <a:srgbClr val="4F46E5"/>
                </a:solidFill>
                <a:latin typeface="Calibri"/>
              </a:rPr>
              <a:t>● </a:t>
            </a:r>
            <a:r>
              <a:rPr sz="1700">
                <a:solidFill>
                  <a:srgbClr val="1F2937"/>
                </a:solidFill>
                <a:latin typeface="Calibri"/>
              </a:rPr>
              <a:t>Antes do softmax, pares com j &gt; i recebem −∞</a:t>
            </a:r>
          </a:p>
          <a:p>
            <a:pPr>
              <a:spcAft>
                <a:spcPts val="800"/>
              </a:spcAft>
            </a:pPr>
            <a:r>
              <a:rPr sz="1189">
                <a:solidFill>
                  <a:srgbClr val="4F46E5"/>
                </a:solidFill>
                <a:latin typeface="Calibri"/>
              </a:rPr>
              <a:t>● </a:t>
            </a:r>
            <a:r>
              <a:rPr sz="1700">
                <a:solidFill>
                  <a:srgbClr val="1F2937"/>
                </a:solidFill>
                <a:latin typeface="Calibri"/>
              </a:rPr>
              <a:t>e^(−∞) = 0: peso zero</a:t>
            </a:r>
          </a:p>
          <a:p>
            <a:pPr>
              <a:spcAft>
                <a:spcPts val="800"/>
              </a:spcAft>
            </a:pPr>
            <a:r>
              <a:rPr sz="1189">
                <a:solidFill>
                  <a:srgbClr val="4F46E5"/>
                </a:solidFill>
                <a:latin typeface="Calibri"/>
              </a:rPr>
              <a:t>● </a:t>
            </a:r>
            <a:r>
              <a:rPr sz="1700">
                <a:solidFill>
                  <a:srgbClr val="1F2937"/>
                </a:solidFill>
                <a:latin typeface="Calibri"/>
              </a:rPr>
              <a:t>Matriz de pesos triangular inferior</a:t>
            </a:r>
          </a:p>
          <a:p>
            <a:pPr>
              <a:spcAft>
                <a:spcPts val="800"/>
              </a:spcAft>
            </a:pPr>
            <a:r>
              <a:rPr sz="1189">
                <a:solidFill>
                  <a:srgbClr val="4F46E5"/>
                </a:solidFill>
                <a:latin typeface="Calibri"/>
              </a:rPr>
              <a:t>● </a:t>
            </a:r>
            <a:r>
              <a:rPr sz="1700">
                <a:solidFill>
                  <a:srgbClr val="1F2937"/>
                </a:solidFill>
                <a:latin typeface="Calibri"/>
              </a:rPr>
              <a:t>Uma passada treina todas as posições em paralelo</a:t>
            </a:r>
          </a:p>
        </p:txBody>
      </p:sp>
      <p:sp>
        <p:nvSpPr>
          <p:cNvPr id="9" name="TextBox 8"/>
          <p:cNvSpPr txBox="1"/>
          <p:nvPr/>
        </p:nvSpPr>
        <p:spPr>
          <a:xfrm>
            <a:off x="731520" y="5806440"/>
            <a:ext cx="10698480" cy="640080"/>
          </a:xfrm>
          <a:prstGeom prst="rect">
            <a:avLst/>
          </a:prstGeom>
          <a:noFill/>
        </p:spPr>
        <p:txBody>
          <a:bodyPr wrap="square" anchor="t" lIns="45720" rIns="45720">
            <a:spAutoFit/>
          </a:bodyPr>
          <a:lstStyle/>
          <a:p>
            <a:pPr algn="ctr"/>
            <a:r>
              <a:rPr sz="1400" b="0" i="1">
                <a:solidFill>
                  <a:srgbClr val="6B7280"/>
                </a:solidFill>
                <a:latin typeface="Calibri"/>
              </a:rPr>
              <a:t>Seis tokens: no encoder todos veem todos; no decoder cada token vê só a si e aos anteriores.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atenção com máscara causal</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13/32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T = 3</a:t>
            </a:r>
          </a:p>
          <a:p>
            <a:pPr algn="l"/>
            <a:r>
              <a:rPr sz="1300" b="0" i="0">
                <a:solidFill>
                  <a:srgbClr val="E0E7FF"/>
                </a:solidFill>
                <a:latin typeface="Consolas"/>
              </a:rPr>
              <a:t>mascara = np.tril(np.ones((T, T), dtype=bool))</a:t>
            </a:r>
          </a:p>
          <a:p>
            <a:pPr algn="l"/>
            <a:r>
              <a:rPr sz="1300" b="0" i="0">
                <a:solidFill>
                  <a:srgbClr val="E0E7FF"/>
                </a:solidFill>
                <a:latin typeface="Consolas"/>
              </a:rPr>
              <a:t>saida_c, pesos_c = atencao(Q, K, V, mascara)</a:t>
            </a:r>
          </a:p>
          <a:p>
            <a:pPr algn="l"/>
            <a:r>
              <a:rPr sz="1300" b="0" i="0">
                <a:solidFill>
                  <a:srgbClr val="E0E7FF"/>
                </a:solidFill>
                <a:latin typeface="Consolas"/>
              </a:rPr>
              <a:t>print(mascara.astype(int))</a:t>
            </a:r>
          </a:p>
          <a:p>
            <a:pPr algn="l"/>
            <a:r>
              <a:rPr sz="1300" b="0" i="0">
                <a:solidFill>
                  <a:srgbClr val="E0E7FF"/>
                </a:solidFill>
                <a:latin typeface="Consolas"/>
              </a:rPr>
              <a:t>print(pesos_c.round(3))</a:t>
            </a:r>
          </a:p>
          <a:p>
            <a:pPr algn="l"/>
            <a:r>
              <a:rPr sz="1300" b="0" i="0">
                <a:solidFill>
                  <a:srgbClr val="E0E7FF"/>
                </a:solidFill>
                <a:latin typeface="Consolas"/>
              </a:rPr>
              <a:t>print(saida_c.round(3))</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[[1 0 0]</a:t>
            </a:r>
          </a:p>
          <a:p>
            <a:pPr algn="l"/>
            <a:r>
              <a:rPr sz="1200" b="0" i="0">
                <a:solidFill>
                  <a:srgbClr val="D1FAE5"/>
                </a:solidFill>
                <a:latin typeface="Consolas"/>
              </a:rPr>
              <a:t> [1 1 0]</a:t>
            </a:r>
          </a:p>
          <a:p>
            <a:pPr algn="l"/>
            <a:r>
              <a:rPr sz="1200" b="0" i="0">
                <a:solidFill>
                  <a:srgbClr val="D1FAE5"/>
                </a:solidFill>
                <a:latin typeface="Consolas"/>
              </a:rPr>
              <a:t> [1 1 1]]</a:t>
            </a:r>
          </a:p>
          <a:p>
            <a:pPr algn="l"/>
            <a:r>
              <a:rPr sz="1200" b="0" i="0">
                <a:solidFill>
                  <a:srgbClr val="D1FAE5"/>
                </a:solidFill>
                <a:latin typeface="Consolas"/>
              </a:rPr>
              <a:t>[[1.    0.    0.   ]</a:t>
            </a:r>
          </a:p>
          <a:p>
            <a:pPr algn="l"/>
            <a:r>
              <a:rPr sz="1200" b="0" i="0">
                <a:solidFill>
                  <a:srgbClr val="D1FAE5"/>
                </a:solidFill>
                <a:latin typeface="Consolas"/>
              </a:rPr>
              <a:t> [0.33  0.67  0.   ]</a:t>
            </a:r>
          </a:p>
          <a:p>
            <a:pPr algn="l"/>
            <a:r>
              <a:rPr sz="1200" b="0" i="0">
                <a:solidFill>
                  <a:srgbClr val="D1FAE5"/>
                </a:solidFill>
                <a:latin typeface="Consolas"/>
              </a:rPr>
              <a:t> [0.248 0.248 0.503]]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Várias cabeças: um comitê de leitores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14/32</a:t>
            </a:r>
          </a:p>
        </p:txBody>
      </p:sp>
      <p:sp>
        <p:nvSpPr>
          <p:cNvPr id="7" name="Rounded Rectangle 6"/>
          <p:cNvSpPr/>
          <p:nvPr/>
        </p:nvSpPr>
        <p:spPr>
          <a:xfrm>
            <a:off x="640080" y="1371600"/>
            <a:ext cx="10881360" cy="2377440"/>
          </a:xfrm>
          <a:prstGeom prst="roundRect">
            <a:avLst/>
          </a:prstGeom>
          <a:solidFill>
            <a:srgbClr val="CFFAFE"/>
          </a:solidFill>
          <a:ln>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2194560"/>
          </a:xfrm>
          <a:prstGeom prst="rect">
            <a:avLst/>
          </a:prstGeom>
          <a:noFill/>
        </p:spPr>
        <p:txBody>
          <a:bodyPr wrap="square" anchor="ctr" lIns="45720" rIns="45720">
            <a:spAutoFit/>
          </a:bodyPr>
          <a:lstStyle/>
          <a:p>
            <a:pPr algn="l"/>
            <a:r>
              <a:rPr sz="2600" b="1" i="0">
                <a:solidFill>
                  <a:srgbClr val="1F2937"/>
                </a:solidFill>
                <a:latin typeface="Calibri"/>
              </a:rPr>
              <a:t>Vários colegas leem a mesma frase, cada um atento a um aspecto: concordância, pronomes, tema.</a:t>
            </a:r>
          </a:p>
        </p:txBody>
      </p:sp>
      <p:sp>
        <p:nvSpPr>
          <p:cNvPr id="9" name="TextBox 8"/>
          <p:cNvSpPr txBox="1"/>
          <p:nvPr/>
        </p:nvSpPr>
        <p:spPr>
          <a:xfrm>
            <a:off x="822960" y="4023360"/>
            <a:ext cx="10515600" cy="2194560"/>
          </a:xfrm>
          <a:prstGeom prst="rect">
            <a:avLst/>
          </a:prstGeom>
          <a:noFill/>
        </p:spPr>
        <p:txBody>
          <a:bodyPr wrap="square" anchor="t" lIns="45720" rIns="45720">
            <a:spAutoFit/>
          </a:bodyPr>
          <a:lstStyle/>
          <a:p>
            <a:pPr algn="l"/>
            <a:r>
              <a:rPr sz="2100" b="0" i="0">
                <a:solidFill>
                  <a:srgbClr val="1F2937"/>
                </a:solidFill>
                <a:latin typeface="Calibri"/>
              </a:rPr>
              <a:t>Cada cabeça tem suas próprias matrizes W_Q, W_K, W_V e trabalha com dk = d/h. As saídas são concatenadas e misturadas por W_O.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Pesos de atenção não são explicação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15/32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Algumas cabeças têm padrões interpretáveis em alguns modelos</a:t>
            </a:r>
          </a:p>
          <a:p>
            <a:pPr>
              <a:spcAft>
                <a:spcPts val="800"/>
              </a:spcAft>
            </a:pPr>
            <a:r>
              <a:rPr sz="1539">
                <a:solidFill>
                  <a:srgbClr val="4F46E5"/>
                </a:solidFill>
                <a:latin typeface="Calibri"/>
              </a:rPr>
              <a:t>● </a:t>
            </a:r>
            <a:r>
              <a:rPr sz="2200">
                <a:solidFill>
                  <a:srgbClr val="1F2937"/>
                </a:solidFill>
                <a:latin typeface="Calibri"/>
              </a:rPr>
              <a:t>Muitas são redundantes ou difusas</a:t>
            </a:r>
          </a:p>
          <a:p>
            <a:pPr>
              <a:spcAft>
                <a:spcPts val="800"/>
              </a:spcAft>
            </a:pPr>
            <a:r>
              <a:rPr sz="1539">
                <a:solidFill>
                  <a:srgbClr val="4F46E5"/>
                </a:solidFill>
                <a:latin typeface="Calibri"/>
              </a:rPr>
              <a:t>● </a:t>
            </a:r>
            <a:r>
              <a:rPr sz="2200">
                <a:solidFill>
                  <a:srgbClr val="1F2937"/>
                </a:solidFill>
                <a:latin typeface="Calibri"/>
              </a:rPr>
              <a:t>Pesos podem ser alterados sem mudar a saída</a:t>
            </a:r>
          </a:p>
          <a:p>
            <a:pPr>
              <a:spcAft>
                <a:spcPts val="800"/>
              </a:spcAft>
            </a:pPr>
            <a:r>
              <a:rPr sz="1539">
                <a:solidFill>
                  <a:srgbClr val="4F46E5"/>
                </a:solidFill>
                <a:latin typeface="Calibri"/>
              </a:rPr>
              <a:t>● </a:t>
            </a:r>
            <a:r>
              <a:rPr sz="2200">
                <a:solidFill>
                  <a:srgbClr val="1F2937"/>
                </a:solidFill>
                <a:latin typeface="Calibri"/>
              </a:rPr>
              <a:t>Interpretação como explicação é contestada (Jain; Wallace, 2019; Wiegreffe; Pinter, 2019)</a:t>
            </a:r>
          </a:p>
          <a:p>
            <a:pPr>
              <a:spcAft>
                <a:spcPts val="800"/>
              </a:spcAft>
            </a:pPr>
            <a:r>
              <a:rPr sz="1539">
                <a:solidFill>
                  <a:srgbClr val="4F46E5"/>
                </a:solidFill>
                <a:latin typeface="Calibri"/>
              </a:rPr>
              <a:t>● </a:t>
            </a:r>
            <a:r>
              <a:rPr sz="2200">
                <a:solidFill>
                  <a:srgbClr val="1F2937"/>
                </a:solidFill>
                <a:latin typeface="Calibri"/>
              </a:rPr>
              <a:t>Use mapas de atenção como pistas, não como prova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Posições: a atenção não conhece a ordem</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16/32</a:t>
            </a:r>
          </a:p>
        </p:txBody>
      </p:sp>
      <p:sp>
        <p:nvSpPr>
          <p:cNvPr id="7" name="TextBox 6"/>
          <p:cNvSpPr txBox="1"/>
          <p:nvPr/>
        </p:nvSpPr>
        <p:spPr>
          <a:xfrm>
            <a:off x="457200" y="1280160"/>
            <a:ext cx="5303520" cy="4937760"/>
          </a:xfrm>
          <a:prstGeom prst="rect">
            <a:avLst/>
          </a:prstGeom>
          <a:noFill/>
        </p:spPr>
        <p:txBody>
          <a:bodyPr wrap="square">
            <a:spAutoFit/>
          </a:bodyPr>
          <a:lstStyle/>
          <a:p>
            <a:pPr>
              <a:spcAft>
                <a:spcPts val="800"/>
              </a:spcAft>
            </a:pPr>
            <a:r>
              <a:rPr sz="1330">
                <a:solidFill>
                  <a:srgbClr val="4F46E5"/>
                </a:solidFill>
                <a:latin typeface="Calibri"/>
              </a:rPr>
              <a:t>● </a:t>
            </a:r>
            <a:r>
              <a:rPr sz="1900">
                <a:solidFill>
                  <a:srgbClr val="1F2937"/>
                </a:solidFill>
                <a:latin typeface="Calibri"/>
              </a:rPr>
              <a:t>Embaralhar a entrada só embaralha a saída do mesmo modo</a:t>
            </a:r>
          </a:p>
          <a:p>
            <a:pPr>
              <a:spcAft>
                <a:spcPts val="800"/>
              </a:spcAft>
            </a:pPr>
            <a:r>
              <a:rPr sz="1330">
                <a:solidFill>
                  <a:srgbClr val="4F46E5"/>
                </a:solidFill>
                <a:latin typeface="Calibri"/>
              </a:rPr>
              <a:t>● </a:t>
            </a:r>
            <a:r>
              <a:rPr sz="1900">
                <a:solidFill>
                  <a:srgbClr val="1F2937"/>
                </a:solidFill>
                <a:latin typeface="Calibri"/>
              </a:rPr>
              <a:t>"O cachorro mordeu o homem" ≈ "o homem mordeu o cachorro"</a:t>
            </a:r>
          </a:p>
          <a:p>
            <a:pPr>
              <a:spcAft>
                <a:spcPts val="800"/>
              </a:spcAft>
            </a:pPr>
            <a:r>
              <a:rPr sz="1330">
                <a:solidFill>
                  <a:srgbClr val="4F46E5"/>
                </a:solidFill>
                <a:latin typeface="Calibri"/>
              </a:rPr>
              <a:t>● </a:t>
            </a:r>
            <a:r>
              <a:rPr sz="1900">
                <a:solidFill>
                  <a:srgbClr val="1F2937"/>
                </a:solidFill>
                <a:latin typeface="Calibri"/>
              </a:rPr>
              <a:t>Solução original: somar ao embedding um vetor de posição (senos e cossenos)</a:t>
            </a:r>
          </a:p>
          <a:p>
            <a:pPr>
              <a:spcAft>
                <a:spcPts val="800"/>
              </a:spcAft>
            </a:pPr>
            <a:r>
              <a:rPr sz="1330">
                <a:solidFill>
                  <a:srgbClr val="4F46E5"/>
                </a:solidFill>
                <a:latin typeface="Calibri"/>
              </a:rPr>
              <a:t>● </a:t>
            </a:r>
            <a:r>
              <a:rPr sz="1900">
                <a:solidFill>
                  <a:srgbClr val="1F2937"/>
                </a:solidFill>
                <a:latin typeface="Calibri"/>
              </a:rPr>
              <a:t>Alternativas: posições aprendidas, relativas e rotacionais (RoPE)</a:t>
            </a:r>
          </a:p>
          <a:p>
            <a:pPr>
              <a:spcAft>
                <a:spcPts val="800"/>
              </a:spcAft>
            </a:pPr>
            <a:r>
              <a:rPr sz="1330">
                <a:solidFill>
                  <a:srgbClr val="4F46E5"/>
                </a:solidFill>
                <a:latin typeface="Calibri"/>
              </a:rPr>
              <a:t>● </a:t>
            </a:r>
            <a:r>
              <a:rPr sz="1900">
                <a:solidFill>
                  <a:srgbClr val="1F2937"/>
                </a:solidFill>
                <a:latin typeface="Calibri"/>
              </a:rPr>
              <a:t>Teste no código: sem posições, a saída embaralhada é só reordenada: True</a:t>
            </a:r>
          </a:p>
        </p:txBody>
      </p:sp>
      <p:pic>
        <p:nvPicPr>
          <p:cNvPr id="8" name="Picture 7" descr="f04_posicional.png"/>
          <p:cNvPicPr>
            <a:picLocks noChangeAspect="1"/>
          </p:cNvPicPr>
          <p:nvPr/>
        </p:nvPicPr>
        <p:blipFill>
          <a:blip r:embed="rId3"/>
          <a:stretch>
            <a:fillRect/>
          </a:stretch>
        </p:blipFill>
        <p:spPr>
          <a:xfrm>
            <a:off x="5943600" y="2027454"/>
            <a:ext cx="5852160" cy="33517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Conexão residual: a rodovia da informação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17/32</a:t>
            </a:r>
          </a:p>
        </p:txBody>
      </p:sp>
      <p:sp>
        <p:nvSpPr>
          <p:cNvPr id="7" name="Rounded Rectangle 6"/>
          <p:cNvSpPr/>
          <p:nvPr/>
        </p:nvSpPr>
        <p:spPr>
          <a:xfrm>
            <a:off x="640080" y="1371600"/>
            <a:ext cx="10881360" cy="2377440"/>
          </a:xfrm>
          <a:prstGeom prst="roundRect">
            <a:avLst/>
          </a:prstGeom>
          <a:solidFill>
            <a:srgbClr val="CFFAFE"/>
          </a:solidFill>
          <a:ln>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2194560"/>
          </a:xfrm>
          <a:prstGeom prst="rect">
            <a:avLst/>
          </a:prstGeom>
          <a:noFill/>
        </p:spPr>
        <p:txBody>
          <a:bodyPr wrap="square" anchor="ctr" lIns="45720" rIns="45720">
            <a:spAutoFit/>
          </a:bodyPr>
          <a:lstStyle/>
          <a:p>
            <a:pPr algn="l"/>
            <a:r>
              <a:rPr sz="2600" b="1" i="0">
                <a:solidFill>
                  <a:srgbClr val="1F2937"/>
                </a:solidFill>
                <a:latin typeface="Calibri"/>
              </a:rPr>
              <a:t>A camada não reescreve a informação: ela só acrescenta uma correção, como um revisor que anota à margem.</a:t>
            </a:r>
          </a:p>
        </p:txBody>
      </p:sp>
      <p:sp>
        <p:nvSpPr>
          <p:cNvPr id="9" name="TextBox 8"/>
          <p:cNvSpPr txBox="1"/>
          <p:nvPr/>
        </p:nvSpPr>
        <p:spPr>
          <a:xfrm>
            <a:off x="822960" y="4023360"/>
            <a:ext cx="10515600" cy="2194560"/>
          </a:xfrm>
          <a:prstGeom prst="rect">
            <a:avLst/>
          </a:prstGeom>
          <a:noFill/>
        </p:spPr>
        <p:txBody>
          <a:bodyPr wrap="square" anchor="t" lIns="45720" rIns="45720">
            <a:spAutoFit/>
          </a:bodyPr>
          <a:lstStyle/>
          <a:p>
            <a:pPr algn="l"/>
            <a:r>
              <a:rPr sz="2100" b="0" i="0">
                <a:solidFill>
                  <a:srgbClr val="1F2937"/>
                </a:solidFill>
                <a:latin typeface="Calibri"/>
              </a:rPr>
              <a:t>y = x + F(x). A entrada atalha a camada, e o gradiente tem caminho direto até as camadas iniciais (He et al., 2016).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Normalização de camada</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18/32</a:t>
            </a:r>
          </a:p>
        </p:txBody>
      </p:sp>
      <p:sp>
        <p:nvSpPr>
          <p:cNvPr id="7" name="TextBox 6"/>
          <p:cNvSpPr txBox="1"/>
          <p:nvPr/>
        </p:nvSpPr>
        <p:spPr>
          <a:xfrm>
            <a:off x="731520" y="1463040"/>
            <a:ext cx="10698480" cy="2194560"/>
          </a:xfrm>
          <a:prstGeom prst="rect">
            <a:avLst/>
          </a:prstGeom>
          <a:noFill/>
        </p:spPr>
        <p:txBody>
          <a:bodyPr wrap="square" anchor="ctr" lIns="45720" rIns="45720">
            <a:spAutoFit/>
          </a:bodyPr>
          <a:lstStyle/>
          <a:p>
            <a:pPr algn="ctr"/>
            <a:r>
              <a:rPr sz="3400" b="1" i="0">
                <a:solidFill>
                  <a:srgbClr val="4F46E5"/>
                </a:solidFill>
                <a:latin typeface="Cambria Math"/>
              </a:rPr>
              <a:t>LN(x) = γ ⊙ (x − μ) / √(σ² + ε) + β</a:t>
            </a:r>
          </a:p>
        </p:txBody>
      </p:sp>
      <p:sp>
        <p:nvSpPr>
          <p:cNvPr id="8" name="TextBox 7"/>
          <p:cNvSpPr txBox="1"/>
          <p:nvPr/>
        </p:nvSpPr>
        <p:spPr>
          <a:xfrm>
            <a:off x="731520" y="4023360"/>
            <a:ext cx="10698480" cy="2286000"/>
          </a:xfrm>
          <a:prstGeom prst="rect">
            <a:avLst/>
          </a:prstGeom>
          <a:noFill/>
        </p:spPr>
        <p:txBody>
          <a:bodyPr wrap="square">
            <a:spAutoFit/>
          </a:bodyPr>
          <a:lstStyle/>
          <a:p>
            <a:pPr>
              <a:spcAft>
                <a:spcPts val="800"/>
              </a:spcAft>
            </a:pPr>
            <a:r>
              <a:rPr sz="1400">
                <a:solidFill>
                  <a:srgbClr val="4F46E5"/>
                </a:solidFill>
                <a:latin typeface="Calibri"/>
              </a:rPr>
              <a:t>● </a:t>
            </a:r>
            <a:r>
              <a:rPr sz="2000">
                <a:solidFill>
                  <a:srgbClr val="1F2937"/>
                </a:solidFill>
                <a:latin typeface="Calibri"/>
              </a:rPr>
              <a:t>μ e σ²: média e variância das d dimensões de cada token</a:t>
            </a:r>
          </a:p>
          <a:p>
            <a:pPr>
              <a:spcAft>
                <a:spcPts val="800"/>
              </a:spcAft>
            </a:pPr>
            <a:r>
              <a:rPr sz="1400">
                <a:solidFill>
                  <a:srgbClr val="4F46E5"/>
                </a:solidFill>
                <a:latin typeface="Calibri"/>
              </a:rPr>
              <a:t>● </a:t>
            </a:r>
            <a:r>
              <a:rPr sz="2000">
                <a:solidFill>
                  <a:srgbClr val="1F2937"/>
                </a:solidFill>
                <a:latin typeface="Calibri"/>
              </a:rPr>
              <a:t>γ e β: parâmetros aprendidos; ε evita divisão por zero</a:t>
            </a:r>
          </a:p>
          <a:p>
            <a:pPr>
              <a:spcAft>
                <a:spcPts val="800"/>
              </a:spcAft>
            </a:pPr>
            <a:r>
              <a:rPr sz="1400">
                <a:solidFill>
                  <a:srgbClr val="4F46E5"/>
                </a:solidFill>
                <a:latin typeface="Calibri"/>
              </a:rPr>
              <a:t>● </a:t>
            </a:r>
            <a:r>
              <a:rPr sz="2000">
                <a:solidFill>
                  <a:srgbClr val="1F2937"/>
                </a:solidFill>
                <a:latin typeface="Calibri"/>
              </a:rPr>
              <a:t>Resultado: média 0 e variância 1 (antes de γ e β)</a:t>
            </a:r>
          </a:p>
          <a:p>
            <a:pPr>
              <a:spcAft>
                <a:spcPts val="800"/>
              </a:spcAft>
            </a:pPr>
            <a:r>
              <a:rPr sz="1400">
                <a:solidFill>
                  <a:srgbClr val="4F46E5"/>
                </a:solidFill>
                <a:latin typeface="Calibri"/>
              </a:rPr>
              <a:t>● </a:t>
            </a:r>
            <a:r>
              <a:rPr sz="2000">
                <a:solidFill>
                  <a:srgbClr val="1F2937"/>
                </a:solidFill>
                <a:latin typeface="Calibri"/>
              </a:rPr>
              <a:t>RMSNorm omite a média (Zhang; Sennrich, 2019)</a:t>
            </a:r>
          </a:p>
          <a:p>
            <a:pPr>
              <a:spcAft>
                <a:spcPts val="800"/>
              </a:spcAft>
            </a:pPr>
            <a:r>
              <a:rPr sz="1400">
                <a:solidFill>
                  <a:srgbClr val="4F46E5"/>
                </a:solidFill>
                <a:latin typeface="Calibri"/>
              </a:rPr>
              <a:t>● </a:t>
            </a:r>
            <a:r>
              <a:rPr sz="2000">
                <a:solidFill>
                  <a:srgbClr val="1F2937"/>
                </a:solidFill>
                <a:latin typeface="Calibri"/>
              </a:rPr>
              <a:t>Pré-LN: dentro do ramo residual; costuma ser mais estável (Xiong et al., 2020)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a normalização remove a escala</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19/32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def layernorm(x, gamma=None, beta=None, eps=1e-5):</a:t>
            </a:r>
          </a:p>
          <a:p>
            <a:pPr algn="l"/>
            <a:r>
              <a:rPr sz="1300" b="0" i="0">
                <a:solidFill>
                  <a:srgbClr val="E0E7FF"/>
                </a:solidFill>
                <a:latin typeface="Consolas"/>
              </a:rPr>
              <a:t>    mu = x.mean(axis=-1, keepdims=True)</a:t>
            </a:r>
          </a:p>
          <a:p>
            <a:pPr algn="l"/>
            <a:r>
              <a:rPr sz="1300" b="0" i="0">
                <a:solidFill>
                  <a:srgbClr val="E0E7FF"/>
                </a:solidFill>
                <a:latin typeface="Consolas"/>
              </a:rPr>
              <a:t>    var = ((x - mu) ** 2).mean(axis=-1, keepdims=True)</a:t>
            </a:r>
          </a:p>
          <a:p>
            <a:pPr algn="l"/>
            <a:r>
              <a:rPr sz="1300" b="0" i="0">
                <a:solidFill>
                  <a:srgbClr val="E0E7FF"/>
                </a:solidFill>
                <a:latin typeface="Consolas"/>
              </a:rPr>
              <a:t>    y = (x - mu) / np.sqrt(var + eps)</a:t>
            </a:r>
          </a:p>
          <a:p>
            <a:pPr algn="l"/>
            <a:r>
              <a:rPr sz="1300" b="0" i="0">
                <a:solidFill>
                  <a:srgbClr val="E0E7FF"/>
                </a:solidFill>
                <a:latin typeface="Consolas"/>
              </a:rPr>
              <a:t>    return y</a:t>
            </a:r>
          </a:p>
          <a:p>
            <a:pPr algn="l"/>
            <a:r>
              <a:rPr sz="1300" b="0" i="0">
                <a:solidFill>
                  <a:srgbClr val="E0E7FF"/>
                </a:solidFill>
                <a:latin typeface="Consolas"/>
              </a:rPr>
              <a:t/>
            </a:r>
          </a:p>
          <a:p>
            <a:pPr algn="l"/>
            <a:r>
              <a:rPr sz="1300" b="0" i="0">
                <a:solidFill>
                  <a:srgbClr val="E0E7FF"/>
                </a:solidFill>
                <a:latin typeface="Consolas"/>
              </a:rPr>
              <a:t>x = np.array([[1.0, 2.0, 3.0, 4.0], [100.0, 200.0, 300.0, 400.0]])</a:t>
            </a:r>
          </a:p>
          <a:p>
            <a:pPr algn="l"/>
            <a:r>
              <a:rPr sz="1300" b="0" i="0">
                <a:solidFill>
                  <a:srgbClr val="E0E7FF"/>
                </a:solidFill>
                <a:latin typeface="Consolas"/>
              </a:rPr>
              <a:t>y = layernorm(x)</a:t>
            </a:r>
          </a:p>
          <a:p>
            <a:pPr algn="l"/>
            <a:r>
              <a:rPr sz="1300" b="0" i="0">
                <a:solidFill>
                  <a:srgbClr val="E0E7FF"/>
                </a:solidFill>
                <a:latin typeface="Consolas"/>
              </a:rPr>
              <a:t>print("LayerNorm linha 1:", y[0].round(3))</a:t>
            </a:r>
          </a:p>
          <a:p>
            <a:pPr algn="l"/>
            <a:r>
              <a:rPr sz="1300" b="0" i="0">
                <a:solidFill>
                  <a:srgbClr val="E0E7FF"/>
                </a:solidFill>
                <a:latin typeface="Consolas"/>
              </a:rPr>
              <a:t>print("LayerNorm linha 2:", y[1].round(3))</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LayerNorm linha 1: [-1.342 -0.447  0.447  1.342] | média ≈ 0.0 | desvio ≈ 1.0</a:t>
            </a:r>
          </a:p>
          <a:p>
            <a:pPr algn="l"/>
            <a:r>
              <a:rPr sz="1200" b="0" i="0">
                <a:solidFill>
                  <a:srgbClr val="D1FAE5"/>
                </a:solidFill>
                <a:latin typeface="Consolas"/>
              </a:rPr>
              <a:t>LayerNorm linha 2: [-1.342 -0.447  0.447  1.342]</a:t>
            </a:r>
          </a:p>
          <a:p>
            <a:pPr algn="l"/>
            <a:r>
              <a:rPr sz="1200" b="0" i="0">
                <a:solidFill>
                  <a:srgbClr val="D1FAE5"/>
                </a:solidFill>
                <a:latin typeface="Consolas"/>
              </a:rPr>
              <a:t>RMSNorm   linha 1: [0.365 0.73  1.095 1.461]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FFN: processar cada posição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20/32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679">
                <a:solidFill>
                  <a:srgbClr val="4F46E5"/>
                </a:solidFill>
                <a:latin typeface="Calibri"/>
              </a:rPr>
              <a:t>● </a:t>
            </a:r>
            <a:r>
              <a:rPr sz="2400">
                <a:solidFill>
                  <a:srgbClr val="1F2937"/>
                </a:solidFill>
                <a:latin typeface="Calibri"/>
              </a:rPr>
              <a:t>Rede aplicada separadamente a cada posição</a:t>
            </a:r>
          </a:p>
          <a:p>
            <a:pPr>
              <a:spcAft>
                <a:spcPts val="800"/>
              </a:spcAft>
            </a:pPr>
            <a:r>
              <a:rPr sz="1679">
                <a:solidFill>
                  <a:srgbClr val="4F46E5"/>
                </a:solidFill>
                <a:latin typeface="Calibri"/>
              </a:rPr>
              <a:t>● </a:t>
            </a:r>
            <a:r>
              <a:rPr sz="2400">
                <a:solidFill>
                  <a:srgbClr val="1F2937"/>
                </a:solidFill>
                <a:latin typeface="Calibri"/>
              </a:rPr>
              <a:t>FFN(x) = W₂ σ(W₁x + b₁) + b₂, com d_ff ≈ 4d</a:t>
            </a:r>
          </a:p>
          <a:p>
            <a:pPr>
              <a:spcAft>
                <a:spcPts val="800"/>
              </a:spcAft>
            </a:pPr>
            <a:r>
              <a:rPr sz="1679">
                <a:solidFill>
                  <a:srgbClr val="4F46E5"/>
                </a:solidFill>
                <a:latin typeface="Calibri"/>
              </a:rPr>
              <a:t>● </a:t>
            </a:r>
            <a:r>
              <a:rPr sz="2400">
                <a:solidFill>
                  <a:srgbClr val="1F2937"/>
                </a:solidFill>
                <a:latin typeface="Calibri"/>
              </a:rPr>
              <a:t>Expande a dimensão e depois a comprime</a:t>
            </a:r>
          </a:p>
          <a:p>
            <a:pPr>
              <a:spcAft>
                <a:spcPts val="800"/>
              </a:spcAft>
            </a:pPr>
            <a:r>
              <a:rPr sz="1679">
                <a:solidFill>
                  <a:srgbClr val="4F46E5"/>
                </a:solidFill>
                <a:latin typeface="Calibri"/>
              </a:rPr>
              <a:t>● </a:t>
            </a:r>
            <a:r>
              <a:rPr sz="2400">
                <a:solidFill>
                  <a:srgbClr val="1F2937"/>
                </a:solidFill>
                <a:latin typeface="Calibri"/>
              </a:rPr>
              <a:t>Sem não linearidade, as duas camadas viram uma só</a:t>
            </a:r>
          </a:p>
          <a:p>
            <a:pPr>
              <a:spcAft>
                <a:spcPts val="800"/>
              </a:spcAft>
            </a:pPr>
            <a:r>
              <a:rPr sz="1679">
                <a:solidFill>
                  <a:srgbClr val="4F46E5"/>
                </a:solidFill>
                <a:latin typeface="Calibri"/>
              </a:rPr>
              <a:t>● </a:t>
            </a:r>
            <a:r>
              <a:rPr sz="2400">
                <a:solidFill>
                  <a:srgbClr val="1F2937"/>
                </a:solidFill>
                <a:latin typeface="Calibri"/>
              </a:rPr>
              <a:t>Intuição: atenção move informação; FFN processa (não é descrição rigorosa)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O bloco Transformer e a pilha</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21/32</a:t>
            </a:r>
          </a:p>
        </p:txBody>
      </p:sp>
      <p:pic>
        <p:nvPicPr>
          <p:cNvPr id="7" name="Picture 6" descr="f04_bloco.png"/>
          <p:cNvPicPr>
            <a:picLocks noChangeAspect="1"/>
          </p:cNvPicPr>
          <p:nvPr/>
        </p:nvPicPr>
        <p:blipFill>
          <a:blip r:embed="rId3"/>
          <a:stretch>
            <a:fillRect/>
          </a:stretch>
        </p:blipFill>
        <p:spPr>
          <a:xfrm>
            <a:off x="866892" y="1143000"/>
            <a:ext cx="6495814" cy="4572000"/>
          </a:xfrm>
          <a:prstGeom prst="rect">
            <a:avLst/>
          </a:prstGeom>
        </p:spPr>
      </p:pic>
      <p:sp>
        <p:nvSpPr>
          <p:cNvPr id="8" name="TextBox 7"/>
          <p:cNvSpPr txBox="1"/>
          <p:nvPr/>
        </p:nvSpPr>
        <p:spPr>
          <a:xfrm>
            <a:off x="8046720" y="1280160"/>
            <a:ext cx="3840480" cy="4572000"/>
          </a:xfrm>
          <a:prstGeom prst="rect">
            <a:avLst/>
          </a:prstGeom>
          <a:noFill/>
        </p:spPr>
        <p:txBody>
          <a:bodyPr wrap="square">
            <a:spAutoFit/>
          </a:bodyPr>
          <a:lstStyle/>
          <a:p>
            <a:pPr>
              <a:spcAft>
                <a:spcPts val="800"/>
              </a:spcAft>
            </a:pPr>
            <a:r>
              <a:rPr sz="1189">
                <a:solidFill>
                  <a:srgbClr val="4F46E5"/>
                </a:solidFill>
                <a:latin typeface="Calibri"/>
              </a:rPr>
              <a:t>● </a:t>
            </a:r>
            <a:r>
              <a:rPr sz="1700">
                <a:solidFill>
                  <a:srgbClr val="1F2937"/>
                </a:solidFill>
                <a:latin typeface="Calibri"/>
              </a:rPr>
              <a:t>X' = X + MultiCabeça(LN(X))</a:t>
            </a:r>
          </a:p>
          <a:p>
            <a:pPr>
              <a:spcAft>
                <a:spcPts val="800"/>
              </a:spcAft>
            </a:pPr>
            <a:r>
              <a:rPr sz="1189">
                <a:solidFill>
                  <a:srgbClr val="4F46E5"/>
                </a:solidFill>
                <a:latin typeface="Calibri"/>
              </a:rPr>
              <a:t>● </a:t>
            </a:r>
            <a:r>
              <a:rPr sz="1700">
                <a:solidFill>
                  <a:srgbClr val="1F2937"/>
                </a:solidFill>
                <a:latin typeface="Calibri"/>
              </a:rPr>
              <a:t>X'' = X' + FFN(LN(X'))</a:t>
            </a:r>
          </a:p>
          <a:p>
            <a:pPr>
              <a:spcAft>
                <a:spcPts val="800"/>
              </a:spcAft>
            </a:pPr>
            <a:r>
              <a:rPr sz="1189">
                <a:solidFill>
                  <a:srgbClr val="4F46E5"/>
                </a:solidFill>
                <a:latin typeface="Calibri"/>
              </a:rPr>
              <a:t>● </a:t>
            </a:r>
            <a:r>
              <a:rPr sz="1700">
                <a:solidFill>
                  <a:srgbClr val="1F2937"/>
                </a:solidFill>
                <a:latin typeface="Calibri"/>
              </a:rPr>
              <a:t>N blocos empilhados</a:t>
            </a:r>
          </a:p>
          <a:p>
            <a:pPr>
              <a:spcAft>
                <a:spcPts val="800"/>
              </a:spcAft>
            </a:pPr>
            <a:r>
              <a:rPr sz="1189">
                <a:solidFill>
                  <a:srgbClr val="4F46E5"/>
                </a:solidFill>
                <a:latin typeface="Calibri"/>
              </a:rPr>
              <a:t>● </a:t>
            </a:r>
            <a:r>
              <a:rPr sz="1700">
                <a:solidFill>
                  <a:srgbClr val="1F2937"/>
                </a:solidFill>
                <a:latin typeface="Calibri"/>
              </a:rPr>
              <a:t>Depois: normalização final e projeção para o vocabulário (logits)</a:t>
            </a:r>
          </a:p>
        </p:txBody>
      </p:sp>
      <p:sp>
        <p:nvSpPr>
          <p:cNvPr id="9" name="TextBox 8"/>
          <p:cNvSpPr txBox="1"/>
          <p:nvPr/>
        </p:nvSpPr>
        <p:spPr>
          <a:xfrm>
            <a:off x="731520" y="5806440"/>
            <a:ext cx="10698480" cy="640080"/>
          </a:xfrm>
          <a:prstGeom prst="rect">
            <a:avLst/>
          </a:prstGeom>
          <a:noFill/>
        </p:spPr>
        <p:txBody>
          <a:bodyPr wrap="square" anchor="t" lIns="45720" rIns="45720">
            <a:spAutoFit/>
          </a:bodyPr>
          <a:lstStyle/>
          <a:p>
            <a:pPr algn="ctr"/>
            <a:r>
              <a:rPr sz="1400" b="0" i="1">
                <a:solidFill>
                  <a:srgbClr val="6B7280"/>
                </a:solidFill>
                <a:latin typeface="Calibri"/>
              </a:rPr>
              <a:t>Bloco pré-LN e pilha de um decoder. Esquema simplificado: omite vieses, dropout e detalhes.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bloco completo e teste de vazamento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22/32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rng = np.random.default_rng(3)</a:t>
            </a:r>
          </a:p>
          <a:p>
            <a:pPr algn="l"/>
            <a:r>
              <a:rPr sz="1300" b="0" i="0">
                <a:solidFill>
                  <a:srgbClr val="E0E7FF"/>
                </a:solidFill>
                <a:latin typeface="Consolas"/>
              </a:rPr>
              <a:t>T, d, h, dff = 8, 32, 4, 128</a:t>
            </a:r>
          </a:p>
          <a:p>
            <a:pPr algn="l"/>
            <a:r>
              <a:rPr sz="1300" b="0" i="0">
                <a:solidFill>
                  <a:srgbClr val="E0E7FF"/>
                </a:solidFill>
                <a:latin typeface="Consolas"/>
              </a:rPr>
              <a:t>bloco = BlocoTransformer(d, h, dff, rng)</a:t>
            </a:r>
          </a:p>
          <a:p>
            <a:pPr algn="l"/>
            <a:r>
              <a:rPr sz="1300" b="0" i="0">
                <a:solidFill>
                  <a:srgbClr val="E0E7FF"/>
                </a:solidFill>
                <a:latin typeface="Consolas"/>
              </a:rPr>
              <a:t>causal = np.tril(np.ones((T, T), dtype=bool))</a:t>
            </a:r>
          </a:p>
          <a:p>
            <a:pPr algn="l"/>
            <a:r>
              <a:rPr sz="1300" b="0" i="0">
                <a:solidFill>
                  <a:srgbClr val="E0E7FF"/>
                </a:solidFill>
                <a:latin typeface="Consolas"/>
              </a:rPr>
              <a:t>X = rng.normal(size=(T, d)); Y = bloco(X, causal)</a:t>
            </a:r>
          </a:p>
          <a:p>
            <a:pPr algn="l"/>
            <a:r>
              <a:rPr sz="1300" b="0" i="0">
                <a:solidFill>
                  <a:srgbClr val="E0E7FF"/>
                </a:solidFill>
                <a:latin typeface="Consolas"/>
              </a:rPr>
              <a:t/>
            </a:r>
          </a:p>
          <a:p>
            <a:pPr algn="l"/>
            <a:r>
              <a:rPr sz="1300" b="0" i="0">
                <a:solidFill>
                  <a:srgbClr val="E0E7FF"/>
                </a:solidFill>
                <a:latin typeface="Consolas"/>
              </a:rPr>
              <a:t>X2 = X.copy(); X2[5:] = rng.normal(size=(T - 5, d))   # muda só os tokens 6, 7 e 8</a:t>
            </a:r>
          </a:p>
          <a:p>
            <a:pPr algn="l"/>
            <a:r>
              <a:rPr sz="1300" b="0" i="0">
                <a:solidFill>
                  <a:srgbClr val="E0E7FF"/>
                </a:solidFill>
                <a:latin typeface="Consolas"/>
              </a:rPr>
              <a:t>Y2 = bloco(X2, causal)</a:t>
            </a:r>
          </a:p>
          <a:p>
            <a:pPr algn="l"/>
            <a:r>
              <a:rPr sz="1300" b="0" i="0">
                <a:solidFill>
                  <a:srgbClr val="E0E7FF"/>
                </a:solidFill>
                <a:latin typeface="Consolas"/>
              </a:rPr>
              <a:t>print("saídas dos tokens 1-5 inalteradas (causal)?", np.allclose(Y[:5], Y2[:5]))</a:t>
            </a:r>
          </a:p>
          <a:p>
            <a:pPr algn="l"/>
            <a:r>
              <a:rPr sz="1300" b="0" i="0">
                <a:solidFill>
                  <a:srgbClr val="E0E7FF"/>
                </a:solidFill>
                <a:latin typeface="Consolas"/>
              </a:rPr>
              <a:t>Yb = bloco(X, None); Yb2 = bloco(X2, None)</a:t>
            </a:r>
          </a:p>
          <a:p>
            <a:pPr algn="l"/>
            <a:r>
              <a:rPr sz="1300" b="0" i="0">
                <a:solidFill>
                  <a:srgbClr val="E0E7FF"/>
                </a:solidFill>
                <a:latin typeface="Consolas"/>
              </a:rPr>
              <a:t>print("sem máscara, os tokens 1-5 também mudam?", not np.allclose(Yb[:5], Yb2[:5]))</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formato entrada/saída: (8, 32) (8, 32)</a:t>
            </a:r>
          </a:p>
          <a:p>
            <a:pPr algn="l"/>
            <a:r>
              <a:rPr sz="1200" b="0" i="0">
                <a:solidFill>
                  <a:srgbClr val="D1FAE5"/>
                </a:solidFill>
                <a:latin typeface="Consolas"/>
              </a:rPr>
              <a:t>parâmetros do bloco: 12448 | 12·d² = 12288 (diferença = vieses)</a:t>
            </a:r>
          </a:p>
          <a:p>
            <a:pPr algn="l"/>
            <a:r>
              <a:rPr sz="1200" b="0" i="0">
                <a:solidFill>
                  <a:srgbClr val="D1FAE5"/>
                </a:solidFill>
                <a:latin typeface="Consolas"/>
              </a:rPr>
              <a:t>saídas dos tokens 1-5 inalteradas (causal)? True</a:t>
            </a:r>
          </a:p>
          <a:p>
            <a:pPr algn="l"/>
            <a:r>
              <a:rPr sz="1200" b="0" i="0">
                <a:solidFill>
                  <a:srgbClr val="D1FAE5"/>
                </a:solidFill>
                <a:latin typeface="Consolas"/>
              </a:rPr>
              <a:t>saídas dos tokens 6-8 mudaram? True</a:t>
            </a:r>
          </a:p>
          <a:p>
            <a:pPr algn="l"/>
            <a:r>
              <a:rPr sz="1200" b="0" i="0">
                <a:solidFill>
                  <a:srgbClr val="D1FAE5"/>
                </a:solidFill>
                <a:latin typeface="Consolas"/>
              </a:rPr>
              <a:t>sem máscara, os tokens 1-5 também mudam? True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Contando parâmetros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23/32</a:t>
            </a:r>
          </a:p>
        </p:txBody>
      </p:sp>
      <p:sp>
        <p:nvSpPr>
          <p:cNvPr id="7" name="TextBox 6"/>
          <p:cNvSpPr txBox="1"/>
          <p:nvPr/>
        </p:nvSpPr>
        <p:spPr>
          <a:xfrm>
            <a:off x="731520" y="1463040"/>
            <a:ext cx="10698480" cy="2194560"/>
          </a:xfrm>
          <a:prstGeom prst="rect">
            <a:avLst/>
          </a:prstGeom>
          <a:noFill/>
        </p:spPr>
        <p:txBody>
          <a:bodyPr wrap="square" anchor="ctr" lIns="45720" rIns="45720">
            <a:spAutoFit/>
          </a:bodyPr>
          <a:lstStyle/>
          <a:p>
            <a:pPr algn="ctr"/>
            <a:r>
              <a:rPr sz="3400" b="1" i="0">
                <a:solidFill>
                  <a:srgbClr val="4F46E5"/>
                </a:solidFill>
                <a:latin typeface="Cambria Math"/>
              </a:rPr>
              <a:t>N_parâm ≈ 12 · N · d² + V · d</a:t>
            </a:r>
          </a:p>
        </p:txBody>
      </p:sp>
      <p:sp>
        <p:nvSpPr>
          <p:cNvPr id="8" name="TextBox 7"/>
          <p:cNvSpPr txBox="1"/>
          <p:nvPr/>
        </p:nvSpPr>
        <p:spPr>
          <a:xfrm>
            <a:off x="731520" y="4023360"/>
            <a:ext cx="10698480" cy="2286000"/>
          </a:xfrm>
          <a:prstGeom prst="rect">
            <a:avLst/>
          </a:prstGeom>
          <a:noFill/>
        </p:spPr>
        <p:txBody>
          <a:bodyPr wrap="square">
            <a:spAutoFit/>
          </a:bodyPr>
          <a:lstStyle/>
          <a:p>
            <a:pPr>
              <a:spcAft>
                <a:spcPts val="800"/>
              </a:spcAft>
            </a:pPr>
            <a:r>
              <a:rPr sz="1400">
                <a:solidFill>
                  <a:srgbClr val="4F46E5"/>
                </a:solidFill>
                <a:latin typeface="Calibri"/>
              </a:rPr>
              <a:t>● </a:t>
            </a:r>
            <a:r>
              <a:rPr sz="2000">
                <a:solidFill>
                  <a:srgbClr val="1F2937"/>
                </a:solidFill>
                <a:latin typeface="Calibri"/>
              </a:rPr>
              <a:t>Por bloco: 4d² na atenção + 8d² na FFN = 12d²</a:t>
            </a:r>
          </a:p>
          <a:p>
            <a:pPr>
              <a:spcAft>
                <a:spcPts val="800"/>
              </a:spcAft>
            </a:pPr>
            <a:r>
              <a:rPr sz="1400">
                <a:solidFill>
                  <a:srgbClr val="4F46E5"/>
                </a:solidFill>
                <a:latin typeface="Calibri"/>
              </a:rPr>
              <a:t>● </a:t>
            </a:r>
            <a:r>
              <a:rPr sz="2000">
                <a:solidFill>
                  <a:srgbClr val="1F2937"/>
                </a:solidFill>
                <a:latin typeface="Calibri"/>
              </a:rPr>
              <a:t>Hipotético: N = 12, d = 768, V = 50.000</a:t>
            </a:r>
          </a:p>
          <a:p>
            <a:pPr>
              <a:spcAft>
                <a:spcPts val="800"/>
              </a:spcAft>
            </a:pPr>
            <a:r>
              <a:rPr sz="1400">
                <a:solidFill>
                  <a:srgbClr val="4F46E5"/>
                </a:solidFill>
                <a:latin typeface="Calibri"/>
              </a:rPr>
              <a:t>● </a:t>
            </a:r>
            <a:r>
              <a:rPr sz="2000">
                <a:solidFill>
                  <a:srgbClr val="1F2937"/>
                </a:solidFill>
                <a:latin typeface="Calibri"/>
              </a:rPr>
              <a:t>Blocos: 84,9 milhões; embeddings: 38,4 milhões</a:t>
            </a:r>
          </a:p>
          <a:p>
            <a:pPr>
              <a:spcAft>
                <a:spcPts val="800"/>
              </a:spcAft>
            </a:pPr>
            <a:r>
              <a:rPr sz="1400">
                <a:solidFill>
                  <a:srgbClr val="4F46E5"/>
                </a:solidFill>
                <a:latin typeface="Calibri"/>
              </a:rPr>
              <a:t>● </a:t>
            </a:r>
            <a:r>
              <a:rPr sz="2000">
                <a:solidFill>
                  <a:srgbClr val="1F2937"/>
                </a:solidFill>
                <a:latin typeface="Calibri"/>
              </a:rPr>
              <a:t>Total ≈ 123,3 milhões; em float16, cerca de 247 MB</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Três famílias de arquitetura</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24/32</a:t>
            </a:r>
          </a:p>
        </p:txBody>
      </p:sp>
      <p:graphicFrame>
        <p:nvGraphicFramePr>
          <p:cNvPr id="7" name="Table 6"/>
          <p:cNvGraphicFramePr>
            <a:graphicFrameLocks noGrp="1"/>
          </p:cNvGraphicFramePr>
          <p:nvPr/>
        </p:nvGraphicFramePr>
        <p:xfrm>
          <a:off x="548640" y="137160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457200">
                <a:tc>
                  <a:txBody>
                    <a:bodyPr/>
                    <a:lstStyle/>
                    <a:p>
                      <a:r>
                        <a:rPr sz="1600" b="1">
                          <a:solidFill>
                            <a:srgbClr val="FFFFFF"/>
                          </a:solidFill>
                        </a:rPr>
                        <a:t>Família</a:t>
                      </a:r>
                    </a:p>
                  </a:txBody>
                  <a:tcPr>
                    <a:solidFill>
                      <a:srgbClr val="4F46E5"/>
                    </a:solidFill>
                  </a:tcPr>
                </a:tc>
                <a:tc>
                  <a:txBody>
                    <a:bodyPr/>
                    <a:lstStyle/>
                    <a:p>
                      <a:r>
                        <a:rPr sz="1600" b="1">
                          <a:solidFill>
                            <a:srgbClr val="FFFFFF"/>
                          </a:solidFill>
                        </a:rPr>
                        <a:t>Atenção</a:t>
                      </a:r>
                    </a:p>
                  </a:txBody>
                  <a:tcPr>
                    <a:solidFill>
                      <a:srgbClr val="4F46E5"/>
                    </a:solidFill>
                  </a:tcPr>
                </a:tc>
                <a:tc>
                  <a:txBody>
                    <a:bodyPr/>
                    <a:lstStyle/>
                    <a:p>
                      <a:r>
                        <a:rPr sz="1600" b="1">
                          <a:solidFill>
                            <a:srgbClr val="FFFFFF"/>
                          </a:solidFill>
                        </a:rPr>
                        <a:t>Uso comum</a:t>
                      </a:r>
                    </a:p>
                  </a:txBody>
                  <a:tcPr>
                    <a:solidFill>
                      <a:srgbClr val="4F46E5"/>
                    </a:solidFill>
                  </a:tcPr>
                </a:tc>
                <a:tc>
                  <a:txBody>
                    <a:bodyPr/>
                    <a:lstStyle/>
                    <a:p>
                      <a:r>
                        <a:rPr sz="1600" b="1">
                          <a:solidFill>
                            <a:srgbClr val="FFFFFF"/>
                          </a:solidFill>
                        </a:rPr>
                        <a:t>Exemplo</a:t>
                      </a:r>
                    </a:p>
                  </a:txBody>
                  <a:tcPr>
                    <a:solidFill>
                      <a:srgbClr val="4F46E5"/>
                    </a:solidFill>
                  </a:tcPr>
                </a:tc>
              </a:tr>
              <a:tr h="457200">
                <a:tc>
                  <a:txBody>
                    <a:bodyPr/>
                    <a:lstStyle/>
                    <a:p>
                      <a:r>
                        <a:rPr sz="1500">
                          <a:solidFill>
                            <a:srgbClr val="1F2937"/>
                          </a:solidFill>
                        </a:rPr>
                        <a:t>Somente encoder</a:t>
                      </a:r>
                    </a:p>
                  </a:txBody>
                  <a:tcPr>
                    <a:solidFill>
                      <a:srgbClr val="F3F4F6"/>
                    </a:solidFill>
                  </a:tcPr>
                </a:tc>
                <a:tc>
                  <a:txBody>
                    <a:bodyPr/>
                    <a:lstStyle/>
                    <a:p>
                      <a:r>
                        <a:rPr sz="1500">
                          <a:solidFill>
                            <a:srgbClr val="1F2937"/>
                          </a:solidFill>
                        </a:rPr>
                        <a:t>Bidirecional</a:t>
                      </a:r>
                    </a:p>
                  </a:txBody>
                  <a:tcPr>
                    <a:solidFill>
                      <a:srgbClr val="F3F4F6"/>
                    </a:solidFill>
                  </a:tcPr>
                </a:tc>
                <a:tc>
                  <a:txBody>
                    <a:bodyPr/>
                    <a:lstStyle/>
                    <a:p>
                      <a:r>
                        <a:rPr sz="1500">
                          <a:solidFill>
                            <a:srgbClr val="1F2937"/>
                          </a:solidFill>
                        </a:rPr>
                        <a:t>Classificação, embeddings, busca</a:t>
                      </a:r>
                    </a:p>
                  </a:txBody>
                  <a:tcPr>
                    <a:solidFill>
                      <a:srgbClr val="F3F4F6"/>
                    </a:solidFill>
                  </a:tcPr>
                </a:tc>
                <a:tc>
                  <a:txBody>
                    <a:bodyPr/>
                    <a:lstStyle/>
                    <a:p>
                      <a:r>
                        <a:rPr sz="1500">
                          <a:solidFill>
                            <a:srgbClr val="1F2937"/>
                          </a:solidFill>
                        </a:rPr>
                        <a:t>BERT</a:t>
                      </a:r>
                    </a:p>
                  </a:txBody>
                  <a:tcPr>
                    <a:solidFill>
                      <a:srgbClr val="F3F4F6"/>
                    </a:solidFill>
                  </a:tcPr>
                </a:tc>
              </a:tr>
              <a:tr h="457200">
                <a:tc>
                  <a:txBody>
                    <a:bodyPr/>
                    <a:lstStyle/>
                    <a:p>
                      <a:r>
                        <a:rPr sz="1500">
                          <a:solidFill>
                            <a:srgbClr val="1F2937"/>
                          </a:solidFill>
                        </a:rPr>
                        <a:t>Somente decoder</a:t>
                      </a:r>
                    </a:p>
                  </a:txBody>
                  <a:tcPr>
                    <a:solidFill>
                      <a:srgbClr val="FFFFFF"/>
                    </a:solidFill>
                  </a:tcPr>
                </a:tc>
                <a:tc>
                  <a:txBody>
                    <a:bodyPr/>
                    <a:lstStyle/>
                    <a:p>
                      <a:r>
                        <a:rPr sz="1500">
                          <a:solidFill>
                            <a:srgbClr val="1F2937"/>
                          </a:solidFill>
                        </a:rPr>
                        <a:t>Causal</a:t>
                      </a:r>
                    </a:p>
                  </a:txBody>
                  <a:tcPr>
                    <a:solidFill>
                      <a:srgbClr val="FFFFFF"/>
                    </a:solidFill>
                  </a:tcPr>
                </a:tc>
                <a:tc>
                  <a:txBody>
                    <a:bodyPr/>
                    <a:lstStyle/>
                    <a:p>
                      <a:r>
                        <a:rPr sz="1500">
                          <a:solidFill>
                            <a:srgbClr val="1F2937"/>
                          </a:solidFill>
                        </a:rPr>
                        <a:t>Geração; base dos LLMs de conversação</a:t>
                      </a:r>
                    </a:p>
                  </a:txBody>
                  <a:tcPr>
                    <a:solidFill>
                      <a:srgbClr val="FFFFFF"/>
                    </a:solidFill>
                  </a:tcPr>
                </a:tc>
                <a:tc>
                  <a:txBody>
                    <a:bodyPr/>
                    <a:lstStyle/>
                    <a:p>
                      <a:r>
                        <a:rPr sz="1500">
                          <a:solidFill>
                            <a:srgbClr val="1F2937"/>
                          </a:solidFill>
                        </a:rPr>
                        <a:t>Família GPT</a:t>
                      </a:r>
                    </a:p>
                  </a:txBody>
                  <a:tcPr>
                    <a:solidFill>
                      <a:srgbClr val="FFFFFF"/>
                    </a:solidFill>
                  </a:tcPr>
                </a:tc>
              </a:tr>
              <a:tr h="457200">
                <a:tc>
                  <a:txBody>
                    <a:bodyPr/>
                    <a:lstStyle/>
                    <a:p>
                      <a:r>
                        <a:rPr sz="1500">
                          <a:solidFill>
                            <a:srgbClr val="1F2937"/>
                          </a:solidFill>
                        </a:rPr>
                        <a:t>Encoder-decoder</a:t>
                      </a:r>
                    </a:p>
                  </a:txBody>
                  <a:tcPr>
                    <a:solidFill>
                      <a:srgbClr val="F3F4F6"/>
                    </a:solidFill>
                  </a:tcPr>
                </a:tc>
                <a:tc>
                  <a:txBody>
                    <a:bodyPr/>
                    <a:lstStyle/>
                    <a:p>
                      <a:r>
                        <a:rPr sz="1500">
                          <a:solidFill>
                            <a:srgbClr val="1F2937"/>
                          </a:solidFill>
                        </a:rPr>
                        <a:t>Encoder bidirecional; decoder causal com atenção cruzada</a:t>
                      </a:r>
                    </a:p>
                  </a:txBody>
                  <a:tcPr>
                    <a:solidFill>
                      <a:srgbClr val="F3F4F6"/>
                    </a:solidFill>
                  </a:tcPr>
                </a:tc>
                <a:tc>
                  <a:txBody>
                    <a:bodyPr/>
                    <a:lstStyle/>
                    <a:p>
                      <a:r>
                        <a:rPr sz="1500">
                          <a:solidFill>
                            <a:srgbClr val="1F2937"/>
                          </a:solidFill>
                        </a:rPr>
                        <a:t>Tradução, resumo</a:t>
                      </a:r>
                    </a:p>
                  </a:txBody>
                  <a:tcPr>
                    <a:solidFill>
                      <a:srgbClr val="F3F4F6"/>
                    </a:solidFill>
                  </a:tcPr>
                </a:tc>
                <a:tc>
                  <a:txBody>
                    <a:bodyPr/>
                    <a:lstStyle/>
                    <a:p>
                      <a:r>
                        <a:rPr sz="1500">
                          <a:solidFill>
                            <a:srgbClr val="1F2937"/>
                          </a:solidFill>
                        </a:rPr>
                        <a:t>T5, BART</a:t>
                      </a:r>
                    </a:p>
                  </a:txBody>
                  <a:tcPr>
                    <a:solidFill>
                      <a:srgbClr val="F3F4F6"/>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o custo quadrático da atenção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25/32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def memoria_scores_gb(T, h, bytes_por_elem=2):</a:t>
            </a:r>
          </a:p>
          <a:p>
            <a:pPr algn="l"/>
            <a:r>
              <a:rPr sz="1300" b="0" i="0">
                <a:solidFill>
                  <a:srgbClr val="E0E7FF"/>
                </a:solidFill>
                <a:latin typeface="Consolas"/>
              </a:rPr>
              <a:t>    return T * T * h * bytes_por_elem / 1e9</a:t>
            </a:r>
          </a:p>
          <a:p>
            <a:pPr algn="l"/>
            <a:r>
              <a:rPr sz="1300" b="0" i="0">
                <a:solidFill>
                  <a:srgbClr val="E0E7FF"/>
                </a:solidFill>
                <a:latin typeface="Consolas"/>
              </a:rPr>
              <a:t/>
            </a:r>
          </a:p>
          <a:p>
            <a:pPr algn="l"/>
            <a:r>
              <a:rPr sz="1300" b="0" i="0">
                <a:solidFill>
                  <a:srgbClr val="E0E7FF"/>
                </a:solidFill>
                <a:latin typeface="Consolas"/>
              </a:rPr>
              <a:t>for T in (1024, 4096, 16384):</a:t>
            </a:r>
          </a:p>
          <a:p>
            <a:pPr algn="l"/>
            <a:r>
              <a:rPr sz="1300" b="0" i="0">
                <a:solidFill>
                  <a:srgbClr val="E0E7FF"/>
                </a:solidFill>
                <a:latin typeface="Consolas"/>
              </a:rPr>
              <a:t>    print(f"T = {T:&gt;6}: matriz de pontuações (h=32, float16, uma camada) = {memoria_scores_gb(T, 32):8.2f} GB")</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T =   1024: matriz de pontuações (h=32, float16, uma camada) =     0.07 GB</a:t>
            </a:r>
          </a:p>
          <a:p>
            <a:pPr algn="l"/>
            <a:r>
              <a:rPr sz="1200" b="0" i="0">
                <a:solidFill>
                  <a:srgbClr val="D1FAE5"/>
                </a:solidFill>
                <a:latin typeface="Consolas"/>
              </a:rPr>
              <a:t>T =   4096: matriz de pontuações (h=32, float16, uma camada) =     1.07 GB</a:t>
            </a:r>
          </a:p>
          <a:p>
            <a:pPr algn="l"/>
            <a:r>
              <a:rPr sz="1200" b="0" i="0">
                <a:solidFill>
                  <a:srgbClr val="D1FAE5"/>
                </a:solidFill>
                <a:latin typeface="Consolas"/>
              </a:rPr>
              <a:t>T =  16384: matriz de pontuações (h=32, float16, uma camada) =    17.18 GB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Erros frequentes e limitações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26/32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Esquecer o fator 1/√dk</a:t>
            </a:r>
          </a:p>
          <a:p>
            <a:pPr>
              <a:spcAft>
                <a:spcPts val="800"/>
              </a:spcAft>
            </a:pPr>
            <a:r>
              <a:rPr sz="1539">
                <a:solidFill>
                  <a:srgbClr val="4F46E5"/>
                </a:solidFill>
                <a:latin typeface="Calibri"/>
              </a:rPr>
              <a:t>● </a:t>
            </a:r>
            <a:r>
              <a:rPr sz="2200">
                <a:solidFill>
                  <a:srgbClr val="1F2937"/>
                </a:solidFill>
                <a:latin typeface="Calibri"/>
              </a:rPr>
              <a:t>Softmax no eixo errado</a:t>
            </a:r>
          </a:p>
          <a:p>
            <a:pPr>
              <a:spcAft>
                <a:spcPts val="800"/>
              </a:spcAft>
            </a:pPr>
            <a:r>
              <a:rPr sz="1539">
                <a:solidFill>
                  <a:srgbClr val="4F46E5"/>
                </a:solidFill>
                <a:latin typeface="Calibri"/>
              </a:rPr>
              <a:t>● </a:t>
            </a:r>
            <a:r>
              <a:rPr sz="2200">
                <a:solidFill>
                  <a:srgbClr val="1F2937"/>
                </a:solidFill>
                <a:latin typeface="Calibri"/>
              </a:rPr>
              <a:t>Máscara aplicada depois do softmax, ou invertida</a:t>
            </a:r>
          </a:p>
          <a:p>
            <a:pPr>
              <a:spcAft>
                <a:spcPts val="800"/>
              </a:spcAft>
            </a:pPr>
            <a:r>
              <a:rPr sz="1539">
                <a:solidFill>
                  <a:srgbClr val="4F46E5"/>
                </a:solidFill>
                <a:latin typeface="Calibri"/>
              </a:rPr>
              <a:t>● </a:t>
            </a:r>
            <a:r>
              <a:rPr sz="2200">
                <a:solidFill>
                  <a:srgbClr val="1F2937"/>
                </a:solidFill>
                <a:latin typeface="Calibri"/>
              </a:rPr>
              <a:t>Confundir dimensões: dk por cabeça é d/h, não d</a:t>
            </a:r>
          </a:p>
          <a:p>
            <a:pPr>
              <a:spcAft>
                <a:spcPts val="800"/>
              </a:spcAft>
            </a:pPr>
            <a:r>
              <a:rPr sz="1539">
                <a:solidFill>
                  <a:srgbClr val="4F46E5"/>
                </a:solidFill>
                <a:latin typeface="Calibri"/>
              </a:rPr>
              <a:t>● </a:t>
            </a:r>
            <a:r>
              <a:rPr sz="2200">
                <a:solidFill>
                  <a:srgbClr val="1F2937"/>
                </a:solidFill>
                <a:latin typeface="Calibri"/>
              </a:rPr>
              <a:t>Esquecer as posições, ou ignorar o custo quadrático</a:t>
            </a:r>
          </a:p>
          <a:p>
            <a:pPr>
              <a:spcAft>
                <a:spcPts val="800"/>
              </a:spcAft>
            </a:pPr>
            <a:r>
              <a:rPr sz="1539">
                <a:solidFill>
                  <a:srgbClr val="4F46E5"/>
                </a:solidFill>
                <a:latin typeface="Calibri"/>
              </a:rPr>
              <a:t>● </a:t>
            </a:r>
            <a:r>
              <a:rPr sz="2200">
                <a:solidFill>
                  <a:srgbClr val="1F2937"/>
                </a:solidFill>
                <a:latin typeface="Calibri"/>
              </a:rPr>
              <a:t>Exemplos com pesos aleatórios: mecânica, não comportamento real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Mãos à obra: atenção do zero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27/32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260">
                <a:solidFill>
                  <a:srgbClr val="4F46E5"/>
                </a:solidFill>
                <a:latin typeface="Calibri"/>
              </a:rPr>
              <a:t>● </a:t>
            </a:r>
            <a:r>
              <a:rPr sz="1800">
                <a:solidFill>
                  <a:srgbClr val="1F2937"/>
                </a:solidFill>
                <a:latin typeface="Calibri"/>
              </a:rPr>
              <a:t>1. Implemente atencao(Q, K, V, mascara) e teste com os valores do exemplo</a:t>
            </a:r>
          </a:p>
          <a:p>
            <a:pPr>
              <a:spcAft>
                <a:spcPts val="800"/>
              </a:spcAft>
            </a:pPr>
            <a:r>
              <a:rPr sz="1260">
                <a:solidFill>
                  <a:srgbClr val="4F46E5"/>
                </a:solidFill>
                <a:latin typeface="Calibri"/>
              </a:rPr>
              <a:t>● </a:t>
            </a:r>
            <a:r>
              <a:rPr sz="1800">
                <a:solidFill>
                  <a:srgbClr val="1F2937"/>
                </a:solidFill>
                <a:latin typeface="Calibri"/>
              </a:rPr>
              <a:t>2. Gere 6 tokens aleatórios de dimensão 8, projete em Q, K, V e calcule pesos com e sem máscara</a:t>
            </a:r>
          </a:p>
          <a:p>
            <a:pPr>
              <a:spcAft>
                <a:spcPts val="800"/>
              </a:spcAft>
            </a:pPr>
            <a:r>
              <a:rPr sz="1260">
                <a:solidFill>
                  <a:srgbClr val="4F46E5"/>
                </a:solidFill>
                <a:latin typeface="Calibri"/>
              </a:rPr>
              <a:t>● </a:t>
            </a:r>
            <a:r>
              <a:rPr sz="1800">
                <a:solidFill>
                  <a:srgbClr val="1F2937"/>
                </a:solidFill>
                <a:latin typeface="Calibri"/>
              </a:rPr>
              <a:t>3. Mostre a matriz de pesos com matplotlib.pyplot.imshow</a:t>
            </a:r>
          </a:p>
          <a:p>
            <a:pPr>
              <a:spcAft>
                <a:spcPts val="800"/>
              </a:spcAft>
            </a:pPr>
            <a:r>
              <a:rPr sz="1260">
                <a:solidFill>
                  <a:srgbClr val="4F46E5"/>
                </a:solidFill>
                <a:latin typeface="Calibri"/>
              </a:rPr>
              <a:t>● </a:t>
            </a:r>
            <a:r>
              <a:rPr sz="1800">
                <a:solidFill>
                  <a:srgbClr val="1F2937"/>
                </a:solidFill>
                <a:latin typeface="Calibri"/>
              </a:rPr>
              <a:t>4. Teste automaticamente: com máscara, alterar o token 6 não muda os tokens 1 a 5</a:t>
            </a:r>
          </a:p>
          <a:p>
            <a:pPr>
              <a:spcAft>
                <a:spcPts val="800"/>
              </a:spcAft>
            </a:pPr>
            <a:r>
              <a:rPr sz="1260">
                <a:solidFill>
                  <a:srgbClr val="4F46E5"/>
                </a:solidFill>
                <a:latin typeface="Calibri"/>
              </a:rPr>
              <a:t>● </a:t>
            </a:r>
            <a:r>
              <a:rPr sz="1800">
                <a:solidFill>
                  <a:srgbClr val="1F2937"/>
                </a:solidFill>
                <a:latin typeface="Calibri"/>
              </a:rPr>
              <a:t>5. Some a codificação posicional senoidal e confirme que embaralhar deixa de ser só reordenar</a:t>
            </a:r>
          </a:p>
          <a:p>
            <a:pPr>
              <a:spcAft>
                <a:spcPts val="800"/>
              </a:spcAft>
            </a:pPr>
            <a:r>
              <a:rPr sz="1260">
                <a:solidFill>
                  <a:srgbClr val="4F46E5"/>
                </a:solidFill>
                <a:latin typeface="Calibri"/>
              </a:rPr>
              <a:t>● </a:t>
            </a:r>
            <a:r>
              <a:rPr sz="1800">
                <a:solidFill>
                  <a:srgbClr val="1F2937"/>
                </a:solidFill>
                <a:latin typeface="Calibri"/>
              </a:rPr>
              <a:t>6. Escreva por que o teste do passo 4 importa em modelos de geração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Pare e pense: raiz de dk</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28/32</a:t>
            </a:r>
          </a:p>
        </p:txBody>
      </p:sp>
      <p:sp>
        <p:nvSpPr>
          <p:cNvPr id="7" name="TextBox 6"/>
          <p:cNvSpPr txBox="1"/>
          <p:nvPr/>
        </p:nvSpPr>
        <p:spPr>
          <a:xfrm>
            <a:off x="731520" y="1280160"/>
            <a:ext cx="10698480" cy="1188720"/>
          </a:xfrm>
          <a:prstGeom prst="rect">
            <a:avLst/>
          </a:prstGeom>
          <a:noFill/>
        </p:spPr>
        <p:txBody>
          <a:bodyPr wrap="square" anchor="t" lIns="45720" rIns="45720">
            <a:spAutoFit/>
          </a:bodyPr>
          <a:lstStyle/>
          <a:p>
            <a:pPr algn="l"/>
            <a:r>
              <a:rPr sz="2400" b="1" i="0">
                <a:solidFill>
                  <a:srgbClr val="1F2937"/>
                </a:solidFill>
                <a:latin typeface="Calibri"/>
              </a:rPr>
              <a:t>Por que as pontuações são divididas por √dk?</a:t>
            </a:r>
          </a:p>
        </p:txBody>
      </p:sp>
      <p:sp>
        <p:nvSpPr>
          <p:cNvPr id="8" name="Rounded Rectangle 7"/>
          <p:cNvSpPr/>
          <p:nvPr/>
        </p:nvSpPr>
        <p:spPr>
          <a:xfrm>
            <a:off x="731520" y="2560320"/>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0320"/>
            <a:ext cx="10332720" cy="621792"/>
          </a:xfrm>
          <a:prstGeom prst="rect">
            <a:avLst/>
          </a:prstGeom>
          <a:noFill/>
        </p:spPr>
        <p:txBody>
          <a:bodyPr wrap="square" anchor="ctr" lIns="45720" rIns="45720">
            <a:spAutoFit/>
          </a:bodyPr>
          <a:lstStyle/>
          <a:p>
            <a:pPr algn="l"/>
            <a:r>
              <a:rPr sz="1800" b="0" i="0">
                <a:solidFill>
                  <a:srgbClr val="1F2937"/>
                </a:solidFill>
                <a:latin typeface="Calibri"/>
              </a:rPr>
              <a:t>A)  Para que a soma dos pesos seja igual a dk</a:t>
            </a:r>
          </a:p>
        </p:txBody>
      </p:sp>
      <p:sp>
        <p:nvSpPr>
          <p:cNvPr id="10" name="Rounded Rectangle 9"/>
          <p:cNvSpPr/>
          <p:nvPr/>
        </p:nvSpPr>
        <p:spPr>
          <a:xfrm>
            <a:off x="731520" y="3273552"/>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73552"/>
            <a:ext cx="10332720" cy="621792"/>
          </a:xfrm>
          <a:prstGeom prst="rect">
            <a:avLst/>
          </a:prstGeom>
          <a:noFill/>
        </p:spPr>
        <p:txBody>
          <a:bodyPr wrap="square" anchor="ctr" lIns="45720" rIns="45720">
            <a:spAutoFit/>
          </a:bodyPr>
          <a:lstStyle/>
          <a:p>
            <a:pPr algn="l"/>
            <a:r>
              <a:rPr sz="1800" b="0" i="0">
                <a:solidFill>
                  <a:srgbClr val="1F2937"/>
                </a:solidFill>
                <a:latin typeface="Calibri"/>
              </a:rPr>
              <a:t>B)  Para aumentar o número de parâmetros</a:t>
            </a:r>
          </a:p>
        </p:txBody>
      </p:sp>
      <p:sp>
        <p:nvSpPr>
          <p:cNvPr id="12" name="Rounded Rectangle 11"/>
          <p:cNvSpPr/>
          <p:nvPr/>
        </p:nvSpPr>
        <p:spPr>
          <a:xfrm>
            <a:off x="731520" y="3986783"/>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86783"/>
            <a:ext cx="10332720" cy="621792"/>
          </a:xfrm>
          <a:prstGeom prst="rect">
            <a:avLst/>
          </a:prstGeom>
          <a:noFill/>
        </p:spPr>
        <p:txBody>
          <a:bodyPr wrap="square" anchor="ctr" lIns="45720" rIns="45720">
            <a:spAutoFit/>
          </a:bodyPr>
          <a:lstStyle/>
          <a:p>
            <a:pPr algn="l"/>
            <a:r>
              <a:rPr sz="1800" b="0" i="0">
                <a:solidFill>
                  <a:srgbClr val="1F2937"/>
                </a:solidFill>
                <a:latin typeface="Calibri"/>
              </a:rPr>
              <a:t>C)  Para manter a variância das pontuações perto de 1, evitando a saturação do softmax</a:t>
            </a:r>
          </a:p>
        </p:txBody>
      </p:sp>
      <p:sp>
        <p:nvSpPr>
          <p:cNvPr id="14" name="Rounded Rectangle 13"/>
          <p:cNvSpPr/>
          <p:nvPr/>
        </p:nvSpPr>
        <p:spPr>
          <a:xfrm>
            <a:off x="731520" y="4700016"/>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00016"/>
            <a:ext cx="10332720" cy="621792"/>
          </a:xfrm>
          <a:prstGeom prst="rect">
            <a:avLst/>
          </a:prstGeom>
          <a:noFill/>
        </p:spPr>
        <p:txBody>
          <a:bodyPr wrap="square" anchor="ctr" lIns="45720" rIns="45720">
            <a:spAutoFit/>
          </a:bodyPr>
          <a:lstStyle/>
          <a:p>
            <a:pPr algn="l"/>
            <a:r>
              <a:rPr sz="1800" b="0" i="0">
                <a:solidFill>
                  <a:srgbClr val="1F2937"/>
                </a:solidFill>
                <a:latin typeface="Calibri"/>
              </a:rPr>
              <a:t>D)  Para que as pontuações fiquem sempre negativas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Pare e pense: máscara causal</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29/32</a:t>
            </a:r>
          </a:p>
        </p:txBody>
      </p:sp>
      <p:sp>
        <p:nvSpPr>
          <p:cNvPr id="7" name="TextBox 6"/>
          <p:cNvSpPr txBox="1"/>
          <p:nvPr/>
        </p:nvSpPr>
        <p:spPr>
          <a:xfrm>
            <a:off x="731520" y="1280160"/>
            <a:ext cx="10698480" cy="1188720"/>
          </a:xfrm>
          <a:prstGeom prst="rect">
            <a:avLst/>
          </a:prstGeom>
          <a:noFill/>
        </p:spPr>
        <p:txBody>
          <a:bodyPr wrap="square" anchor="t" lIns="45720" rIns="45720">
            <a:spAutoFit/>
          </a:bodyPr>
          <a:lstStyle/>
          <a:p>
            <a:pPr algn="l"/>
            <a:r>
              <a:rPr sz="2400" b="1" i="0">
                <a:solidFill>
                  <a:srgbClr val="1F2937"/>
                </a:solidFill>
                <a:latin typeface="Calibri"/>
              </a:rPr>
              <a:t>Como a máscara causal é implementada na prática?</a:t>
            </a:r>
          </a:p>
        </p:txBody>
      </p:sp>
      <p:sp>
        <p:nvSpPr>
          <p:cNvPr id="8" name="Rounded Rectangle 7"/>
          <p:cNvSpPr/>
          <p:nvPr/>
        </p:nvSpPr>
        <p:spPr>
          <a:xfrm>
            <a:off x="731520" y="2560320"/>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0320"/>
            <a:ext cx="10332720" cy="621792"/>
          </a:xfrm>
          <a:prstGeom prst="rect">
            <a:avLst/>
          </a:prstGeom>
          <a:noFill/>
        </p:spPr>
        <p:txBody>
          <a:bodyPr wrap="square" anchor="ctr" lIns="45720" rIns="45720">
            <a:spAutoFit/>
          </a:bodyPr>
          <a:lstStyle/>
          <a:p>
            <a:pPr algn="l"/>
            <a:r>
              <a:rPr sz="1800" b="0" i="0">
                <a:solidFill>
                  <a:srgbClr val="1F2937"/>
                </a:solidFill>
                <a:latin typeface="Calibri"/>
              </a:rPr>
              <a:t>A)  Zerando os pesos depois do softmax, sem renormalizar</a:t>
            </a:r>
          </a:p>
        </p:txBody>
      </p:sp>
      <p:sp>
        <p:nvSpPr>
          <p:cNvPr id="10" name="Rounded Rectangle 9"/>
          <p:cNvSpPr/>
          <p:nvPr/>
        </p:nvSpPr>
        <p:spPr>
          <a:xfrm>
            <a:off x="731520" y="3273552"/>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73552"/>
            <a:ext cx="10332720" cy="621792"/>
          </a:xfrm>
          <a:prstGeom prst="rect">
            <a:avLst/>
          </a:prstGeom>
          <a:noFill/>
        </p:spPr>
        <p:txBody>
          <a:bodyPr wrap="square" anchor="ctr" lIns="45720" rIns="45720">
            <a:spAutoFit/>
          </a:bodyPr>
          <a:lstStyle/>
          <a:p>
            <a:pPr algn="l"/>
            <a:r>
              <a:rPr sz="1800" b="0" i="0">
                <a:solidFill>
                  <a:srgbClr val="1F2937"/>
                </a:solidFill>
                <a:latin typeface="Calibri"/>
              </a:rPr>
              <a:t>B)  Removendo os últimos tokens da sequência</a:t>
            </a:r>
          </a:p>
        </p:txBody>
      </p:sp>
      <p:sp>
        <p:nvSpPr>
          <p:cNvPr id="12" name="Rounded Rectangle 11"/>
          <p:cNvSpPr/>
          <p:nvPr/>
        </p:nvSpPr>
        <p:spPr>
          <a:xfrm>
            <a:off x="731520" y="3986783"/>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86783"/>
            <a:ext cx="10332720" cy="621792"/>
          </a:xfrm>
          <a:prstGeom prst="rect">
            <a:avLst/>
          </a:prstGeom>
          <a:noFill/>
        </p:spPr>
        <p:txBody>
          <a:bodyPr wrap="square" anchor="ctr" lIns="45720" rIns="45720">
            <a:spAutoFit/>
          </a:bodyPr>
          <a:lstStyle/>
          <a:p>
            <a:pPr algn="l"/>
            <a:r>
              <a:rPr sz="1800" b="0" i="0">
                <a:solidFill>
                  <a:srgbClr val="1F2937"/>
                </a:solidFill>
                <a:latin typeface="Calibri"/>
              </a:rPr>
              <a:t>C)  Trocando por um número muito negativo as pontuações dos pares em que o token consultado vem depois, antes do softmax</a:t>
            </a:r>
          </a:p>
        </p:txBody>
      </p:sp>
      <p:sp>
        <p:nvSpPr>
          <p:cNvPr id="14" name="Rounded Rectangle 13"/>
          <p:cNvSpPr/>
          <p:nvPr/>
        </p:nvSpPr>
        <p:spPr>
          <a:xfrm>
            <a:off x="731520" y="4700016"/>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00016"/>
            <a:ext cx="10332720" cy="621792"/>
          </a:xfrm>
          <a:prstGeom prst="rect">
            <a:avLst/>
          </a:prstGeom>
          <a:noFill/>
        </p:spPr>
        <p:txBody>
          <a:bodyPr wrap="square" anchor="ctr" lIns="45720" rIns="45720">
            <a:spAutoFit/>
          </a:bodyPr>
          <a:lstStyle/>
          <a:p>
            <a:pPr algn="l"/>
            <a:r>
              <a:rPr sz="1800" b="0" i="0">
                <a:solidFill>
                  <a:srgbClr val="1F2937"/>
                </a:solidFill>
                <a:latin typeface="Calibri"/>
              </a:rPr>
              <a:t>D)  Reduzindo a dimensão dk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Pare e pense: contexto mais longo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30/32</a:t>
            </a:r>
          </a:p>
        </p:txBody>
      </p:sp>
      <p:sp>
        <p:nvSpPr>
          <p:cNvPr id="7" name="TextBox 6"/>
          <p:cNvSpPr txBox="1"/>
          <p:nvPr/>
        </p:nvSpPr>
        <p:spPr>
          <a:xfrm>
            <a:off x="731520" y="1280160"/>
            <a:ext cx="10698480" cy="1188720"/>
          </a:xfrm>
          <a:prstGeom prst="rect">
            <a:avLst/>
          </a:prstGeom>
          <a:noFill/>
        </p:spPr>
        <p:txBody>
          <a:bodyPr wrap="square" anchor="t" lIns="45720" rIns="45720">
            <a:spAutoFit/>
          </a:bodyPr>
          <a:lstStyle/>
          <a:p>
            <a:pPr algn="l"/>
            <a:r>
              <a:rPr sz="2400" b="1" i="0">
                <a:solidFill>
                  <a:srgbClr val="1F2937"/>
                </a:solidFill>
                <a:latin typeface="Calibri"/>
              </a:rPr>
              <a:t>Se o comprimento T da sequência dobra, o tamanho da matriz de pontuações da atenção:</a:t>
            </a:r>
          </a:p>
        </p:txBody>
      </p:sp>
      <p:sp>
        <p:nvSpPr>
          <p:cNvPr id="8" name="Rounded Rectangle 7"/>
          <p:cNvSpPr/>
          <p:nvPr/>
        </p:nvSpPr>
        <p:spPr>
          <a:xfrm>
            <a:off x="731520" y="2560320"/>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0320"/>
            <a:ext cx="10332720" cy="621792"/>
          </a:xfrm>
          <a:prstGeom prst="rect">
            <a:avLst/>
          </a:prstGeom>
          <a:noFill/>
        </p:spPr>
        <p:txBody>
          <a:bodyPr wrap="square" anchor="ctr" lIns="45720" rIns="45720">
            <a:spAutoFit/>
          </a:bodyPr>
          <a:lstStyle/>
          <a:p>
            <a:pPr algn="l"/>
            <a:r>
              <a:rPr sz="1800" b="0" i="0">
                <a:solidFill>
                  <a:srgbClr val="1F2937"/>
                </a:solidFill>
                <a:latin typeface="Calibri"/>
              </a:rPr>
              <a:t>A)  Dobra</a:t>
            </a:r>
          </a:p>
        </p:txBody>
      </p:sp>
      <p:sp>
        <p:nvSpPr>
          <p:cNvPr id="10" name="Rounded Rectangle 9"/>
          <p:cNvSpPr/>
          <p:nvPr/>
        </p:nvSpPr>
        <p:spPr>
          <a:xfrm>
            <a:off x="731520" y="3273552"/>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73552"/>
            <a:ext cx="10332720" cy="621792"/>
          </a:xfrm>
          <a:prstGeom prst="rect">
            <a:avLst/>
          </a:prstGeom>
          <a:noFill/>
        </p:spPr>
        <p:txBody>
          <a:bodyPr wrap="square" anchor="ctr" lIns="45720" rIns="45720">
            <a:spAutoFit/>
          </a:bodyPr>
          <a:lstStyle/>
          <a:p>
            <a:pPr algn="l"/>
            <a:r>
              <a:rPr sz="1800" b="0" i="0">
                <a:solidFill>
                  <a:srgbClr val="1F2937"/>
                </a:solidFill>
                <a:latin typeface="Calibri"/>
              </a:rPr>
              <a:t>B)  Permanece igual</a:t>
            </a:r>
          </a:p>
        </p:txBody>
      </p:sp>
      <p:sp>
        <p:nvSpPr>
          <p:cNvPr id="12" name="Rounded Rectangle 11"/>
          <p:cNvSpPr/>
          <p:nvPr/>
        </p:nvSpPr>
        <p:spPr>
          <a:xfrm>
            <a:off x="731520" y="3986783"/>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86783"/>
            <a:ext cx="10332720" cy="621792"/>
          </a:xfrm>
          <a:prstGeom prst="rect">
            <a:avLst/>
          </a:prstGeom>
          <a:noFill/>
        </p:spPr>
        <p:txBody>
          <a:bodyPr wrap="square" anchor="ctr" lIns="45720" rIns="45720">
            <a:spAutoFit/>
          </a:bodyPr>
          <a:lstStyle/>
          <a:p>
            <a:pPr algn="l"/>
            <a:r>
              <a:rPr sz="1800" b="0" i="0">
                <a:solidFill>
                  <a:srgbClr val="1F2937"/>
                </a:solidFill>
                <a:latin typeface="Calibri"/>
              </a:rPr>
              <a:t>C)  Fica pela metade</a:t>
            </a:r>
          </a:p>
        </p:txBody>
      </p:sp>
      <p:sp>
        <p:nvSpPr>
          <p:cNvPr id="14" name="Rounded Rectangle 13"/>
          <p:cNvSpPr/>
          <p:nvPr/>
        </p:nvSpPr>
        <p:spPr>
          <a:xfrm>
            <a:off x="731520" y="4700016"/>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00016"/>
            <a:ext cx="10332720" cy="621792"/>
          </a:xfrm>
          <a:prstGeom prst="rect">
            <a:avLst/>
          </a:prstGeom>
          <a:noFill/>
        </p:spPr>
        <p:txBody>
          <a:bodyPr wrap="square" anchor="ctr" lIns="45720" rIns="45720">
            <a:spAutoFit/>
          </a:bodyPr>
          <a:lstStyle/>
          <a:p>
            <a:pPr algn="l"/>
            <a:r>
              <a:rPr sz="1800" b="0" i="0">
                <a:solidFill>
                  <a:srgbClr val="1F2937"/>
                </a:solidFill>
                <a:latin typeface="Calibri"/>
              </a:rPr>
              <a:t>D)  Quadruplica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O que vale a pena lembrar</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31/32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260">
                <a:solidFill>
                  <a:srgbClr val="4F46E5"/>
                </a:solidFill>
                <a:latin typeface="Calibri"/>
              </a:rPr>
              <a:t>● </a:t>
            </a:r>
            <a:r>
              <a:rPr sz="1800">
                <a:solidFill>
                  <a:srgbClr val="1F2937"/>
                </a:solidFill>
                <a:latin typeface="Calibri"/>
              </a:rPr>
              <a:t>Atenção: média ponderada dos valores; pesos = softmax das similaridades consulta × chaves</a:t>
            </a:r>
          </a:p>
          <a:p>
            <a:pPr>
              <a:spcAft>
                <a:spcPts val="800"/>
              </a:spcAft>
            </a:pPr>
            <a:r>
              <a:rPr sz="1260">
                <a:solidFill>
                  <a:srgbClr val="4F46E5"/>
                </a:solidFill>
                <a:latin typeface="Calibri"/>
              </a:rPr>
              <a:t>● </a:t>
            </a:r>
            <a:r>
              <a:rPr sz="1800">
                <a:solidFill>
                  <a:srgbClr val="1F2937"/>
                </a:solidFill>
                <a:latin typeface="Calibri"/>
              </a:rPr>
              <a:t>Atenção = softmax(QKᵀ/√dk)V; o fator mantém a variância em 1</a:t>
            </a:r>
          </a:p>
          <a:p>
            <a:pPr>
              <a:spcAft>
                <a:spcPts val="800"/>
              </a:spcAft>
            </a:pPr>
            <a:r>
              <a:rPr sz="1260">
                <a:solidFill>
                  <a:srgbClr val="4F46E5"/>
                </a:solidFill>
                <a:latin typeface="Calibri"/>
              </a:rPr>
              <a:t>● </a:t>
            </a:r>
            <a:r>
              <a:rPr sz="1800">
                <a:solidFill>
                  <a:srgbClr val="1F2937"/>
                </a:solidFill>
                <a:latin typeface="Calibri"/>
              </a:rPr>
              <a:t>Máscara causal: triangular inferior; treina em paralelo e impede vazamento</a:t>
            </a:r>
          </a:p>
          <a:p>
            <a:pPr>
              <a:spcAft>
                <a:spcPts val="800"/>
              </a:spcAft>
            </a:pPr>
            <a:r>
              <a:rPr sz="1260">
                <a:solidFill>
                  <a:srgbClr val="4F46E5"/>
                </a:solidFill>
                <a:latin typeface="Calibri"/>
              </a:rPr>
              <a:t>● </a:t>
            </a:r>
            <a:r>
              <a:rPr sz="1800">
                <a:solidFill>
                  <a:srgbClr val="1F2937"/>
                </a:solidFill>
                <a:latin typeface="Calibri"/>
              </a:rPr>
              <a:t>Cabeças: várias atenções em subespaços de dimensão d/h</a:t>
            </a:r>
          </a:p>
          <a:p>
            <a:pPr>
              <a:spcAft>
                <a:spcPts val="800"/>
              </a:spcAft>
            </a:pPr>
            <a:r>
              <a:rPr sz="1260">
                <a:solidFill>
                  <a:srgbClr val="4F46E5"/>
                </a:solidFill>
                <a:latin typeface="Calibri"/>
              </a:rPr>
              <a:t>● </a:t>
            </a:r>
            <a:r>
              <a:rPr sz="1800">
                <a:solidFill>
                  <a:srgbClr val="1F2937"/>
                </a:solidFill>
                <a:latin typeface="Calibri"/>
              </a:rPr>
              <a:t>Posições são necessárias; residuais, normalização e FFN completam o bloco</a:t>
            </a:r>
          </a:p>
          <a:p>
            <a:pPr>
              <a:spcAft>
                <a:spcPts val="800"/>
              </a:spcAft>
            </a:pPr>
            <a:r>
              <a:rPr sz="1260">
                <a:solidFill>
                  <a:srgbClr val="4F46E5"/>
                </a:solidFill>
                <a:latin typeface="Calibri"/>
              </a:rPr>
              <a:t>● </a:t>
            </a:r>
            <a:r>
              <a:rPr sz="1800">
                <a:solidFill>
                  <a:srgbClr val="1F2937"/>
                </a:solidFill>
                <a:latin typeface="Calibri"/>
              </a:rPr>
              <a:t>Parâmetros ≈ 12Nd² + Vd; custo da atenção cresce com T²</a:t>
            </a:r>
          </a:p>
          <a:p>
            <a:pPr>
              <a:spcAft>
                <a:spcPts val="800"/>
              </a:spcAft>
            </a:pPr>
            <a:r>
              <a:rPr sz="1260">
                <a:solidFill>
                  <a:srgbClr val="4F46E5"/>
                </a:solidFill>
                <a:latin typeface="Calibri"/>
              </a:rPr>
              <a:t>● </a:t>
            </a:r>
            <a:r>
              <a:rPr sz="1800">
                <a:solidFill>
                  <a:srgbClr val="1F2937"/>
                </a:solidFill>
                <a:latin typeface="Calibri"/>
              </a:rPr>
              <a:t>Pesos de atenção são pistas, não explicações garantidas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Para ir além</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4</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32/32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120">
                <a:solidFill>
                  <a:srgbClr val="4F46E5"/>
                </a:solidFill>
                <a:latin typeface="Calibri"/>
              </a:rPr>
              <a:t>● </a:t>
            </a:r>
            <a:r>
              <a:rPr sz="1600">
                <a:solidFill>
                  <a:srgbClr val="1F2937"/>
                </a:solidFill>
                <a:latin typeface="Calibri"/>
              </a:rPr>
              <a:t>VASWANI, A. et al. Attention is all you need. NeurIPS, 30., 2017. p. 5998-6008.</a:t>
            </a:r>
          </a:p>
          <a:p>
            <a:pPr>
              <a:spcAft>
                <a:spcPts val="800"/>
              </a:spcAft>
            </a:pPr>
            <a:r>
              <a:rPr sz="1120">
                <a:solidFill>
                  <a:srgbClr val="4F46E5"/>
                </a:solidFill>
                <a:latin typeface="Calibri"/>
              </a:rPr>
              <a:t>● </a:t>
            </a:r>
            <a:r>
              <a:rPr sz="1600">
                <a:solidFill>
                  <a:srgbClr val="1F2937"/>
                </a:solidFill>
                <a:latin typeface="Calibri"/>
              </a:rPr>
              <a:t>BAHDANAU, D.; CHO, K.; BENGIO, Y. Neural machine translation by jointly learning to align and translate. ICLR, 3., 2015.</a:t>
            </a:r>
          </a:p>
          <a:p>
            <a:pPr>
              <a:spcAft>
                <a:spcPts val="800"/>
              </a:spcAft>
            </a:pPr>
            <a:r>
              <a:rPr sz="1120">
                <a:solidFill>
                  <a:srgbClr val="4F46E5"/>
                </a:solidFill>
                <a:latin typeface="Calibri"/>
              </a:rPr>
              <a:t>● </a:t>
            </a:r>
            <a:r>
              <a:rPr sz="1600">
                <a:solidFill>
                  <a:srgbClr val="1F2937"/>
                </a:solidFill>
                <a:latin typeface="Calibri"/>
              </a:rPr>
              <a:t>DEVLIN, J. et al. BERT. NAACL-HLT, 2019. p. 4171-4186.</a:t>
            </a:r>
          </a:p>
          <a:p>
            <a:pPr>
              <a:spcAft>
                <a:spcPts val="800"/>
              </a:spcAft>
            </a:pPr>
            <a:r>
              <a:rPr sz="1120">
                <a:solidFill>
                  <a:srgbClr val="4F46E5"/>
                </a:solidFill>
                <a:latin typeface="Calibri"/>
              </a:rPr>
              <a:t>● </a:t>
            </a:r>
            <a:r>
              <a:rPr sz="1600">
                <a:solidFill>
                  <a:srgbClr val="1F2937"/>
                </a:solidFill>
                <a:latin typeface="Calibri"/>
              </a:rPr>
              <a:t>HE, K. et al. Deep residual learning for image recognition. CVPR, 2016. p. 770-778.</a:t>
            </a:r>
          </a:p>
          <a:p>
            <a:pPr>
              <a:spcAft>
                <a:spcPts val="800"/>
              </a:spcAft>
            </a:pPr>
            <a:r>
              <a:rPr sz="1120">
                <a:solidFill>
                  <a:srgbClr val="4F46E5"/>
                </a:solidFill>
                <a:latin typeface="Calibri"/>
              </a:rPr>
              <a:t>● </a:t>
            </a:r>
            <a:r>
              <a:rPr sz="1600">
                <a:solidFill>
                  <a:srgbClr val="1F2937"/>
                </a:solidFill>
                <a:latin typeface="Calibri"/>
              </a:rPr>
              <a:t>BA, J. L.; KIROS, J. R.; HINTON, G. E. Layer normalization. arXiv:1607.06450, 2016.</a:t>
            </a:r>
          </a:p>
          <a:p>
            <a:pPr>
              <a:spcAft>
                <a:spcPts val="800"/>
              </a:spcAft>
            </a:pPr>
            <a:r>
              <a:rPr sz="1120">
                <a:solidFill>
                  <a:srgbClr val="4F46E5"/>
                </a:solidFill>
                <a:latin typeface="Calibri"/>
              </a:rPr>
              <a:t>● </a:t>
            </a:r>
            <a:r>
              <a:rPr sz="1600">
                <a:solidFill>
                  <a:srgbClr val="1F2937"/>
                </a:solidFill>
                <a:latin typeface="Calibri"/>
              </a:rPr>
              <a:t>SU, J. et al. RoFormer. Neurocomputing, v. 568, art. 127063, 2024.</a:t>
            </a:r>
          </a:p>
          <a:p>
            <a:pPr>
              <a:spcAft>
                <a:spcPts val="800"/>
              </a:spcAft>
            </a:pPr>
            <a:r>
              <a:rPr sz="1120">
                <a:solidFill>
                  <a:srgbClr val="4F46E5"/>
                </a:solidFill>
                <a:latin typeface="Calibri"/>
              </a:rPr>
              <a:t>● </a:t>
            </a:r>
            <a:r>
              <a:rPr sz="1600">
                <a:solidFill>
                  <a:srgbClr val="1F2937"/>
                </a:solidFill>
                <a:latin typeface="Calibri"/>
              </a:rPr>
              <a:t>JAIN, S.; WALLACE, B. C. Attention is not explanation. NAACL-HLT, 2019. p. 3543-3556.</a:t>
            </a:r>
          </a:p>
          <a:p>
            <a:pPr>
              <a:spcAft>
                <a:spcPts val="800"/>
              </a:spcAft>
            </a:pPr>
            <a:r>
              <a:rPr sz="1120">
                <a:solidFill>
                  <a:srgbClr val="4F46E5"/>
                </a:solidFill>
                <a:latin typeface="Calibri"/>
              </a:rPr>
              <a:t>● </a:t>
            </a:r>
            <a:r>
              <a:rPr sz="1600">
                <a:solidFill>
                  <a:srgbClr val="1F2937"/>
                </a:solidFill>
                <a:latin typeface="Calibri"/>
              </a:rPr>
              <a:t>DAO, T. et al. FlashAttention. NeurIPS, 35., 2022.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