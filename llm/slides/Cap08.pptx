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do Capítulo 8: Engenharia de prompts. Apresente o objetivo geral e como o capítulo se encaixa no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dizendo que engenharia de prompts não é uma coleção de frases secretas, e sim especificação de requisitos para um sistema probabilístico. Leia os objetivos e destaque três palavras que guiam a aula: especificar, verificar e medir. Avise que os experimentos quantitativos usam um simulador de regras, o SimuladorLLM, e não um modelo real; o que importa é aprender o processo de avaliar prompts. Pergunta à turma: quando pedem algo a um assistente e o resultado vem ruim, o que costumam mudar? Anote as respostas, pois muitas serão tentativas sem método. Armadilha: prometer que a aula dará o prompt perfeito; ela dará um método para testar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a situação inicial do capítulo. Duas pessoas pedem o mesmo ao assistente. A primeira escreve apenas resuma esse contrato. A segunda diz o papel, o formato, o limite de cinco tópicos, pede citação entre aspas de cada tópico e manda escrever não consta quando faltar informação. A primeira recebe um texto fluente, de tamanho e foco imprevisíveis; a segunda recebe tópicos que pode conferir no documento. Nenhuma das duas sabe como o modelo funciona por dentro. A diferença está na especificação: o que se quer, para quem, com que limites, em que formato e como verificar. Pergunta: qual das duas teria mais facilidade de detectar um erro? Armadilha: achar que o segundo prompt garante acerto; ele só torna o resultado verificável.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pizza para mostrar por que a especificação importa. Se você liga para a pizzaria do bairro, que já conhece seu pedido, basta dizer o de sempre. Com um atendente novo, é preciso informar sabor, tamanho, borda, restrições e horário. O modelo de linguagem é esse atendente novo: não conhece sua empresa, seus documentos nem a data de hoje. Isso conecta com o princípio de fornecer o contexto necessário, e só ele. Pergunta à turma: se o atendente não puder fazer o pedido, o que ele deveria dizer? É a abstenção, que veremos adiante. Armadilha: a analogia não deve sugerir que o modelo entende como um atendente humano; ele condiciona uma distribuição de probabilidade.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 aplicações reais, o prompt raramente é uma frase: é um documento montado por código a partir de partes. Percorra a tabela de cima para baixo. O papel define o comportamento geral; a tarefa diz o que fazer; o contexto traz a informação de que o modelo precisa; os exemplos mostram formato e critério; a entrada é o dado a processar; o formato de saída diz como responder; e as restrições fixam limites. Como cada parte é separada, pode ser testada, versionada e substituída de forma independente. Pergunta: qual desses componentes costuma faltar nos pedidos do dia a dia? Normalmente formato e restrições. Armadilha: pensar que mais componentes sempre melhoram; contexto irrelevante gasta a janela e distrai.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mostra o prompt como uma montagem. Cada bloco, papel, tarefa, contexto, exemplos, entrada, formato e restrições, é uma peça que o código encaixa. Isso permite trocar apenas um bloco e medir o efeito, que é a base da comparação controlada que veremos no final. Também facilita guardar cada peça em um sistema de versões, como se faz com software. Peça que a turma aponte onde ficariam os dados do usuário e por que eles devem ser separados das instruções. Isso prepara a discussão sobre delimitadores e injeção de prompts, tratada no Capítulo 17. Armadilha: tratar o prompt como texto solto copiado de um lugar para outro, sem dono nem versão.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aviso conceitual do capítulo. Um prompt não é código que o computador executa linha a linha; ele condiciona a geração. Por isso o mesmo prompt pode ter efeitos diferentes em modelos diferentes, ou na mesma versão em momentos diferentes. Instruções não são garantias: o modelo pode ignorar, interpretar mal ou obedecer só na maior parte das vezes. A consequência prática é tratar todo prompt como hipótese e testá-la, o que dá sentido às seções de avaliação. Pergunta à turma: se um prompt funcionou três vezes, podemos afirmar que funciona? Provavelmente não. Armadilha: escrever em maiúsculas ou repetir a ordem não transforma instrução em garantia.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os quatro primeiros princípios com exemplos. Primeiro, objetivo e critério de sucesso: resuma é vago, resuma em até cinco tópicos para um gestor, destacando prazos e valores, é verificável. Segundo, contexto necessário e só ele, porque informação irrelevante gasta a janela de contexto e pode distrair. Terceiro, especifique o formato: tamanho, estrutura, idioma, nível de detalhe e público. Quarto, instruções positivas e concretas costumam funcionar melhor que negativas isoladas: responda em até três frases em vez de não seja prolixo. Pergunta à turma: reescrevam em voz alta a instrução não faça respostas ruins. Armadilha: isso é orientação geral; sempre teste no seu modelo e na sua tarefa.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Continue com os outros quatro princípios. Quinto, permita a abstenção: diga o que fazer quando faltar informação, como responder não consta, para reduzir respostas inventadas. Sem uma saída legítima, o modelo tende a produzir alguma resposta plausível. Sexto, separe instruções de dados com delimitadores claros. Sétimo, peça evidências quando a correção importa, assunto das próximas seções. Oitavo, peça uma coisa de cada vez, o que prepara a decomposição de tarefas. Pergunta: em que situações da sua rotina seria melhor o assistente dizer não sei do que arriscar? Armadilha: delimitadores ajudam, mas são apenas a primeira e insuficiente defesa contra injeção de prompts; a segurança exige várias camadas.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a evolução de um mesmo pedido em três versões. A vaga não define categorias, formato nem o que fazer quando nenhuma serve. A versão melhor lista as categorias e permite responder indefinido, mas ainda não diz como responder. A melhor ainda exige apenas JSON com a intenção e a evidência, que é um trecho literal da mensagem; assim, o resultado pode ser validado por código e a evidência pode ser conferida. Pergunta à turma: o que ainda poderia melhorar? Talvez exemplos. Armadilha: melhor ainda é relativo; só os testes dirão se a terceira versão funciona melhor para o seu modelo e seus dados, e é isso que mediremos nas seções de 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código do capítulo monta o prompt a partir de componentes controlados por parâmetros; aqui mostramos um trecho resumido, com reticências onde o código completo continua. Isso torna cada parte testável e versionável. A saída real mostra o identificador curto do prompt, um hash, 0dd3324fd8, e o número de caracteres, 512. O hash serve como identificador de versão: se qualquer caractere mudar, o hash muda. Pergunta à turma: por que um identificador ajuda no registro dos experimentos? Para saber exatamente qual texto foi avaliado. Note os delimitadores com sinais de maior e menor em volta da mensagem do cliente, que separam instruções de dados. Armadilha: não confundir hash com garantia de qualidade; ele só identifica.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Brown e colegas chamam de zero-shot o uso sem exemplos, one-shot com um e few-shot com poucos, e mostram que modelos grandes tendem a melhorar com exemplos sem mudar seus parâmetros. A analogia da receita com foto ajuda: descrever o prato com palavras nem sempre basta, mas a foto mostra o resultado esperado. O modelo imita formato e critério dos exemplos. Por isso, escolha exemplos representativos, que cubram categorias e casos difíceis, corretos, diversos na redação e no formato exato de saída desejado, e equilibre os rótulos. Lembre o custo: cada exemplo ocupa tokens. Pergunta: o que acontece se quase todos os exemplos tiverem o mesmo rótulo? O modelo tende a repeti-lo.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literatura mostra que, com exemplos no prompt, a ordem pode importar. Zhao e colegas, e Lu e colegas, relatam que permutações dos mesmos exemplos podem alterar muito a acurácia em alguns modelos, e que o rótulo mais frequente e o último exemplo também influenciam. As duas implicações práticas são: não tire conclusões de uma única ordem, e teste algumas ordens, relatando a variação. Dê um exemplo oral: você avalia o prompt com os exemplos em uma ordem e obtém um acerto ótimo; trocar a ordem pode mudar o resultado. Pergunta à turma: como relatar isso em um registro de experimento? Informando as ordens testadas e a variação. Armadilha: os resultados são para modelos e tarefas específicos e podem não se repetir em outros.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trecho mostra a estruturação de entradas: tags com identificador separam cada documento, a instrução diz para usar apenas os documentos e citar o id, e há uma saída de abstenção exata, não consta. A saída real mostra o início do prompt montado, com o documento D12 sobre multa por atraso na devolução, de R$ 1,50 por dia e por exemplar. Os documentos são fictícios, da base da Universidade Federal Aurora. Pergunta à turma: onde está a abstenção e onde está o delimitador? Lembre também que informação no meio de contextos longos pode ser menos usada, segundo Liu e colegas, então coloque instruções importantes no início e repita o essencial no fim. Armadilha: delimitadores não bastam como defesa de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Descreva o encadeamento de prompts, o prompt chaining, como uma linha de montagem. Em vez de pedir tudo de uma vez, dividimos a tarefa em etapas com entrada, saída e verificação próprias: extrair os fatos relevantes, validar a extração por regras e redigir a resposta usando somente os fatos validados. Benefícios: cada etapa é mais simples, testável e depurável, e os erros são localizados. Custo: mais chamadas e mais latência. Pergunta à turma: em qual estação você colocaria uma verificação por código? Na segunda. Armadilha: dividir não elimina erros; apenas torna mais fácil encontrá-los e corrigi-los.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há uma ressalva importante. Wei e colegas mostraram que pedir raciocínio passo a passo, a cadeia de pensamento, melhorou o desempenho de modelos grandes em problemas aritméticos e lógicos, e Wang e colegas mostraram que amostrar vários raciocínios e votar na resposta mais frequente, a autoconsistência, melhora ainda mais. Mas Turpin e colegas mostraram que as explicações podem ser influenciadas por fatores que o texto não menciona, como a ordem das opções ou uma sugestão no prompt, e justificar de modo plausível uma resposta determinada por outros motivos. Explicações geradas são mais texto gerado, e podem estar certas ou erradas. Pergunta: então o que pedir? Artefatos verificáveis, como veremos.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coração da seção. A ideia é transformar uma explicação, difícil de avaliar, em uma afirmação checável. Em vez de explique por que, peça a citação literal do trecho que sustenta a resposta e procure-a no documento. Em vez de calcule, peça o cálculo explícito com os números usados e refaça em código. Em vez de confie em mim, peça evidências estruturadas, com origem. Em vez de tenho certeza, exija abstenção quando faltar informação e teste com perguntas sem resposta. E nas respostas em etapas, peça cada resultado em um campo separado. Regra prática: se a verificação for impossível, trate a justificativa como texto de apoio, não como prova. Pergunta: qual dessas linhas você usaria no seu trabalho?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Atenção ao rótulo: as respostas do modelo neste exemplo foram escritas à mão para ilustrar os verificadores; não vêm de um LLM. O primeiro verificador procura a citação, normalizada, dentro do documento. O segundo refaz a conta da multa. A saída real mostra que duas citações foram encontradas e uma, com R$ 2,00 por dia, não foi: é um alarme útil de resposta inventada. Já o cálculo: sete dias, três exemplares e R$ 1,50 por dia dão R$ 31,50; o total informado de R$ 21,00 está errado. Nada disso exige confiar na explicação do modelo, pois verificamos os artefatos. Pergunta: e se a citação existir mas a resposta estiver errada? Pode acontecer; o verificador só detecta o que foi especificado.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resume a mudança de atitude: em vez de acreditar na explicação, verificam-se os artefatos entregues, que são citações, cálculos, campos estruturados e abstenções. Cada artefato tem uma verificação própria e automatizável. Isso reduz a dependência da confiança no tom da resposta, que é justamente o que o pós-treinamento do capítulo anterior pode inflar. Peça que a turma associe cada artefato à verificação correspondente. Reforce o limite: um verificador programático detecta apenas o que foi especificado, de modo que uma resposta pode passar em todas as verificações e ainda estar errada. Casos de risco pedem revisão humana. Armadilha: usar outro modelo como único revisor; ele favorece textos parecidos com os seus, segundo Zheng e colegas.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Aplicações precisam de saídas legíveis por máquina, e o padrão mais comum é JSON com campos definidos. Os pontos de atenção: um esquema explícito, com campos, tipos, enumerações, opcionais e a forma de indicar ausência; validação programática, porque a resposta pode não ser JSON válido nem obedecer ao esquema; novas tentativas controladas, reenviando o erro de validação ao modelo com limite de tentativas; e a decodificação restrita, oferecida por alguns serviços, que o capítulo apenas menciona e não executa, pedindo que se consulte a documentação. Por fim, uma saída que obedece ao esquema pode conter valores errados. Pergunta à turma: o que você faria depois da terceira tentativa que falha? Encaminhar a um tratamento alternativo.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esquema é uma classe pydantic, com a intenção restrita a uma enumeração de valores permitidos e a evidência opcional. A função validar devolve o objeto ou a mensagem de erro. A saída real, com a versão 2.13.5 do pydantic, testa quatro textos escritos à mão. O primeiro é válido. O segundo falha porque cancelar não está na enumeração. O terceiro falha porque o modelo educadamente acrescentou texto antes do JSON, algo frequente em produção. O quarto é válido, sem evidência. Isso motiva instruir responda apenas com JSON, validar e tentar de novo com a mensagem de erro, no máximo duas ou três vezes. Pergunta: o JSON do segundo caso estava bem formado, e mesmo assim falhou; por quê? Valor fora do esquema.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analogia introduz a ideia de que prompts são artefatos de software. Um chef que testa um prato novo prova várias vezes, anota a receita, muda um ingrediente por vez e compara com a versão anterior. Do mesmo modo, um prompt precisa de versão, de casos de teste com saídas esperadas, incluindo casos difíceis e sem resposta, de métricas como acerto, validade de formato, abstenção correta, custo e latência, de comparação controlada com a mesma amostra e os mesmos parâmetros, e de testes de regressão após cada mudança. Pergunta à turma: o que acontece se mudarmos três coisas de uma vez e o resultado melhorar? Não saberemos qual causou a melhora. Armadilha: avaliar com poucos casos e decidir pela melhor impressão.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Rótulo essencial: o SimuladorLLM é baseado em regras e não é um LLM; os efeitos entre v1, v2 e v3 foram programados por nós. O que interessa é o processo. A v1 é um prompt vago, a v2 define categorias e formato, a v3 acrescenta exemplos e saída em JSON. A saída real mostra acertos de 0,356, 0,771 e 0,931, cada um com intervalo de confiança por bootstrap, e validade de formato de 0,000, 0,860 e 1,000. A diferença pareada entre v3 e v2 é de mais 0,160, com intervalo de 0,129 a 0,196. Se o intervalo incluísse zero, a diferença poderia ser acaso. Pergunta à turma: por que formato válido é uma métrica separada? Um prompt pode acertar o conteúdo e falhar no formato.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gráfico ilustra o formato de um bom relatório: o acerto de cada versão com barras de intervalo de confiança. Aponte que os intervalos de v1, v2 e v3 não se sobrepõem aqui, mas não basta olhar: o capítulo mostra também a diferença pareada com seu próprio intervalo. Repita o aviso da legenda: os efeitos foram programados no simulador, portanto o gráfico mostra o formato do relatório e não o desempenho de modelos reais. Pergunta: o que mais deveria constar no registro da execução? Modelo e versão, data, parâmetros, conjunto de teste e métricas. Para modelos reais com amostragem, repita a avaliação com várias sementes e relate a variação.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o segundo exemplo resolvido do capítulo. Em 100 casos, A acerta 78 e B acerta 84. Podemos afirmar que B é melhor? O erro-padrão de uma proporção em torno de 0,8 é a raiz de 0,8 vezes 0,2 dividido por 100, ou seja, 0,04, e o intervalo de 95% de cada acerto tem largura em torno de mais ou menos 8 pontos percentuais. A diferença de 6 pontos está dentro dessa incerteza. Além disso, como A e B foram avaliados nos mesmos casos, o correto é calcular a diferença pareada e seu intervalo. Sem mais casos, a evidência é fraca; o caminho é aumentar a amostra, por exemplo para 500, e repetir com outras sementes. Pergunta: o que você faria na prática?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Reúna os erros mais comuns da lista do capítulo. Tratar prompts como encantamentos; avaliar com poucos exemplos e decidir pela impressão; mudar vários elementos de uma vez; confiar na explicação como prova; não validar o formato; misturar instruções e dados; esquecer a abstenção; não versionar; testar só casos fáceis; ignorar a variabilidade da geração. Reforce também as limitações declaradas: os experimentos usam um simulador de regras, as respostas dos verificadores foram escritas à mão, resultados da literatura valem para modelos específicos, e recursos de serviços variam entre provedores e mudam, então consulte a documentação oficial vigente. Pergunta: qual desses erros vocês já cometeram? Peça que um voluntário conte, sem constrangimento.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atividade espelha o laço de avaliação do capítulo, agora com a tarefa e o modelo escolhidos pelos alunos. Insista nos casos de teste: trinta casos, incluindo cinco sem resposta, para testar a abstenção, e cinco difíceis. As três versões devem mudar de forma controlada, e o registro precisa de modelo, versão, data e parâmetros. Se possível, repetir três vezes para medir a variação. Quem preferir praticar sem serviços externos pode usar o Exercício prático 8.1, com o simulador. Pergunta à turma: que tarefa vocês escolheriam do seu trabalho? Armadilha: com apenas 30 casos, os intervalos serão largos; discuta com franqueza os limites da avaliação no parágrafo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Dê um minuto e peça um voto por alternativa. A correta é a que define tamanho, estrutura e citação: até cinco tópicos, e trecho de apoio entre aspas, que podem ser contados e procurados no texto. As outras usam termos subjetivos: bom, como um especialista, criativo. Ninguém consegue conferir objetivamente se um resumo é bom sem um critério. Pergunta: como verificaria a citação? Procurando o trecho no documento, como no verificador do capítulo. Se a turma errar, retome a tabela de reescrita do prompt vago. Dica: um bom teste de verificabilidade é perguntar se um programa, ou uma pessoa com a fonte aberta, conseguiria dizer sim ou não.</a:t>
            </a:r>
          </a:p>
          <a:p/>
          <a:p>
            <a:r>
              <a:t>RESPOSTA: C. Tamanho, estrutura e citação são critérios que podem ser conferidos.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alternativa correta é a última: o prompt altera uma distribuição de probabilidade e o modelo pode interpretar mal, ignorar ou seguir só em parte. A primeira descreve exatamente o oposto, uma execução determinista de comandos. A segunda é um erro comum: o prompt não altera os pesos; quem altera pesos é o treinamento ou o ajuste fino. A terceira confunde prompt com código-fonte. Aproveite para retomar o slide de aviso: toda versão de prompt é uma hipótese a ser testada. Pergunta à turma: se o prompt não muda os pesos, onde fica o efeito? Na distribuição da próxima geração, naquele contexto. Armadilha: dizer que repetir uma instrução com ênfase é garantia de obediência.</a:t>
            </a:r>
          </a:p>
          <a:p/>
          <a:p>
            <a:r>
              <a:t>RESPOSTA: D. Instruções não são garantias; por isso todo prompt deve ser testado.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resposta correta é a segunda. Sem uma saída legítima, o modelo tende a produzir alguma resposta plausível, mesmo sem base nos documentos. Dizer exatamente o que responder quando faltar informação reduz as respostas inventadas e permite testar o comportamento com perguntas sem resposta. A primeira alternativa é exagero: a abstenção é só para quando falta informação. A terceira e a quarta não têm relação. Lembre que a abstenção não garante ausência de alucinação, apenas ajuda; e que RAG, quando usado, ajuda a ancorar respostas mas não garante correção. Pergunta: como medir a taxa de abstenção correta? Incluindo, no conjunto de teste, casos sem resposta, como na atividade prática.</a:t>
            </a:r>
          </a:p>
          <a:p/>
          <a:p>
            <a:r>
              <a:t>RESPOSTA: B. Sem opção de abstenção, o modelo tende a produzir alguma resposta plausível.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com os pontos que a turma deve levar. Um prompt é uma especificação montada por componentes e cada versão é uma hipótese a testar. Exemplos ajudam, mas dependem de ordem, rótulos e formato. Delimitadores e decomposição em etapas deixam o sistema mais depurável. Em vez de confiar em explicações geradas, peça artefatos que um programa ou uma pessoa possam checar. Saídas estruturadas exigem esquema, validação e novas tentativas limitadas, sabendo que formato válido não garante conteúdo correto. E avaliar significa usar casos de teste, métricas, intervalos de confiança e comparações pareadas, registrando modelo, data e parâmetros. Pergunta final: o que você vai mudar na próxima vez que escrever um prompt? Lembre o aviso do simulador: os números do capítulo ilustram o processo.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as referências como leituras de aprofundamento. Brown e colegas introduzem os termos zero-shot, one-shot e few-shot; Wei e colegas e Wang e colegas tratam de cadeia de pensamento e autoconsistência; Turpin e colegas mostram os limites das explicações geradas; Zhao e colegas e Lu e colegas discutem a sensibilidade à ordem dos exemplos; Liu e colegas estudam o uso de contextos longos; Zheng e colegas analisam o uso de modelos como juízes. As entradas completas, em formato ABNT, estão na lista de referências do capítulo. Os resultados dessas obras valem para modelos e tarefas específicos e podem não se repetir. Pergunta final: qual dessas leituras ajudaria no seu projeto? Lembre também que recursos de serviços mudam e devem ser conferidos na documentação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591"/>
            <a:ext cx="12191695" cy="229577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6B6D4"/>
                </a:solidFill>
                <a:latin typeface="Calibri"/>
              </a:rPr>
              <a:t>Parte III — Prompts e aplicações  · 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Engenharia de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Grandes Modelos de Linguagem: do básico à aplicação</a:t>
            </a:r>
          </a:p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Araken de Medeiros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você vai aprender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Decompor um prompt em objetivo, contexto, instruções, restrições, exemplos e formato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Escolher exemplos (zero-shot e few-shot) e estruturar entradas com delimitadores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Exigir justificativas verificáveis em vez de confiar na explicação gerada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Especificar saídas estruturadas, validá-las e tratar falhas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Avaliar versões de prompt com métricas e intervalos de confiança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Registrar parâmetros e reconhecer limites da reprodutibilidade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Dois pedidos, dois 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Pedido 1: "Resuma esse contrato."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Pedido 2: papel, até cinco tópicos, citação literal, "não consta"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O primeiro recebe texto fluente de foco imprevisível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A segunda recebe tópicos que pode conferir no contrato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A diferença está na especificação, não no modelo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Analogia: pedir uma pizza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4/32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"Uma pizza, por favor" funciona na pizzaria que te conhece. Com um desconhecido, é preciso especificar.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Sabor, tamanho, borda, sem cebola, entrega às 20h. O modelo é o atendente que não conhece você, sua empresa nem seus documentos. Quanto mais clara a especificação, menos surpresas na entrega.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Anatomia de um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5/32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Função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Exemplo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Papel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Define o comportamento geral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Você é assistente da secretaria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Tarefa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O que fazer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Classifique a mensagem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Contexto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Informação necessária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Trechos do regulamento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Exemplos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Mostram formato e critério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Três mensagens com categoria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Entrada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O dado a processar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A mensagem do cliente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Formato de saída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Como responder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Apenas JSON com campos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Restrições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Limites e regras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Se faltar, responda 'não consta'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Prompt montado por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6/32</a:t>
            </a:r>
          </a:p>
        </p:txBody>
      </p:sp>
      <p:pic>
        <p:nvPicPr>
          <p:cNvPr id="7" name="Picture 6" descr="f08_anatom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310" y="1143000"/>
            <a:ext cx="87209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Cada componente pode ser testado, versionado e substituído de forma independente.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Um prompt condiciona, não programa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7/32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O prompt altera uma distribuição de probabilidade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Pode ser ignorado, mal interpretado ou seguido só em parte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O mesmo prompt pode variar entre modelos e entre versões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Instruções não são garantias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Todo prompt é uma hipótese a ser testada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Princípios de especificação (1 a 4)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8/32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Diga o objetivo e o critério de sucesso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Dê o contexto necessário, e só ele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Seja específico sobre o formato: tamanho, estrutura, idioma, público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Prefira dizer o que fazer a dizer o que não fazer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"Responda em até 3 frases" funciona melhor que "não seja prolixo"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Princípios de especificação (5 a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9/32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Permita a abstenção: diga o que fazer se faltar informação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Separe instruções de dados com delimitadores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Peça evidências quando a correção importa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Peça uma coisa de cada vez, quando possível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Reescrevendo um prompt vago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10/32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Versão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Prompt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Problema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Vaga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Classifique esta mensagem.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Sem categorias, formato nem abstenção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Melhor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Classifique em UMA categoria; se nenhuma servir, responda 'indefinido'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Falta o formato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Melhor ainda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Idem, e responda só com JSON: intenção e evidência literal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Formato verificável; evidência checável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montando o prompt por componentes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11/32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montar_prompt(mensagem, papel=True, categorias=True,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          formato_json=True, exemplos=()):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partes = []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if papel: partes.append("Você é um assistente de triagem ...")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...   # tarefa, categorias, exemplos (trecho resumido)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partes.append('Responda apenas com JSON: {"intencao": ..., "evidencia": ...}')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partes.append(f"Mensagem: &lt;&lt;&lt;{mensagem}&gt;&gt;&gt;")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"\n\n".join(partes)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identificador do prompt (hash curto): 0dd3324fd8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número de caracteres: 512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Analogia: a receita com foto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12/32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Quando a descrição não basta, mostre a foto do prato pronto.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Exemplos no prompt (few-shot) fazem o papel da foto: o modelo imita o formato e o critério mostrados. Foto errada ensina o erro; foto só de bolos fáceis não prepara para os difíceis.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Exemplos: sensibilidade à ordem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13/32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Resultados podem depender da ordem, do rótulo mais frequente e do último exemplo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Zhao et al. (2021) e Lu et al. (2022): permutações mudam a acurácia em alguns modelos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Não conclua nada de uma única ordem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Teste algumas ordens e relate a variação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prompt com documentos e delimitadores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14/32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montar_prompt_documentos(pergunta, documentos):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corpo = "\n".join(f'&lt;documento id="{i}"&gt;\n{t}\n&lt;/documento&gt;'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              for i, t in documentos)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("Responda usando APENAS os documentos abaixo. Cite o id. "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    "Se a resposta não estiver nos documentos, responda "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    "exatamente: não consta.\n\n"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    f"{corpo}\n\nPergunta: {pergunta}\nResposta:")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Responda à pergunta usando APENAS os documentos abaixo. Cite o id do documento que sustenta a resposta. Se a resposta não estiver nos documentos, responda exatamente: não consta.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&lt;documento id="D12"&gt;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O atraso na devolução gera multa de R$ 1,50 por dia e por exemplar. Quando a dívida passa de R$ 30,00, o empréstimo é suspenso até a quitação.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&lt;/documento&gt;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Analogia: a linha de montagem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15/32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Uma tarefa grande, dividida em estações, é mais fácil de conferir.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Estação 1 extrai os fatos; estação 2 valida por regras; estação 3 redige usando só os fatos validados. Se algo sai errado, você sabe em que estação. O preço: mais chamadas e mais tempo de espera.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Explicações geradas não são acesso ao raciocínio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16/32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"Pense passo a passo" melhorou modelos grandes em raciocínio (Wei et al., 2022)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Votar entre vários raciocínios melhora mais (Wang et al., 2023)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Mas a explicação escrita não é acesso fiel ao processo interno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Turpin et al. (2023): fatores não mencionados podem influenciar a resposta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Em vez de explicação, peça algo verificável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17/32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Em vez de...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Peça...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Como verificar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Explique por que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Citação literal da fonte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Buscar a citação no documento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Calcule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O cálculo explícito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Refazer a conta em código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Confie em mim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Evidências com origem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Conferir cada fato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Tenho certeza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Abstenção se faltar informação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Testar com perguntas sem resposta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Resposta em etapas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Resultado de cada etapa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Validar cada campo por regra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verificando citações e cálculos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18/32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citacao_existe(citacao, documento):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normalizar(citacao) in normalizar(documento)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conferir_calculo(atraso_dias, exemplares, multa_dia,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             total_informado, tol=0.01):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esperado = atraso_dias * exemplares * multa_dia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abs(esperado - total_informado) &lt;= tol, esperado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# respostas do "modelo": escritas à mão, para ilustrar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citação verificada=True  | resposta: R$ 1,50 por dia e por exemplar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citação verificada=False | resposta: R$ 2,00 por dia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citação verificada=True  | resposta: suspensão ao passar de R$ 30,00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total informado R$ 31.50 | esperado R$ 31.50 | correto=True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total informado R$ 21.00 | esperado R$ 31.50 | correto=False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Verificar os artefatos, não a explicação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19/32</a:t>
            </a:r>
          </a:p>
        </p:txBody>
      </p:sp>
      <p:pic>
        <p:nvPicPr>
          <p:cNvPr id="7" name="Picture 6" descr="f08_ver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35" y="1143000"/>
            <a:ext cx="1061165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Citações, cálculos, campos estruturados e abstenções: cada artefato entregue pelo modelo é verificado.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Saídas estruturadas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20/32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Peça JSON com campos, tipos e valores permitidos definidos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Valide sempre: nunca confie que o JSON seja válido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Em caso de falha, reenvie o erro, com limite de tentativas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Decodificação restrita a esquema: consulte a documentação do serviço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Formato válido não garante conteúdo correto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validando com pydantic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21/32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class Extracao(BaseModel):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intencao: Literal["segunda_via", "cancelamento", ..., "indefinido"]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evidencia: Optional[str] = Field(default=None, max_length=200)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validar(texto):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try: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return Extracao.model_validate_json(texto), None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except (ValidationError, ValueError) as e: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return None, str(e).splitlines()[0]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versão do pydantic: 2.13.5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OK   | {"intencao": "cancelamento", "evidencia": "quero cancel | cancelamento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FALHA | {"intencao": "cancelar", "evidencia": "quero cancelar"} | 1 validation error for Extracao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FALHA | Claro! Aqui está o JSON: {"intencao": "elogio"}         | 1 validation error for Extracao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OK   | {"intencao": "elogio"}                                  | elogio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Analogia: a cozinha de teste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22/32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Nenhum restaurante serve um prato novo sem antes prová-lo várias vezes.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Prompt é igual: uma versão, um conjunto de casos de teste, métricas, e só então a mudança vai para o cardápio. Mude um ingrediente por vez, senão você não sabe o que melhorou o sabor.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avaliando três versões de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23/32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X, y = corpus.intencoes(60, seed=11)      # 480 mensagens de teste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for v in ("v1", "v2", "v3"):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sim = SimuladorLLM(v, semente=0)      # simulador de regras, não LLM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for texto, rotulo in zip(X, y):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pred, ok = interpretar(v, sim.responder(texto))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    ...                               # acumula acertos e formato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m, lo, hi = av.bootstrap_ic(acertos, n=1000, seed=0)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versão   acerto    IC95% (bootstrap)  formato válido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v1        0.356       [0.312; 0.398]           0.000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v2        0.771       [0.731; 0.806]           0.860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v3        0.931       [0.908; 0.950]           1.000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diferença pareada v3 - v2: +0.160  IC95% [+0.129; +0.196]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Relatório de avaliação de 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24/32</a:t>
            </a:r>
          </a:p>
        </p:txBody>
      </p:sp>
      <p:pic>
        <p:nvPicPr>
          <p:cNvPr id="7" name="Picture 6" descr="f08_resul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928" y="1143000"/>
            <a:ext cx="6653664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Acerto de três versões com IC de 95% por bootstrap. Efeitos programados no simulador; não mostra o desempenho de LLMs.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diferença é real ou acaso?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25/32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Prompt A acerta 78 de 100; prompt B acerta 84 de 100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Erro-padrão perto de 0,8: √(0,8 × 0,2 / 100) = 0,04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O IC95% tem cerca de ±8 pontos; a diferença é de 6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Casos iguais para A e B: use a diferença pareada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Evidência fraca: aumente a amostra e repita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Erros frequentes e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26/32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Procurar frases mágicas em vez de especificar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Avaliar com poucos casos ou só com casos fáceis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Mudar vários elementos de uma vez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Não validar o formato; não versionar prompts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Lembrar: o simulador não é um LLM, e os efeitos foram programados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Uma resposta pode passar nas verificações e ainda estar errada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Mãos à obra: Três versões de um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27/32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1. Escolha uma tarefa simples com resposta verificável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2. Escreva 30 casos de teste: 5 sem resposta e 5 difíceis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3. Escreva v1 (vaga), v2 (instruções, formato, abstenção) e v3 (com exemplos)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4. Execute em um modelo à sua escolha, registrando modelo, versão, data e parâmetros; repita 3 vezes se possível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5. Calcule acerto, formato válido e abstenção correta, com intervalos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6. Discuta: a diferença é distinguível do acaso?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Pare e pense: o mais verificável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28/32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Qual dos pedidos abaixo é o mais verificável?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A)  "Faça um resumo bom."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73552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B)  "Resuma como um especialista."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86783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3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C)  "Resuma em até 5 tópicos, citando entre aspas o trecho de apoio de cada um."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0016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D)  "Resuma e seja criativo."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Pare e pense: condicionar x programar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29/32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Por que se diz que um prompt condiciona, e não programa, o modelo?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A)  O modelo executa cada linha como um comando exato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73552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B)  O prompt altera os pesos do modelo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86783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3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C)  O prompt é compilado antes de ser enviado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0016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D)  Ele altera uma distribuição de probabilidade; o modelo pode seguir só em parte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Pare e pense: abstenção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30/32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Por que instruir o modelo a responder "não consta" quando faltar informação?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A)  Para que o modelo nunca responda a nada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73552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B)  Para reduzir respostas inventadas, dando uma saída legítima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86783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3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C)  Para aumentar o tamanho das respostas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0016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D)  Para eliminar a necessidade de contexto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vale a pena lembrar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Prompt é uma especificação montada por componentes; condiciona, não programa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Exemplos ajudam, mas são sensíveis a ordem, rótulos e formato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Delimitadores e etapas verificáveis organizam entradas e tarefas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Peça citações, cálculos e evidências checáveis; explicações geradas não são prova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Saídas estruturadas exigem esquema, validação e tentativas limitadas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Versione, teste e meça, com intervalos de confiança e comparações pareadas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Para ir além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32/32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BROWN, T. B. et al. Language models are few-shot learners. NeurIPS 33, 2020.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WEI, J. et al. Chain-of-thought prompting elicits reasoning in large language models. NeurIPS 35, 2022.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WANG, X. et al. Self-consistency improves chain of thought reasoning. ICLR 11, 2023.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TURPIN, M. et al. Language models don't always say what they think. NeurIPS 36, 2023.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ZHAO, Z. et al. Calibrate before use. ICML 38, 2021.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LU, Y. et al. Fantastically ordered prompts and where to find them. ACL 60, 2022.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LIU, N. F. et al. Lost in the middle. TACL, v. 12, 2024.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ZHENG, L. et al. Judging LLM-as-a-judge with MT-Bench and Chatbot Arena. NeurIPS 36, 2023.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