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Abertura do Capítulo 8: Engenharia de prompts. Apresente o objetivo geral e como o capítulo se encaixa no livro.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Abra dizendo que engenharia de prompts não é uma coleção de frases secretas, e sim especificação de requisitos para um sistema probabilístico. Leia os objetivos e destaque três palavras que guiam a aula: especificar, verificar e medir. Avise que os experimentos quantitativos usam um simulador de regras, o SimuladorLLM, e não um modelo real; o que importa é aprender o processo de avaliar prompts. Pergunta à turma: quando pedem algo a um assistente e o resultado vem ruim, o que costumam mudar? Anote as respostas, pois muitas serão tentativas sem método. Armadilha: prometer que a aula dará o prompt perfeito; ela dará um método para testar prompts.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Conte a situação inicial do capítulo. Duas pessoas pedem o mesmo ao assistente. A primeira escreve apenas resuma esse contrato. A segunda diz o papel, o formato, o limite de cinco tópicos, pede citação entre aspas de cada tópico e manda escrever não consta quando faltar informação. A primeira recebe um texto fluente, de tamanho e foco imprevisíveis; a segunda recebe tópicos que pode conferir no documento. Nenhuma das duas sabe como o modelo funciona por dentro. A diferença está na especificação: o que se quer, para quem, com que limites, em que formato e como verificar. Pergunta: qual das duas teria mais facilidade de detectar um erro? Armadilha: achar que o segundo prompt garante acerto; ele só torna o resultado verificável.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 a pizza para mostrar por que a especificação importa. Se você liga para a pizzaria do bairro, que já conhece seu pedido, basta dizer o de sempre. Com um atendente novo, é preciso informar sabor, tamanho, borda, restrições e horário. O modelo de linguagem é esse atendente novo: não conhece sua empresa, seus documentos nem a data de hoje. Isso conecta com o princípio de fornecer o contexto necessário, e só ele. Pergunta à turma: se o atendente não puder fazer o pedido, o que ele deveria dizer? É a abstenção, que veremos adiante. Armadilha: a analogia não deve sugerir que o modelo entende como um atendente humano; ele condiciona uma distribuição de probabilidade.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Em aplicações reais, o prompt raramente é uma frase: é um documento montado por código a partir de partes. Percorra a tabela de cima para baixo. O papel define o comportamento geral; a tarefa diz o que fazer; o contexto traz a informação de que o modelo precisa; os exemplos mostram formato e critério; a entrada é o dado a processar; o formato de saída diz como responder; e as restrições fixam limites. Como cada parte é separada, pode ser testada, versionada e substituída de forma independente. Pergunta: qual desses componentes costuma faltar nos pedidos do dia a dia? Normalmente formato e restrições. Armadilha: pensar que mais componentes sempre melhoram; contexto irrelevante gasta a janela e distrai.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figura mostra o prompt como uma montagem. Cada bloco, papel, tarefa, contexto, exemplos, entrada, formato e restrições, é uma peça que o código encaixa. Isso permite trocar apenas um bloco e medir o efeito, que é a base da comparação controlada que veremos no final. Também facilita guardar cada peça em um sistema de versões, como se faz com software. Peça que a turma aponte onde ficariam os dados do usuário e por que eles devem ser separados das instruções. Isso prepara a discussão sobre delimitadores e injeção de prompts, tratada no Capítulo 17. Armadilha: tratar o prompt como texto solto copiado de um lugar para outro, sem dono nem versão.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Este é o aviso conceitual do capítulo. Um prompt não é código que o computador executa linha a linha; ele condiciona a geração. Por isso o mesmo prompt pode ter efeitos diferentes em modelos diferentes, ou na mesma versão em momentos diferentes. Instruções não são garantias: o modelo pode ignorar, interpretar mal ou obedecer só na maior parte das vezes. A consequência prática é tratar todo prompt como hipótese e testá-la, o que dá sentido às seções de avaliação. Pergunta à turma: se um prompt funcionou três vezes, podemos afirmar que funciona? Provavelmente não. Armadilha: escrever em maiúsculas ou repetir a ordem não transforma instrução em garantia.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Apresente os quatro primeiros princípios com exemplos. Primeiro, objetivo e critério de sucesso: resuma é vago, resuma em até cinco tópicos para um gestor, destacando prazos e valores, é verificável. Segundo, contexto necessário e só ele, porque informação irrelevante gasta a janela de contexto e pode distrair. Terceiro, especifique o formato: tamanho, estrutura, idioma, nível de detalhe e público. Quarto, instruções positivas e concretas costumam funcionar melhor que negativas isoladas: responda em até três frases em vez de não seja prolixo. Pergunta à turma: reescrevam em voz alta a instrução não faça respostas ruins. Armadilha: isso é orientação geral; sempre teste no seu modelo e na sua tarefa.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Continue com os outros quatro princípios. Quinto, permita a abstenção: diga o que fazer quando faltar informação, como responder não consta, para reduzir respostas inventadas. Sem uma saída legítima, o modelo tende a produzir alguma resposta plausível. Sexto, separe instruções de dados com delimitadores claros. Sétimo, peça evidências quando a correção importa, assunto das próximas seções. Oitavo, peça uma coisa de cada vez, o que prepara a decomposição de tarefas. Pergunta: em que situações da sua rotina seria melhor o assistente dizer não sei do que arriscar? Armadilha: delimitadores ajudam, mas são apenas a primeira e insuficiente defesa contra injeção de prompts; a segurança exige várias camadas.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Mostre a evolução de um mesmo pedido em três versões. A vaga não define categorias, formato nem o que fazer quando nenhuma serve. A versão melhor lista as categorias e permite responder indefinido, mas ainda não diz como responder. A melhor ainda exige apenas JSON com a intenção e a evidência, que é um trecho literal da mensagem; assim, o resultado pode ser validado por código e a evidência pode ser conferida. Pergunta à turma: o que ainda poderia melhorar? Talvez exemplos. Armadilha: melhor ainda é relativo; só os testes dirão se a terceira versão funciona melhor para o seu modelo e seus dados, e é isso que mediremos nas seções de avaliação.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 código do capítulo monta o prompt a partir de componentes controlados por parâmetros; aqui mostramos um trecho resumido, com reticências onde o código completo continua. Isso torna cada parte testável e versionável. A saída real mostra o identificador curto do prompt, um hash, 0dd3324fd8, e o número de caracteres, 512. O hash serve como identificador de versão: se qualquer caractere mudar, o hash muda. Pergunta à turma: por que um identificador ajuda no registro dos experimentos? Para saber exatamente qual texto foi avaliado. Note os delimitadores com sinais de maior e menor em volta da mensagem do cliente, que separam instruções de dados. Armadilha: não confundir hash com garantia de qualidade; ele só identifica.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Brown e colegas chamam de zero-shot o uso sem exemplos, one-shot com um e few-shot com poucos, e mostram que modelos grandes tendem a melhorar com exemplos sem mudar seus parâmetros. A analogia da receita com foto ajuda: descrever o prato com palavras nem sempre basta, mas a foto mostra o resultado esperado. O modelo imita formato e critério dos exemplos. Por isso, escolha exemplos representativos, que cubram categorias e casos difíceis, corretos, diversos na redação e no formato exato de saída desejado, e equilibre os rótulos. Lembre o custo: cada exemplo ocupa tokens. Pergunta: o que acontece se quase todos os exemplos tiverem o mesmo rótulo? O modelo tende a repeti-lo.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literatura mostra que, com exemplos no prompt, a ordem pode importar. Zhao e colegas, e Lu e colegas, relatam que permutações dos mesmos exemplos podem alterar muito a acurácia em alguns modelos, e que o rótulo mais frequente e o último exemplo também influenciam. As duas implicações práticas são: não tire conclusões de uma única ordem, e teste algumas ordens, relatando a variação. Dê um exemplo oral: você avalia o prompt com os exemplos em uma ordem e obtém um acerto ótimo; trocar a ordem pode mudar o resultado. Pergunta à turma: como relatar isso em um registro de experimento? Informando as ordens testadas e a variação. Armadilha: os resultados são para modelos e tarefas específicos e podem não se repetir em outros.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Este trecho mostra a estruturação de entradas: tags com identificador separam cada documento, a instrução diz para usar apenas os documentos e citar o id, e há uma saída de abstenção exata, não consta. A saída real mostra o início do prompt montado, com o documento D12 sobre multa por atraso na devolução, de R$ 1,50 por dia e por exemplar. Os documentos são fictícios, da base da Universidade Federal Aurora. Pergunta à turma: onde está a abstenção e onde está o delimitador? Lembre também que informação no meio de contextos longos pode ser menos usada, segundo Liu e colegas, então coloque instruções importantes no início e repita o essencial no fim. Armadilha: delimitadores não bastam como defesa de segurança.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Descreva o encadeamento de prompts, o prompt chaining, como uma linha de montagem. Em vez de pedir tudo de uma vez, dividimos a tarefa em etapas com entrada, saída e verificação próprias: extrair os fatos relevantes, validar a extração por regras e redigir a resposta usando somente os fatos validados. Benefícios: cada etapa é mais simples, testável e depurável, e os erros são localizados. Custo: mais chamadas e mais latência. Pergunta à turma: em qual estação você colocaria uma verificação por código? Na segunda. Armadilha: dividir não elimina erros; apenas torna mais fácil encontrá-los e corrigi-los.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Aqui há uma ressalva importante. Wei e colegas mostraram que pedir raciocínio passo a passo, a cadeia de pensamento, melhorou o desempenho de modelos grandes em problemas aritméticos e lógicos, e Wang e colegas mostraram que amostrar vários raciocínios e votar na resposta mais frequente, a autoconsistência, melhora ainda mais. Mas Turpin e colegas mostraram que as explicações podem ser influenciadas por fatores que o texto não menciona, como a ordem das opções ou uma sugestão no prompt, e justificar de modo plausível uma resposta determinada por outros motivos. Explicações geradas são mais texto gerado, e podem estar certas ou erradas. Pergunta: então o que pedir? Artefatos verificáveis, como veremos.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Esta tabela é o coração da seção. A ideia é transformar uma explicação, difícil de avaliar, em uma afirmação checável. Em vez de explique por que, peça a citação literal do trecho que sustenta a resposta e procure-a no documento. Em vez de calcule, peça o cálculo explícito com os números usados e refaça em código. Em vez de confie em mim, peça evidências estruturadas, com origem. Em vez de tenho certeza, exija abstenção quando faltar informação e teste com perguntas sem resposta. E nas respostas em etapas, peça cada resultado em um campo separado. Regra prática: se a verificação for impossível, trate a justificativa como texto de apoio, não como prova. Pergunta: qual dessas linhas você usaria no seu trabalho?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Atenção ao rótulo: as respostas do modelo neste exemplo foram escritas à mão para ilustrar os verificadores; não vêm de um LLM. O primeiro verificador procura a citação, normalizada, dentro do documento. O segundo refaz a conta da multa. A saída real mostra que duas citações foram encontradas e uma, com R$ 2,00 por dia, não foi: é um alarme útil de resposta inventada. Já o cálculo: sete dias, três exemplares e R$ 1,50 por dia dão R$ 31,50; o total informado de R$ 21,00 está errado. Nada disso exige confiar na explicação do modelo, pois verificamos os artefatos. Pergunta: e se a citação existir mas a resposta estiver errada? Pode acontecer; o verificador só detecta o que foi especificado.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figura resume a mudança de atitude: em vez de acreditar na explicação, verificam-se os artefatos entregues, que são citações, cálculos, campos estruturados e abstenções. Cada artefato tem uma verificação própria e automatizável. Isso reduz a dependência da confiança no tom da resposta, que é justamente o que o pós-treinamento do capítulo anterior pode inflar. Peça que a turma associe cada artefato à verificação correspondente. Reforce o limite: um verificador programático detecta apenas o que foi especificado, de modo que uma resposta pode passar em todas as verificações e ainda estar errada. Casos de risco pedem revisão humana. Armadilha: usar outro modelo como único revisor; ele favorece textos parecidos com os seus, segundo Zheng e colegas.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Aplicações precisam de saídas legíveis por máquina, e o padrão mais comum é JSON com campos definidos. Os pontos de atenção: um esquema explícito, com campos, tipos, enumerações, opcionais e a forma de indicar ausência; validação programática, porque a resposta pode não ser JSON válido nem obedecer ao esquema; novas tentativas controladas, reenviando o erro de validação ao modelo com limite de tentativas; e a decodificação restrita, oferecida por alguns serviços, que o capítulo apenas menciona e não executa, pedindo que se consulte a documentação. Por fim, uma saída que obedece ao esquema pode conter valores errados. Pergunta à turma: o que você faria depois da terceira tentativa que falha? Encaminhar a um tratamento alternativo.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 esquema é uma classe pydantic, com a intenção restrita a uma enumeração de valores permitidos e a evidência opcional. A função validar devolve o objeto ou a mensagem de erro. A saída real, com a versão 2.13.5 do pydantic, testa quatro textos escritos à mão. O primeiro é válido. O segundo falha porque cancelar não está na enumeração. O terceiro falha porque o modelo educadamente acrescentou texto antes do JSON, algo frequente em produção. O quarto é válido, sem evidência. Isso motiva instruir responda apenas com JSON, validar e tentar de novo com a mensagem de erro, no máximo duas ou três vezes. Pergunta: o JSON do segundo caso estava bem formado, e mesmo assim falhou; por quê? Valor fora do esquema.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Esta analogia introduz a ideia de que prompts são artefatos de software. Um chef que testa um prato novo prova várias vezes, anota a receita, muda um ingrediente por vez e compara com a versão anterior. Do mesmo modo, um prompt precisa de versão, de casos de teste com saídas esperadas, incluindo casos difíceis e sem resposta, de métricas como acerto, validade de formato, abstenção correta, custo e latência, de comparação controlada com a mesma amostra e os mesmos parâmetros, e de testes de regressão após cada mudança. Pergunta à turma: o que acontece se mudarmos três coisas de uma vez e o resultado melhorar? Não saberemos qual causou a melhora. Armadilha: avaliar com poucos casos e decidir pela melhor impressão.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Rótulo essencial: o SimuladorLLM é baseado em regras e não é um LLM; os efeitos entre v1, v2 e v3 foram programados por nós. O que interessa é o processo. A v1 é um prompt vago, a v2 define categorias e formato, a v3 acrescenta exemplos e saída em JSON. A saída real mostra acertos de 0,356, 0,771 e 0,931, cada um com intervalo de confiança por bootstrap, e validade de formato de 0,000, 0,860 e 1,000. A diferença pareada entre v3 e v2 é de mais 0,160, com intervalo de 0,129 a 0,196. Se o intervalo incluísse zero, a diferença poderia ser acaso. Pergunta à turma: por que formato válido é uma métrica separada? Um prompt pode acertar o conteúdo e falhar no formato.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 gráfico ilustra o formato de um bom relatório: o acerto de cada versão com barras de intervalo de confiança. Aponte que os intervalos de v1, v2 e v3 não se sobrepõem aqui, mas não basta olhar: o capítulo mostra também a diferença pareada com seu próprio intervalo. Repita o aviso da legenda: os efeitos foram programados no simulador, portanto o gráfico mostra o formato do relatório e não o desempenho de modelos reais. Pergunta: o que mais deveria constar no registro da execução? Modelo e versão, data, parâmetros, conjunto de teste e métricas. Para modelos reais com amostragem, repita a avaliação com várias sementes e relate a variação.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É o segundo exemplo resolvido do capítulo. Em 100 casos, A acerta 78 e B acerta 84. Podemos afirmar que B é melhor? O erro-padrão de uma proporção em torno de 0,8 é a raiz de 0,8 vezes 0,2 dividido por 100, ou seja, 0,04, e o intervalo de 95% de cada acerto tem largura em torno de mais ou menos 8 pontos percentuais. A diferença de 6 pontos está dentro dessa incerteza. Além disso, como A e B foram avaliados nos mesmos casos, o correto é calcular a diferença pareada e seu intervalo. Sem mais casos, a evidência é fraca; o caminho é aumentar a amostra, por exemplo para 500, e repetir com outras sementes. Pergunta: o que você faria na prática?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Reúna os erros mais comuns da lista do capítulo. Tratar prompts como encantamentos; avaliar com poucos exemplos e decidir pela impressão; mudar vários elementos de uma vez; confiar na explicação como prova; não validar o formato; misturar instruções e dados; esquecer a abstenção; não versionar; testar só casos fáceis; ignorar a variabilidade da geração. Reforce também as limitações declaradas: os experimentos usam um simulador de regras, as respostas dos verificadores foram escritas à mão, resultados da literatura valem para modelos específicos, e recursos de serviços variam entre provedores e mudam, então consulte a documentação oficial vigente. Pergunta: qual desses erros vocês já cometeram? Peça que um voluntário conte, sem constrangimento.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Esta atividade espelha o laço de avaliação do capítulo, agora com a tarefa e o modelo escolhidos pelos alunos. Insista nos casos de teste: trinta casos, incluindo cinco sem resposta, para testar a abstenção, e cinco difíceis. As três versões devem mudar de forma controlada, e o registro precisa de modelo, versão, data e parâmetros. Se possível, repetir três vezes para medir a variação. Quem preferir praticar sem serviços externos pode usar o Exercício prático 8.1, com o simulador. Pergunta à turma: que tarefa vocês escolheriam do seu trabalho? Armadilha: com apenas 30 casos, os intervalos serão largos; discuta com franqueza os limites da avaliação no parágrafo final.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Dê um minuto e peça um voto por alternativa. A correta é a que define tamanho, estrutura e citação: até cinco tópicos, e trecho de apoio entre aspas, que podem ser contados e procurados no texto. As outras usam termos subjetivos: bom, como um especialista, criativo. Ninguém consegue conferir objetivamente se um resumo é bom sem um critério. Pergunta: como verificaria a citação? Procurando o trecho no documento, como no verificador do capítulo. Se a turma errar, retome a tabela de reescrita do prompt vago. Dica: um bom teste de verificabilidade é perguntar se um programa, ou uma pessoa com a fonte aberta, conseguiria dizer sim ou não.</a:t>
            </a:r>
          </a:p>
          <a:p/>
          <a:p>
            <a:r>
              <a:t>RESPOSTA: C. Tamanho, estrutura e citação são critérios que podem ser conferidos.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alternativa correta é a última: o prompt altera uma distribuição de probabilidade e o modelo pode interpretar mal, ignorar ou seguir só em parte. A primeira descreve exatamente o oposto, uma execução determinista de comandos. A segunda é um erro comum: o prompt não altera os pesos; quem altera pesos é o treinamento ou o ajuste fino. A terceira confunde prompt com código-fonte. Aproveite para retomar o slide de aviso: toda versão de prompt é uma hipótese a ser testada. Pergunta à turma: se o prompt não muda os pesos, onde fica o efeito? Na distribuição da próxima geração, naquele contexto. Armadilha: dizer que repetir uma instrução com ênfase é garantia de obediência.</a:t>
            </a:r>
          </a:p>
          <a:p/>
          <a:p>
            <a:r>
              <a:t>RESPOSTA: D. Instruções não são garantias; por isso todo prompt deve ser testado.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resposta correta é a segunda. Sem uma saída legítima, o modelo tende a produzir alguma resposta plausível, mesmo sem base nos documentos. Dizer exatamente o que responder quando faltar informação reduz as respostas inventadas e permite testar o comportamento com perguntas sem resposta. A primeira alternativa é exagero: a abstenção é só para quando falta informação. A terceira e a quarta não têm relação. Lembre que a abstenção não garante ausência de alucinação, apenas ajuda; e que RAG, quando usado, ajuda a ancorar respostas mas não garante correção. Pergunta: como medir a taxa de abstenção correta? Incluindo, no conjunto de teste, casos sem resposta, como na atividade prática.</a:t>
            </a:r>
          </a:p>
          <a:p/>
          <a:p>
            <a:r>
              <a:t>RESPOSTA: B. Sem opção de abstenção, o modelo tende a produzir alguma resposta plausível.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Feche com os pontos que a turma deve levar. Um prompt é uma especificação montada por componentes e cada versão é uma hipótese a testar. Exemplos ajudam, mas dependem de ordem, rótulos e formato. Delimitadores e decomposição em etapas deixam o sistema mais depurável. Em vez de confiar em explicações geradas, peça artefatos que um programa ou uma pessoa possam checar. Saídas estruturadas exigem esquema, validação e novas tentativas limitadas, sabendo que formato válido não garante conteúdo correto. E avaliar significa usar casos de teste, métricas, intervalos de confiança e comparações pareadas, registrando modelo, data e parâmetros. Pergunta final: o que você vai mudar na próxima vez que escrever um prompt? Lembre o aviso do simulador: os números do capítulo ilustram o processo.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Apresente as referências como leituras de aprofundamento. Brown e colegas introduzem os termos zero-shot, one-shot e few-shot; Wei e colegas e Wang e colegas tratam de cadeia de pensamento e autoconsistência; Turpin e colegas mostram os limites das explicações geradas; Zhao e colegas e Lu e colegas discutem a sensibilidade à ordem dos exemplos; Liu e colegas estudam o uso de contextos longos; Zheng e colegas analisam o uso de modelos como juízes. As entradas completas, em formato ABNT, estão na lista de referências do capítulo. Os resultados dessas obras valem para modelos e tarefas específicos e podem não se repetir. Pergunta final: qual dessas leituras ajudaria no seu projeto? Lembre também que recursos de serviços mudam e devem ser conferidos na documentação oficial.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3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4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banner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06591"/>
            <a:ext cx="12191695" cy="2295778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3108960"/>
            <a:ext cx="12191695" cy="73152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3383280"/>
            <a:ext cx="1069848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000" b="1" i="0">
                <a:solidFill>
                  <a:srgbClr val="06B6D4"/>
                </a:solidFill>
                <a:latin typeface="Calibri"/>
              </a:rPr>
              <a:t>Parte III — Prompts e aplicações  ·  Capítulo 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840480"/>
            <a:ext cx="10698480" cy="1463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Calibri"/>
              </a:rPr>
              <a:t>Engenharia de prompts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669280"/>
            <a:ext cx="10698480" cy="8229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800" b="0" i="0">
                <a:solidFill>
                  <a:srgbClr val="C7D2FE"/>
                </a:solidFill>
                <a:latin typeface="Calibri"/>
              </a:rPr>
              <a:t>Grandes Modelos de Linguagem: do básico à aplicação</a:t>
            </a:r>
          </a:p>
          <a:p>
            <a:pPr algn="l"/>
            <a:r>
              <a:rPr sz="1800" b="0" i="0">
                <a:solidFill>
                  <a:srgbClr val="C7D2FE"/>
                </a:solidFill>
                <a:latin typeface="Calibri"/>
              </a:rPr>
              <a:t>Araken de Medeiros Santos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155680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O que você vai aprender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547104"/>
            <a:ext cx="82296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Grandes Modelos de Linguagem · Araken de Medeiros Santos · Capítulo 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6547104"/>
            <a:ext cx="9144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r"/>
            <a:r>
              <a:rPr sz="1100" b="0" i="0">
                <a:solidFill>
                  <a:srgbClr val="6B7280"/>
                </a:solidFill>
                <a:latin typeface="Calibri"/>
              </a:rPr>
              <a:t>2/32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371600"/>
            <a:ext cx="10698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39">
                <a:solidFill>
                  <a:srgbClr val="4F46E5"/>
                </a:solidFill>
                <a:latin typeface="Calibri"/>
              </a:rPr>
              <a:t>● </a:t>
            </a:r>
            <a:r>
              <a:rPr sz="2200">
                <a:solidFill>
                  <a:srgbClr val="1F2937"/>
                </a:solidFill>
                <a:latin typeface="Calibri"/>
              </a:rPr>
              <a:t>Decompor um prompt em objetivo, contexto, instruções, restrições, exemplos e formato</a:t>
            </a:r>
          </a:p>
          <a:p>
            <a:pPr>
              <a:spcAft>
                <a:spcPts val="800"/>
              </a:spcAft>
            </a:pPr>
            <a:r>
              <a:rPr sz="1539">
                <a:solidFill>
                  <a:srgbClr val="4F46E5"/>
                </a:solidFill>
                <a:latin typeface="Calibri"/>
              </a:rPr>
              <a:t>● </a:t>
            </a:r>
            <a:r>
              <a:rPr sz="2200">
                <a:solidFill>
                  <a:srgbClr val="1F2937"/>
                </a:solidFill>
                <a:latin typeface="Calibri"/>
              </a:rPr>
              <a:t>Escolher exemplos (zero-shot e few-shot) e estruturar entradas com delimitadores</a:t>
            </a:r>
          </a:p>
          <a:p>
            <a:pPr>
              <a:spcAft>
                <a:spcPts val="800"/>
              </a:spcAft>
            </a:pPr>
            <a:r>
              <a:rPr sz="1539">
                <a:solidFill>
                  <a:srgbClr val="4F46E5"/>
                </a:solidFill>
                <a:latin typeface="Calibri"/>
              </a:rPr>
              <a:t>● </a:t>
            </a:r>
            <a:r>
              <a:rPr sz="2200">
                <a:solidFill>
                  <a:srgbClr val="1F2937"/>
                </a:solidFill>
                <a:latin typeface="Calibri"/>
              </a:rPr>
              <a:t>Exigir justificativas verificáveis em vez de confiar na explicação gerada</a:t>
            </a:r>
          </a:p>
          <a:p>
            <a:pPr>
              <a:spcAft>
                <a:spcPts val="800"/>
              </a:spcAft>
            </a:pPr>
            <a:r>
              <a:rPr sz="1539">
                <a:solidFill>
                  <a:srgbClr val="4F46E5"/>
                </a:solidFill>
                <a:latin typeface="Calibri"/>
              </a:rPr>
              <a:t>● </a:t>
            </a:r>
            <a:r>
              <a:rPr sz="2200">
                <a:solidFill>
                  <a:srgbClr val="1F2937"/>
                </a:solidFill>
                <a:latin typeface="Calibri"/>
              </a:rPr>
              <a:t>Especificar saídas estruturadas, validá-las e tratar falhas</a:t>
            </a:r>
          </a:p>
          <a:p>
            <a:pPr>
              <a:spcAft>
                <a:spcPts val="800"/>
              </a:spcAft>
            </a:pPr>
            <a:r>
              <a:rPr sz="1539">
                <a:solidFill>
                  <a:srgbClr val="4F46E5"/>
                </a:solidFill>
                <a:latin typeface="Calibri"/>
              </a:rPr>
              <a:t>● </a:t>
            </a:r>
            <a:r>
              <a:rPr sz="2200">
                <a:solidFill>
                  <a:srgbClr val="1F2937"/>
                </a:solidFill>
                <a:latin typeface="Calibri"/>
              </a:rPr>
              <a:t>Avaliar versões de prompt com métricas e intervalos de confiança</a:t>
            </a:r>
          </a:p>
          <a:p>
            <a:pPr>
              <a:spcAft>
                <a:spcPts val="800"/>
              </a:spcAft>
            </a:pPr>
            <a:r>
              <a:rPr sz="1539">
                <a:solidFill>
                  <a:srgbClr val="4F46E5"/>
                </a:solidFill>
                <a:latin typeface="Calibri"/>
              </a:rPr>
              <a:t>● </a:t>
            </a:r>
            <a:r>
              <a:rPr sz="2200">
                <a:solidFill>
                  <a:srgbClr val="1F2937"/>
                </a:solidFill>
                <a:latin typeface="Calibri"/>
              </a:rPr>
              <a:t>Registrar parâmetros e reconhecer limites da reprodutibilidade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155680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Dois pedidos, dois resultados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547104"/>
            <a:ext cx="82296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Grandes Modelos de Linguagem · Araken de Medeiros Santos · Capítulo 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6547104"/>
            <a:ext cx="9144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r"/>
            <a:r>
              <a:rPr sz="1100" b="0" i="0">
                <a:solidFill>
                  <a:srgbClr val="6B7280"/>
                </a:solidFill>
                <a:latin typeface="Calibri"/>
              </a:rPr>
              <a:t>3/32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280160"/>
            <a:ext cx="106984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39">
                <a:solidFill>
                  <a:srgbClr val="4F46E5"/>
                </a:solidFill>
                <a:latin typeface="Calibri"/>
              </a:rPr>
              <a:t>● </a:t>
            </a:r>
            <a:r>
              <a:rPr sz="2200">
                <a:solidFill>
                  <a:srgbClr val="1F2937"/>
                </a:solidFill>
                <a:latin typeface="Calibri"/>
              </a:rPr>
              <a:t>Pedido 1: "Resuma esse contrato."</a:t>
            </a:r>
          </a:p>
          <a:p>
            <a:pPr>
              <a:spcAft>
                <a:spcPts val="800"/>
              </a:spcAft>
            </a:pPr>
            <a:r>
              <a:rPr sz="1539">
                <a:solidFill>
                  <a:srgbClr val="4F46E5"/>
                </a:solidFill>
                <a:latin typeface="Calibri"/>
              </a:rPr>
              <a:t>● </a:t>
            </a:r>
            <a:r>
              <a:rPr sz="2200">
                <a:solidFill>
                  <a:srgbClr val="1F2937"/>
                </a:solidFill>
                <a:latin typeface="Calibri"/>
              </a:rPr>
              <a:t>Pedido 2: papel, até cinco tópicos, citação literal, "não consta"</a:t>
            </a:r>
          </a:p>
          <a:p>
            <a:pPr>
              <a:spcAft>
                <a:spcPts val="800"/>
              </a:spcAft>
            </a:pPr>
            <a:r>
              <a:rPr sz="1539">
                <a:solidFill>
                  <a:srgbClr val="4F46E5"/>
                </a:solidFill>
                <a:latin typeface="Calibri"/>
              </a:rPr>
              <a:t>● </a:t>
            </a:r>
            <a:r>
              <a:rPr sz="2200">
                <a:solidFill>
                  <a:srgbClr val="1F2937"/>
                </a:solidFill>
                <a:latin typeface="Calibri"/>
              </a:rPr>
              <a:t>O primeiro recebe texto fluente de foco imprevisível</a:t>
            </a:r>
          </a:p>
          <a:p>
            <a:pPr>
              <a:spcAft>
                <a:spcPts val="800"/>
              </a:spcAft>
            </a:pPr>
            <a:r>
              <a:rPr sz="1539">
                <a:solidFill>
                  <a:srgbClr val="4F46E5"/>
                </a:solidFill>
                <a:latin typeface="Calibri"/>
              </a:rPr>
              <a:t>● </a:t>
            </a:r>
            <a:r>
              <a:rPr sz="2200">
                <a:solidFill>
                  <a:srgbClr val="1F2937"/>
                </a:solidFill>
                <a:latin typeface="Calibri"/>
              </a:rPr>
              <a:t>A segunda recebe tópicos que pode conferir no contrato</a:t>
            </a:r>
          </a:p>
          <a:p>
            <a:pPr>
              <a:spcAft>
                <a:spcPts val="800"/>
              </a:spcAft>
            </a:pPr>
            <a:r>
              <a:rPr sz="1539">
                <a:solidFill>
                  <a:srgbClr val="4F46E5"/>
                </a:solidFill>
                <a:latin typeface="Calibri"/>
              </a:rPr>
              <a:t>● </a:t>
            </a:r>
            <a:r>
              <a:rPr sz="2200">
                <a:solidFill>
                  <a:srgbClr val="1F2937"/>
                </a:solidFill>
                <a:latin typeface="Calibri"/>
              </a:rPr>
              <a:t>A diferença está na especificação, não no modelo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155680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Analogia: pedir uma pizza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547104"/>
            <a:ext cx="82296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Grandes Modelos de Linguagem · Araken de Medeiros Santos · Capítulo 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6547104"/>
            <a:ext cx="9144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r"/>
            <a:r>
              <a:rPr sz="1100" b="0" i="0">
                <a:solidFill>
                  <a:srgbClr val="6B7280"/>
                </a:solidFill>
                <a:latin typeface="Calibri"/>
              </a:rPr>
              <a:t>4/32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371600"/>
            <a:ext cx="10881360" cy="2377440"/>
          </a:xfrm>
          <a:prstGeom prst="roundRect">
            <a:avLst/>
          </a:prstGeom>
          <a:solidFill>
            <a:srgbClr val="CFFAFE"/>
          </a:solidFill>
          <a:ln>
            <a:solidFill>
              <a:srgbClr val="06B6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463040"/>
            <a:ext cx="10332720" cy="21945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2600" b="1" i="0">
                <a:solidFill>
                  <a:srgbClr val="1F2937"/>
                </a:solidFill>
                <a:latin typeface="Calibri"/>
              </a:rPr>
              <a:t>"Uma pizza, por favor" funciona na pizzaria que te conhece. Com um desconhecido, é preciso especificar.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4023360"/>
            <a:ext cx="10515600" cy="21945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100" b="0" i="0">
                <a:solidFill>
                  <a:srgbClr val="1F2937"/>
                </a:solidFill>
                <a:latin typeface="Calibri"/>
              </a:rPr>
              <a:t>Sabor, tamanho, borda, sem cebola, entrega às 20h. O modelo é o atendente que não conhece você, sua empresa nem seus documentos. Quanto mais clara a especificação, menos surpresas na entrega.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155680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Anatomia de um prompt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547104"/>
            <a:ext cx="82296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Grandes Modelos de Linguagem · Araken de Medeiros Santos · Capítulo 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6547104"/>
            <a:ext cx="9144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r"/>
            <a:r>
              <a:rPr sz="1100" b="0" i="0">
                <a:solidFill>
                  <a:srgbClr val="6B7280"/>
                </a:solidFill>
                <a:latin typeface="Calibri"/>
              </a:rPr>
              <a:t>5/32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371600"/>
          <a:ext cx="1106424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88080"/>
                <a:gridCol w="3688080"/>
                <a:gridCol w="3688080"/>
              </a:tblGrid>
              <a:tr h="457200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Componente</a:t>
                      </a:r>
                    </a:p>
                  </a:txBody>
                  <a:tcPr>
                    <a:solidFill>
                      <a:srgbClr val="4F46E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Função</a:t>
                      </a:r>
                    </a:p>
                  </a:txBody>
                  <a:tcPr>
                    <a:solidFill>
                      <a:srgbClr val="4F46E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Exemplo</a:t>
                      </a:r>
                    </a:p>
                  </a:txBody>
                  <a:tcPr>
                    <a:solidFill>
                      <a:srgbClr val="4F46E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F2937"/>
                          </a:solidFill>
                        </a:rPr>
                        <a:t>Papel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F2937"/>
                          </a:solidFill>
                        </a:rPr>
                        <a:t>Define o comportamento geral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F2937"/>
                          </a:solidFill>
                        </a:rPr>
                        <a:t>Você é assistente da secretaria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F2937"/>
                          </a:solidFill>
                        </a:rPr>
                        <a:t>Tarefa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F2937"/>
                          </a:solidFill>
                        </a:rPr>
                        <a:t>O que fazer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F2937"/>
                          </a:solidFill>
                        </a:rPr>
                        <a:t>Classifique a mensagem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F2937"/>
                          </a:solidFill>
                        </a:rPr>
                        <a:t>Contexto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F2937"/>
                          </a:solidFill>
                        </a:rPr>
                        <a:t>Informação necessária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F2937"/>
                          </a:solidFill>
                        </a:rPr>
                        <a:t>Trechos do regulamento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F2937"/>
                          </a:solidFill>
                        </a:rPr>
                        <a:t>Exemplos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F2937"/>
                          </a:solidFill>
                        </a:rPr>
                        <a:t>Mostram formato e critério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F2937"/>
                          </a:solidFill>
                        </a:rPr>
                        <a:t>Três mensagens com categoria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F2937"/>
                          </a:solidFill>
                        </a:rPr>
                        <a:t>Entrada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F2937"/>
                          </a:solidFill>
                        </a:rPr>
                        <a:t>O dado a processar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F2937"/>
                          </a:solidFill>
                        </a:rPr>
                        <a:t>A mensagem do cliente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F2937"/>
                          </a:solidFill>
                        </a:rPr>
                        <a:t>Formato de saída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F2937"/>
                          </a:solidFill>
                        </a:rPr>
                        <a:t>Como responder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F2937"/>
                          </a:solidFill>
                        </a:rPr>
                        <a:t>Apenas JSON com campos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F2937"/>
                          </a:solidFill>
                        </a:rPr>
                        <a:t>Restrições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F2937"/>
                          </a:solidFill>
                        </a:rPr>
                        <a:t>Limites e regras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F2937"/>
                          </a:solidFill>
                        </a:rPr>
                        <a:t>Se faltar, responda 'não consta'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155680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Prompt montado por código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547104"/>
            <a:ext cx="82296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Grandes Modelos de Linguagem · Araken de Medeiros Santos · Capítulo 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6547104"/>
            <a:ext cx="9144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r"/>
            <a:r>
              <a:rPr sz="1100" b="0" i="0">
                <a:solidFill>
                  <a:srgbClr val="6B7280"/>
                </a:solidFill>
                <a:latin typeface="Calibri"/>
              </a:rPr>
              <a:t>6/32</a:t>
            </a:r>
          </a:p>
        </p:txBody>
      </p:sp>
      <p:pic>
        <p:nvPicPr>
          <p:cNvPr id="7" name="Picture 6" descr="f08_anatomi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20310" y="1143000"/>
            <a:ext cx="8720900" cy="45720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31520" y="5806440"/>
            <a:ext cx="10698480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400" b="0" i="1">
                <a:solidFill>
                  <a:srgbClr val="6B7280"/>
                </a:solidFill>
                <a:latin typeface="Calibri"/>
              </a:rPr>
              <a:t>Cada componente pode ser testado, versionado e substituído de forma independente.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155680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Um prompt condiciona, não programa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547104"/>
            <a:ext cx="82296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Grandes Modelos de Linguagem · Araken de Medeiros Santos · Capítulo 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6547104"/>
            <a:ext cx="9144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r"/>
            <a:r>
              <a:rPr sz="1100" b="0" i="0">
                <a:solidFill>
                  <a:srgbClr val="6B7280"/>
                </a:solidFill>
                <a:latin typeface="Calibri"/>
              </a:rPr>
              <a:t>7/32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280160"/>
            <a:ext cx="106984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79">
                <a:solidFill>
                  <a:srgbClr val="4F46E5"/>
                </a:solidFill>
                <a:latin typeface="Calibri"/>
              </a:rPr>
              <a:t>● </a:t>
            </a:r>
            <a:r>
              <a:rPr sz="2400">
                <a:solidFill>
                  <a:srgbClr val="1F2937"/>
                </a:solidFill>
                <a:latin typeface="Calibri"/>
              </a:rPr>
              <a:t>O prompt altera uma distribuição de probabilidade</a:t>
            </a:r>
          </a:p>
          <a:p>
            <a:pPr>
              <a:spcAft>
                <a:spcPts val="800"/>
              </a:spcAft>
            </a:pPr>
            <a:r>
              <a:rPr sz="1679">
                <a:solidFill>
                  <a:srgbClr val="4F46E5"/>
                </a:solidFill>
                <a:latin typeface="Calibri"/>
              </a:rPr>
              <a:t>● </a:t>
            </a:r>
            <a:r>
              <a:rPr sz="2400">
                <a:solidFill>
                  <a:srgbClr val="1F2937"/>
                </a:solidFill>
                <a:latin typeface="Calibri"/>
              </a:rPr>
              <a:t>Pode ser ignorado, mal interpretado ou seguido só em parte</a:t>
            </a:r>
          </a:p>
          <a:p>
            <a:pPr>
              <a:spcAft>
                <a:spcPts val="800"/>
              </a:spcAft>
            </a:pPr>
            <a:r>
              <a:rPr sz="1679">
                <a:solidFill>
                  <a:srgbClr val="4F46E5"/>
                </a:solidFill>
                <a:latin typeface="Calibri"/>
              </a:rPr>
              <a:t>● </a:t>
            </a:r>
            <a:r>
              <a:rPr sz="2400">
                <a:solidFill>
                  <a:srgbClr val="1F2937"/>
                </a:solidFill>
                <a:latin typeface="Calibri"/>
              </a:rPr>
              <a:t>O mesmo prompt pode variar entre modelos e entre versões</a:t>
            </a:r>
          </a:p>
          <a:p>
            <a:pPr>
              <a:spcAft>
                <a:spcPts val="800"/>
              </a:spcAft>
            </a:pPr>
            <a:r>
              <a:rPr sz="1679">
                <a:solidFill>
                  <a:srgbClr val="4F46E5"/>
                </a:solidFill>
                <a:latin typeface="Calibri"/>
              </a:rPr>
              <a:t>● </a:t>
            </a:r>
            <a:r>
              <a:rPr sz="2400">
                <a:solidFill>
                  <a:srgbClr val="1F2937"/>
                </a:solidFill>
                <a:latin typeface="Calibri"/>
              </a:rPr>
              <a:t>Instruções não são garantias</a:t>
            </a:r>
          </a:p>
          <a:p>
            <a:pPr>
              <a:spcAft>
                <a:spcPts val="800"/>
              </a:spcAft>
            </a:pPr>
            <a:r>
              <a:rPr sz="1679">
                <a:solidFill>
                  <a:srgbClr val="4F46E5"/>
                </a:solidFill>
                <a:latin typeface="Calibri"/>
              </a:rPr>
              <a:t>● </a:t>
            </a:r>
            <a:r>
              <a:rPr sz="2400">
                <a:solidFill>
                  <a:srgbClr val="1F2937"/>
                </a:solidFill>
                <a:latin typeface="Calibri"/>
              </a:rPr>
              <a:t>Todo prompt é uma hipótese a ser testada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155680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Princípios de especificação (1 a 4)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547104"/>
            <a:ext cx="82296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Grandes Modelos de Linguagem · Araken de Medeiros Santos · Capítulo 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6547104"/>
            <a:ext cx="9144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r"/>
            <a:r>
              <a:rPr sz="1100" b="0" i="0">
                <a:solidFill>
                  <a:srgbClr val="6B7280"/>
                </a:solidFill>
                <a:latin typeface="Calibri"/>
              </a:rPr>
              <a:t>8/32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280160"/>
            <a:ext cx="106984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39">
                <a:solidFill>
                  <a:srgbClr val="4F46E5"/>
                </a:solidFill>
                <a:latin typeface="Calibri"/>
              </a:rPr>
              <a:t>● </a:t>
            </a:r>
            <a:r>
              <a:rPr sz="2200">
                <a:solidFill>
                  <a:srgbClr val="1F2937"/>
                </a:solidFill>
                <a:latin typeface="Calibri"/>
              </a:rPr>
              <a:t>Diga o objetivo e o critério de sucesso</a:t>
            </a:r>
          </a:p>
          <a:p>
            <a:pPr>
              <a:spcAft>
                <a:spcPts val="800"/>
              </a:spcAft>
            </a:pPr>
            <a:r>
              <a:rPr sz="1539">
                <a:solidFill>
                  <a:srgbClr val="4F46E5"/>
                </a:solidFill>
                <a:latin typeface="Calibri"/>
              </a:rPr>
              <a:t>● </a:t>
            </a:r>
            <a:r>
              <a:rPr sz="2200">
                <a:solidFill>
                  <a:srgbClr val="1F2937"/>
                </a:solidFill>
                <a:latin typeface="Calibri"/>
              </a:rPr>
              <a:t>Dê o contexto necessário, e só ele</a:t>
            </a:r>
          </a:p>
          <a:p>
            <a:pPr>
              <a:spcAft>
                <a:spcPts val="800"/>
              </a:spcAft>
            </a:pPr>
            <a:r>
              <a:rPr sz="1539">
                <a:solidFill>
                  <a:srgbClr val="4F46E5"/>
                </a:solidFill>
                <a:latin typeface="Calibri"/>
              </a:rPr>
              <a:t>● </a:t>
            </a:r>
            <a:r>
              <a:rPr sz="2200">
                <a:solidFill>
                  <a:srgbClr val="1F2937"/>
                </a:solidFill>
                <a:latin typeface="Calibri"/>
              </a:rPr>
              <a:t>Seja específico sobre o formato: tamanho, estrutura, idioma, público</a:t>
            </a:r>
          </a:p>
          <a:p>
            <a:pPr>
              <a:spcAft>
                <a:spcPts val="800"/>
              </a:spcAft>
            </a:pPr>
            <a:r>
              <a:rPr sz="1539">
                <a:solidFill>
                  <a:srgbClr val="4F46E5"/>
                </a:solidFill>
                <a:latin typeface="Calibri"/>
              </a:rPr>
              <a:t>● </a:t>
            </a:r>
            <a:r>
              <a:rPr sz="2200">
                <a:solidFill>
                  <a:srgbClr val="1F2937"/>
                </a:solidFill>
                <a:latin typeface="Calibri"/>
              </a:rPr>
              <a:t>Prefira dizer o que fazer a dizer o que não fazer</a:t>
            </a:r>
          </a:p>
          <a:p>
            <a:pPr>
              <a:spcAft>
                <a:spcPts val="800"/>
              </a:spcAft>
            </a:pPr>
            <a:r>
              <a:rPr sz="1539">
                <a:solidFill>
                  <a:srgbClr val="4F46E5"/>
                </a:solidFill>
                <a:latin typeface="Calibri"/>
              </a:rPr>
              <a:t>● </a:t>
            </a:r>
            <a:r>
              <a:rPr sz="2200">
                <a:solidFill>
                  <a:srgbClr val="1F2937"/>
                </a:solidFill>
                <a:latin typeface="Calibri"/>
              </a:rPr>
              <a:t>"Responda em até 3 frases" funciona melhor que "não seja prolixo"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155680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Princípios de especificação (5 a 8)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547104"/>
            <a:ext cx="82296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Grandes Modelos de Linguagem · Araken de Medeiros Santos · Capítulo 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6547104"/>
            <a:ext cx="9144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r"/>
            <a:r>
              <a:rPr sz="1100" b="0" i="0">
                <a:solidFill>
                  <a:srgbClr val="6B7280"/>
                </a:solidFill>
                <a:latin typeface="Calibri"/>
              </a:rPr>
              <a:t>9/32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280160"/>
            <a:ext cx="106984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79">
                <a:solidFill>
                  <a:srgbClr val="4F46E5"/>
                </a:solidFill>
                <a:latin typeface="Calibri"/>
              </a:rPr>
              <a:t>● </a:t>
            </a:r>
            <a:r>
              <a:rPr sz="2400">
                <a:solidFill>
                  <a:srgbClr val="1F2937"/>
                </a:solidFill>
                <a:latin typeface="Calibri"/>
              </a:rPr>
              <a:t>Permita a abstenção: diga o que fazer se faltar informação</a:t>
            </a:r>
          </a:p>
          <a:p>
            <a:pPr>
              <a:spcAft>
                <a:spcPts val="800"/>
              </a:spcAft>
            </a:pPr>
            <a:r>
              <a:rPr sz="1679">
                <a:solidFill>
                  <a:srgbClr val="4F46E5"/>
                </a:solidFill>
                <a:latin typeface="Calibri"/>
              </a:rPr>
              <a:t>● </a:t>
            </a:r>
            <a:r>
              <a:rPr sz="2400">
                <a:solidFill>
                  <a:srgbClr val="1F2937"/>
                </a:solidFill>
                <a:latin typeface="Calibri"/>
              </a:rPr>
              <a:t>Separe instruções de dados com delimitadores</a:t>
            </a:r>
          </a:p>
          <a:p>
            <a:pPr>
              <a:spcAft>
                <a:spcPts val="800"/>
              </a:spcAft>
            </a:pPr>
            <a:r>
              <a:rPr sz="1679">
                <a:solidFill>
                  <a:srgbClr val="4F46E5"/>
                </a:solidFill>
                <a:latin typeface="Calibri"/>
              </a:rPr>
              <a:t>● </a:t>
            </a:r>
            <a:r>
              <a:rPr sz="2400">
                <a:solidFill>
                  <a:srgbClr val="1F2937"/>
                </a:solidFill>
                <a:latin typeface="Calibri"/>
              </a:rPr>
              <a:t>Peça evidências quando a correção importa</a:t>
            </a:r>
          </a:p>
          <a:p>
            <a:pPr>
              <a:spcAft>
                <a:spcPts val="800"/>
              </a:spcAft>
            </a:pPr>
            <a:r>
              <a:rPr sz="1679">
                <a:solidFill>
                  <a:srgbClr val="4F46E5"/>
                </a:solidFill>
                <a:latin typeface="Calibri"/>
              </a:rPr>
              <a:t>● </a:t>
            </a:r>
            <a:r>
              <a:rPr sz="2400">
                <a:solidFill>
                  <a:srgbClr val="1F2937"/>
                </a:solidFill>
                <a:latin typeface="Calibri"/>
              </a:rPr>
              <a:t>Peça uma coisa de cada vez, quando possível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155680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Reescrevendo um prompt vago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547104"/>
            <a:ext cx="82296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Grandes Modelos de Linguagem · Araken de Medeiros Santos · Capítulo 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6547104"/>
            <a:ext cx="9144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r"/>
            <a:r>
              <a:rPr sz="1100" b="0" i="0">
                <a:solidFill>
                  <a:srgbClr val="6B7280"/>
                </a:solidFill>
                <a:latin typeface="Calibri"/>
              </a:rPr>
              <a:t>10/32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371600"/>
          <a:ext cx="1106424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88080"/>
                <a:gridCol w="3688080"/>
                <a:gridCol w="3688080"/>
              </a:tblGrid>
              <a:tr h="457200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Versão</a:t>
                      </a:r>
                    </a:p>
                  </a:txBody>
                  <a:tcPr>
                    <a:solidFill>
                      <a:srgbClr val="4F46E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Prompt</a:t>
                      </a:r>
                    </a:p>
                  </a:txBody>
                  <a:tcPr>
                    <a:solidFill>
                      <a:srgbClr val="4F46E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Problema</a:t>
                      </a:r>
                    </a:p>
                  </a:txBody>
                  <a:tcPr>
                    <a:solidFill>
                      <a:srgbClr val="4F46E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F2937"/>
                          </a:solidFill>
                        </a:rPr>
                        <a:t>Vaga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F2937"/>
                          </a:solidFill>
                        </a:rPr>
                        <a:t>Classifique esta mensagem.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F2937"/>
                          </a:solidFill>
                        </a:rPr>
                        <a:t>Sem categorias, formato nem abstenção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F2937"/>
                          </a:solidFill>
                        </a:rPr>
                        <a:t>Melhor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F2937"/>
                          </a:solidFill>
                        </a:rPr>
                        <a:t>Classifique em UMA categoria; se nenhuma servir, responda 'indefinido'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F2937"/>
                          </a:solidFill>
                        </a:rPr>
                        <a:t>Falta o formato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F2937"/>
                          </a:solidFill>
                        </a:rPr>
                        <a:t>Melhor ainda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F2937"/>
                          </a:solidFill>
                        </a:rPr>
                        <a:t>Idem, e responda só com JSON: intenção e evidência literal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F2937"/>
                          </a:solidFill>
                        </a:rPr>
                        <a:t>Formato verificável; evidência checável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155680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Código: montando o prompt por componentes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547104"/>
            <a:ext cx="82296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Grandes Modelos de Linguagem · Araken de Medeiros Santos · Capítulo 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6547104"/>
            <a:ext cx="9144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r"/>
            <a:r>
              <a:rPr sz="1100" b="0" i="0">
                <a:solidFill>
                  <a:srgbClr val="6B7280"/>
                </a:solidFill>
                <a:latin typeface="Calibri"/>
              </a:rPr>
              <a:t>11/32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188720"/>
            <a:ext cx="11247120" cy="3566160"/>
          </a:xfrm>
          <a:prstGeom prst="roundRect">
            <a:avLst/>
          </a:prstGeom>
          <a:solidFill>
            <a:srgbClr val="1E1B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280160"/>
            <a:ext cx="10881360" cy="33832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00" b="0" i="0">
                <a:solidFill>
                  <a:srgbClr val="E0E7FF"/>
                </a:solidFill>
                <a:latin typeface="Consolas"/>
              </a:rPr>
              <a:t>def montar_prompt(mensagem, papel=True, categorias=True,</a:t>
            </a:r>
          </a:p>
          <a:p>
            <a:pPr algn="l"/>
            <a:r>
              <a:rPr sz="1300" b="0" i="0">
                <a:solidFill>
                  <a:srgbClr val="E0E7FF"/>
                </a:solidFill>
                <a:latin typeface="Consolas"/>
              </a:rPr>
              <a:t>                  formato_json=True, exemplos=()):</a:t>
            </a:r>
          </a:p>
          <a:p>
            <a:pPr algn="l"/>
            <a:r>
              <a:rPr sz="1300" b="0" i="0">
                <a:solidFill>
                  <a:srgbClr val="E0E7FF"/>
                </a:solidFill>
                <a:latin typeface="Consolas"/>
              </a:rPr>
              <a:t>    partes = []</a:t>
            </a:r>
          </a:p>
          <a:p>
            <a:pPr algn="l"/>
            <a:r>
              <a:rPr sz="1300" b="0" i="0">
                <a:solidFill>
                  <a:srgbClr val="E0E7FF"/>
                </a:solidFill>
                <a:latin typeface="Consolas"/>
              </a:rPr>
              <a:t>    if papel: partes.append("Você é um assistente de triagem ...")</a:t>
            </a:r>
          </a:p>
          <a:p>
            <a:pPr algn="l"/>
            <a:r>
              <a:rPr sz="1300" b="0" i="0">
                <a:solidFill>
                  <a:srgbClr val="E0E7FF"/>
                </a:solidFill>
                <a:latin typeface="Consolas"/>
              </a:rPr>
              <a:t>    ...   # tarefa, categorias, exemplos (trecho resumido)</a:t>
            </a:r>
          </a:p>
          <a:p>
            <a:pPr algn="l"/>
            <a:r>
              <a:rPr sz="1300" b="0" i="0">
                <a:solidFill>
                  <a:srgbClr val="E0E7FF"/>
                </a:solidFill>
                <a:latin typeface="Consolas"/>
              </a:rPr>
              <a:t>    partes.append('Responda apenas com JSON: {"intencao": ..., "evidencia": ...}')</a:t>
            </a:r>
          </a:p>
          <a:p>
            <a:pPr algn="l"/>
            <a:r>
              <a:rPr sz="1300" b="0" i="0">
                <a:solidFill>
                  <a:srgbClr val="E0E7FF"/>
                </a:solidFill>
                <a:latin typeface="Consolas"/>
              </a:rPr>
              <a:t>    partes.append(f"Mensagem: &lt;&lt;&lt;{mensagem}&gt;&gt;&gt;")</a:t>
            </a:r>
          </a:p>
          <a:p>
            <a:pPr algn="l"/>
            <a:r>
              <a:rPr sz="1300" b="0" i="0">
                <a:solidFill>
                  <a:srgbClr val="E0E7FF"/>
                </a:solidFill>
                <a:latin typeface="Consolas"/>
              </a:rPr>
              <a:t>    return "\n\n".join(partes)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4846320"/>
            <a:ext cx="11247120" cy="1463040"/>
          </a:xfrm>
          <a:prstGeom prst="roundRect">
            <a:avLst/>
          </a:prstGeom>
          <a:solidFill>
            <a:srgbClr val="064E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4892040"/>
            <a:ext cx="10881360" cy="1371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200" b="0" i="0">
                <a:solidFill>
                  <a:srgbClr val="D1FAE5"/>
                </a:solidFill>
                <a:latin typeface="Consolas"/>
              </a:rPr>
              <a:t>Saída real:</a:t>
            </a:r>
          </a:p>
          <a:p>
            <a:pPr algn="l"/>
            <a:r>
              <a:rPr sz="1200" b="0" i="0">
                <a:solidFill>
                  <a:srgbClr val="D1FAE5"/>
                </a:solidFill>
                <a:latin typeface="Consolas"/>
              </a:rPr>
              <a:t>identificador do prompt (hash curto): 0dd3324fd8</a:t>
            </a:r>
          </a:p>
          <a:p>
            <a:pPr algn="l"/>
            <a:r>
              <a:rPr sz="1200" b="0" i="0">
                <a:solidFill>
                  <a:srgbClr val="D1FAE5"/>
                </a:solidFill>
                <a:latin typeface="Consolas"/>
              </a:rPr>
              <a:t>número de caracteres: 512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155680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Analogia: a receita com foto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547104"/>
            <a:ext cx="82296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Grandes Modelos de Linguagem · Araken de Medeiros Santos · Capítulo 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6547104"/>
            <a:ext cx="9144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r"/>
            <a:r>
              <a:rPr sz="1100" b="0" i="0">
                <a:solidFill>
                  <a:srgbClr val="6B7280"/>
                </a:solidFill>
                <a:latin typeface="Calibri"/>
              </a:rPr>
              <a:t>12/32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371600"/>
            <a:ext cx="10881360" cy="2377440"/>
          </a:xfrm>
          <a:prstGeom prst="roundRect">
            <a:avLst/>
          </a:prstGeom>
          <a:solidFill>
            <a:srgbClr val="CFFAFE"/>
          </a:solidFill>
          <a:ln>
            <a:solidFill>
              <a:srgbClr val="06B6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463040"/>
            <a:ext cx="10332720" cy="21945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2600" b="1" i="0">
                <a:solidFill>
                  <a:srgbClr val="1F2937"/>
                </a:solidFill>
                <a:latin typeface="Calibri"/>
              </a:rPr>
              <a:t>Quando a descrição não basta, mostre a foto do prato pronto.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4023360"/>
            <a:ext cx="10515600" cy="21945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100" b="0" i="0">
                <a:solidFill>
                  <a:srgbClr val="1F2937"/>
                </a:solidFill>
                <a:latin typeface="Calibri"/>
              </a:rPr>
              <a:t>Exemplos no prompt (few-shot) fazem o papel da foto: o modelo imita o formato e o critério mostrados. Foto errada ensina o erro; foto só de bolos fáceis não prepara para os difíceis.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155680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Exemplos: sensibilidade à ordem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547104"/>
            <a:ext cx="82296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Grandes Modelos de Linguagem · Araken de Medeiros Santos · Capítulo 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6547104"/>
            <a:ext cx="9144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r"/>
            <a:r>
              <a:rPr sz="1100" b="0" i="0">
                <a:solidFill>
                  <a:srgbClr val="6B7280"/>
                </a:solidFill>
                <a:latin typeface="Calibri"/>
              </a:rPr>
              <a:t>13/32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280160"/>
            <a:ext cx="106984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79">
                <a:solidFill>
                  <a:srgbClr val="4F46E5"/>
                </a:solidFill>
                <a:latin typeface="Calibri"/>
              </a:rPr>
              <a:t>● </a:t>
            </a:r>
            <a:r>
              <a:rPr sz="2400">
                <a:solidFill>
                  <a:srgbClr val="1F2937"/>
                </a:solidFill>
                <a:latin typeface="Calibri"/>
              </a:rPr>
              <a:t>Resultados podem depender da ordem, do rótulo mais frequente e do último exemplo</a:t>
            </a:r>
          </a:p>
          <a:p>
            <a:pPr>
              <a:spcAft>
                <a:spcPts val="800"/>
              </a:spcAft>
            </a:pPr>
            <a:r>
              <a:rPr sz="1679">
                <a:solidFill>
                  <a:srgbClr val="4F46E5"/>
                </a:solidFill>
                <a:latin typeface="Calibri"/>
              </a:rPr>
              <a:t>● </a:t>
            </a:r>
            <a:r>
              <a:rPr sz="2400">
                <a:solidFill>
                  <a:srgbClr val="1F2937"/>
                </a:solidFill>
                <a:latin typeface="Calibri"/>
              </a:rPr>
              <a:t>Zhao et al. (2021) e Lu et al. (2022): permutações mudam a acurácia em alguns modelos</a:t>
            </a:r>
          </a:p>
          <a:p>
            <a:pPr>
              <a:spcAft>
                <a:spcPts val="800"/>
              </a:spcAft>
            </a:pPr>
            <a:r>
              <a:rPr sz="1679">
                <a:solidFill>
                  <a:srgbClr val="4F46E5"/>
                </a:solidFill>
                <a:latin typeface="Calibri"/>
              </a:rPr>
              <a:t>● </a:t>
            </a:r>
            <a:r>
              <a:rPr sz="2400">
                <a:solidFill>
                  <a:srgbClr val="1F2937"/>
                </a:solidFill>
                <a:latin typeface="Calibri"/>
              </a:rPr>
              <a:t>Não conclua nada de uma única ordem</a:t>
            </a:r>
          </a:p>
          <a:p>
            <a:pPr>
              <a:spcAft>
                <a:spcPts val="800"/>
              </a:spcAft>
            </a:pPr>
            <a:r>
              <a:rPr sz="1679">
                <a:solidFill>
                  <a:srgbClr val="4F46E5"/>
                </a:solidFill>
                <a:latin typeface="Calibri"/>
              </a:rPr>
              <a:t>● </a:t>
            </a:r>
            <a:r>
              <a:rPr sz="2400">
                <a:solidFill>
                  <a:srgbClr val="1F2937"/>
                </a:solidFill>
                <a:latin typeface="Calibri"/>
              </a:rPr>
              <a:t>Teste algumas ordens e relate a variação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155680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Código: prompt com documentos e delimitadores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547104"/>
            <a:ext cx="82296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Grandes Modelos de Linguagem · Araken de Medeiros Santos · Capítulo 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6547104"/>
            <a:ext cx="9144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r"/>
            <a:r>
              <a:rPr sz="1100" b="0" i="0">
                <a:solidFill>
                  <a:srgbClr val="6B7280"/>
                </a:solidFill>
                <a:latin typeface="Calibri"/>
              </a:rPr>
              <a:t>14/32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188720"/>
            <a:ext cx="11247120" cy="3566160"/>
          </a:xfrm>
          <a:prstGeom prst="roundRect">
            <a:avLst/>
          </a:prstGeom>
          <a:solidFill>
            <a:srgbClr val="1E1B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280160"/>
            <a:ext cx="10881360" cy="33832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00" b="0" i="0">
                <a:solidFill>
                  <a:srgbClr val="E0E7FF"/>
                </a:solidFill>
                <a:latin typeface="Consolas"/>
              </a:rPr>
              <a:t>def montar_prompt_documentos(pergunta, documentos):</a:t>
            </a:r>
          </a:p>
          <a:p>
            <a:pPr algn="l"/>
            <a:r>
              <a:rPr sz="1300" b="0" i="0">
                <a:solidFill>
                  <a:srgbClr val="E0E7FF"/>
                </a:solidFill>
                <a:latin typeface="Consolas"/>
              </a:rPr>
              <a:t>    corpo = "\n".join(f'&lt;documento id="{i}"&gt;\n{t}\n&lt;/documento&gt;'</a:t>
            </a:r>
          </a:p>
          <a:p>
            <a:pPr algn="l"/>
            <a:r>
              <a:rPr sz="1300" b="0" i="0">
                <a:solidFill>
                  <a:srgbClr val="E0E7FF"/>
                </a:solidFill>
                <a:latin typeface="Consolas"/>
              </a:rPr>
              <a:t>                      for i, t in documentos)</a:t>
            </a:r>
          </a:p>
          <a:p>
            <a:pPr algn="l"/>
            <a:r>
              <a:rPr sz="1300" b="0" i="0">
                <a:solidFill>
                  <a:srgbClr val="E0E7FF"/>
                </a:solidFill>
                <a:latin typeface="Consolas"/>
              </a:rPr>
              <a:t>    return ("Responda usando APENAS os documentos abaixo. Cite o id. "</a:t>
            </a:r>
          </a:p>
          <a:p>
            <a:pPr algn="l"/>
            <a:r>
              <a:rPr sz="1300" b="0" i="0">
                <a:solidFill>
                  <a:srgbClr val="E0E7FF"/>
                </a:solidFill>
                <a:latin typeface="Consolas"/>
              </a:rPr>
              <a:t>            "Se a resposta não estiver nos documentos, responda "</a:t>
            </a:r>
          </a:p>
          <a:p>
            <a:pPr algn="l"/>
            <a:r>
              <a:rPr sz="1300" b="0" i="0">
                <a:solidFill>
                  <a:srgbClr val="E0E7FF"/>
                </a:solidFill>
                <a:latin typeface="Consolas"/>
              </a:rPr>
              <a:t>            "exatamente: não consta.\n\n"</a:t>
            </a:r>
          </a:p>
          <a:p>
            <a:pPr algn="l"/>
            <a:r>
              <a:rPr sz="1300" b="0" i="0">
                <a:solidFill>
                  <a:srgbClr val="E0E7FF"/>
                </a:solidFill>
                <a:latin typeface="Consolas"/>
              </a:rPr>
              <a:t>            f"{corpo}\n\nPergunta: {pergunta}\nResposta:")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4846320"/>
            <a:ext cx="11247120" cy="1463040"/>
          </a:xfrm>
          <a:prstGeom prst="roundRect">
            <a:avLst/>
          </a:prstGeom>
          <a:solidFill>
            <a:srgbClr val="064E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4892040"/>
            <a:ext cx="10881360" cy="1371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200" b="0" i="0">
                <a:solidFill>
                  <a:srgbClr val="D1FAE5"/>
                </a:solidFill>
                <a:latin typeface="Consolas"/>
              </a:rPr>
              <a:t>Saída real:</a:t>
            </a:r>
          </a:p>
          <a:p>
            <a:pPr algn="l"/>
            <a:r>
              <a:rPr sz="1200" b="0" i="0">
                <a:solidFill>
                  <a:srgbClr val="D1FAE5"/>
                </a:solidFill>
                <a:latin typeface="Consolas"/>
              </a:rPr>
              <a:t>&lt;documento id="D12"&gt;</a:t>
            </a:r>
          </a:p>
          <a:p>
            <a:pPr algn="l"/>
            <a:r>
              <a:rPr sz="1200" b="0" i="0">
                <a:solidFill>
                  <a:srgbClr val="D1FAE5"/>
                </a:solidFill>
                <a:latin typeface="Consolas"/>
              </a:rPr>
              <a:t>O atraso na devolução gera multa de R$ 1,50 por dia e por exemplar.</a:t>
            </a:r>
          </a:p>
          <a:p>
            <a:pPr algn="l"/>
            <a:r>
              <a:rPr sz="1200" b="0" i="0">
                <a:solidFill>
                  <a:srgbClr val="D1FAE5"/>
                </a:solidFill>
                <a:latin typeface="Consolas"/>
              </a:rPr>
              <a:t>...</a:t>
            </a:r>
          </a:p>
          <a:p>
            <a:pPr algn="l"/>
            <a:r>
              <a:rPr sz="1200" b="0" i="0">
                <a:solidFill>
                  <a:srgbClr val="D1FAE5"/>
                </a:solidFill>
                <a:latin typeface="Consolas"/>
              </a:rPr>
              <a:t>Pergunta: Qual a multa por atraso?</a:t>
            </a:r>
          </a:p>
          <a:p>
            <a:pPr algn="l"/>
            <a:r>
              <a:rPr sz="1200" b="0" i="0">
                <a:solidFill>
                  <a:srgbClr val="D1FAE5"/>
                </a:solidFill>
                <a:latin typeface="Consolas"/>
              </a:rPr>
              <a:t>Resposta: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155680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Analogia: a linha de montagem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547104"/>
            <a:ext cx="82296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Grandes Modelos de Linguagem · Araken de Medeiros Santos · Capítulo 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6547104"/>
            <a:ext cx="9144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r"/>
            <a:r>
              <a:rPr sz="1100" b="0" i="0">
                <a:solidFill>
                  <a:srgbClr val="6B7280"/>
                </a:solidFill>
                <a:latin typeface="Calibri"/>
              </a:rPr>
              <a:t>15/32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371600"/>
            <a:ext cx="10881360" cy="2377440"/>
          </a:xfrm>
          <a:prstGeom prst="roundRect">
            <a:avLst/>
          </a:prstGeom>
          <a:solidFill>
            <a:srgbClr val="CFFAFE"/>
          </a:solidFill>
          <a:ln>
            <a:solidFill>
              <a:srgbClr val="06B6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463040"/>
            <a:ext cx="10332720" cy="21945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2600" b="1" i="0">
                <a:solidFill>
                  <a:srgbClr val="1F2937"/>
                </a:solidFill>
                <a:latin typeface="Calibri"/>
              </a:rPr>
              <a:t>Uma tarefa grande, dividida em estações, é mais fácil de conferir.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4023360"/>
            <a:ext cx="10515600" cy="21945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100" b="0" i="0">
                <a:solidFill>
                  <a:srgbClr val="1F2937"/>
                </a:solidFill>
                <a:latin typeface="Calibri"/>
              </a:rPr>
              <a:t>Estação 1 extrai os fatos; estação 2 valida por regras; estação 3 redige usando só os fatos validados. Se algo sai errado, você sabe em que estação. O preço: mais chamadas e mais tempo de espera.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155680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Explicações geradas não são acesso ao raciocínio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547104"/>
            <a:ext cx="82296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Grandes Modelos de Linguagem · Araken de Medeiros Santos · Capítulo 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6547104"/>
            <a:ext cx="9144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r"/>
            <a:r>
              <a:rPr sz="1100" b="0" i="0">
                <a:solidFill>
                  <a:srgbClr val="6B7280"/>
                </a:solidFill>
                <a:latin typeface="Calibri"/>
              </a:rPr>
              <a:t>16/32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280160"/>
            <a:ext cx="106984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39">
                <a:solidFill>
                  <a:srgbClr val="4F46E5"/>
                </a:solidFill>
                <a:latin typeface="Calibri"/>
              </a:rPr>
              <a:t>● </a:t>
            </a:r>
            <a:r>
              <a:rPr sz="2200">
                <a:solidFill>
                  <a:srgbClr val="1F2937"/>
                </a:solidFill>
                <a:latin typeface="Calibri"/>
              </a:rPr>
              <a:t>"Pense passo a passo" melhorou modelos grandes em raciocínio (Wei et al., 2022)</a:t>
            </a:r>
          </a:p>
          <a:p>
            <a:pPr>
              <a:spcAft>
                <a:spcPts val="800"/>
              </a:spcAft>
            </a:pPr>
            <a:r>
              <a:rPr sz="1539">
                <a:solidFill>
                  <a:srgbClr val="4F46E5"/>
                </a:solidFill>
                <a:latin typeface="Calibri"/>
              </a:rPr>
              <a:t>● </a:t>
            </a:r>
            <a:r>
              <a:rPr sz="2200">
                <a:solidFill>
                  <a:srgbClr val="1F2937"/>
                </a:solidFill>
                <a:latin typeface="Calibri"/>
              </a:rPr>
              <a:t>Votar entre vários raciocínios melhora mais (Wang et al., 2023)</a:t>
            </a:r>
          </a:p>
          <a:p>
            <a:pPr>
              <a:spcAft>
                <a:spcPts val="800"/>
              </a:spcAft>
            </a:pPr>
            <a:r>
              <a:rPr sz="1539">
                <a:solidFill>
                  <a:srgbClr val="4F46E5"/>
                </a:solidFill>
                <a:latin typeface="Calibri"/>
              </a:rPr>
              <a:t>● </a:t>
            </a:r>
            <a:r>
              <a:rPr sz="2200">
                <a:solidFill>
                  <a:srgbClr val="1F2937"/>
                </a:solidFill>
                <a:latin typeface="Calibri"/>
              </a:rPr>
              <a:t>Mas a explicação escrita não é acesso fiel ao processo interno</a:t>
            </a:r>
          </a:p>
          <a:p>
            <a:pPr>
              <a:spcAft>
                <a:spcPts val="800"/>
              </a:spcAft>
            </a:pPr>
            <a:r>
              <a:rPr sz="1539">
                <a:solidFill>
                  <a:srgbClr val="4F46E5"/>
                </a:solidFill>
                <a:latin typeface="Calibri"/>
              </a:rPr>
              <a:t>● </a:t>
            </a:r>
            <a:r>
              <a:rPr sz="2200">
                <a:solidFill>
                  <a:srgbClr val="1F2937"/>
                </a:solidFill>
                <a:latin typeface="Calibri"/>
              </a:rPr>
              <a:t>Turpin et al. (2023): fatores não mencionados podem influenciar a resposta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155680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Em vez de explicação, peça algo verificável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547104"/>
            <a:ext cx="82296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Grandes Modelos de Linguagem · Araken de Medeiros Santos · Capítulo 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6547104"/>
            <a:ext cx="9144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r"/>
            <a:r>
              <a:rPr sz="1100" b="0" i="0">
                <a:solidFill>
                  <a:srgbClr val="6B7280"/>
                </a:solidFill>
                <a:latin typeface="Calibri"/>
              </a:rPr>
              <a:t>17/32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371600"/>
          <a:ext cx="1106424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88080"/>
                <a:gridCol w="3688080"/>
                <a:gridCol w="3688080"/>
              </a:tblGrid>
              <a:tr h="457200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Em vez de...</a:t>
                      </a:r>
                    </a:p>
                  </a:txBody>
                  <a:tcPr>
                    <a:solidFill>
                      <a:srgbClr val="4F46E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Peça...</a:t>
                      </a:r>
                    </a:p>
                  </a:txBody>
                  <a:tcPr>
                    <a:solidFill>
                      <a:srgbClr val="4F46E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Como verificar</a:t>
                      </a:r>
                    </a:p>
                  </a:txBody>
                  <a:tcPr>
                    <a:solidFill>
                      <a:srgbClr val="4F46E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F2937"/>
                          </a:solidFill>
                        </a:rPr>
                        <a:t>Explique por que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F2937"/>
                          </a:solidFill>
                        </a:rPr>
                        <a:t>Citação literal da fonte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F2937"/>
                          </a:solidFill>
                        </a:rPr>
                        <a:t>Buscar a citação no documento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F2937"/>
                          </a:solidFill>
                        </a:rPr>
                        <a:t>Calcule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F2937"/>
                          </a:solidFill>
                        </a:rPr>
                        <a:t>O cálculo explícito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F2937"/>
                          </a:solidFill>
                        </a:rPr>
                        <a:t>Refazer a conta em código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F2937"/>
                          </a:solidFill>
                        </a:rPr>
                        <a:t>Confie em mim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F2937"/>
                          </a:solidFill>
                        </a:rPr>
                        <a:t>Evidências com origem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F2937"/>
                          </a:solidFill>
                        </a:rPr>
                        <a:t>Conferir cada fato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F2937"/>
                          </a:solidFill>
                        </a:rPr>
                        <a:t>Tenho certeza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F2937"/>
                          </a:solidFill>
                        </a:rPr>
                        <a:t>Abstenção se faltar informação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F2937"/>
                          </a:solidFill>
                        </a:rPr>
                        <a:t>Testar com perguntas sem resposta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F2937"/>
                          </a:solidFill>
                        </a:rPr>
                        <a:t>Resposta em etapas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F2937"/>
                          </a:solidFill>
                        </a:rPr>
                        <a:t>Resultado de cada etapa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F2937"/>
                          </a:solidFill>
                        </a:rPr>
                        <a:t>Validar cada campo por regra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155680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Código: verificando citações e cálculos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547104"/>
            <a:ext cx="82296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Grandes Modelos de Linguagem · Araken de Medeiros Santos · Capítulo 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6547104"/>
            <a:ext cx="9144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r"/>
            <a:r>
              <a:rPr sz="1100" b="0" i="0">
                <a:solidFill>
                  <a:srgbClr val="6B7280"/>
                </a:solidFill>
                <a:latin typeface="Calibri"/>
              </a:rPr>
              <a:t>18/32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188720"/>
            <a:ext cx="11247120" cy="3566160"/>
          </a:xfrm>
          <a:prstGeom prst="roundRect">
            <a:avLst/>
          </a:prstGeom>
          <a:solidFill>
            <a:srgbClr val="1E1B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280160"/>
            <a:ext cx="10881360" cy="33832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00" b="0" i="0">
                <a:solidFill>
                  <a:srgbClr val="E0E7FF"/>
                </a:solidFill>
                <a:latin typeface="Consolas"/>
              </a:rPr>
              <a:t>def citacao_existe(citacao, documento):</a:t>
            </a:r>
          </a:p>
          <a:p>
            <a:pPr algn="l"/>
            <a:r>
              <a:rPr sz="1300" b="0" i="0">
                <a:solidFill>
                  <a:srgbClr val="E0E7FF"/>
                </a:solidFill>
                <a:latin typeface="Consolas"/>
              </a:rPr>
              <a:t>    return normalizar(citacao) in normalizar(documento)</a:t>
            </a:r>
          </a:p>
          <a:p>
            <a:pPr algn="l"/>
            <a:r>
              <a:rPr sz="1300" b="0" i="0">
                <a:solidFill>
                  <a:srgbClr val="E0E7FF"/>
                </a:solidFill>
                <a:latin typeface="Consolas"/>
              </a:rPr>
              <a:t/>
            </a:r>
          </a:p>
          <a:p>
            <a:pPr algn="l"/>
            <a:r>
              <a:rPr sz="1300" b="0" i="0">
                <a:solidFill>
                  <a:srgbClr val="E0E7FF"/>
                </a:solidFill>
                <a:latin typeface="Consolas"/>
              </a:rPr>
              <a:t>def conferir_calculo(atraso_dias, exemplares, multa_dia,</a:t>
            </a:r>
          </a:p>
          <a:p>
            <a:pPr algn="l"/>
            <a:r>
              <a:rPr sz="1300" b="0" i="0">
                <a:solidFill>
                  <a:srgbClr val="E0E7FF"/>
                </a:solidFill>
                <a:latin typeface="Consolas"/>
              </a:rPr>
              <a:t>                     total_informado, tol=0.01):</a:t>
            </a:r>
          </a:p>
          <a:p>
            <a:pPr algn="l"/>
            <a:r>
              <a:rPr sz="1300" b="0" i="0">
                <a:solidFill>
                  <a:srgbClr val="E0E7FF"/>
                </a:solidFill>
                <a:latin typeface="Consolas"/>
              </a:rPr>
              <a:t>    esperado = atraso_dias * exemplares * multa_dia</a:t>
            </a:r>
          </a:p>
          <a:p>
            <a:pPr algn="l"/>
            <a:r>
              <a:rPr sz="1300" b="0" i="0">
                <a:solidFill>
                  <a:srgbClr val="E0E7FF"/>
                </a:solidFill>
                <a:latin typeface="Consolas"/>
              </a:rPr>
              <a:t>    return abs(esperado - total_informado) &lt;= tol, esperado</a:t>
            </a:r>
          </a:p>
          <a:p>
            <a:pPr algn="l"/>
            <a:r>
              <a:rPr sz="1300" b="0" i="0">
                <a:solidFill>
                  <a:srgbClr val="E0E7FF"/>
                </a:solidFill>
                <a:latin typeface="Consolas"/>
              </a:rPr>
              <a:t># respostas do "modelo": escritas à mão, para ilustrar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4846320"/>
            <a:ext cx="11247120" cy="1463040"/>
          </a:xfrm>
          <a:prstGeom prst="roundRect">
            <a:avLst/>
          </a:prstGeom>
          <a:solidFill>
            <a:srgbClr val="064E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4892040"/>
            <a:ext cx="10881360" cy="1371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200" b="0" i="0">
                <a:solidFill>
                  <a:srgbClr val="D1FAE5"/>
                </a:solidFill>
                <a:latin typeface="Consolas"/>
              </a:rPr>
              <a:t>Saída real:</a:t>
            </a:r>
          </a:p>
          <a:p>
            <a:pPr algn="l"/>
            <a:r>
              <a:rPr sz="1200" b="0" i="0">
                <a:solidFill>
                  <a:srgbClr val="D1FAE5"/>
                </a:solidFill>
                <a:latin typeface="Consolas"/>
              </a:rPr>
              <a:t>citação verificada=True  | resposta: R$ 1,50 por dia e por exemplar</a:t>
            </a:r>
          </a:p>
          <a:p>
            <a:pPr algn="l"/>
            <a:r>
              <a:rPr sz="1200" b="0" i="0">
                <a:solidFill>
                  <a:srgbClr val="D1FAE5"/>
                </a:solidFill>
                <a:latin typeface="Consolas"/>
              </a:rPr>
              <a:t>citação verificada=False | resposta: R$ 2,00 por dia</a:t>
            </a:r>
          </a:p>
          <a:p>
            <a:pPr algn="l"/>
            <a:r>
              <a:rPr sz="1200" b="0" i="0">
                <a:solidFill>
                  <a:srgbClr val="D1FAE5"/>
                </a:solidFill>
                <a:latin typeface="Consolas"/>
              </a:rPr>
              <a:t>citação verificada=True  | resposta: suspensão ao passar de R$ 30,00</a:t>
            </a:r>
          </a:p>
          <a:p>
            <a:pPr algn="l"/>
            <a:r>
              <a:rPr sz="1200" b="0" i="0">
                <a:solidFill>
                  <a:srgbClr val="D1FAE5"/>
                </a:solidFill>
                <a:latin typeface="Consolas"/>
              </a:rPr>
              <a:t>total informado R$ 31.50 | esperado R$ 31.50 | correto=True</a:t>
            </a:r>
          </a:p>
          <a:p>
            <a:pPr algn="l"/>
            <a:r>
              <a:rPr sz="1200" b="0" i="0">
                <a:solidFill>
                  <a:srgbClr val="D1FAE5"/>
                </a:solidFill>
                <a:latin typeface="Consolas"/>
              </a:rPr>
              <a:t>total informado R$ 21.00 | esperado R$ 31.50 | correto=False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155680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Verificar os artefatos, não a explicação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547104"/>
            <a:ext cx="82296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Grandes Modelos de Linguagem · Araken de Medeiros Santos · Capítulo 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6547104"/>
            <a:ext cx="9144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r"/>
            <a:r>
              <a:rPr sz="1100" b="0" i="0">
                <a:solidFill>
                  <a:srgbClr val="6B7280"/>
                </a:solidFill>
                <a:latin typeface="Calibri"/>
              </a:rPr>
              <a:t>19/32</a:t>
            </a:r>
          </a:p>
        </p:txBody>
      </p:sp>
      <p:pic>
        <p:nvPicPr>
          <p:cNvPr id="7" name="Picture 6" descr="f08_veri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4935" y="1143000"/>
            <a:ext cx="10611650" cy="45720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31520" y="5806440"/>
            <a:ext cx="10698480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400" b="0" i="1">
                <a:solidFill>
                  <a:srgbClr val="6B7280"/>
                </a:solidFill>
                <a:latin typeface="Calibri"/>
              </a:rPr>
              <a:t>Citações, cálculos, campos estruturados e abstenções: cada artefato entregue pelo modelo é verificado.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155680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Saídas estruturadas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547104"/>
            <a:ext cx="82296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Grandes Modelos de Linguagem · Araken de Medeiros Santos · Capítulo 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6547104"/>
            <a:ext cx="9144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r"/>
            <a:r>
              <a:rPr sz="1100" b="0" i="0">
                <a:solidFill>
                  <a:srgbClr val="6B7280"/>
                </a:solidFill>
                <a:latin typeface="Calibri"/>
              </a:rPr>
              <a:t>20/32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280160"/>
            <a:ext cx="106984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39">
                <a:solidFill>
                  <a:srgbClr val="4F46E5"/>
                </a:solidFill>
                <a:latin typeface="Calibri"/>
              </a:rPr>
              <a:t>● </a:t>
            </a:r>
            <a:r>
              <a:rPr sz="2200">
                <a:solidFill>
                  <a:srgbClr val="1F2937"/>
                </a:solidFill>
                <a:latin typeface="Calibri"/>
              </a:rPr>
              <a:t>Peça JSON com campos, tipos e valores permitidos definidos</a:t>
            </a:r>
          </a:p>
          <a:p>
            <a:pPr>
              <a:spcAft>
                <a:spcPts val="800"/>
              </a:spcAft>
            </a:pPr>
            <a:r>
              <a:rPr sz="1539">
                <a:solidFill>
                  <a:srgbClr val="4F46E5"/>
                </a:solidFill>
                <a:latin typeface="Calibri"/>
              </a:rPr>
              <a:t>● </a:t>
            </a:r>
            <a:r>
              <a:rPr sz="2200">
                <a:solidFill>
                  <a:srgbClr val="1F2937"/>
                </a:solidFill>
                <a:latin typeface="Calibri"/>
              </a:rPr>
              <a:t>Valide sempre: nunca confie que o JSON seja válido</a:t>
            </a:r>
          </a:p>
          <a:p>
            <a:pPr>
              <a:spcAft>
                <a:spcPts val="800"/>
              </a:spcAft>
            </a:pPr>
            <a:r>
              <a:rPr sz="1539">
                <a:solidFill>
                  <a:srgbClr val="4F46E5"/>
                </a:solidFill>
                <a:latin typeface="Calibri"/>
              </a:rPr>
              <a:t>● </a:t>
            </a:r>
            <a:r>
              <a:rPr sz="2200">
                <a:solidFill>
                  <a:srgbClr val="1F2937"/>
                </a:solidFill>
                <a:latin typeface="Calibri"/>
              </a:rPr>
              <a:t>Em caso de falha, reenvie o erro, com limite de tentativas</a:t>
            </a:r>
          </a:p>
          <a:p>
            <a:pPr>
              <a:spcAft>
                <a:spcPts val="800"/>
              </a:spcAft>
            </a:pPr>
            <a:r>
              <a:rPr sz="1539">
                <a:solidFill>
                  <a:srgbClr val="4F46E5"/>
                </a:solidFill>
                <a:latin typeface="Calibri"/>
              </a:rPr>
              <a:t>● </a:t>
            </a:r>
            <a:r>
              <a:rPr sz="2200">
                <a:solidFill>
                  <a:srgbClr val="1F2937"/>
                </a:solidFill>
                <a:latin typeface="Calibri"/>
              </a:rPr>
              <a:t>Decodificação restrita a esquema: consulte a documentação do serviço</a:t>
            </a:r>
          </a:p>
          <a:p>
            <a:pPr>
              <a:spcAft>
                <a:spcPts val="800"/>
              </a:spcAft>
            </a:pPr>
            <a:r>
              <a:rPr sz="1539">
                <a:solidFill>
                  <a:srgbClr val="4F46E5"/>
                </a:solidFill>
                <a:latin typeface="Calibri"/>
              </a:rPr>
              <a:t>● </a:t>
            </a:r>
            <a:r>
              <a:rPr sz="2200">
                <a:solidFill>
                  <a:srgbClr val="1F2937"/>
                </a:solidFill>
                <a:latin typeface="Calibri"/>
              </a:rPr>
              <a:t>Formato válido não garante conteúdo correto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155680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Código: validando com pydantic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547104"/>
            <a:ext cx="82296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Grandes Modelos de Linguagem · Araken de Medeiros Santos · Capítulo 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6547104"/>
            <a:ext cx="9144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r"/>
            <a:r>
              <a:rPr sz="1100" b="0" i="0">
                <a:solidFill>
                  <a:srgbClr val="6B7280"/>
                </a:solidFill>
                <a:latin typeface="Calibri"/>
              </a:rPr>
              <a:t>21/32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188720"/>
            <a:ext cx="11247120" cy="3566160"/>
          </a:xfrm>
          <a:prstGeom prst="roundRect">
            <a:avLst/>
          </a:prstGeom>
          <a:solidFill>
            <a:srgbClr val="1E1B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280160"/>
            <a:ext cx="10881360" cy="33832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00" b="0" i="0">
                <a:solidFill>
                  <a:srgbClr val="E0E7FF"/>
                </a:solidFill>
                <a:latin typeface="Consolas"/>
              </a:rPr>
              <a:t>class Extracao(BaseModel):</a:t>
            </a:r>
          </a:p>
          <a:p>
            <a:pPr algn="l"/>
            <a:r>
              <a:rPr sz="1300" b="0" i="0">
                <a:solidFill>
                  <a:srgbClr val="E0E7FF"/>
                </a:solidFill>
                <a:latin typeface="Consolas"/>
              </a:rPr>
              <a:t>    intencao: Literal["segunda_via", "cancelamento", ..., "indefinido"]</a:t>
            </a:r>
          </a:p>
          <a:p>
            <a:pPr algn="l"/>
            <a:r>
              <a:rPr sz="1300" b="0" i="0">
                <a:solidFill>
                  <a:srgbClr val="E0E7FF"/>
                </a:solidFill>
                <a:latin typeface="Consolas"/>
              </a:rPr>
              <a:t>    evidencia: Optional[str] = Field(default=None, max_length=200)</a:t>
            </a:r>
          </a:p>
          <a:p>
            <a:pPr algn="l"/>
            <a:r>
              <a:rPr sz="1300" b="0" i="0">
                <a:solidFill>
                  <a:srgbClr val="E0E7FF"/>
                </a:solidFill>
                <a:latin typeface="Consolas"/>
              </a:rPr>
              <a:t/>
            </a:r>
          </a:p>
          <a:p>
            <a:pPr algn="l"/>
            <a:r>
              <a:rPr sz="1300" b="0" i="0">
                <a:solidFill>
                  <a:srgbClr val="E0E7FF"/>
                </a:solidFill>
                <a:latin typeface="Consolas"/>
              </a:rPr>
              <a:t>def validar(texto):</a:t>
            </a:r>
          </a:p>
          <a:p>
            <a:pPr algn="l"/>
            <a:r>
              <a:rPr sz="1300" b="0" i="0">
                <a:solidFill>
                  <a:srgbClr val="E0E7FF"/>
                </a:solidFill>
                <a:latin typeface="Consolas"/>
              </a:rPr>
              <a:t>    try:</a:t>
            </a:r>
          </a:p>
          <a:p>
            <a:pPr algn="l"/>
            <a:r>
              <a:rPr sz="1300" b="0" i="0">
                <a:solidFill>
                  <a:srgbClr val="E0E7FF"/>
                </a:solidFill>
                <a:latin typeface="Consolas"/>
              </a:rPr>
              <a:t>        return Extracao.model_validate_json(texto), None</a:t>
            </a:r>
          </a:p>
          <a:p>
            <a:pPr algn="l"/>
            <a:r>
              <a:rPr sz="1300" b="0" i="0">
                <a:solidFill>
                  <a:srgbClr val="E0E7FF"/>
                </a:solidFill>
                <a:latin typeface="Consolas"/>
              </a:rPr>
              <a:t>    except (ValidationError, ValueError) as e:</a:t>
            </a:r>
          </a:p>
          <a:p>
            <a:pPr algn="l"/>
            <a:r>
              <a:rPr sz="1300" b="0" i="0">
                <a:solidFill>
                  <a:srgbClr val="E0E7FF"/>
                </a:solidFill>
                <a:latin typeface="Consolas"/>
              </a:rPr>
              <a:t>        return None, str(e).splitlines()[0]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4846320"/>
            <a:ext cx="11247120" cy="1463040"/>
          </a:xfrm>
          <a:prstGeom prst="roundRect">
            <a:avLst/>
          </a:prstGeom>
          <a:solidFill>
            <a:srgbClr val="064E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4892040"/>
            <a:ext cx="10881360" cy="1371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200" b="0" i="0">
                <a:solidFill>
                  <a:srgbClr val="D1FAE5"/>
                </a:solidFill>
                <a:latin typeface="Consolas"/>
              </a:rPr>
              <a:t>Saída real:</a:t>
            </a:r>
          </a:p>
          <a:p>
            <a:pPr algn="l"/>
            <a:r>
              <a:rPr sz="1200" b="0" i="0">
                <a:solidFill>
                  <a:srgbClr val="D1FAE5"/>
                </a:solidFill>
                <a:latin typeface="Consolas"/>
              </a:rPr>
              <a:t>versão do pydantic: 2.13.5</a:t>
            </a:r>
          </a:p>
          <a:p>
            <a:pPr algn="l"/>
            <a:r>
              <a:rPr sz="1200" b="0" i="0">
                <a:solidFill>
                  <a:srgbClr val="D1FAE5"/>
                </a:solidFill>
                <a:latin typeface="Consolas"/>
              </a:rPr>
              <a:t>OK   | {"intencao": "cancelamento", "evidencia": "quero cancel | cancelamento</a:t>
            </a:r>
          </a:p>
          <a:p>
            <a:pPr algn="l"/>
            <a:r>
              <a:rPr sz="1200" b="0" i="0">
                <a:solidFill>
                  <a:srgbClr val="D1FAE5"/>
                </a:solidFill>
                <a:latin typeface="Consolas"/>
              </a:rPr>
              <a:t>FALHA | {"intencao": "cancelar", "evidencia": "quero cancelar"} | 1 validation error for Extracao</a:t>
            </a:r>
          </a:p>
          <a:p>
            <a:pPr algn="l"/>
            <a:r>
              <a:rPr sz="1200" b="0" i="0">
                <a:solidFill>
                  <a:srgbClr val="D1FAE5"/>
                </a:solidFill>
                <a:latin typeface="Consolas"/>
              </a:rPr>
              <a:t>FALHA | Claro! Aqui está o JSON: {"intencao": "elogio"}         | 1 validation error for Extracao</a:t>
            </a:r>
          </a:p>
          <a:p>
            <a:pPr algn="l"/>
            <a:r>
              <a:rPr sz="1200" b="0" i="0">
                <a:solidFill>
                  <a:srgbClr val="D1FAE5"/>
                </a:solidFill>
                <a:latin typeface="Consolas"/>
              </a:rPr>
              <a:t>OK   | {"intencao": "elogio"}                                  | elogio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155680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Analogia: a cozinha de teste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547104"/>
            <a:ext cx="82296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Grandes Modelos de Linguagem · Araken de Medeiros Santos · Capítulo 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6547104"/>
            <a:ext cx="9144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r"/>
            <a:r>
              <a:rPr sz="1100" b="0" i="0">
                <a:solidFill>
                  <a:srgbClr val="6B7280"/>
                </a:solidFill>
                <a:latin typeface="Calibri"/>
              </a:rPr>
              <a:t>22/32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371600"/>
            <a:ext cx="10881360" cy="2377440"/>
          </a:xfrm>
          <a:prstGeom prst="roundRect">
            <a:avLst/>
          </a:prstGeom>
          <a:solidFill>
            <a:srgbClr val="CFFAFE"/>
          </a:solidFill>
          <a:ln>
            <a:solidFill>
              <a:srgbClr val="06B6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463040"/>
            <a:ext cx="10332720" cy="21945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2600" b="1" i="0">
                <a:solidFill>
                  <a:srgbClr val="1F2937"/>
                </a:solidFill>
                <a:latin typeface="Calibri"/>
              </a:rPr>
              <a:t>Nenhum restaurante serve um prato novo sem antes prová-lo várias vezes.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4023360"/>
            <a:ext cx="10515600" cy="21945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100" b="0" i="0">
                <a:solidFill>
                  <a:srgbClr val="1F2937"/>
                </a:solidFill>
                <a:latin typeface="Calibri"/>
              </a:rPr>
              <a:t>Prompt é igual: uma versão, um conjunto de casos de teste, métricas, e só então a mudança vai para o cardápio. Mude um ingrediente por vez, senão você não sabe o que melhorou o sabor.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155680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Código: avaliando três versões de prompt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547104"/>
            <a:ext cx="82296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Grandes Modelos de Linguagem · Araken de Medeiros Santos · Capítulo 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6547104"/>
            <a:ext cx="9144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r"/>
            <a:r>
              <a:rPr sz="1100" b="0" i="0">
                <a:solidFill>
                  <a:srgbClr val="6B7280"/>
                </a:solidFill>
                <a:latin typeface="Calibri"/>
              </a:rPr>
              <a:t>23/32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188720"/>
            <a:ext cx="11247120" cy="3566160"/>
          </a:xfrm>
          <a:prstGeom prst="roundRect">
            <a:avLst/>
          </a:prstGeom>
          <a:solidFill>
            <a:srgbClr val="1E1B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280160"/>
            <a:ext cx="10881360" cy="33832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00" b="0" i="0">
                <a:solidFill>
                  <a:srgbClr val="E0E7FF"/>
                </a:solidFill>
                <a:latin typeface="Consolas"/>
              </a:rPr>
              <a:t>X, y = corpus.intencoes(60, seed=11)      # 480 mensagens de teste</a:t>
            </a:r>
          </a:p>
          <a:p>
            <a:pPr algn="l"/>
            <a:r>
              <a:rPr sz="1300" b="0" i="0">
                <a:solidFill>
                  <a:srgbClr val="E0E7FF"/>
                </a:solidFill>
                <a:latin typeface="Consolas"/>
              </a:rPr>
              <a:t>for v in ("v1", "v2", "v3"):</a:t>
            </a:r>
          </a:p>
          <a:p>
            <a:pPr algn="l"/>
            <a:r>
              <a:rPr sz="1300" b="0" i="0">
                <a:solidFill>
                  <a:srgbClr val="E0E7FF"/>
                </a:solidFill>
                <a:latin typeface="Consolas"/>
              </a:rPr>
              <a:t>    sim = SimuladorLLM(v, semente=0)      # simulador de regras, não LLM</a:t>
            </a:r>
          </a:p>
          <a:p>
            <a:pPr algn="l"/>
            <a:r>
              <a:rPr sz="1300" b="0" i="0">
                <a:solidFill>
                  <a:srgbClr val="E0E7FF"/>
                </a:solidFill>
                <a:latin typeface="Consolas"/>
              </a:rPr>
              <a:t>    for texto, rotulo in zip(X, y):</a:t>
            </a:r>
          </a:p>
          <a:p>
            <a:pPr algn="l"/>
            <a:r>
              <a:rPr sz="1300" b="0" i="0">
                <a:solidFill>
                  <a:srgbClr val="E0E7FF"/>
                </a:solidFill>
                <a:latin typeface="Consolas"/>
              </a:rPr>
              <a:t>        pred, ok = interpretar(v, sim.responder(texto))</a:t>
            </a:r>
          </a:p>
          <a:p>
            <a:pPr algn="l"/>
            <a:r>
              <a:rPr sz="1300" b="0" i="0">
                <a:solidFill>
                  <a:srgbClr val="E0E7FF"/>
                </a:solidFill>
                <a:latin typeface="Consolas"/>
              </a:rPr>
              <a:t>        ...                               # acumula acertos e formato</a:t>
            </a:r>
          </a:p>
          <a:p>
            <a:pPr algn="l"/>
            <a:r>
              <a:rPr sz="1300" b="0" i="0">
                <a:solidFill>
                  <a:srgbClr val="E0E7FF"/>
                </a:solidFill>
                <a:latin typeface="Consolas"/>
              </a:rPr>
              <a:t>    m, lo, hi = av.bootstrap_ic(acertos, n=1000, seed=0)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4846320"/>
            <a:ext cx="11247120" cy="1463040"/>
          </a:xfrm>
          <a:prstGeom prst="roundRect">
            <a:avLst/>
          </a:prstGeom>
          <a:solidFill>
            <a:srgbClr val="064E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4892040"/>
            <a:ext cx="10881360" cy="1371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200" b="0" i="0">
                <a:solidFill>
                  <a:srgbClr val="D1FAE5"/>
                </a:solidFill>
                <a:latin typeface="Consolas"/>
              </a:rPr>
              <a:t>Saída real:</a:t>
            </a:r>
          </a:p>
          <a:p>
            <a:pPr algn="l"/>
            <a:r>
              <a:rPr sz="1200" b="0" i="0">
                <a:solidFill>
                  <a:srgbClr val="D1FAE5"/>
                </a:solidFill>
                <a:latin typeface="Consolas"/>
              </a:rPr>
              <a:t>versão   acerto    IC95% (bootstrap)  formato válido</a:t>
            </a:r>
          </a:p>
          <a:p>
            <a:pPr algn="l"/>
            <a:r>
              <a:rPr sz="1200" b="0" i="0">
                <a:solidFill>
                  <a:srgbClr val="D1FAE5"/>
                </a:solidFill>
                <a:latin typeface="Consolas"/>
              </a:rPr>
              <a:t>v1        0.356       [0.312; 0.398]           0.000</a:t>
            </a:r>
          </a:p>
          <a:p>
            <a:pPr algn="l"/>
            <a:r>
              <a:rPr sz="1200" b="0" i="0">
                <a:solidFill>
                  <a:srgbClr val="D1FAE5"/>
                </a:solidFill>
                <a:latin typeface="Consolas"/>
              </a:rPr>
              <a:t>v2        0.771       [0.731; 0.806]           0.860</a:t>
            </a:r>
          </a:p>
          <a:p>
            <a:pPr algn="l"/>
            <a:r>
              <a:rPr sz="1200" b="0" i="0">
                <a:solidFill>
                  <a:srgbClr val="D1FAE5"/>
                </a:solidFill>
                <a:latin typeface="Consolas"/>
              </a:rPr>
              <a:t>v3        0.931       [0.908; 0.950]           1.000</a:t>
            </a:r>
          </a:p>
          <a:p>
            <a:pPr algn="l"/>
            <a:r>
              <a:rPr sz="1200" b="0" i="0">
                <a:solidFill>
                  <a:srgbClr val="D1FAE5"/>
                </a:solidFill>
                <a:latin typeface="Consolas"/>
              </a:rPr>
              <a:t/>
            </a:r>
          </a:p>
          <a:p>
            <a:pPr algn="l"/>
            <a:r>
              <a:rPr sz="1200" b="0" i="0">
                <a:solidFill>
                  <a:srgbClr val="D1FAE5"/>
                </a:solidFill>
                <a:latin typeface="Consolas"/>
              </a:rPr>
              <a:t>diferença pareada v3 - v2: +0.160  IC95% [+0.129; +0.196]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155680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Relatório de avaliação de prompts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547104"/>
            <a:ext cx="82296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Grandes Modelos de Linguagem · Araken de Medeiros Santos · Capítulo 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6547104"/>
            <a:ext cx="9144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r"/>
            <a:r>
              <a:rPr sz="1100" b="0" i="0">
                <a:solidFill>
                  <a:srgbClr val="6B7280"/>
                </a:solidFill>
                <a:latin typeface="Calibri"/>
              </a:rPr>
              <a:t>24/32</a:t>
            </a:r>
          </a:p>
        </p:txBody>
      </p:sp>
      <p:pic>
        <p:nvPicPr>
          <p:cNvPr id="7" name="Picture 6" descr="f08_resultado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53928" y="1143000"/>
            <a:ext cx="6653664" cy="45720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31520" y="5806440"/>
            <a:ext cx="10698480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400" b="0" i="1">
                <a:solidFill>
                  <a:srgbClr val="6B7280"/>
                </a:solidFill>
                <a:latin typeface="Calibri"/>
              </a:rPr>
              <a:t>Acerto de três versões com IC de 95% por bootstrap. Efeitos programados no simulador; não mostra o desempenho de LLMs.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155680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A diferença é real ou acaso?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547104"/>
            <a:ext cx="82296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Grandes Modelos de Linguagem · Araken de Medeiros Santos · Capítulo 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6547104"/>
            <a:ext cx="9144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r"/>
            <a:r>
              <a:rPr sz="1100" b="0" i="0">
                <a:solidFill>
                  <a:srgbClr val="6B7280"/>
                </a:solidFill>
                <a:latin typeface="Calibri"/>
              </a:rPr>
              <a:t>25/32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280160"/>
            <a:ext cx="106984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79">
                <a:solidFill>
                  <a:srgbClr val="4F46E5"/>
                </a:solidFill>
                <a:latin typeface="Calibri"/>
              </a:rPr>
              <a:t>● </a:t>
            </a:r>
            <a:r>
              <a:rPr sz="2400">
                <a:solidFill>
                  <a:srgbClr val="1F2937"/>
                </a:solidFill>
                <a:latin typeface="Calibri"/>
              </a:rPr>
              <a:t>Prompt A acerta 78 de 100; prompt B acerta 84 de 100</a:t>
            </a:r>
          </a:p>
          <a:p>
            <a:pPr>
              <a:spcAft>
                <a:spcPts val="800"/>
              </a:spcAft>
            </a:pPr>
            <a:r>
              <a:rPr sz="1679">
                <a:solidFill>
                  <a:srgbClr val="4F46E5"/>
                </a:solidFill>
                <a:latin typeface="Calibri"/>
              </a:rPr>
              <a:t>● </a:t>
            </a:r>
            <a:r>
              <a:rPr sz="2400">
                <a:solidFill>
                  <a:srgbClr val="1F2937"/>
                </a:solidFill>
                <a:latin typeface="Calibri"/>
              </a:rPr>
              <a:t>Erro-padrão perto de 0,8: √(0,8 × 0,2 / 100) = 0,04</a:t>
            </a:r>
          </a:p>
          <a:p>
            <a:pPr>
              <a:spcAft>
                <a:spcPts val="800"/>
              </a:spcAft>
            </a:pPr>
            <a:r>
              <a:rPr sz="1679">
                <a:solidFill>
                  <a:srgbClr val="4F46E5"/>
                </a:solidFill>
                <a:latin typeface="Calibri"/>
              </a:rPr>
              <a:t>● </a:t>
            </a:r>
            <a:r>
              <a:rPr sz="2400">
                <a:solidFill>
                  <a:srgbClr val="1F2937"/>
                </a:solidFill>
                <a:latin typeface="Calibri"/>
              </a:rPr>
              <a:t>O IC95% tem cerca de ±8 pontos; a diferença é de 6</a:t>
            </a:r>
          </a:p>
          <a:p>
            <a:pPr>
              <a:spcAft>
                <a:spcPts val="800"/>
              </a:spcAft>
            </a:pPr>
            <a:r>
              <a:rPr sz="1679">
                <a:solidFill>
                  <a:srgbClr val="4F46E5"/>
                </a:solidFill>
                <a:latin typeface="Calibri"/>
              </a:rPr>
              <a:t>● </a:t>
            </a:r>
            <a:r>
              <a:rPr sz="2400">
                <a:solidFill>
                  <a:srgbClr val="1F2937"/>
                </a:solidFill>
                <a:latin typeface="Calibri"/>
              </a:rPr>
              <a:t>Casos iguais para A e B: use a diferença pareada</a:t>
            </a:r>
          </a:p>
          <a:p>
            <a:pPr>
              <a:spcAft>
                <a:spcPts val="800"/>
              </a:spcAft>
            </a:pPr>
            <a:r>
              <a:rPr sz="1679">
                <a:solidFill>
                  <a:srgbClr val="4F46E5"/>
                </a:solidFill>
                <a:latin typeface="Calibri"/>
              </a:rPr>
              <a:t>● </a:t>
            </a:r>
            <a:r>
              <a:rPr sz="2400">
                <a:solidFill>
                  <a:srgbClr val="1F2937"/>
                </a:solidFill>
                <a:latin typeface="Calibri"/>
              </a:rPr>
              <a:t>Evidência fraca: aumente a amostra e repita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155680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Erros frequentes e limites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547104"/>
            <a:ext cx="82296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Grandes Modelos de Linguagem · Araken de Medeiros Santos · Capítulo 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6547104"/>
            <a:ext cx="9144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r"/>
            <a:r>
              <a:rPr sz="1100" b="0" i="0">
                <a:solidFill>
                  <a:srgbClr val="6B7280"/>
                </a:solidFill>
                <a:latin typeface="Calibri"/>
              </a:rPr>
              <a:t>26/32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280160"/>
            <a:ext cx="106984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39">
                <a:solidFill>
                  <a:srgbClr val="4F46E5"/>
                </a:solidFill>
                <a:latin typeface="Calibri"/>
              </a:rPr>
              <a:t>● </a:t>
            </a:r>
            <a:r>
              <a:rPr sz="2200">
                <a:solidFill>
                  <a:srgbClr val="1F2937"/>
                </a:solidFill>
                <a:latin typeface="Calibri"/>
              </a:rPr>
              <a:t>Procurar frases mágicas em vez de especificar</a:t>
            </a:r>
          </a:p>
          <a:p>
            <a:pPr>
              <a:spcAft>
                <a:spcPts val="800"/>
              </a:spcAft>
            </a:pPr>
            <a:r>
              <a:rPr sz="1539">
                <a:solidFill>
                  <a:srgbClr val="4F46E5"/>
                </a:solidFill>
                <a:latin typeface="Calibri"/>
              </a:rPr>
              <a:t>● </a:t>
            </a:r>
            <a:r>
              <a:rPr sz="2200">
                <a:solidFill>
                  <a:srgbClr val="1F2937"/>
                </a:solidFill>
                <a:latin typeface="Calibri"/>
              </a:rPr>
              <a:t>Avaliar com poucos casos ou só com casos fáceis</a:t>
            </a:r>
          </a:p>
          <a:p>
            <a:pPr>
              <a:spcAft>
                <a:spcPts val="800"/>
              </a:spcAft>
            </a:pPr>
            <a:r>
              <a:rPr sz="1539">
                <a:solidFill>
                  <a:srgbClr val="4F46E5"/>
                </a:solidFill>
                <a:latin typeface="Calibri"/>
              </a:rPr>
              <a:t>● </a:t>
            </a:r>
            <a:r>
              <a:rPr sz="2200">
                <a:solidFill>
                  <a:srgbClr val="1F2937"/>
                </a:solidFill>
                <a:latin typeface="Calibri"/>
              </a:rPr>
              <a:t>Mudar vários elementos de uma vez</a:t>
            </a:r>
          </a:p>
          <a:p>
            <a:pPr>
              <a:spcAft>
                <a:spcPts val="800"/>
              </a:spcAft>
            </a:pPr>
            <a:r>
              <a:rPr sz="1539">
                <a:solidFill>
                  <a:srgbClr val="4F46E5"/>
                </a:solidFill>
                <a:latin typeface="Calibri"/>
              </a:rPr>
              <a:t>● </a:t>
            </a:r>
            <a:r>
              <a:rPr sz="2200">
                <a:solidFill>
                  <a:srgbClr val="1F2937"/>
                </a:solidFill>
                <a:latin typeface="Calibri"/>
              </a:rPr>
              <a:t>Não validar o formato; não versionar prompts</a:t>
            </a:r>
          </a:p>
          <a:p>
            <a:pPr>
              <a:spcAft>
                <a:spcPts val="800"/>
              </a:spcAft>
            </a:pPr>
            <a:r>
              <a:rPr sz="1539">
                <a:solidFill>
                  <a:srgbClr val="4F46E5"/>
                </a:solidFill>
                <a:latin typeface="Calibri"/>
              </a:rPr>
              <a:t>● </a:t>
            </a:r>
            <a:r>
              <a:rPr sz="2200">
                <a:solidFill>
                  <a:srgbClr val="1F2937"/>
                </a:solidFill>
                <a:latin typeface="Calibri"/>
              </a:rPr>
              <a:t>Lembrar: o simulador não é um LLM, e os efeitos foram programados</a:t>
            </a:r>
          </a:p>
          <a:p>
            <a:pPr>
              <a:spcAft>
                <a:spcPts val="800"/>
              </a:spcAft>
            </a:pPr>
            <a:r>
              <a:rPr sz="1539">
                <a:solidFill>
                  <a:srgbClr val="4F46E5"/>
                </a:solidFill>
                <a:latin typeface="Calibri"/>
              </a:rPr>
              <a:t>● </a:t>
            </a:r>
            <a:r>
              <a:rPr sz="2200">
                <a:solidFill>
                  <a:srgbClr val="1F2937"/>
                </a:solidFill>
                <a:latin typeface="Calibri"/>
              </a:rPr>
              <a:t>Uma resposta pode passar nas verificações e ainda estar errada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155680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Mãos à obra: Três versões de um prompt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547104"/>
            <a:ext cx="82296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Grandes Modelos de Linguagem · Araken de Medeiros Santos · Capítulo 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6547104"/>
            <a:ext cx="9144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r"/>
            <a:r>
              <a:rPr sz="1100" b="0" i="0">
                <a:solidFill>
                  <a:srgbClr val="6B7280"/>
                </a:solidFill>
                <a:latin typeface="Calibri"/>
              </a:rPr>
              <a:t>27/32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280160"/>
            <a:ext cx="106984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260">
                <a:solidFill>
                  <a:srgbClr val="4F46E5"/>
                </a:solidFill>
                <a:latin typeface="Calibri"/>
              </a:rPr>
              <a:t>● </a:t>
            </a:r>
            <a:r>
              <a:rPr sz="1800">
                <a:solidFill>
                  <a:srgbClr val="1F2937"/>
                </a:solidFill>
                <a:latin typeface="Calibri"/>
              </a:rPr>
              <a:t>1. Escolha uma tarefa simples com resposta verificável</a:t>
            </a:r>
          </a:p>
          <a:p>
            <a:pPr>
              <a:spcAft>
                <a:spcPts val="800"/>
              </a:spcAft>
            </a:pPr>
            <a:r>
              <a:rPr sz="1260">
                <a:solidFill>
                  <a:srgbClr val="4F46E5"/>
                </a:solidFill>
                <a:latin typeface="Calibri"/>
              </a:rPr>
              <a:t>● </a:t>
            </a:r>
            <a:r>
              <a:rPr sz="1800">
                <a:solidFill>
                  <a:srgbClr val="1F2937"/>
                </a:solidFill>
                <a:latin typeface="Calibri"/>
              </a:rPr>
              <a:t>2. Escreva 30 casos de teste: 5 sem resposta e 5 difíceis</a:t>
            </a:r>
          </a:p>
          <a:p>
            <a:pPr>
              <a:spcAft>
                <a:spcPts val="800"/>
              </a:spcAft>
            </a:pPr>
            <a:r>
              <a:rPr sz="1260">
                <a:solidFill>
                  <a:srgbClr val="4F46E5"/>
                </a:solidFill>
                <a:latin typeface="Calibri"/>
              </a:rPr>
              <a:t>● </a:t>
            </a:r>
            <a:r>
              <a:rPr sz="1800">
                <a:solidFill>
                  <a:srgbClr val="1F2937"/>
                </a:solidFill>
                <a:latin typeface="Calibri"/>
              </a:rPr>
              <a:t>3. Escreva v1 (vaga), v2 (instruções, formato, abstenção) e v3 (com exemplos)</a:t>
            </a:r>
          </a:p>
          <a:p>
            <a:pPr>
              <a:spcAft>
                <a:spcPts val="800"/>
              </a:spcAft>
            </a:pPr>
            <a:r>
              <a:rPr sz="1260">
                <a:solidFill>
                  <a:srgbClr val="4F46E5"/>
                </a:solidFill>
                <a:latin typeface="Calibri"/>
              </a:rPr>
              <a:t>● </a:t>
            </a:r>
            <a:r>
              <a:rPr sz="1800">
                <a:solidFill>
                  <a:srgbClr val="1F2937"/>
                </a:solidFill>
                <a:latin typeface="Calibri"/>
              </a:rPr>
              <a:t>4. Execute em um modelo à sua escolha, registrando modelo, versão, data e parâmetros; repita 3 vezes se possível</a:t>
            </a:r>
          </a:p>
          <a:p>
            <a:pPr>
              <a:spcAft>
                <a:spcPts val="800"/>
              </a:spcAft>
            </a:pPr>
            <a:r>
              <a:rPr sz="1260">
                <a:solidFill>
                  <a:srgbClr val="4F46E5"/>
                </a:solidFill>
                <a:latin typeface="Calibri"/>
              </a:rPr>
              <a:t>● </a:t>
            </a:r>
            <a:r>
              <a:rPr sz="1800">
                <a:solidFill>
                  <a:srgbClr val="1F2937"/>
                </a:solidFill>
                <a:latin typeface="Calibri"/>
              </a:rPr>
              <a:t>5. Calcule acerto, formato válido e abstenção correta, com intervalos</a:t>
            </a:r>
          </a:p>
          <a:p>
            <a:pPr>
              <a:spcAft>
                <a:spcPts val="800"/>
              </a:spcAft>
            </a:pPr>
            <a:r>
              <a:rPr sz="1260">
                <a:solidFill>
                  <a:srgbClr val="4F46E5"/>
                </a:solidFill>
                <a:latin typeface="Calibri"/>
              </a:rPr>
              <a:t>● </a:t>
            </a:r>
            <a:r>
              <a:rPr sz="1800">
                <a:solidFill>
                  <a:srgbClr val="1F2937"/>
                </a:solidFill>
                <a:latin typeface="Calibri"/>
              </a:rPr>
              <a:t>6. Discuta: a diferença é distinguível do acaso?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155680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Pare e pense: o mais verificável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547104"/>
            <a:ext cx="82296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Grandes Modelos de Linguagem · Araken de Medeiros Santos · Capítulo 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6547104"/>
            <a:ext cx="9144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r"/>
            <a:r>
              <a:rPr sz="1100" b="0" i="0">
                <a:solidFill>
                  <a:srgbClr val="6B7280"/>
                </a:solidFill>
                <a:latin typeface="Calibri"/>
              </a:rPr>
              <a:t>28/32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280160"/>
            <a:ext cx="10698480" cy="11887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400" b="1" i="0">
                <a:solidFill>
                  <a:srgbClr val="1F2937"/>
                </a:solidFill>
                <a:latin typeface="Calibri"/>
              </a:rPr>
              <a:t>Qual dos pedidos abaixo é o mais verificável?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560320"/>
            <a:ext cx="10698480" cy="621792"/>
          </a:xfrm>
          <a:prstGeom prst="roundRect">
            <a:avLst/>
          </a:prstGeom>
          <a:solidFill>
            <a:srgbClr val="F3F4F6"/>
          </a:solidFill>
          <a:ln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560320"/>
            <a:ext cx="10332720" cy="62179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800" b="0" i="0">
                <a:solidFill>
                  <a:srgbClr val="1F2937"/>
                </a:solidFill>
                <a:latin typeface="Calibri"/>
              </a:rPr>
              <a:t>A)  "Faça um resumo bom."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273552"/>
            <a:ext cx="10698480" cy="621792"/>
          </a:xfrm>
          <a:prstGeom prst="roundRect">
            <a:avLst/>
          </a:prstGeom>
          <a:solidFill>
            <a:srgbClr val="F3F4F6"/>
          </a:solidFill>
          <a:ln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273552"/>
            <a:ext cx="10332720" cy="62179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800" b="0" i="0">
                <a:solidFill>
                  <a:srgbClr val="1F2937"/>
                </a:solidFill>
                <a:latin typeface="Calibri"/>
              </a:rPr>
              <a:t>B)  "Resuma como um especialista."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986783"/>
            <a:ext cx="10698480" cy="621792"/>
          </a:xfrm>
          <a:prstGeom prst="roundRect">
            <a:avLst/>
          </a:prstGeom>
          <a:solidFill>
            <a:srgbClr val="F3F4F6"/>
          </a:solidFill>
          <a:ln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3986783"/>
            <a:ext cx="10332720" cy="62179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800" b="0" i="0">
                <a:solidFill>
                  <a:srgbClr val="1F2937"/>
                </a:solidFill>
                <a:latin typeface="Calibri"/>
              </a:rPr>
              <a:t>C)  "Resuma em até 5 tópicos, citando entre aspas o trecho de apoio de cada um."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4700016"/>
            <a:ext cx="10698480" cy="621792"/>
          </a:xfrm>
          <a:prstGeom prst="roundRect">
            <a:avLst/>
          </a:prstGeom>
          <a:solidFill>
            <a:srgbClr val="F3F4F6"/>
          </a:solidFill>
          <a:ln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4700016"/>
            <a:ext cx="10332720" cy="62179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800" b="0" i="0">
                <a:solidFill>
                  <a:srgbClr val="1F2937"/>
                </a:solidFill>
                <a:latin typeface="Calibri"/>
              </a:rPr>
              <a:t>D)  "Resuma e seja criativo."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155680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Pare e pense: condicionar x programar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547104"/>
            <a:ext cx="82296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Grandes Modelos de Linguagem · Araken de Medeiros Santos · Capítulo 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6547104"/>
            <a:ext cx="9144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r"/>
            <a:r>
              <a:rPr sz="1100" b="0" i="0">
                <a:solidFill>
                  <a:srgbClr val="6B7280"/>
                </a:solidFill>
                <a:latin typeface="Calibri"/>
              </a:rPr>
              <a:t>29/32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280160"/>
            <a:ext cx="10698480" cy="11887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400" b="1" i="0">
                <a:solidFill>
                  <a:srgbClr val="1F2937"/>
                </a:solidFill>
                <a:latin typeface="Calibri"/>
              </a:rPr>
              <a:t>Por que se diz que um prompt condiciona, e não programa, o modelo?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560320"/>
            <a:ext cx="10698480" cy="621792"/>
          </a:xfrm>
          <a:prstGeom prst="roundRect">
            <a:avLst/>
          </a:prstGeom>
          <a:solidFill>
            <a:srgbClr val="F3F4F6"/>
          </a:solidFill>
          <a:ln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560320"/>
            <a:ext cx="10332720" cy="62179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800" b="0" i="0">
                <a:solidFill>
                  <a:srgbClr val="1F2937"/>
                </a:solidFill>
                <a:latin typeface="Calibri"/>
              </a:rPr>
              <a:t>A)  O modelo executa cada linha como um comando exato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273552"/>
            <a:ext cx="10698480" cy="621792"/>
          </a:xfrm>
          <a:prstGeom prst="roundRect">
            <a:avLst/>
          </a:prstGeom>
          <a:solidFill>
            <a:srgbClr val="F3F4F6"/>
          </a:solidFill>
          <a:ln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273552"/>
            <a:ext cx="10332720" cy="62179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800" b="0" i="0">
                <a:solidFill>
                  <a:srgbClr val="1F2937"/>
                </a:solidFill>
                <a:latin typeface="Calibri"/>
              </a:rPr>
              <a:t>B)  O prompt altera os pesos do modelo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986783"/>
            <a:ext cx="10698480" cy="621792"/>
          </a:xfrm>
          <a:prstGeom prst="roundRect">
            <a:avLst/>
          </a:prstGeom>
          <a:solidFill>
            <a:srgbClr val="F3F4F6"/>
          </a:solidFill>
          <a:ln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3986783"/>
            <a:ext cx="10332720" cy="62179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800" b="0" i="0">
                <a:solidFill>
                  <a:srgbClr val="1F2937"/>
                </a:solidFill>
                <a:latin typeface="Calibri"/>
              </a:rPr>
              <a:t>C)  O prompt é compilado antes de ser enviado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4700016"/>
            <a:ext cx="10698480" cy="621792"/>
          </a:xfrm>
          <a:prstGeom prst="roundRect">
            <a:avLst/>
          </a:prstGeom>
          <a:solidFill>
            <a:srgbClr val="F3F4F6"/>
          </a:solidFill>
          <a:ln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4700016"/>
            <a:ext cx="10332720" cy="62179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800" b="0" i="0">
                <a:solidFill>
                  <a:srgbClr val="1F2937"/>
                </a:solidFill>
                <a:latin typeface="Calibri"/>
              </a:rPr>
              <a:t>D)  Ele altera uma distribuição de probabilidade; o modelo pode seguir só em parte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155680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Pare e pense: abstenção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547104"/>
            <a:ext cx="82296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Grandes Modelos de Linguagem · Araken de Medeiros Santos · Capítulo 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6547104"/>
            <a:ext cx="9144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r"/>
            <a:r>
              <a:rPr sz="1100" b="0" i="0">
                <a:solidFill>
                  <a:srgbClr val="6B7280"/>
                </a:solidFill>
                <a:latin typeface="Calibri"/>
              </a:rPr>
              <a:t>30/32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280160"/>
            <a:ext cx="10698480" cy="11887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400" b="1" i="0">
                <a:solidFill>
                  <a:srgbClr val="1F2937"/>
                </a:solidFill>
                <a:latin typeface="Calibri"/>
              </a:rPr>
              <a:t>Por que instruir o modelo a responder "não consta" quando faltar informação?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560320"/>
            <a:ext cx="10698480" cy="621792"/>
          </a:xfrm>
          <a:prstGeom prst="roundRect">
            <a:avLst/>
          </a:prstGeom>
          <a:solidFill>
            <a:srgbClr val="F3F4F6"/>
          </a:solidFill>
          <a:ln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560320"/>
            <a:ext cx="10332720" cy="62179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800" b="0" i="0">
                <a:solidFill>
                  <a:srgbClr val="1F2937"/>
                </a:solidFill>
                <a:latin typeface="Calibri"/>
              </a:rPr>
              <a:t>A)  Para que o modelo nunca responda a nada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273552"/>
            <a:ext cx="10698480" cy="621792"/>
          </a:xfrm>
          <a:prstGeom prst="roundRect">
            <a:avLst/>
          </a:prstGeom>
          <a:solidFill>
            <a:srgbClr val="F3F4F6"/>
          </a:solidFill>
          <a:ln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273552"/>
            <a:ext cx="10332720" cy="62179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800" b="0" i="0">
                <a:solidFill>
                  <a:srgbClr val="1F2937"/>
                </a:solidFill>
                <a:latin typeface="Calibri"/>
              </a:rPr>
              <a:t>B)  Para reduzir respostas inventadas, dando uma saída legítima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986783"/>
            <a:ext cx="10698480" cy="621792"/>
          </a:xfrm>
          <a:prstGeom prst="roundRect">
            <a:avLst/>
          </a:prstGeom>
          <a:solidFill>
            <a:srgbClr val="F3F4F6"/>
          </a:solidFill>
          <a:ln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3986783"/>
            <a:ext cx="10332720" cy="62179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800" b="0" i="0">
                <a:solidFill>
                  <a:srgbClr val="1F2937"/>
                </a:solidFill>
                <a:latin typeface="Calibri"/>
              </a:rPr>
              <a:t>C)  Para aumentar o tamanho das respostas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4700016"/>
            <a:ext cx="10698480" cy="621792"/>
          </a:xfrm>
          <a:prstGeom prst="roundRect">
            <a:avLst/>
          </a:prstGeom>
          <a:solidFill>
            <a:srgbClr val="F3F4F6"/>
          </a:solidFill>
          <a:ln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4700016"/>
            <a:ext cx="10332720" cy="62179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800" b="0" i="0">
                <a:solidFill>
                  <a:srgbClr val="1F2937"/>
                </a:solidFill>
                <a:latin typeface="Calibri"/>
              </a:rPr>
              <a:t>D)  Para eliminar a necessidade de contexto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155680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O que vale a pena lembrar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547104"/>
            <a:ext cx="82296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Grandes Modelos de Linguagem · Araken de Medeiros Santos · Capítulo 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6547104"/>
            <a:ext cx="9144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r"/>
            <a:r>
              <a:rPr sz="1100" b="0" i="0">
                <a:solidFill>
                  <a:srgbClr val="6B7280"/>
                </a:solidFill>
                <a:latin typeface="Calibri"/>
              </a:rPr>
              <a:t>31/32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280160"/>
            <a:ext cx="106984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>
                <a:solidFill>
                  <a:srgbClr val="4F46E5"/>
                </a:solidFill>
                <a:latin typeface="Calibri"/>
              </a:rPr>
              <a:t>● </a:t>
            </a:r>
            <a:r>
              <a:rPr sz="2000">
                <a:solidFill>
                  <a:srgbClr val="1F2937"/>
                </a:solidFill>
                <a:latin typeface="Calibri"/>
              </a:rPr>
              <a:t>Prompt é uma especificação montada por componentes; condiciona, não programa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4F46E5"/>
                </a:solidFill>
                <a:latin typeface="Calibri"/>
              </a:rPr>
              <a:t>● </a:t>
            </a:r>
            <a:r>
              <a:rPr sz="2000">
                <a:solidFill>
                  <a:srgbClr val="1F2937"/>
                </a:solidFill>
                <a:latin typeface="Calibri"/>
              </a:rPr>
              <a:t>Exemplos ajudam, mas são sensíveis a ordem, rótulos e formato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4F46E5"/>
                </a:solidFill>
                <a:latin typeface="Calibri"/>
              </a:rPr>
              <a:t>● </a:t>
            </a:r>
            <a:r>
              <a:rPr sz="2000">
                <a:solidFill>
                  <a:srgbClr val="1F2937"/>
                </a:solidFill>
                <a:latin typeface="Calibri"/>
              </a:rPr>
              <a:t>Delimitadores e etapas verificáveis organizam entradas e tarefas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4F46E5"/>
                </a:solidFill>
                <a:latin typeface="Calibri"/>
              </a:rPr>
              <a:t>● </a:t>
            </a:r>
            <a:r>
              <a:rPr sz="2000">
                <a:solidFill>
                  <a:srgbClr val="1F2937"/>
                </a:solidFill>
                <a:latin typeface="Calibri"/>
              </a:rPr>
              <a:t>Peça citações, cálculos e evidências checáveis; explicações geradas não são prova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4F46E5"/>
                </a:solidFill>
                <a:latin typeface="Calibri"/>
              </a:rPr>
              <a:t>● </a:t>
            </a:r>
            <a:r>
              <a:rPr sz="2000">
                <a:solidFill>
                  <a:srgbClr val="1F2937"/>
                </a:solidFill>
                <a:latin typeface="Calibri"/>
              </a:rPr>
              <a:t>Saídas estruturadas exigem esquema, validação e tentativas limitadas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4F46E5"/>
                </a:solidFill>
                <a:latin typeface="Calibri"/>
              </a:rPr>
              <a:t>● </a:t>
            </a:r>
            <a:r>
              <a:rPr sz="2000">
                <a:solidFill>
                  <a:srgbClr val="1F2937"/>
                </a:solidFill>
                <a:latin typeface="Calibri"/>
              </a:rPr>
              <a:t>Versione, teste e meça, com intervalos de confiança e comparações pareadas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155680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Para ir além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547104"/>
            <a:ext cx="82296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Grandes Modelos de Linguagem · Araken de Medeiros Santos · Capítulo 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6547104"/>
            <a:ext cx="9144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r"/>
            <a:r>
              <a:rPr sz="1100" b="0" i="0">
                <a:solidFill>
                  <a:srgbClr val="6B7280"/>
                </a:solidFill>
                <a:latin typeface="Calibri"/>
              </a:rPr>
              <a:t>32/32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280160"/>
            <a:ext cx="106984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120">
                <a:solidFill>
                  <a:srgbClr val="4F46E5"/>
                </a:solidFill>
                <a:latin typeface="Calibri"/>
              </a:rPr>
              <a:t>● </a:t>
            </a:r>
            <a:r>
              <a:rPr sz="1600">
                <a:solidFill>
                  <a:srgbClr val="1F2937"/>
                </a:solidFill>
                <a:latin typeface="Calibri"/>
              </a:rPr>
              <a:t>BROWN, T. B. et al. Language models are few-shot learners. NeurIPS 33, 2020.</a:t>
            </a:r>
          </a:p>
          <a:p>
            <a:pPr>
              <a:spcAft>
                <a:spcPts val="800"/>
              </a:spcAft>
            </a:pPr>
            <a:r>
              <a:rPr sz="1120">
                <a:solidFill>
                  <a:srgbClr val="4F46E5"/>
                </a:solidFill>
                <a:latin typeface="Calibri"/>
              </a:rPr>
              <a:t>● </a:t>
            </a:r>
            <a:r>
              <a:rPr sz="1600">
                <a:solidFill>
                  <a:srgbClr val="1F2937"/>
                </a:solidFill>
                <a:latin typeface="Calibri"/>
              </a:rPr>
              <a:t>WEI, J. et al. Chain-of-thought prompting elicits reasoning in large language models. NeurIPS 35, 2022.</a:t>
            </a:r>
          </a:p>
          <a:p>
            <a:pPr>
              <a:spcAft>
                <a:spcPts val="800"/>
              </a:spcAft>
            </a:pPr>
            <a:r>
              <a:rPr sz="1120">
                <a:solidFill>
                  <a:srgbClr val="4F46E5"/>
                </a:solidFill>
                <a:latin typeface="Calibri"/>
              </a:rPr>
              <a:t>● </a:t>
            </a:r>
            <a:r>
              <a:rPr sz="1600">
                <a:solidFill>
                  <a:srgbClr val="1F2937"/>
                </a:solidFill>
                <a:latin typeface="Calibri"/>
              </a:rPr>
              <a:t>WANG, X. et al. Self-consistency improves chain of thought reasoning. ICLR 11, 2023.</a:t>
            </a:r>
          </a:p>
          <a:p>
            <a:pPr>
              <a:spcAft>
                <a:spcPts val="800"/>
              </a:spcAft>
            </a:pPr>
            <a:r>
              <a:rPr sz="1120">
                <a:solidFill>
                  <a:srgbClr val="4F46E5"/>
                </a:solidFill>
                <a:latin typeface="Calibri"/>
              </a:rPr>
              <a:t>● </a:t>
            </a:r>
            <a:r>
              <a:rPr sz="1600">
                <a:solidFill>
                  <a:srgbClr val="1F2937"/>
                </a:solidFill>
                <a:latin typeface="Calibri"/>
              </a:rPr>
              <a:t>TURPIN, M. et al. Language models don't always say what they think. NeurIPS 36, 2023.</a:t>
            </a:r>
          </a:p>
          <a:p>
            <a:pPr>
              <a:spcAft>
                <a:spcPts val="800"/>
              </a:spcAft>
            </a:pPr>
            <a:r>
              <a:rPr sz="1120">
                <a:solidFill>
                  <a:srgbClr val="4F46E5"/>
                </a:solidFill>
                <a:latin typeface="Calibri"/>
              </a:rPr>
              <a:t>● </a:t>
            </a:r>
            <a:r>
              <a:rPr sz="1600">
                <a:solidFill>
                  <a:srgbClr val="1F2937"/>
                </a:solidFill>
                <a:latin typeface="Calibri"/>
              </a:rPr>
              <a:t>ZHAO, Z. et al. Calibrate before use. ICML 38, 2021.</a:t>
            </a:r>
          </a:p>
          <a:p>
            <a:pPr>
              <a:spcAft>
                <a:spcPts val="800"/>
              </a:spcAft>
            </a:pPr>
            <a:r>
              <a:rPr sz="1120">
                <a:solidFill>
                  <a:srgbClr val="4F46E5"/>
                </a:solidFill>
                <a:latin typeface="Calibri"/>
              </a:rPr>
              <a:t>● </a:t>
            </a:r>
            <a:r>
              <a:rPr sz="1600">
                <a:solidFill>
                  <a:srgbClr val="1F2937"/>
                </a:solidFill>
                <a:latin typeface="Calibri"/>
              </a:rPr>
              <a:t>LU, Y. et al. Fantastically ordered prompts and where to find them. ACL 60, 2022.</a:t>
            </a:r>
          </a:p>
          <a:p>
            <a:pPr>
              <a:spcAft>
                <a:spcPts val="800"/>
              </a:spcAft>
            </a:pPr>
            <a:r>
              <a:rPr sz="1120">
                <a:solidFill>
                  <a:srgbClr val="4F46E5"/>
                </a:solidFill>
                <a:latin typeface="Calibri"/>
              </a:rPr>
              <a:t>● </a:t>
            </a:r>
            <a:r>
              <a:rPr sz="1600">
                <a:solidFill>
                  <a:srgbClr val="1F2937"/>
                </a:solidFill>
                <a:latin typeface="Calibri"/>
              </a:rPr>
              <a:t>LIU, N. F. et al. Lost in the middle. TACL, v. 12, 2024.</a:t>
            </a:r>
          </a:p>
          <a:p>
            <a:pPr>
              <a:spcAft>
                <a:spcPts val="800"/>
              </a:spcAft>
            </a:pPr>
            <a:r>
              <a:rPr sz="1120">
                <a:solidFill>
                  <a:srgbClr val="4F46E5"/>
                </a:solidFill>
                <a:latin typeface="Calibri"/>
              </a:rPr>
              <a:t>● </a:t>
            </a:r>
            <a:r>
              <a:rPr sz="1600">
                <a:solidFill>
                  <a:srgbClr val="1F2937"/>
                </a:solidFill>
                <a:latin typeface="Calibri"/>
              </a:rPr>
              <a:t>ZHENG, L. et al. Judging LLM-as-a-judge with MT-Bench and Chatbot Arena. NeurIPS 36, 2023.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