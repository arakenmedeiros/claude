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30687ea-356d-8ab4-318d-5a5283027a34}">
          <p14:sldIdLst>
            <p14:sldId id="256"/>
            <p14:sldId id="257"/>
          </p14:sldIdLst>
        </p14:section>
        <p14:section name="Ideia" id="{2054ee2b-7576-71b3-56f2-3f16bfd8c84c}">
          <p14:sldIdLst>
            <p14:sldId id="258"/>
            <p14:sldId id="259"/>
            <p14:sldId id="260"/>
          </p14:sldIdLst>
        </p14:section>
        <p14:section name="PCA" id="{85411d54-287f-b706-5e78-ad7b22766298}">
          <p14:sldIdLst>
            <p14:sldId id="261"/>
            <p14:sldId id="262"/>
            <p14:sldId id="263"/>
            <p14:sldId id="264"/>
            <p14:sldId id="265"/>
          </p14:sldIdLst>
        </p14:section>
        <p14:section name="Quantas componentes?" id="{809babfb-9535-fc83-8387-87fbb8a9be25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ICA e NMF" id="{3735cf66-0ef3-0128-2a38-495b39e33e55}">
          <p14:sldIdLst>
            <p14:sldId id="273"/>
            <p14:sldId id="274"/>
            <p14:sldId id="275"/>
          </p14:sldIdLst>
        </p14:section>
        <p14:section name="Fixação" id="{367fcc67-5173-37dd-f980-3d9a39b7435f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PC1 captura a maior variância possível dos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PCA é sensível à escala, pois trabalha com variância.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A fatoração de matrizes não negativas só funciona com valores ≥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compressão, limpeza e partes de dígitos.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7189152" y="1172359"/>
            <a:ext cx="82947" cy="829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817385" y="807469"/>
            <a:ext cx="147269" cy="14726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924517" y="1494637"/>
            <a:ext cx="169881" cy="16988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5956309" y="1207170"/>
            <a:ext cx="153932" cy="1539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280898" y="863215"/>
            <a:ext cx="83894" cy="8389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7037402" y="934938"/>
            <a:ext cx="72113" cy="7211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5904041" y="1076067"/>
            <a:ext cx="107508" cy="1075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946956" y="687068"/>
            <a:ext cx="76560" cy="76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075780" y="677123"/>
            <a:ext cx="125488" cy="12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861684" y="1020394"/>
            <a:ext cx="90275" cy="90275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566855" y="1599678"/>
            <a:ext cx="72283" cy="7228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5888789" y="1303266"/>
            <a:ext cx="171191" cy="17119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881079" y="1642104"/>
            <a:ext cx="165890" cy="16589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6529256" y="1843146"/>
            <a:ext cx="89484" cy="894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6747954" y="1570340"/>
            <a:ext cx="69292" cy="69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293800" y="1511210"/>
            <a:ext cx="67730" cy="677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996152" y="3217242"/>
            <a:ext cx="147882" cy="14788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8297308" y="2603631"/>
            <a:ext cx="162927" cy="16292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7351078" y="2957903"/>
            <a:ext cx="158617" cy="15861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786524" y="3293054"/>
            <a:ext cx="150172" cy="1501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7837914" y="2684796"/>
            <a:ext cx="102891" cy="10289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688520" y="2367235"/>
            <a:ext cx="146041" cy="14604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8348175" y="2808645"/>
            <a:ext cx="150253" cy="15025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893832" y="3052076"/>
            <a:ext cx="73681" cy="7368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754619" y="2819011"/>
            <a:ext cx="170520" cy="170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347770" y="3021011"/>
            <a:ext cx="120657" cy="12065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8132458" y="2361884"/>
            <a:ext cx="80231" cy="8023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8272252" y="2610199"/>
            <a:ext cx="84992" cy="849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8373116" y="3025041"/>
            <a:ext cx="160694" cy="16069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501827" y="3337077"/>
            <a:ext cx="73168" cy="7316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8385361" y="2806579"/>
            <a:ext cx="168363" cy="16836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8254971" y="2790560"/>
            <a:ext cx="116617" cy="11661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458982" y="4032732"/>
            <a:ext cx="117920" cy="1179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976495" y="2817568"/>
            <a:ext cx="84506" cy="8450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5516963" y="3126628"/>
            <a:ext cx="95287" cy="9528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6222097" y="3580690"/>
            <a:ext cx="72722" cy="7272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5791500" y="3127388"/>
            <a:ext cx="149556" cy="14955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5508292" y="3806241"/>
            <a:ext cx="150899" cy="15089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444124" y="3548059"/>
            <a:ext cx="70216" cy="702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400234" y="2950413"/>
            <a:ext cx="163543" cy="16354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6134442" y="2944042"/>
            <a:ext cx="104244" cy="10424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6238295" y="3300616"/>
            <a:ext cx="69238" cy="6923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356830" y="3496674"/>
            <a:ext cx="143766" cy="14376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5327960" y="3347218"/>
            <a:ext cx="116052" cy="11605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560472" y="3144402"/>
            <a:ext cx="108755" cy="10875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6323610" y="3310102"/>
            <a:ext cx="108288" cy="1082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5897347" y="3784067"/>
            <a:ext cx="129372" cy="1293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223403" y="2889244"/>
            <a:ext cx="161840" cy="1618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8303689" y="368744"/>
            <a:ext cx="162302" cy="16230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7885714" y="181704"/>
            <a:ext cx="112067" cy="11206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376012" y="1134633"/>
            <a:ext cx="112102" cy="11210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7543589" y="421249"/>
            <a:ext cx="118144" cy="11814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742851" y="755417"/>
            <a:ext cx="115497" cy="11549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7672885" y="451167"/>
            <a:ext cx="163278" cy="1632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8300367" y="1246619"/>
            <a:ext cx="106584" cy="1065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7646367" y="1129113"/>
            <a:ext cx="69999" cy="6999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7505219" y="597720"/>
            <a:ext cx="119723" cy="11972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8156075" y="214699"/>
            <a:ext cx="170955" cy="17095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403248" y="1000793"/>
            <a:ext cx="136676" cy="13667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7532540" y="455182"/>
            <a:ext cx="90063" cy="9006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8196465" y="196056"/>
            <a:ext cx="92239" cy="9223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297719" y="989615"/>
            <a:ext cx="155189" cy="15518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174045" y="1122091"/>
            <a:ext cx="102313" cy="10231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8226347" y="1523239"/>
            <a:ext cx="85864" cy="8586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855274" y="2066358"/>
            <a:ext cx="103570" cy="10357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764980" y="1678299"/>
            <a:ext cx="89337" cy="8933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473838" y="1774847"/>
            <a:ext cx="130497" cy="13049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7570716" y="2424961"/>
            <a:ext cx="67668" cy="676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695623" y="1942181"/>
            <a:ext cx="67180" cy="671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7318287" y="1850364"/>
            <a:ext cx="137358" cy="13735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468743" y="2348614"/>
            <a:ext cx="84911" cy="8491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6970475" y="1550520"/>
            <a:ext cx="134432" cy="1344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962455" y="1751289"/>
            <a:ext cx="87473" cy="8747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7094354" y="2322325"/>
            <a:ext cx="87606" cy="8760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420317" y="2022367"/>
            <a:ext cx="161689" cy="161689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016790" y="1601491"/>
            <a:ext cx="79014" cy="790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579001" y="2353787"/>
            <a:ext cx="83915" cy="8391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920592" y="2511094"/>
            <a:ext cx="154518" cy="15451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658507" y="2760235"/>
            <a:ext cx="70014" cy="700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7123313" y="2121888"/>
            <a:ext cx="71284" cy="712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e Métodos Lineares: SVD, ICA e NMF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sem perder o essencial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reduzir dimensões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geometricamente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via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covariância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componentes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sombra do objeto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sombra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uma projeção 2D de um objeto 3D. Dependendo do ângulo, a sombra mostra muito ou pouco do objeto.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8_sombra" descr="f8_som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832575"/>
            <a:ext cx="3840480" cy="1181171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PCA acha o ângulo da melhor sombra.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reduzir?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(2D ou 3D)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Comprimir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acelerar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ruído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Combater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maldição</a:t>
            </a:r>
            <a:endParaRPr lang="en-US" sz="20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colunas, mesma história.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Seleção × Extração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atributos existentes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o significado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tirar colunas redundantes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atributos novos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Combinações dos antigos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PCA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ou combinar.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intuição do PCA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8_pca_intuicao" descr="f8_pca_intui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04" y="1188720"/>
            <a:ext cx="6381791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 os eixos para onde há mais variação.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Informação = variância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dados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variam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há informação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direção de maior variância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perpendicular a PC1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correlacionados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varia, não informa.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passo a passo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26187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subtrair a média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7556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Covariância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como os atributos variam juntos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3957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32257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Autovetores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direções principais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2962656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288950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 autovalor (variância)</a:t>
            </a:r>
            <a:endParaRPr lang="en-US" sz="2000" dirty="0"/>
          </a:p>
        </p:txBody>
      </p:sp>
      <p:sp>
        <p:nvSpPr>
          <p:cNvPr id="17" name="passo-circulo-5"/>
          <p:cNvSpPr/>
          <p:nvPr/>
        </p:nvSpPr>
        <p:spPr>
          <a:xfrm>
            <a:off x="457200" y="352958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passo-n-5"/>
          <p:cNvSpPr txBox="1"/>
          <p:nvPr/>
        </p:nvSpPr>
        <p:spPr>
          <a:xfrm>
            <a:off x="457200" y="3529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passo-5"/>
          <p:cNvSpPr txBox="1"/>
          <p:nvPr/>
        </p:nvSpPr>
        <p:spPr>
          <a:xfrm>
            <a:off x="1097280" y="34564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Projetar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nos k primeiros</a:t>
            </a:r>
            <a:endParaRPr lang="en-US" sz="2000" dirty="0"/>
          </a:p>
        </p:txBody>
      </p:sp>
      <p:sp>
        <p:nvSpPr>
          <p:cNvPr id="20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2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passos, uma rotação.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via SVD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formula"/>
          <p:cNvSpPr/>
          <p:nvPr/>
        </p:nvSpPr>
        <p:spPr>
          <a:xfrm>
            <a:off x="457200" y="1188720"/>
            <a:ext cx="8229600" cy="1051560"/>
          </a:xfrm>
          <a:prstGeom prst="roundRect">
            <a:avLst>
              <a:gd name="adj" fmla="val 869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ormula"/>
          <p:cNvSpPr txBox="1"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U Σ Vᵀ</a:t>
            </a:r>
            <a:endParaRPr lang="en-US" sz="2600" dirty="0"/>
          </a:p>
        </p:txBody>
      </p:sp>
      <p:sp>
        <p:nvSpPr>
          <p:cNvPr id="7" name="explicacao"/>
          <p:cNvSpPr txBox="1"/>
          <p:nvPr/>
        </p:nvSpPr>
        <p:spPr>
          <a:xfrm>
            <a:off x="457200" y="2423160"/>
            <a:ext cx="8229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direções principais (cargas)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UΣ: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novas coordenadas (escores)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a forma numérica estável de fazer PCA</a:t>
            </a:r>
            <a:endParaRPr lang="en-US" sz="20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SVD: o motor do PCA.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em Python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718945"/>
          </a:xfrm>
          <a:prstGeom prst="roundRect">
            <a:avLst>
              <a:gd name="adj" fmla="val 42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536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StandardScaler().fit_transform(X)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pca.fit_transform(Xs)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print(pca.explained_variance_ratio_)</a:t>
            </a:r>
            <a:endParaRPr lang="en-US" sz="13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Padronize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`n_components`: quantas manter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`explained_variance_ratio_`: % por componente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Escale, projete, confira a variância.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Gráfico scree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8_scree" descr="f8_sc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30225"/>
            <a:ext cx="7498080" cy="2751629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o cotovelo.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Regras de decisão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acumulada: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90–95 %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cotovelo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Kaiser: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autovalor &gt; 1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paralela: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compare com ruído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critérios; nenhum é lei.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Lendo um biplot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8_biplot" descr="f8_bipl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298" y="1188720"/>
            <a:ext cx="3531404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Setas = atributos; pontos = exemplos.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Cargas × Escores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de cada atributo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Interpretam 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de V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4686300" y="1188720"/>
            <a:ext cx="4000500" cy="2834640"/>
          </a:xfrm>
          <a:prstGeom prst="roundRect">
            <a:avLst>
              <a:gd name="adj" fmla="val 3226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4777740" y="1188720"/>
            <a:ext cx="38176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Escores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4869180" y="1783080"/>
            <a:ext cx="36347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dos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no novo espaço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Usados em gráficos</a:t>
            </a:r>
            <a:endParaRPr lang="en-US" sz="1800" dirty="0"/>
          </a:p>
        </p:txBody>
      </p:sp>
      <p:sp>
        <p:nvSpPr>
          <p:cNvPr id="13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5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explicam; escores posicionam.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Comprimir e reconstruir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8_digitos" descr="f8_dig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648" y="1188720"/>
            <a:ext cx="4422705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componentes, dígito reconhecível.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de atenção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antes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é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são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difíceis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interpretar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distorcem a direção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 de maior variância ≠ direção mais útil.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Variações do PCA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18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quê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que não cabem na memória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Aleatorizado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rápido em dados grandes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Esparso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Cargas interpretáveis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PCA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Estruturas curvas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PCA para cada situação.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Coquetel de vozes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festa, dois microfones captam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conversas misturadas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ICA separa as vozes originais.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8_ica" descr="f8_i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712" y="1234440"/>
            <a:ext cx="3399697" cy="2377440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ICA: separar fontes independentes.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Montar com peças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NMF decompõe uma imagem ou texto em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peças aditivas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como um quebra-cabeça: só somas, nada de subtrações.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8_nmf" descr="f8_nm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17893"/>
            <a:ext cx="3840480" cy="1010535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NMF: partes que se somam.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× ICA × NMF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2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657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Variância máxima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Visualizar, comprimir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Independência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Separar sinais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Partes não negativas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Tópicos, imagens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objetivos, três respostas.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Eixos de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variância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Centralizar, rotacionar, projetar.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90–95 %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variância.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atributos.</a:t>
            </a:r>
            <a:endParaRPr lang="en-US" sz="16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NMF?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aditivas.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PCA escolhe como primeira direção a de: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variância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variância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correlação com y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distância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padronizar antes do PCA?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PCA ser supervisionado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atributos de grande escala não dominarem as componentes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gerar mais componentes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necessário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NMF exige que os dados sejam: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negativos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Padronizados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componentes para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90 %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variância?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dígitos com 5, 20 e 40 componentes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na unha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(autovetores)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Separe fontes com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variância acumulada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Dígitos reconstruídos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separadas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rotação para a variância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calcula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k por variância e scree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separa; NMF monta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9: Aprendizado de variedades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8 — PCA e Métodos Lineares: SVD, ICA e NMF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2026-10-26T18:42:50Z</dcterms:created>
  <dcterms:modified xsi:type="dcterms:W3CDTF">2026-10-26T18:42:50Z</dcterms:modified>
</cp:coreProperties>
</file>