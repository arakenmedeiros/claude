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84da841-d81e-58da-acdb-eeb9a5c2a3eb}">
          <p14:sldIdLst>
            <p14:sldId id="256"/>
            <p14:sldId id="257"/>
          </p14:sldIdLst>
        </p14:section>
        <p14:section name="Redes neurais" id="{61c2b333-f9ba-8ce2-3cb0-de58ab251cb2}">
          <p14:sldIdLst>
            <p14:sldId id="258"/>
            <p14:sldId id="259"/>
          </p14:sldIdLst>
        </p14:section>
        <p14:section name="Autoencoder" id="{b6edffa2-738b-83b5-565e-9b486984de62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VAE e GAN" id="{4fd4d6f6-2ea9-009d-9529-7c900cc32a51}">
          <p14:sldIdLst>
            <p14:sldId id="267"/>
            <p14:sldId id="268"/>
            <p14:sldId id="269"/>
            <p14:sldId id="270"/>
          </p14:sldIdLst>
        </p14:section>
        <p14:section name="Auto-supervisão" id="{c6fe48f2-2a72-32e8-addd-1b6da16452d1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Fixação" id="{97a05207-feba-c1c9-0f25-5a06d534bd98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dimensão pequena obriga a rede a reter o essencial.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Escreve z = μ + σ·ε, tornando a amostragem diferenciável.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Visões aumentadas do mesmo item devem ficar próximas.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que representação ajuda mais a agrupar?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193914" y="1175969"/>
            <a:ext cx="102135" cy="10213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604925" y="952196"/>
            <a:ext cx="142459" cy="14245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444515" y="1209021"/>
            <a:ext cx="122369" cy="12236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834389" y="1473697"/>
            <a:ext cx="102750" cy="102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7083754" y="1280139"/>
            <a:ext cx="165434" cy="16543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5863674" y="1342472"/>
            <a:ext cx="70676" cy="706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417509" y="1725284"/>
            <a:ext cx="105813" cy="1058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374724" y="1452778"/>
            <a:ext cx="77587" cy="775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837631" y="1021424"/>
            <a:ext cx="90636" cy="906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231777" y="644442"/>
            <a:ext cx="97072" cy="970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275371" y="1184339"/>
            <a:ext cx="163550" cy="1635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828571" y="806784"/>
            <a:ext cx="100403" cy="10040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229782" y="868081"/>
            <a:ext cx="113496" cy="1134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7165903" y="1145917"/>
            <a:ext cx="114668" cy="1146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5954127" y="845791"/>
            <a:ext cx="155890" cy="15589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078039" y="987663"/>
            <a:ext cx="96958" cy="9695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8410546" y="2809318"/>
            <a:ext cx="82042" cy="8204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630910" y="3520027"/>
            <a:ext cx="126043" cy="12604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8240315" y="2287151"/>
            <a:ext cx="133242" cy="13324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553713" y="2808551"/>
            <a:ext cx="95194" cy="9519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905471" y="2202493"/>
            <a:ext cx="138145" cy="13814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423798" y="2867295"/>
            <a:ext cx="109058" cy="1090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794887" y="3516838"/>
            <a:ext cx="120904" cy="1209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961340" y="2487848"/>
            <a:ext cx="78855" cy="7885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8191200" y="3254783"/>
            <a:ext cx="120264" cy="12026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473170" y="2404493"/>
            <a:ext cx="168123" cy="16812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641208" y="3379809"/>
            <a:ext cx="101421" cy="10142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248752" y="2673078"/>
            <a:ext cx="98231" cy="9823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8448971" y="2544613"/>
            <a:ext cx="122850" cy="12285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946973" y="2438187"/>
            <a:ext cx="157221" cy="15722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295236" y="2985737"/>
            <a:ext cx="79913" cy="7991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8242652" y="3294508"/>
            <a:ext cx="143045" cy="14304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440442" y="3539203"/>
            <a:ext cx="172247" cy="17224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6370554" y="3267411"/>
            <a:ext cx="145069" cy="14506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6610448" y="3692383"/>
            <a:ext cx="165881" cy="16588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6204993" y="3075106"/>
            <a:ext cx="163232" cy="1632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6567461" y="3690181"/>
            <a:ext cx="114441" cy="11444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5943244" y="2881981"/>
            <a:ext cx="107681" cy="10768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5803937" y="3598766"/>
            <a:ext cx="69097" cy="6909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5691116" y="3689831"/>
            <a:ext cx="120286" cy="12028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6237123" y="3685426"/>
            <a:ext cx="122222" cy="12222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561507" y="3102184"/>
            <a:ext cx="114226" cy="11422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323523" y="3232406"/>
            <a:ext cx="164353" cy="16435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949733" y="2781595"/>
            <a:ext cx="115917" cy="11591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6665225" y="3284854"/>
            <a:ext cx="75409" cy="7540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773181" y="3756889"/>
            <a:ext cx="134930" cy="13493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6237136" y="3747939"/>
            <a:ext cx="125218" cy="12521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5426350" y="3456904"/>
            <a:ext cx="105089" cy="10508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7907514" y="1035373"/>
            <a:ext cx="165163" cy="1651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8530283" y="410975"/>
            <a:ext cx="171720" cy="1717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259762" y="1150525"/>
            <a:ext cx="101124" cy="1011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549938" y="1265266"/>
            <a:ext cx="135309" cy="13530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407305" y="1255101"/>
            <a:ext cx="136785" cy="13678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8191658" y="1443695"/>
            <a:ext cx="147427" cy="14742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8143502" y="1202996"/>
            <a:ext cx="107635" cy="10763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007697" y="1595041"/>
            <a:ext cx="81428" cy="814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336565" y="1521968"/>
            <a:ext cx="108876" cy="10887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7627994" y="1111592"/>
            <a:ext cx="163608" cy="163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8030383" y="799698"/>
            <a:ext cx="157114" cy="15711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692275" y="928617"/>
            <a:ext cx="162398" cy="16239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7762392" y="1154304"/>
            <a:ext cx="78029" cy="7802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7451774" y="510147"/>
            <a:ext cx="102122" cy="10212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8562140" y="412952"/>
            <a:ext cx="107660" cy="1076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145962" y="1451922"/>
            <a:ext cx="119976" cy="11997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686290" y="1894404"/>
            <a:ext cx="132899" cy="13289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7466425" y="2457124"/>
            <a:ext cx="144488" cy="144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7367876" y="2529145"/>
            <a:ext cx="166114" cy="16611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216123" y="2246953"/>
            <a:ext cx="102011" cy="10201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7385325" y="2042275"/>
            <a:ext cx="124369" cy="12436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271678" y="2278092"/>
            <a:ext cx="98191" cy="9819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041300" y="1608544"/>
            <a:ext cx="165561" cy="16556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7119907" y="2103333"/>
            <a:ext cx="98136" cy="981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329626" y="2380464"/>
            <a:ext cx="173693" cy="17369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200312" y="2323765"/>
            <a:ext cx="163880" cy="163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574457" y="2762977"/>
            <a:ext cx="140606" cy="14060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6199983" y="2270831"/>
            <a:ext cx="148698" cy="14869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7397019" y="1764175"/>
            <a:ext cx="79798" cy="7979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541534" y="2096487"/>
            <a:ext cx="155358" cy="15535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7352364" y="2399961"/>
            <a:ext cx="138748" cy="1387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7440197" y="2103330"/>
            <a:ext cx="146763" cy="14676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Profundo Não Supervisionado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Autoencoders, VAEs, GANs e auto-supervisão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uma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linguagem simples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suas variações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aprendizado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auto-supervisionado e contrastivo</a:t>
            </a:r>
            <a:endParaRPr lang="en-US" sz="20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um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técnicas clássicas às redes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 K-means são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manuais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 redes profundas são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aprendem o próprio jeito de representar os dados.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2_mapa" descr="f12_map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6459"/>
            <a:ext cx="3840480" cy="2013402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Representações aprendidas, não desenhadas.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neural em 5 minutos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soma ponderada + não linearidade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empilhe neurônios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mais camadas, mais abstração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descer o erro (gradiente)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contas simples formam algo poderoso.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telegrama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precisa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uma carta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 telegrama curto e depois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carta. O que sobra no telegrama é o essencial.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2_ae_arquitetura" descr="f12_ae_arquitetu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38821"/>
            <a:ext cx="3840480" cy="1768679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Comprimir para aprender o essencial.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partes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4127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4127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Codificador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comprime a entrada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28142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2814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20574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latente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'telegrama' (gargalo)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315010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3150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9260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Decodificador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reconstrói a entrada</a:t>
            </a:r>
            <a:endParaRPr lang="en-US" sz="20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= entrada − reconstrução.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espaço latente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2_latente" descr="f12_late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001" y="1188720"/>
            <a:ext cx="3249999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aprendido dos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Relação com o PCA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PCA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linearidade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mais poder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 mais: dados e treino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PCA é o autoencoder mais simples.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Autoencoder em PyTorch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2052320"/>
          </a:xfrm>
          <a:prstGeom prst="roundRect">
            <a:avLst>
              <a:gd name="adj" fmla="val 3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AE(nn.Module):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__init__(s, d=64, z=8):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super().__init__()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s.enc = nn.Sequential(nn.Linear(d,32),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nn.ReLU(), nn.Linear(32,z))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s.dec = nn.Sequential(nn.Linear(z,32),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nn.ReLU(), nn.Linear(32,d))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forward(s, x): return s.dec(s.enc(x))</a:t>
            </a:r>
            <a:endParaRPr lang="en-US" sz="14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`enc`: 64 → 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`dec`: 8 → 64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Perda: `MSELoss`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pernas e um gargalo.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Removendo ruído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2_denoising" descr="f12_denoi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29" y="1188720"/>
            <a:ext cx="7299541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suja, saída limpa.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Variações do autoencoder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Subcompleto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Gargalo estreito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Esparso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Poucas ativações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 úteis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Denoising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Reconstrói de entrada ruidosa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Limpeza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Convolucional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Camadas convolucionais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espinha, objetivos diferentes.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2_vae" descr="f12_va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39" y="1188720"/>
            <a:ext cx="6916321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vira distribuição.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do VAE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é uma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9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reconstrução + KL</a:t>
            </a:r>
            <a:endParaRPr lang="en-US" sz="19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Reparametrização: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= μ + σ·ε</a:t>
            </a:r>
            <a:endParaRPr lang="en-US" sz="19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interpolar</a:t>
            </a:r>
            <a:endParaRPr lang="en-US" sz="19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espaço latente suave e navegável.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Falsificador e polícia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falsificador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cria notas; 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tenta distinguir as falsas. Os dois melhoram juntos, até a falsa ficar quase perfeita.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2_gan" descr="f12_g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79144"/>
            <a:ext cx="3840480" cy="1688031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GAN: um jogo de dois jogadores.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comuns de GANs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instável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de modo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avaliar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 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removem ruído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dominam imagens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difícil de equilibrar.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de lacunas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Esconda 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frase e peça para adivinhar. O rótulo vem do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próprio texto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ninguém precisou anotar.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2_pretexto" descr="f12_pretex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0706"/>
            <a:ext cx="3840480" cy="1384909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dado cria o seu próprio professor.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Auto-supervisão em 2 etapas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4127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4127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Pré-treino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tarefa-pretexto com dados sem rótulo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28142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2814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20574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poucos rótulos para a tarefa final</a:t>
            </a:r>
            <a:endParaRPr lang="en-US" sz="2000" dirty="0"/>
          </a:p>
        </p:txBody>
      </p:sp>
      <p:sp>
        <p:nvSpPr>
          <p:cNvPr id="1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primeiro. Especializa depois.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contrastivo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ontos"/>
          <p:cNvSpPr txBox="1"/>
          <p:nvPr/>
        </p:nvSpPr>
        <p:spPr>
          <a:xfrm>
            <a:off x="457200" y="123444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visões do mesmo exemplo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exemplos diferentes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/ NT-Xent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SimCLR, MoCo</a:t>
            </a:r>
            <a:endParaRPr lang="en-US" sz="2000" dirty="0"/>
          </a:p>
        </p:txBody>
      </p:sp>
      <p:sp>
        <p:nvSpPr>
          <p:cNvPr id="6" name="moldura-figura"/>
          <p:cNvSpPr/>
          <p:nvPr/>
        </p:nvSpPr>
        <p:spPr>
          <a:xfrm>
            <a:off x="4754880" y="1234440"/>
            <a:ext cx="39319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2_contrastivo" descr="f12_contras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46" y="1234440"/>
            <a:ext cx="3574789" cy="2788920"/>
          </a:xfrm>
          <a:prstGeom prst="rect">
            <a:avLst/>
          </a:prstGeom>
        </p:spPr>
      </p:pic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Parecido junto. Diferente longe.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Usando as representações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o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latente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Agrupe, classifique, detecte anomalias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reconstrução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alerta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(linha de base)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é um extrator de atributos.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sempre ganha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estatistica-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0,44</a:t>
            </a:r>
            <a:endParaRPr lang="en-US" sz="4800" dirty="0"/>
          </a:p>
        </p:txBody>
      </p:sp>
      <p:sp>
        <p:nvSpPr>
          <p:cNvPr id="7" name="rotulo-1"/>
          <p:cNvSpPr txBox="1"/>
          <p:nvPr/>
        </p:nvSpPr>
        <p:spPr>
          <a:xfrm>
            <a:off x="64008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com autoencoder</a:t>
            </a:r>
            <a:endParaRPr lang="en-US" sz="1500" dirty="0"/>
          </a:p>
        </p:txBody>
      </p:sp>
      <p:sp>
        <p:nvSpPr>
          <p:cNvPr id="8" name="estatistica-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33832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0,69</a:t>
            </a:r>
            <a:endParaRPr lang="en-US" sz="4800" dirty="0"/>
          </a:p>
        </p:txBody>
      </p:sp>
      <p:sp>
        <p:nvSpPr>
          <p:cNvPr id="10" name="rotulo-2"/>
          <p:cNvSpPr txBox="1"/>
          <p:nvPr/>
        </p:nvSpPr>
        <p:spPr>
          <a:xfrm>
            <a:off x="347472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com PCA</a:t>
            </a:r>
            <a:endParaRPr lang="en-US" sz="1500" dirty="0"/>
          </a:p>
        </p:txBody>
      </p:sp>
      <p:sp>
        <p:nvSpPr>
          <p:cNvPr id="11" name="estatistica-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621792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4800" dirty="0"/>
          </a:p>
        </p:txBody>
      </p:sp>
      <p:sp>
        <p:nvSpPr>
          <p:cNvPr id="13" name="rotulo-3"/>
          <p:cNvSpPr txBox="1"/>
          <p:nvPr/>
        </p:nvSpPr>
        <p:spPr>
          <a:xfrm>
            <a:off x="630936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venceu nesse caso</a:t>
            </a:r>
            <a:endParaRPr lang="en-US" sz="15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Profundo não é sinônimo de melhor.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grande figura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2_fechamento" descr="f12_fech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21" y="1188720"/>
            <a:ext cx="5406958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mapa de todo o livro.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 e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reconstrói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o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probabilístico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KL.</a:t>
            </a:r>
            <a:endParaRPr lang="en-US" sz="15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Falsificador × polícia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Auto-supervisionado?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sai dos dados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Contrastivo?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positivos,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afasta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papel do gargalo no autoencoder?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o treino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Forçar uma representação compacta e essencial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ruído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Rotular os dados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truque da reparametrização no VAE permite: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via gradiente através da amostragem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 o decodificador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gargalo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rótulos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aprendizado contrastivo, positivos são: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classes diferentes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visões do mesmo exemplo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anômalos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da rede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um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MLPRegressor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o código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gargalo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 dígitos com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pelo erro de reconstrução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Dígitos reconstruídos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PCA × autoencoder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do detector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Autoencoder: comprimir e reconstruir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gera; GAN compete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Auto-supervisão: rótulo dos próprios dados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Contrastivo: aproximar e afastar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13: Projeto final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12 — Aprendizado Profundo Não Supervisionado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2026-10-26T18:42:51Z</dcterms:created>
  <dcterms:modified xsi:type="dcterms:W3CDTF">2026-10-26T18:42:51Z</dcterms:modified>
</cp:coreProperties>
</file>