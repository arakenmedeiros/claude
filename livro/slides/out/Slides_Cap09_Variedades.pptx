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74894520-e4b3-7705-4187-736a34bb8706}">
          <p14:sldIdLst>
            <p14:sldId id="256"/>
            <p14:sldId id="257"/>
          </p14:sldIdLst>
        </p14:section>
        <p14:section name="Ideia" id="{fa5be97c-8bdf-df03-4d4e-a10a10b8739f}">
          <p14:sldIdLst>
            <p14:sldId id="258"/>
            <p14:sldId id="259"/>
            <p14:sldId id="260"/>
          </p14:sldIdLst>
        </p14:section>
        <p14:section name="MDS e Isomap" id="{81b1aba8-fd81-a34b-f4e3-6ba672353a52}">
          <p14:sldIdLst>
            <p14:sldId id="261"/>
            <p14:sldId id="262"/>
            <p14:sldId id="263"/>
          </p14:sldIdLst>
        </p14:section>
        <p14:section name="t-SNE" id="{7c8d4dc3-662b-b16e-aea2-bc9c5ff84dbd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UMAP" id="{d493b58c-45d2-1ca9-365f-9de40607e456}">
          <p14:sldIdLst>
            <p14:sldId id="270"/>
            <p14:sldId id="271"/>
            <p14:sldId id="272"/>
            <p14:sldId id="273"/>
          </p14:sldIdLst>
        </p14:section>
        <p14:section name="Fixação" id="{25943388-9859-cf4e-036c-f37d4f576111}">
          <p14:sldIdLst>
            <p14:sldId id="274"/>
            <p14:sldId id="275"/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Segue a superfície em que os dados vivem; é maior ou igual à reta.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Distâncias globais e tamanhos de grupos não são confiáveis.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O UMAP oferece transform e costuma ser mais rápido.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Projeto: comparando mapas de dígitos e vinhos.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Não Supervisionado  ·  Capítulo 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Não Supervisionado  ·  Capítulo 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120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91840"/>
            <a:ext cx="49377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lo-0"/>
          <p:cNvSpPr/>
          <p:nvPr/>
        </p:nvSpPr>
        <p:spPr>
          <a:xfrm>
            <a:off x="5760720" y="365760"/>
            <a:ext cx="1645920" cy="164592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ponto-0-0"/>
          <p:cNvSpPr/>
          <p:nvPr/>
        </p:nvSpPr>
        <p:spPr>
          <a:xfrm>
            <a:off x="7064369" y="1154598"/>
            <a:ext cx="115176" cy="11517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ponto-0-1"/>
          <p:cNvSpPr/>
          <p:nvPr/>
        </p:nvSpPr>
        <p:spPr>
          <a:xfrm>
            <a:off x="6411313" y="1200316"/>
            <a:ext cx="173499" cy="173499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onto-0-2"/>
          <p:cNvSpPr/>
          <p:nvPr/>
        </p:nvSpPr>
        <p:spPr>
          <a:xfrm>
            <a:off x="6294543" y="651936"/>
            <a:ext cx="158003" cy="15800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onto-0-3"/>
          <p:cNvSpPr/>
          <p:nvPr/>
        </p:nvSpPr>
        <p:spPr>
          <a:xfrm>
            <a:off x="6959647" y="1638806"/>
            <a:ext cx="86272" cy="862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onto-0-4"/>
          <p:cNvSpPr/>
          <p:nvPr/>
        </p:nvSpPr>
        <p:spPr>
          <a:xfrm>
            <a:off x="6585168" y="1715136"/>
            <a:ext cx="104279" cy="104279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ponto-0-5"/>
          <p:cNvSpPr/>
          <p:nvPr/>
        </p:nvSpPr>
        <p:spPr>
          <a:xfrm>
            <a:off x="6276689" y="1649015"/>
            <a:ext cx="154050" cy="15405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ponto-0-6"/>
          <p:cNvSpPr/>
          <p:nvPr/>
        </p:nvSpPr>
        <p:spPr>
          <a:xfrm>
            <a:off x="6409093" y="775853"/>
            <a:ext cx="161948" cy="1619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ponto-0-7"/>
          <p:cNvSpPr/>
          <p:nvPr/>
        </p:nvSpPr>
        <p:spPr>
          <a:xfrm>
            <a:off x="5868733" y="1217754"/>
            <a:ext cx="104249" cy="104249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ponto-0-8"/>
          <p:cNvSpPr/>
          <p:nvPr/>
        </p:nvSpPr>
        <p:spPr>
          <a:xfrm>
            <a:off x="6331428" y="480693"/>
            <a:ext cx="116775" cy="11677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ponto-0-9"/>
          <p:cNvSpPr/>
          <p:nvPr/>
        </p:nvSpPr>
        <p:spPr>
          <a:xfrm>
            <a:off x="6152302" y="1541981"/>
            <a:ext cx="91974" cy="9197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ponto-0-10"/>
          <p:cNvSpPr/>
          <p:nvPr/>
        </p:nvSpPr>
        <p:spPr>
          <a:xfrm>
            <a:off x="6132361" y="1016151"/>
            <a:ext cx="122532" cy="1225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ponto-0-11"/>
          <p:cNvSpPr/>
          <p:nvPr/>
        </p:nvSpPr>
        <p:spPr>
          <a:xfrm>
            <a:off x="6790413" y="1211139"/>
            <a:ext cx="153494" cy="15349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ponto-0-12"/>
          <p:cNvSpPr/>
          <p:nvPr/>
        </p:nvSpPr>
        <p:spPr>
          <a:xfrm>
            <a:off x="6240269" y="1118949"/>
            <a:ext cx="70496" cy="704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ponto-0-13"/>
          <p:cNvSpPr/>
          <p:nvPr/>
        </p:nvSpPr>
        <p:spPr>
          <a:xfrm>
            <a:off x="6270134" y="490298"/>
            <a:ext cx="123212" cy="1232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ponto-0-14"/>
          <p:cNvSpPr/>
          <p:nvPr/>
        </p:nvSpPr>
        <p:spPr>
          <a:xfrm>
            <a:off x="6452911" y="1639214"/>
            <a:ext cx="90942" cy="9094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ponto-0-15"/>
          <p:cNvSpPr/>
          <p:nvPr/>
        </p:nvSpPr>
        <p:spPr>
          <a:xfrm>
            <a:off x="6036574" y="1451833"/>
            <a:ext cx="157333" cy="15733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halo-1"/>
          <p:cNvSpPr/>
          <p:nvPr/>
        </p:nvSpPr>
        <p:spPr>
          <a:xfrm>
            <a:off x="7040880" y="2103120"/>
            <a:ext cx="1645920" cy="1645920"/>
          </a:xfrm>
          <a:prstGeom prst="ellipse">
            <a:avLst/>
          </a:prstGeom>
          <a:solidFill>
            <a:schemeClr val="accent4">
              <a:alpha val="12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ponto-1-0"/>
          <p:cNvSpPr/>
          <p:nvPr/>
        </p:nvSpPr>
        <p:spPr>
          <a:xfrm>
            <a:off x="7394774" y="2478078"/>
            <a:ext cx="76558" cy="7655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ponto-1-1"/>
          <p:cNvSpPr/>
          <p:nvPr/>
        </p:nvSpPr>
        <p:spPr>
          <a:xfrm>
            <a:off x="7724509" y="3456015"/>
            <a:ext cx="126274" cy="12627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ponto-1-2"/>
          <p:cNvSpPr/>
          <p:nvPr/>
        </p:nvSpPr>
        <p:spPr>
          <a:xfrm>
            <a:off x="7637500" y="3385588"/>
            <a:ext cx="69977" cy="69977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ponto-1-3"/>
          <p:cNvSpPr/>
          <p:nvPr/>
        </p:nvSpPr>
        <p:spPr>
          <a:xfrm>
            <a:off x="7552186" y="3347291"/>
            <a:ext cx="136428" cy="1364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4" name="ponto-1-4"/>
          <p:cNvSpPr/>
          <p:nvPr/>
        </p:nvSpPr>
        <p:spPr>
          <a:xfrm>
            <a:off x="7746182" y="2861382"/>
            <a:ext cx="111705" cy="111705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ponto-1-5"/>
          <p:cNvSpPr/>
          <p:nvPr/>
        </p:nvSpPr>
        <p:spPr>
          <a:xfrm>
            <a:off x="7641288" y="2603745"/>
            <a:ext cx="136795" cy="136795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ponto-1-6"/>
          <p:cNvSpPr/>
          <p:nvPr/>
        </p:nvSpPr>
        <p:spPr>
          <a:xfrm>
            <a:off x="7944324" y="2424203"/>
            <a:ext cx="142916" cy="14291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ponto-1-7"/>
          <p:cNvSpPr/>
          <p:nvPr/>
        </p:nvSpPr>
        <p:spPr>
          <a:xfrm>
            <a:off x="7497276" y="3360463"/>
            <a:ext cx="102407" cy="102407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8" name="ponto-1-8"/>
          <p:cNvSpPr/>
          <p:nvPr/>
        </p:nvSpPr>
        <p:spPr>
          <a:xfrm>
            <a:off x="7226404" y="2894935"/>
            <a:ext cx="103092" cy="10309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9" name="ponto-1-9"/>
          <p:cNvSpPr/>
          <p:nvPr/>
        </p:nvSpPr>
        <p:spPr>
          <a:xfrm>
            <a:off x="7195682" y="2877456"/>
            <a:ext cx="105091" cy="105091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ponto-1-10"/>
          <p:cNvSpPr/>
          <p:nvPr/>
        </p:nvSpPr>
        <p:spPr>
          <a:xfrm>
            <a:off x="7668653" y="2427484"/>
            <a:ext cx="112961" cy="112961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1" name="ponto-1-11"/>
          <p:cNvSpPr/>
          <p:nvPr/>
        </p:nvSpPr>
        <p:spPr>
          <a:xfrm>
            <a:off x="7937211" y="2920028"/>
            <a:ext cx="170597" cy="170597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2" name="ponto-1-12"/>
          <p:cNvSpPr/>
          <p:nvPr/>
        </p:nvSpPr>
        <p:spPr>
          <a:xfrm>
            <a:off x="7747176" y="3518427"/>
            <a:ext cx="96369" cy="96369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3" name="ponto-1-13"/>
          <p:cNvSpPr/>
          <p:nvPr/>
        </p:nvSpPr>
        <p:spPr>
          <a:xfrm>
            <a:off x="7701744" y="2364338"/>
            <a:ext cx="94181" cy="94181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4" name="ponto-1-14"/>
          <p:cNvSpPr/>
          <p:nvPr/>
        </p:nvSpPr>
        <p:spPr>
          <a:xfrm>
            <a:off x="7421208" y="2542469"/>
            <a:ext cx="173682" cy="17368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5" name="ponto-1-15"/>
          <p:cNvSpPr/>
          <p:nvPr/>
        </p:nvSpPr>
        <p:spPr>
          <a:xfrm>
            <a:off x="7843250" y="2242250"/>
            <a:ext cx="123224" cy="1232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6" name="halo-2"/>
          <p:cNvSpPr/>
          <p:nvPr/>
        </p:nvSpPr>
        <p:spPr>
          <a:xfrm>
            <a:off x="5212080" y="2743200"/>
            <a:ext cx="1645920" cy="1645920"/>
          </a:xfrm>
          <a:prstGeom prst="ellipse">
            <a:avLst/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7" name="ponto-2-0"/>
          <p:cNvSpPr/>
          <p:nvPr/>
        </p:nvSpPr>
        <p:spPr>
          <a:xfrm>
            <a:off x="6411962" y="3837409"/>
            <a:ext cx="131502" cy="13150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8" name="ponto-2-1"/>
          <p:cNvSpPr/>
          <p:nvPr/>
        </p:nvSpPr>
        <p:spPr>
          <a:xfrm>
            <a:off x="6132112" y="3543459"/>
            <a:ext cx="127078" cy="12707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9" name="ponto-2-2"/>
          <p:cNvSpPr/>
          <p:nvPr/>
        </p:nvSpPr>
        <p:spPr>
          <a:xfrm>
            <a:off x="5274194" y="3659703"/>
            <a:ext cx="85504" cy="8550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0" name="ponto-2-3"/>
          <p:cNvSpPr/>
          <p:nvPr/>
        </p:nvSpPr>
        <p:spPr>
          <a:xfrm>
            <a:off x="5284026" y="3579855"/>
            <a:ext cx="95349" cy="95349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1" name="ponto-2-4"/>
          <p:cNvSpPr/>
          <p:nvPr/>
        </p:nvSpPr>
        <p:spPr>
          <a:xfrm>
            <a:off x="5392985" y="3426011"/>
            <a:ext cx="113345" cy="113345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2" name="ponto-2-5"/>
          <p:cNvSpPr/>
          <p:nvPr/>
        </p:nvSpPr>
        <p:spPr>
          <a:xfrm>
            <a:off x="6430714" y="3488384"/>
            <a:ext cx="85230" cy="8523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3" name="ponto-2-6"/>
          <p:cNvSpPr/>
          <p:nvPr/>
        </p:nvSpPr>
        <p:spPr>
          <a:xfrm>
            <a:off x="5854522" y="3397691"/>
            <a:ext cx="124800" cy="1248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4" name="ponto-2-7"/>
          <p:cNvSpPr/>
          <p:nvPr/>
        </p:nvSpPr>
        <p:spPr>
          <a:xfrm>
            <a:off x="5619295" y="3508332"/>
            <a:ext cx="125297" cy="125297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5" name="ponto-2-8"/>
          <p:cNvSpPr/>
          <p:nvPr/>
        </p:nvSpPr>
        <p:spPr>
          <a:xfrm>
            <a:off x="5677928" y="3235346"/>
            <a:ext cx="136170" cy="13617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6" name="ponto-2-9"/>
          <p:cNvSpPr/>
          <p:nvPr/>
        </p:nvSpPr>
        <p:spPr>
          <a:xfrm>
            <a:off x="6560672" y="3742167"/>
            <a:ext cx="162781" cy="162781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7" name="ponto-2-10"/>
          <p:cNvSpPr/>
          <p:nvPr/>
        </p:nvSpPr>
        <p:spPr>
          <a:xfrm>
            <a:off x="6530189" y="3440159"/>
            <a:ext cx="94049" cy="94049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8" name="ponto-2-11"/>
          <p:cNvSpPr/>
          <p:nvPr/>
        </p:nvSpPr>
        <p:spPr>
          <a:xfrm>
            <a:off x="5596859" y="4071722"/>
            <a:ext cx="143451" cy="143451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9" name="ponto-2-12"/>
          <p:cNvSpPr/>
          <p:nvPr/>
        </p:nvSpPr>
        <p:spPr>
          <a:xfrm>
            <a:off x="6154041" y="4055380"/>
            <a:ext cx="155283" cy="155283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0" name="ponto-2-13"/>
          <p:cNvSpPr/>
          <p:nvPr/>
        </p:nvSpPr>
        <p:spPr>
          <a:xfrm>
            <a:off x="5329388" y="3395979"/>
            <a:ext cx="142380" cy="1423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1" name="ponto-2-14"/>
          <p:cNvSpPr/>
          <p:nvPr/>
        </p:nvSpPr>
        <p:spPr>
          <a:xfrm>
            <a:off x="5962343" y="3798621"/>
            <a:ext cx="155766" cy="15576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2" name="ponto-2-15"/>
          <p:cNvSpPr/>
          <p:nvPr/>
        </p:nvSpPr>
        <p:spPr>
          <a:xfrm>
            <a:off x="5357801" y="3550685"/>
            <a:ext cx="92788" cy="9278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3" name="halo-3"/>
          <p:cNvSpPr/>
          <p:nvPr/>
        </p:nvSpPr>
        <p:spPr>
          <a:xfrm>
            <a:off x="7315200" y="91440"/>
            <a:ext cx="1645920" cy="1645920"/>
          </a:xfrm>
          <a:prstGeom prst="ellipse">
            <a:avLst/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4" name="ponto-3-0"/>
          <p:cNvSpPr/>
          <p:nvPr/>
        </p:nvSpPr>
        <p:spPr>
          <a:xfrm>
            <a:off x="8147849" y="1135601"/>
            <a:ext cx="135585" cy="135585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5" name="ponto-3-1"/>
          <p:cNvSpPr/>
          <p:nvPr/>
        </p:nvSpPr>
        <p:spPr>
          <a:xfrm>
            <a:off x="7607650" y="836578"/>
            <a:ext cx="154412" cy="15441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6" name="ponto-3-2"/>
          <p:cNvSpPr/>
          <p:nvPr/>
        </p:nvSpPr>
        <p:spPr>
          <a:xfrm>
            <a:off x="8431869" y="1236713"/>
            <a:ext cx="136790" cy="13679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7" name="ponto-3-3"/>
          <p:cNvSpPr/>
          <p:nvPr/>
        </p:nvSpPr>
        <p:spPr>
          <a:xfrm>
            <a:off x="8750372" y="788882"/>
            <a:ext cx="122435" cy="122435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8" name="ponto-3-4"/>
          <p:cNvSpPr/>
          <p:nvPr/>
        </p:nvSpPr>
        <p:spPr>
          <a:xfrm>
            <a:off x="8055941" y="915917"/>
            <a:ext cx="148251" cy="148251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9" name="ponto-3-5"/>
          <p:cNvSpPr/>
          <p:nvPr/>
        </p:nvSpPr>
        <p:spPr>
          <a:xfrm>
            <a:off x="7544483" y="796313"/>
            <a:ext cx="77019" cy="77019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0" name="ponto-3-6"/>
          <p:cNvSpPr/>
          <p:nvPr/>
        </p:nvSpPr>
        <p:spPr>
          <a:xfrm>
            <a:off x="8286694" y="789452"/>
            <a:ext cx="79415" cy="79415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1" name="ponto-3-7"/>
          <p:cNvSpPr/>
          <p:nvPr/>
        </p:nvSpPr>
        <p:spPr>
          <a:xfrm>
            <a:off x="8567750" y="376468"/>
            <a:ext cx="155152" cy="15515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2" name="ponto-3-8"/>
          <p:cNvSpPr/>
          <p:nvPr/>
        </p:nvSpPr>
        <p:spPr>
          <a:xfrm>
            <a:off x="7564679" y="959237"/>
            <a:ext cx="89579" cy="89579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3" name="ponto-3-9"/>
          <p:cNvSpPr/>
          <p:nvPr/>
        </p:nvSpPr>
        <p:spPr>
          <a:xfrm>
            <a:off x="7828317" y="296581"/>
            <a:ext cx="141686" cy="14168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4" name="ponto-3-10"/>
          <p:cNvSpPr/>
          <p:nvPr/>
        </p:nvSpPr>
        <p:spPr>
          <a:xfrm>
            <a:off x="8685531" y="728269"/>
            <a:ext cx="86922" cy="8692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5" name="ponto-3-11"/>
          <p:cNvSpPr/>
          <p:nvPr/>
        </p:nvSpPr>
        <p:spPr>
          <a:xfrm>
            <a:off x="7901089" y="201501"/>
            <a:ext cx="108146" cy="10814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6" name="ponto-3-12"/>
          <p:cNvSpPr/>
          <p:nvPr/>
        </p:nvSpPr>
        <p:spPr>
          <a:xfrm>
            <a:off x="7793022" y="276793"/>
            <a:ext cx="143550" cy="14355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7" name="ponto-3-13"/>
          <p:cNvSpPr/>
          <p:nvPr/>
        </p:nvSpPr>
        <p:spPr>
          <a:xfrm>
            <a:off x="7640723" y="942982"/>
            <a:ext cx="141922" cy="14192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8" name="ponto-3-14"/>
          <p:cNvSpPr/>
          <p:nvPr/>
        </p:nvSpPr>
        <p:spPr>
          <a:xfrm>
            <a:off x="8369035" y="1123154"/>
            <a:ext cx="131082" cy="13108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9" name="ponto-3-15"/>
          <p:cNvSpPr/>
          <p:nvPr/>
        </p:nvSpPr>
        <p:spPr>
          <a:xfrm>
            <a:off x="7996331" y="338842"/>
            <a:ext cx="94392" cy="9439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0" name="halo-4"/>
          <p:cNvSpPr/>
          <p:nvPr/>
        </p:nvSpPr>
        <p:spPr>
          <a:xfrm>
            <a:off x="6126480" y="1463040"/>
            <a:ext cx="1645920" cy="1645920"/>
          </a:xfrm>
          <a:prstGeom prst="ellipse">
            <a:avLst/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1" name="ponto-4-0"/>
          <p:cNvSpPr/>
          <p:nvPr/>
        </p:nvSpPr>
        <p:spPr>
          <a:xfrm>
            <a:off x="7296385" y="2078223"/>
            <a:ext cx="138334" cy="13833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2" name="ponto-4-1"/>
          <p:cNvSpPr/>
          <p:nvPr/>
        </p:nvSpPr>
        <p:spPr>
          <a:xfrm>
            <a:off x="6218625" y="2008926"/>
            <a:ext cx="130557" cy="130557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3" name="ponto-4-2"/>
          <p:cNvSpPr/>
          <p:nvPr/>
        </p:nvSpPr>
        <p:spPr>
          <a:xfrm>
            <a:off x="6906144" y="2833945"/>
            <a:ext cx="111969" cy="111969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4" name="ponto-4-3"/>
          <p:cNvSpPr/>
          <p:nvPr/>
        </p:nvSpPr>
        <p:spPr>
          <a:xfrm>
            <a:off x="7205003" y="2693509"/>
            <a:ext cx="131118" cy="13111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5" name="ponto-4-4"/>
          <p:cNvSpPr/>
          <p:nvPr/>
        </p:nvSpPr>
        <p:spPr>
          <a:xfrm>
            <a:off x="6975063" y="2662886"/>
            <a:ext cx="81477" cy="81477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6" name="ponto-4-5"/>
          <p:cNvSpPr/>
          <p:nvPr/>
        </p:nvSpPr>
        <p:spPr>
          <a:xfrm>
            <a:off x="7014511" y="1639758"/>
            <a:ext cx="154998" cy="15499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7" name="ponto-4-6"/>
          <p:cNvSpPr/>
          <p:nvPr/>
        </p:nvSpPr>
        <p:spPr>
          <a:xfrm>
            <a:off x="7443694" y="2099907"/>
            <a:ext cx="159938" cy="15993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8" name="ponto-4-7"/>
          <p:cNvSpPr/>
          <p:nvPr/>
        </p:nvSpPr>
        <p:spPr>
          <a:xfrm>
            <a:off x="6633283" y="2146762"/>
            <a:ext cx="70494" cy="7049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9" name="ponto-4-8"/>
          <p:cNvSpPr/>
          <p:nvPr/>
        </p:nvSpPr>
        <p:spPr>
          <a:xfrm>
            <a:off x="6234834" y="2520853"/>
            <a:ext cx="81596" cy="815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0" name="ponto-4-9"/>
          <p:cNvSpPr/>
          <p:nvPr/>
        </p:nvSpPr>
        <p:spPr>
          <a:xfrm>
            <a:off x="7006787" y="2189723"/>
            <a:ext cx="79243" cy="7924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1" name="ponto-4-10"/>
          <p:cNvSpPr/>
          <p:nvPr/>
        </p:nvSpPr>
        <p:spPr>
          <a:xfrm>
            <a:off x="6274106" y="2233184"/>
            <a:ext cx="74122" cy="7412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2" name="ponto-4-11"/>
          <p:cNvSpPr/>
          <p:nvPr/>
        </p:nvSpPr>
        <p:spPr>
          <a:xfrm>
            <a:off x="7058968" y="2763842"/>
            <a:ext cx="96435" cy="96435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3" name="ponto-4-12"/>
          <p:cNvSpPr/>
          <p:nvPr/>
        </p:nvSpPr>
        <p:spPr>
          <a:xfrm>
            <a:off x="7000698" y="1989496"/>
            <a:ext cx="82886" cy="8288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4" name="ponto-4-13"/>
          <p:cNvSpPr/>
          <p:nvPr/>
        </p:nvSpPr>
        <p:spPr>
          <a:xfrm>
            <a:off x="6235186" y="1989640"/>
            <a:ext cx="99864" cy="998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5" name="ponto-4-14"/>
          <p:cNvSpPr/>
          <p:nvPr/>
        </p:nvSpPr>
        <p:spPr>
          <a:xfrm>
            <a:off x="7418809" y="2228531"/>
            <a:ext cx="169493" cy="16949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6" name="ponto-4-15"/>
          <p:cNvSpPr/>
          <p:nvPr/>
        </p:nvSpPr>
        <p:spPr>
          <a:xfrm>
            <a:off x="7142511" y="2763162"/>
            <a:ext cx="172450" cy="17245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7" name="rotulo-capitulo"/>
          <p:cNvSpPr txBox="1"/>
          <p:nvPr/>
        </p:nvSpPr>
        <p:spPr>
          <a:xfrm>
            <a:off x="548640" y="868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9</a:t>
            </a:r>
            <a:endParaRPr lang="en-US" sz="1800" dirty="0"/>
          </a:p>
        </p:txBody>
      </p:sp>
      <p:sp>
        <p:nvSpPr>
          <p:cNvPr id="88" name="Text 0"/>
          <p:cNvSpPr/>
          <p:nvPr>
            <p:ph idx="100" type="title" hasCustomPrompt="1"/>
          </p:nvPr>
        </p:nvSpPr>
        <p:spPr>
          <a:xfrm>
            <a:off x="548640" y="141732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Aprendizado de Variedades: MDS, Isomap, t-SNE e UMAP</a:t>
            </a:r>
            <a:endParaRPr lang="en-US" sz="3800" dirty="0"/>
          </a:p>
        </p:txBody>
      </p:sp>
      <p:sp>
        <p:nvSpPr>
          <p:cNvPr id="89" name="Text 0"/>
          <p:cNvSpPr/>
          <p:nvPr>
            <p:ph idx="101" type="body" hasCustomPrompt="1"/>
          </p:nvPr>
        </p:nvSpPr>
        <p:spPr>
          <a:xfrm>
            <a:off x="548640" y="32918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Desenrolando o rocambole dos dados</a:t>
            </a:r>
            <a:endParaRPr lang="en-US" sz="1800" dirty="0"/>
          </a:p>
        </p:txBody>
      </p:sp>
      <p:sp>
        <p:nvSpPr>
          <p:cNvPr id="90" name="autor"/>
          <p:cNvSpPr txBox="1"/>
          <p:nvPr/>
        </p:nvSpPr>
        <p:spPr>
          <a:xfrm>
            <a:off x="54864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Araken de Medeiros Santos  ·  Aprendizado Não Supervisionado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vai aprender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pic>
        <p:nvPicPr>
          <p:cNvPr id="5" name="marca" descr="marc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310896" cy="310896"/>
          </a:xfrm>
          <a:prstGeom prst="rect">
            <a:avLst/>
          </a:prstGeom>
        </p:spPr>
      </p:pic>
      <p:sp>
        <p:nvSpPr>
          <p:cNvPr id="6" name="objetivo-1"/>
          <p:cNvSpPr txBox="1"/>
          <p:nvPr/>
        </p:nvSpPr>
        <p:spPr>
          <a:xfrm>
            <a:off x="1005840" y="1234440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a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 da variedade</a:t>
            </a:r>
            <a:endParaRPr lang="en-US" sz="2200" dirty="0"/>
          </a:p>
        </p:txBody>
      </p:sp>
      <p:pic>
        <p:nvPicPr>
          <p:cNvPr id="7" name="marca" descr="marc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12264"/>
            <a:ext cx="310896" cy="310896"/>
          </a:xfrm>
          <a:prstGeom prst="rect">
            <a:avLst/>
          </a:prstGeom>
        </p:spPr>
      </p:pic>
      <p:sp>
        <p:nvSpPr>
          <p:cNvPr id="8" name="objetivo-2"/>
          <p:cNvSpPr txBox="1"/>
          <p:nvPr/>
        </p:nvSpPr>
        <p:spPr>
          <a:xfrm>
            <a:off x="1005840" y="1929384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distância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</a:t>
            </a: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geodésica</a:t>
            </a:r>
            <a:endParaRPr lang="en-US" sz="2200" dirty="0"/>
          </a:p>
        </p:txBody>
      </p:sp>
      <p:pic>
        <p:nvPicPr>
          <p:cNvPr id="9" name="marca" descr="marc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807208"/>
            <a:ext cx="310896" cy="310896"/>
          </a:xfrm>
          <a:prstGeom prst="rect">
            <a:avLst/>
          </a:prstGeom>
        </p:spPr>
      </p:pic>
      <p:sp>
        <p:nvSpPr>
          <p:cNvPr id="10" name="objetivo-3"/>
          <p:cNvSpPr txBox="1"/>
          <p:nvPr/>
        </p:nvSpPr>
        <p:spPr>
          <a:xfrm>
            <a:off x="1005840" y="2624328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Descrever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MDS, Isomap e LLE</a:t>
            </a:r>
            <a:endParaRPr lang="en-US" sz="2200" dirty="0"/>
          </a:p>
        </p:txBody>
      </p:sp>
      <p:pic>
        <p:nvPicPr>
          <p:cNvPr id="11" name="marca" descr="marc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502152"/>
            <a:ext cx="310896" cy="310896"/>
          </a:xfrm>
          <a:prstGeom prst="rect">
            <a:avLst/>
          </a:prstGeom>
        </p:spPr>
      </p:pic>
      <p:sp>
        <p:nvSpPr>
          <p:cNvPr id="12" name="objetivo-4"/>
          <p:cNvSpPr txBox="1"/>
          <p:nvPr/>
        </p:nvSpPr>
        <p:spPr>
          <a:xfrm>
            <a:off x="1005840" y="3319272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e ler o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</a:t>
            </a:r>
            <a:endParaRPr lang="en-US" sz="2200" dirty="0"/>
          </a:p>
        </p:txBody>
      </p:sp>
      <p:pic>
        <p:nvPicPr>
          <p:cNvPr id="13" name="marca" descr="marc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197096"/>
            <a:ext cx="310896" cy="310896"/>
          </a:xfrm>
          <a:prstGeom prst="rect">
            <a:avLst/>
          </a:prstGeom>
        </p:spPr>
      </p:pic>
      <p:sp>
        <p:nvSpPr>
          <p:cNvPr id="14" name="objetivo-5"/>
          <p:cNvSpPr txBox="1"/>
          <p:nvPr/>
        </p:nvSpPr>
        <p:spPr>
          <a:xfrm>
            <a:off x="1005840" y="4014216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</a:t>
            </a: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t-SNE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rocambole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historia"/>
          <p:cNvSpPr txBox="1"/>
          <p:nvPr/>
        </p:nvSpPr>
        <p:spPr>
          <a:xfrm>
            <a:off x="457200" y="128016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rocambole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uma folha 2D enrolada em 3D. Dois pontos podem parecer vizinhos em linha reta, mas estão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ao longo da massa.</a:t>
            </a:r>
            <a:endParaRPr lang="en-US" sz="2400" dirty="0"/>
          </a:p>
        </p:txBody>
      </p:sp>
      <p:sp>
        <p:nvSpPr>
          <p:cNvPr id="6" name="moldura-figura"/>
          <p:cNvSpPr/>
          <p:nvPr/>
        </p:nvSpPr>
        <p:spPr>
          <a:xfrm>
            <a:off x="4846320" y="1234440"/>
            <a:ext cx="384048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7" name="figura-f9_rocambole" descr="f9_rocambo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09291"/>
            <a:ext cx="3840480" cy="1627738"/>
          </a:xfrm>
          <a:prstGeom prst="rect">
            <a:avLst/>
          </a:prstGeom>
        </p:spPr>
      </p:pic>
      <p:sp>
        <p:nvSpPr>
          <p:cNvPr id="8" name="frase-central"/>
          <p:cNvSpPr txBox="1"/>
          <p:nvPr/>
        </p:nvSpPr>
        <p:spPr>
          <a:xfrm>
            <a:off x="457200" y="36576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Desenrole para enxergar a verdade.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Hipótese da variedade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-1"/>
          <p:cNvSpPr txBox="1"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o-1"/>
          <p:cNvSpPr txBox="1"/>
          <p:nvPr/>
        </p:nvSpPr>
        <p:spPr>
          <a:xfrm>
            <a:off x="6400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reais vivem numa </a:t>
            </a: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superfície</a:t>
            </a:r>
            <a:endParaRPr lang="en-US" sz="1700" dirty="0"/>
          </a:p>
        </p:txBody>
      </p:sp>
      <p:sp>
        <p:nvSpPr>
          <p:cNvPr id="9" name="cartao-2"/>
          <p:cNvSpPr/>
          <p:nvPr/>
        </p:nvSpPr>
        <p:spPr>
          <a:xfrm>
            <a:off x="46863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ero-2"/>
          <p:cNvSpPr/>
          <p:nvPr/>
        </p:nvSpPr>
        <p:spPr>
          <a:xfrm>
            <a:off x="4869180" y="139903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-2"/>
          <p:cNvSpPr txBox="1"/>
          <p:nvPr/>
        </p:nvSpPr>
        <p:spPr>
          <a:xfrm>
            <a:off x="48691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o-2"/>
          <p:cNvSpPr txBox="1"/>
          <p:nvPr/>
        </p:nvSpPr>
        <p:spPr>
          <a:xfrm>
            <a:off x="48691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Dimensão </a:t>
            </a: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</a:t>
            </a: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a aparente</a:t>
            </a:r>
            <a:endParaRPr lang="en-US" sz="1700" dirty="0"/>
          </a:p>
        </p:txBody>
      </p:sp>
      <p:sp>
        <p:nvSpPr>
          <p:cNvPr id="13" name="cartao-3"/>
          <p:cNvSpPr/>
          <p:nvPr/>
        </p:nvSpPr>
        <p:spPr>
          <a:xfrm>
            <a:off x="4572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umero-3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n-3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o-3"/>
          <p:cNvSpPr txBox="1"/>
          <p:nvPr/>
        </p:nvSpPr>
        <p:spPr>
          <a:xfrm>
            <a:off x="6400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Enrolada em </a:t>
            </a: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dimensão</a:t>
            </a:r>
            <a:endParaRPr lang="en-US" sz="1700" dirty="0"/>
          </a:p>
        </p:txBody>
      </p:sp>
      <p:sp>
        <p:nvSpPr>
          <p:cNvPr id="17" name="cartao-4"/>
          <p:cNvSpPr/>
          <p:nvPr/>
        </p:nvSpPr>
        <p:spPr>
          <a:xfrm>
            <a:off x="46863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numero-4"/>
          <p:cNvSpPr/>
          <p:nvPr/>
        </p:nvSpPr>
        <p:spPr>
          <a:xfrm>
            <a:off x="4869180" y="29077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-4"/>
          <p:cNvSpPr txBox="1"/>
          <p:nvPr/>
        </p:nvSpPr>
        <p:spPr>
          <a:xfrm>
            <a:off x="48691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o-4"/>
          <p:cNvSpPr txBox="1"/>
          <p:nvPr/>
        </p:nvSpPr>
        <p:spPr>
          <a:xfrm>
            <a:off x="48691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= </a:t>
            </a: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desenrolar</a:t>
            </a:r>
            <a:endParaRPr lang="en-US" sz="1700" dirty="0"/>
          </a:p>
        </p:txBody>
      </p:sp>
      <p:sp>
        <p:nvSpPr>
          <p:cNvPr id="21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3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Muitas colunas, poucos graus de liberdade.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 × geodésica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9_geodesica" descr="f9_geodesic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7594" y="1188720"/>
            <a:ext cx="2188813" cy="2834640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 pela superfície, não pelo ar.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cidades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historia"/>
          <p:cNvSpPr txBox="1"/>
          <p:nvPr/>
        </p:nvSpPr>
        <p:spPr>
          <a:xfrm>
            <a:off x="457200" y="128016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com a tabela de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distâncias entre cidades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dá para reconstruir o mapa. É o que faz o MDS.</a:t>
            </a:r>
            <a:endParaRPr lang="en-US" sz="2400" dirty="0"/>
          </a:p>
        </p:txBody>
      </p:sp>
      <p:sp>
        <p:nvSpPr>
          <p:cNvPr id="6" name="moldura-figura"/>
          <p:cNvSpPr/>
          <p:nvPr/>
        </p:nvSpPr>
        <p:spPr>
          <a:xfrm>
            <a:off x="4846320" y="1234440"/>
            <a:ext cx="384048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7" name="figura-f9_mds_cidades" descr="f9_mds_cidad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36159"/>
            <a:ext cx="3840480" cy="1974001"/>
          </a:xfrm>
          <a:prstGeom prst="rect">
            <a:avLst/>
          </a:prstGeom>
        </p:spPr>
      </p:pic>
      <p:sp>
        <p:nvSpPr>
          <p:cNvPr id="8" name="frase-central"/>
          <p:cNvSpPr txBox="1"/>
          <p:nvPr/>
        </p:nvSpPr>
        <p:spPr>
          <a:xfrm>
            <a:off x="457200" y="36576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distâncias de volta ao mapa.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Isomap em 3 passos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asso-circulo-1"/>
          <p:cNvSpPr/>
          <p:nvPr/>
        </p:nvSpPr>
        <p:spPr>
          <a:xfrm>
            <a:off x="457200" y="141274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asso-n-1"/>
          <p:cNvSpPr txBox="1"/>
          <p:nvPr/>
        </p:nvSpPr>
        <p:spPr>
          <a:xfrm>
            <a:off x="457200" y="14127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passo-1"/>
          <p:cNvSpPr txBox="1"/>
          <p:nvPr/>
        </p:nvSpPr>
        <p:spPr>
          <a:xfrm>
            <a:off x="1097280" y="118872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ligue cada ponto aos vizinhos</a:t>
            </a:r>
            <a:endParaRPr lang="en-US" sz="2000" dirty="0"/>
          </a:p>
        </p:txBody>
      </p:sp>
      <p:sp>
        <p:nvSpPr>
          <p:cNvPr id="8" name="passo-circulo-2"/>
          <p:cNvSpPr/>
          <p:nvPr/>
        </p:nvSpPr>
        <p:spPr>
          <a:xfrm>
            <a:off x="457200" y="2281428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passo-n-2"/>
          <p:cNvSpPr txBox="1"/>
          <p:nvPr/>
        </p:nvSpPr>
        <p:spPr>
          <a:xfrm>
            <a:off x="457200" y="22814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passo-2"/>
          <p:cNvSpPr txBox="1"/>
          <p:nvPr/>
        </p:nvSpPr>
        <p:spPr>
          <a:xfrm>
            <a:off x="1097280" y="205740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Geodésicas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caminhos mínimos no grafo</a:t>
            </a:r>
            <a:endParaRPr lang="en-US" sz="2000" dirty="0"/>
          </a:p>
        </p:txBody>
      </p:sp>
      <p:sp>
        <p:nvSpPr>
          <p:cNvPr id="11" name="passo-circulo-3"/>
          <p:cNvSpPr/>
          <p:nvPr/>
        </p:nvSpPr>
        <p:spPr>
          <a:xfrm>
            <a:off x="457200" y="3150108"/>
            <a:ext cx="420624" cy="4206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passo-n-3"/>
          <p:cNvSpPr txBox="1"/>
          <p:nvPr/>
        </p:nvSpPr>
        <p:spPr>
          <a:xfrm>
            <a:off x="457200" y="31501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passo-3"/>
          <p:cNvSpPr txBox="1"/>
          <p:nvPr/>
        </p:nvSpPr>
        <p:spPr>
          <a:xfrm>
            <a:off x="1097280" y="292608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MDS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monte o mapa com essas distâncias</a:t>
            </a:r>
            <a:endParaRPr lang="en-US" sz="2000" dirty="0"/>
          </a:p>
        </p:txBody>
      </p:sp>
      <p:sp>
        <p:nvSpPr>
          <p:cNvPr id="14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6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+ caminhos mínimos + MDS.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LLE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-1"/>
          <p:cNvSpPr txBox="1"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o-1"/>
          <p:cNvSpPr txBox="1"/>
          <p:nvPr/>
        </p:nvSpPr>
        <p:spPr>
          <a:xfrm>
            <a:off x="6400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ponto = </a:t>
            </a: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mistura dos vizinhos</a:t>
            </a:r>
            <a:endParaRPr lang="en-US" sz="1700" dirty="0"/>
          </a:p>
        </p:txBody>
      </p:sp>
      <p:sp>
        <p:nvSpPr>
          <p:cNvPr id="9" name="cartao-2"/>
          <p:cNvSpPr/>
          <p:nvPr/>
        </p:nvSpPr>
        <p:spPr>
          <a:xfrm>
            <a:off x="46863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ero-2"/>
          <p:cNvSpPr/>
          <p:nvPr/>
        </p:nvSpPr>
        <p:spPr>
          <a:xfrm>
            <a:off x="4869180" y="139903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-2"/>
          <p:cNvSpPr txBox="1"/>
          <p:nvPr/>
        </p:nvSpPr>
        <p:spPr>
          <a:xfrm>
            <a:off x="48691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o-2"/>
          <p:cNvSpPr txBox="1"/>
          <p:nvPr/>
        </p:nvSpPr>
        <p:spPr>
          <a:xfrm>
            <a:off x="48691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 </a:t>
            </a: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relações locais</a:t>
            </a:r>
            <a:endParaRPr lang="en-US" sz="1700" dirty="0"/>
          </a:p>
        </p:txBody>
      </p:sp>
      <p:sp>
        <p:nvSpPr>
          <p:cNvPr id="13" name="cartao-3"/>
          <p:cNvSpPr/>
          <p:nvPr/>
        </p:nvSpPr>
        <p:spPr>
          <a:xfrm>
            <a:off x="4572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umero-3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n-3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o-3"/>
          <p:cNvSpPr txBox="1"/>
          <p:nvPr/>
        </p:nvSpPr>
        <p:spPr>
          <a:xfrm>
            <a:off x="6400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Reconstrói em dimensão menor</a:t>
            </a:r>
            <a:endParaRPr lang="en-US" sz="1700" dirty="0"/>
          </a:p>
        </p:txBody>
      </p:sp>
      <p:sp>
        <p:nvSpPr>
          <p:cNvPr id="17" name="cartao-4"/>
          <p:cNvSpPr/>
          <p:nvPr/>
        </p:nvSpPr>
        <p:spPr>
          <a:xfrm>
            <a:off x="46863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numero-4"/>
          <p:cNvSpPr/>
          <p:nvPr/>
        </p:nvSpPr>
        <p:spPr>
          <a:xfrm>
            <a:off x="4869180" y="29077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-4"/>
          <p:cNvSpPr txBox="1"/>
          <p:nvPr/>
        </p:nvSpPr>
        <p:spPr>
          <a:xfrm>
            <a:off x="48691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o-4"/>
          <p:cNvSpPr txBox="1"/>
          <p:nvPr/>
        </p:nvSpPr>
        <p:spPr>
          <a:xfrm>
            <a:off x="48691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Sensível a </a:t>
            </a: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ruído</a:t>
            </a:r>
            <a:endParaRPr lang="en-US" sz="1700" dirty="0"/>
          </a:p>
        </p:txBody>
      </p:sp>
      <p:sp>
        <p:nvSpPr>
          <p:cNvPr id="21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3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ponto lembra quem são seus vizinhos.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Reunião de família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historia"/>
          <p:cNvSpPr txBox="1"/>
          <p:nvPr/>
        </p:nvSpPr>
        <p:spPr>
          <a:xfrm>
            <a:off x="457200" y="128016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t-SNE organiza fotos de uma festa pondo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juntos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os que se conhecem. A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 entre mesas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não quer dizer quase nada.</a:t>
            </a:r>
            <a:endParaRPr lang="en-US" sz="2400" dirty="0"/>
          </a:p>
        </p:txBody>
      </p:sp>
      <p:sp>
        <p:nvSpPr>
          <p:cNvPr id="6" name="frase-central"/>
          <p:cNvSpPr txBox="1"/>
          <p:nvPr/>
        </p:nvSpPr>
        <p:spPr>
          <a:xfrm>
            <a:off x="457200" y="36576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Vizinhos ficam juntos. O resto é decoração.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ideia do t-SNE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9_tsne_idea" descr="f9_tsne_id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32413"/>
            <a:ext cx="7498080" cy="2747255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Probabilidades de vizinhança, aqui e lá.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ele funciona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-1"/>
          <p:cNvSpPr txBox="1"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o-1"/>
          <p:cNvSpPr txBox="1"/>
          <p:nvPr/>
        </p:nvSpPr>
        <p:spPr>
          <a:xfrm>
            <a:off x="6400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</a:t>
            </a: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vizinhança</a:t>
            </a: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alta dimensão</a:t>
            </a:r>
            <a:endParaRPr lang="en-US" sz="1700" dirty="0"/>
          </a:p>
        </p:txBody>
      </p:sp>
      <p:sp>
        <p:nvSpPr>
          <p:cNvPr id="9" name="cartao-2"/>
          <p:cNvSpPr/>
          <p:nvPr/>
        </p:nvSpPr>
        <p:spPr>
          <a:xfrm>
            <a:off x="46863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ero-2"/>
          <p:cNvSpPr/>
          <p:nvPr/>
        </p:nvSpPr>
        <p:spPr>
          <a:xfrm>
            <a:off x="4869180" y="139903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-2"/>
          <p:cNvSpPr txBox="1"/>
          <p:nvPr/>
        </p:nvSpPr>
        <p:spPr>
          <a:xfrm>
            <a:off x="48691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o-2"/>
          <p:cNvSpPr txBox="1"/>
          <p:nvPr/>
        </p:nvSpPr>
        <p:spPr>
          <a:xfrm>
            <a:off x="48691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pontos </a:t>
            </a: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aleatórios</a:t>
            </a: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2D</a:t>
            </a:r>
            <a:endParaRPr lang="en-US" sz="1700" dirty="0"/>
          </a:p>
        </p:txBody>
      </p:sp>
      <p:sp>
        <p:nvSpPr>
          <p:cNvPr id="13" name="cartao-3"/>
          <p:cNvSpPr/>
          <p:nvPr/>
        </p:nvSpPr>
        <p:spPr>
          <a:xfrm>
            <a:off x="4572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umero-3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n-3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o-3"/>
          <p:cNvSpPr txBox="1"/>
          <p:nvPr/>
        </p:nvSpPr>
        <p:spPr>
          <a:xfrm>
            <a:off x="6400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Aproxima</a:t>
            </a: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quem era vizinho</a:t>
            </a:r>
            <a:endParaRPr lang="en-US" sz="1700" dirty="0"/>
          </a:p>
        </p:txBody>
      </p:sp>
      <p:sp>
        <p:nvSpPr>
          <p:cNvPr id="17" name="cartao-4"/>
          <p:cNvSpPr/>
          <p:nvPr/>
        </p:nvSpPr>
        <p:spPr>
          <a:xfrm>
            <a:off x="46863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numero-4"/>
          <p:cNvSpPr/>
          <p:nvPr/>
        </p:nvSpPr>
        <p:spPr>
          <a:xfrm>
            <a:off x="4869180" y="29077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-4"/>
          <p:cNvSpPr txBox="1"/>
          <p:nvPr/>
        </p:nvSpPr>
        <p:spPr>
          <a:xfrm>
            <a:off x="48691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o-4"/>
          <p:cNvSpPr txBox="1"/>
          <p:nvPr/>
        </p:nvSpPr>
        <p:spPr>
          <a:xfrm>
            <a:off x="48691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</a:t>
            </a: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evita amontoar</a:t>
            </a:r>
            <a:endParaRPr lang="en-US" sz="1700" dirty="0"/>
          </a:p>
        </p:txBody>
      </p:sp>
      <p:sp>
        <p:nvSpPr>
          <p:cNvPr id="21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3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 até a vizinhança 2D imitar a original.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Perplexidade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9_tsne_perplexidade" descr="f9_tsne_perplexida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3959"/>
            <a:ext cx="7498080" cy="2384162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número de vizinhos considerados.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(e não ler) o t-SNE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oluna-1"/>
          <p:cNvSpPr/>
          <p:nvPr/>
        </p:nvSpPr>
        <p:spPr>
          <a:xfrm>
            <a:off x="457200" y="1188720"/>
            <a:ext cx="4000500" cy="2834640"/>
          </a:xfrm>
          <a:prstGeom prst="roundRect">
            <a:avLst>
              <a:gd name="adj" fmla="val 3226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abeca-1"/>
          <p:cNvSpPr/>
          <p:nvPr/>
        </p:nvSpPr>
        <p:spPr>
          <a:xfrm>
            <a:off x="4572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itulo-coluna-1"/>
          <p:cNvSpPr txBox="1"/>
          <p:nvPr/>
        </p:nvSpPr>
        <p:spPr>
          <a:xfrm>
            <a:off x="548640" y="1188720"/>
            <a:ext cx="3817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ler</a:t>
            </a:r>
            <a:endParaRPr lang="en-US" sz="1600" dirty="0"/>
          </a:p>
        </p:txBody>
      </p:sp>
      <p:sp>
        <p:nvSpPr>
          <p:cNvPr id="8" name="itens-1"/>
          <p:cNvSpPr txBox="1"/>
          <p:nvPr/>
        </p:nvSpPr>
        <p:spPr>
          <a:xfrm>
            <a:off x="640080" y="1783080"/>
            <a:ext cx="36347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</a:t>
            </a: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separados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Vizinhos próximos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800" dirty="0"/>
          </a:p>
        </p:txBody>
      </p:sp>
      <p:sp>
        <p:nvSpPr>
          <p:cNvPr id="9" name="coluna-2"/>
          <p:cNvSpPr/>
          <p:nvPr/>
        </p:nvSpPr>
        <p:spPr>
          <a:xfrm>
            <a:off x="4686300" y="1188720"/>
            <a:ext cx="4000500" cy="2834640"/>
          </a:xfrm>
          <a:prstGeom prst="roundRect">
            <a:avLst>
              <a:gd name="adj" fmla="val 3226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cabeca-2"/>
          <p:cNvSpPr/>
          <p:nvPr/>
        </p:nvSpPr>
        <p:spPr>
          <a:xfrm>
            <a:off x="46863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itulo-coluna-2"/>
          <p:cNvSpPr txBox="1"/>
          <p:nvPr/>
        </p:nvSpPr>
        <p:spPr>
          <a:xfrm>
            <a:off x="4777740" y="1188720"/>
            <a:ext cx="3817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leia</a:t>
            </a:r>
            <a:endParaRPr lang="en-US" sz="1600" dirty="0"/>
          </a:p>
        </p:txBody>
      </p:sp>
      <p:sp>
        <p:nvSpPr>
          <p:cNvPr id="12" name="itens-2"/>
          <p:cNvSpPr txBox="1"/>
          <p:nvPr/>
        </p:nvSpPr>
        <p:spPr>
          <a:xfrm>
            <a:off x="4869180" y="1783080"/>
            <a:ext cx="36347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</a:t>
            </a: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grupos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</a:t>
            </a: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grupos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Formas exatas</a:t>
            </a:r>
            <a:endParaRPr lang="en-US" sz="1800" dirty="0"/>
          </a:p>
        </p:txBody>
      </p:sp>
      <p:sp>
        <p:nvSpPr>
          <p:cNvPr id="13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5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t-SNE mostra amizades, não geografia.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t-SNE em Python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ainel-codigo"/>
          <p:cNvSpPr/>
          <p:nvPr/>
        </p:nvSpPr>
        <p:spPr>
          <a:xfrm>
            <a:off x="457200" y="1234440"/>
            <a:ext cx="5394960" cy="1544320"/>
          </a:xfrm>
          <a:prstGeom prst="roundRect">
            <a:avLst>
              <a:gd name="adj" fmla="val 473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codigo"/>
          <p:cNvSpPr txBox="1"/>
          <p:nvPr/>
        </p:nvSpPr>
        <p:spPr>
          <a:xfrm>
            <a:off x="640080" y="1325880"/>
            <a:ext cx="5029200" cy="136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sklearn.manifold import TSNE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 = TSNE(n_components=2, perplexity=30,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init="pca", random_state=0)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ts.fit_transform(X)</a:t>
            </a:r>
            <a:endParaRPr lang="en-US" sz="1600" dirty="0"/>
          </a:p>
        </p:txBody>
      </p:sp>
      <p:sp>
        <p:nvSpPr>
          <p:cNvPr id="7" name="dicas-codigo"/>
          <p:cNvSpPr txBox="1"/>
          <p:nvPr/>
        </p:nvSpPr>
        <p:spPr>
          <a:xfrm>
            <a:off x="6080760" y="1234440"/>
            <a:ext cx="2606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cada parte faz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`perplexity`: teste 5–50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`init="pca"`: mais estável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`transform` para dados novos</a:t>
            </a:r>
            <a:endParaRPr lang="en-US" sz="1600" dirty="0"/>
          </a:p>
        </p:txBody>
      </p:sp>
      <p:sp>
        <p:nvSpPr>
          <p:cNvPr id="8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0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Rode com várias perplexidades.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UMAP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-1"/>
          <p:cNvSpPr txBox="1"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o-1"/>
          <p:cNvSpPr txBox="1"/>
          <p:nvPr/>
        </p:nvSpPr>
        <p:spPr>
          <a:xfrm>
            <a:off x="6400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o t-SNE</a:t>
            </a:r>
            <a:endParaRPr lang="en-US" sz="1600" dirty="0"/>
          </a:p>
        </p:txBody>
      </p:sp>
      <p:sp>
        <p:nvSpPr>
          <p:cNvPr id="9" name="cartao-2"/>
          <p:cNvSpPr/>
          <p:nvPr/>
        </p:nvSpPr>
        <p:spPr>
          <a:xfrm>
            <a:off x="46863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ero-2"/>
          <p:cNvSpPr/>
          <p:nvPr/>
        </p:nvSpPr>
        <p:spPr>
          <a:xfrm>
            <a:off x="4869180" y="139903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-2"/>
          <p:cNvSpPr txBox="1"/>
          <p:nvPr/>
        </p:nvSpPr>
        <p:spPr>
          <a:xfrm>
            <a:off x="48691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o-2"/>
          <p:cNvSpPr txBox="1"/>
          <p:nvPr/>
        </p:nvSpPr>
        <p:spPr>
          <a:xfrm>
            <a:off x="48691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 mais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global</a:t>
            </a:r>
            <a:endParaRPr lang="en-US" sz="1600" dirty="0"/>
          </a:p>
        </p:txBody>
      </p:sp>
      <p:sp>
        <p:nvSpPr>
          <p:cNvPr id="13" name="cartao-3"/>
          <p:cNvSpPr/>
          <p:nvPr/>
        </p:nvSpPr>
        <p:spPr>
          <a:xfrm>
            <a:off x="4572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umero-3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n-3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o-3"/>
          <p:cNvSpPr txBox="1"/>
          <p:nvPr/>
        </p:nvSpPr>
        <p:spPr>
          <a:xfrm>
            <a:off x="6400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uma função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(transform)</a:t>
            </a:r>
            <a:endParaRPr lang="en-US" sz="1600" dirty="0"/>
          </a:p>
        </p:txBody>
      </p:sp>
      <p:sp>
        <p:nvSpPr>
          <p:cNvPr id="17" name="cartao-4"/>
          <p:cNvSpPr/>
          <p:nvPr/>
        </p:nvSpPr>
        <p:spPr>
          <a:xfrm>
            <a:off x="46863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numero-4"/>
          <p:cNvSpPr/>
          <p:nvPr/>
        </p:nvSpPr>
        <p:spPr>
          <a:xfrm>
            <a:off x="4869180" y="29077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-4"/>
          <p:cNvSpPr txBox="1"/>
          <p:nvPr/>
        </p:nvSpPr>
        <p:spPr>
          <a:xfrm>
            <a:off x="48691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o-4"/>
          <p:cNvSpPr txBox="1"/>
          <p:nvPr/>
        </p:nvSpPr>
        <p:spPr>
          <a:xfrm>
            <a:off x="48691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Parâmetros: `n_neighbors`, `min_dist`</a:t>
            </a:r>
            <a:endParaRPr lang="en-US" sz="1600" dirty="0"/>
          </a:p>
        </p:txBody>
      </p:sp>
      <p:sp>
        <p:nvSpPr>
          <p:cNvPr id="21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3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com pressa e mapa melhor.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UMAP × t-SNE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graphicFrame>
        <p:nvGraphicFramePr>
          <p:cNvPr id="17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t-SNE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UMAP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Velocidade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Lento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Rápido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Estrutura global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Melhor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Novos dados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Parâmetro-chave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perplexity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n_neighbors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8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os dois.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Comparando métodos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9_comparacao" descr="f9_comparaca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17378"/>
            <a:ext cx="7498080" cy="1977323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dado, mapas diferentes.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Avaliar uma projeção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-1"/>
          <p:cNvSpPr txBox="1"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o-1"/>
          <p:cNvSpPr txBox="1"/>
          <p:nvPr/>
        </p:nvSpPr>
        <p:spPr>
          <a:xfrm>
            <a:off x="6400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Trustworthiness:</a:t>
            </a: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vizinhos falsos?</a:t>
            </a:r>
            <a:endParaRPr lang="en-US" sz="1700" dirty="0"/>
          </a:p>
        </p:txBody>
      </p:sp>
      <p:sp>
        <p:nvSpPr>
          <p:cNvPr id="9" name="cartao-2"/>
          <p:cNvSpPr/>
          <p:nvPr/>
        </p:nvSpPr>
        <p:spPr>
          <a:xfrm>
            <a:off x="46863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ero-2"/>
          <p:cNvSpPr/>
          <p:nvPr/>
        </p:nvSpPr>
        <p:spPr>
          <a:xfrm>
            <a:off x="4869180" y="139903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-2"/>
          <p:cNvSpPr txBox="1"/>
          <p:nvPr/>
        </p:nvSpPr>
        <p:spPr>
          <a:xfrm>
            <a:off x="48691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o-2"/>
          <p:cNvSpPr txBox="1"/>
          <p:nvPr/>
        </p:nvSpPr>
        <p:spPr>
          <a:xfrm>
            <a:off x="48691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Continuity:</a:t>
            </a: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vizinhos perdidos?</a:t>
            </a:r>
            <a:endParaRPr lang="en-US" sz="1700" dirty="0"/>
          </a:p>
        </p:txBody>
      </p:sp>
      <p:sp>
        <p:nvSpPr>
          <p:cNvPr id="13" name="cartao-3"/>
          <p:cNvSpPr/>
          <p:nvPr/>
        </p:nvSpPr>
        <p:spPr>
          <a:xfrm>
            <a:off x="4572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umero-3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n-3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o-3"/>
          <p:cNvSpPr txBox="1"/>
          <p:nvPr/>
        </p:nvSpPr>
        <p:spPr>
          <a:xfrm>
            <a:off x="6400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Estabilidade</a:t>
            </a: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sementes</a:t>
            </a:r>
            <a:endParaRPr lang="en-US" sz="1700" dirty="0"/>
          </a:p>
        </p:txBody>
      </p:sp>
      <p:sp>
        <p:nvSpPr>
          <p:cNvPr id="17" name="cartao-4"/>
          <p:cNvSpPr/>
          <p:nvPr/>
        </p:nvSpPr>
        <p:spPr>
          <a:xfrm>
            <a:off x="46863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numero-4"/>
          <p:cNvSpPr/>
          <p:nvPr/>
        </p:nvSpPr>
        <p:spPr>
          <a:xfrm>
            <a:off x="4869180" y="29077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-4"/>
          <p:cNvSpPr txBox="1"/>
          <p:nvPr/>
        </p:nvSpPr>
        <p:spPr>
          <a:xfrm>
            <a:off x="48691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o-4"/>
          <p:cNvSpPr txBox="1"/>
          <p:nvPr/>
        </p:nvSpPr>
        <p:spPr>
          <a:xfrm>
            <a:off x="48691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com </a:t>
            </a: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700" dirty="0"/>
          </a:p>
        </p:txBody>
      </p:sp>
      <p:sp>
        <p:nvSpPr>
          <p:cNvPr id="21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3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Bonito não é o mesmo que fiel.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Cartões de memória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1887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ergunta-fundo-1"/>
          <p:cNvSpPr/>
          <p:nvPr/>
        </p:nvSpPr>
        <p:spPr>
          <a:xfrm>
            <a:off x="4572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ergunta-1"/>
          <p:cNvSpPr txBox="1"/>
          <p:nvPr/>
        </p:nvSpPr>
        <p:spPr>
          <a:xfrm>
            <a:off x="594360" y="11887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Variedade?</a:t>
            </a:r>
            <a:endParaRPr lang="en-US" sz="1500" dirty="0"/>
          </a:p>
        </p:txBody>
      </p:sp>
      <p:sp>
        <p:nvSpPr>
          <p:cNvPr id="8" name="resposta-1"/>
          <p:cNvSpPr txBox="1"/>
          <p:nvPr/>
        </p:nvSpPr>
        <p:spPr>
          <a:xfrm>
            <a:off x="594360" y="17190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Superfície de </a:t>
            </a: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dimensão menor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9" name="cartao-2"/>
          <p:cNvSpPr/>
          <p:nvPr/>
        </p:nvSpPr>
        <p:spPr>
          <a:xfrm>
            <a:off x="4686300" y="11887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pergunta-fundo-2"/>
          <p:cNvSpPr/>
          <p:nvPr/>
        </p:nvSpPr>
        <p:spPr>
          <a:xfrm>
            <a:off x="46863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pergunta-2"/>
          <p:cNvSpPr txBox="1"/>
          <p:nvPr/>
        </p:nvSpPr>
        <p:spPr>
          <a:xfrm>
            <a:off x="4823460" y="11887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Geodésica?</a:t>
            </a:r>
            <a:endParaRPr lang="en-US" sz="1500" dirty="0"/>
          </a:p>
        </p:txBody>
      </p:sp>
      <p:sp>
        <p:nvSpPr>
          <p:cNvPr id="12" name="resposta-2"/>
          <p:cNvSpPr txBox="1"/>
          <p:nvPr/>
        </p:nvSpPr>
        <p:spPr>
          <a:xfrm>
            <a:off x="4823460" y="17190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 </a:t>
            </a: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a superfície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3" name="cartao-3"/>
          <p:cNvSpPr/>
          <p:nvPr/>
        </p:nvSpPr>
        <p:spPr>
          <a:xfrm>
            <a:off x="457200" y="24079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pergunta-fundo-3"/>
          <p:cNvSpPr/>
          <p:nvPr/>
        </p:nvSpPr>
        <p:spPr>
          <a:xfrm>
            <a:off x="457200" y="24079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pergunta-3"/>
          <p:cNvSpPr txBox="1"/>
          <p:nvPr/>
        </p:nvSpPr>
        <p:spPr>
          <a:xfrm>
            <a:off x="594360" y="24079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Isomap?</a:t>
            </a:r>
            <a:endParaRPr lang="en-US" sz="1500" dirty="0"/>
          </a:p>
        </p:txBody>
      </p:sp>
      <p:sp>
        <p:nvSpPr>
          <p:cNvPr id="16" name="resposta-3"/>
          <p:cNvSpPr txBox="1"/>
          <p:nvPr/>
        </p:nvSpPr>
        <p:spPr>
          <a:xfrm>
            <a:off x="594360" y="29382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+ caminhos + MDS.</a:t>
            </a:r>
            <a:endParaRPr lang="en-US" sz="1400" dirty="0"/>
          </a:p>
        </p:txBody>
      </p:sp>
      <p:sp>
        <p:nvSpPr>
          <p:cNvPr id="17" name="cartao-4"/>
          <p:cNvSpPr/>
          <p:nvPr/>
        </p:nvSpPr>
        <p:spPr>
          <a:xfrm>
            <a:off x="4686300" y="24079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pergunta-fundo-4"/>
          <p:cNvSpPr/>
          <p:nvPr/>
        </p:nvSpPr>
        <p:spPr>
          <a:xfrm>
            <a:off x="4686300" y="24079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pergunta-4"/>
          <p:cNvSpPr txBox="1"/>
          <p:nvPr/>
        </p:nvSpPr>
        <p:spPr>
          <a:xfrm>
            <a:off x="4823460" y="24079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Perplexidade?</a:t>
            </a:r>
            <a:endParaRPr lang="en-US" sz="1500" dirty="0"/>
          </a:p>
        </p:txBody>
      </p:sp>
      <p:sp>
        <p:nvSpPr>
          <p:cNvPr id="20" name="resposta-4"/>
          <p:cNvSpPr txBox="1"/>
          <p:nvPr/>
        </p:nvSpPr>
        <p:spPr>
          <a:xfrm>
            <a:off x="4823460" y="29382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nº de </a:t>
            </a: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vizinhos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1" name="cartao-5"/>
          <p:cNvSpPr/>
          <p:nvPr/>
        </p:nvSpPr>
        <p:spPr>
          <a:xfrm>
            <a:off x="457200" y="36271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pergunta-fundo-5"/>
          <p:cNvSpPr/>
          <p:nvPr/>
        </p:nvSpPr>
        <p:spPr>
          <a:xfrm>
            <a:off x="457200" y="36271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pergunta-5"/>
          <p:cNvSpPr txBox="1"/>
          <p:nvPr/>
        </p:nvSpPr>
        <p:spPr>
          <a:xfrm>
            <a:off x="594360" y="36271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t-SNE?</a:t>
            </a:r>
            <a:endParaRPr lang="en-US" sz="1500" dirty="0"/>
          </a:p>
        </p:txBody>
      </p:sp>
      <p:sp>
        <p:nvSpPr>
          <p:cNvPr id="24" name="resposta-5"/>
          <p:cNvSpPr txBox="1"/>
          <p:nvPr/>
        </p:nvSpPr>
        <p:spPr>
          <a:xfrm>
            <a:off x="594360" y="41574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e distância entre grupos </a:t>
            </a: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enganam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cartao-6"/>
          <p:cNvSpPr/>
          <p:nvPr/>
        </p:nvSpPr>
        <p:spPr>
          <a:xfrm>
            <a:off x="4686300" y="36271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pergunta-fundo-6"/>
          <p:cNvSpPr/>
          <p:nvPr/>
        </p:nvSpPr>
        <p:spPr>
          <a:xfrm>
            <a:off x="4686300" y="36271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pergunta-6"/>
          <p:cNvSpPr txBox="1"/>
          <p:nvPr/>
        </p:nvSpPr>
        <p:spPr>
          <a:xfrm>
            <a:off x="4823460" y="36271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UMAP?</a:t>
            </a:r>
            <a:endParaRPr lang="en-US" sz="1500" dirty="0"/>
          </a:p>
        </p:txBody>
      </p:sp>
      <p:sp>
        <p:nvSpPr>
          <p:cNvPr id="28" name="resposta-6"/>
          <p:cNvSpPr txBox="1"/>
          <p:nvPr/>
        </p:nvSpPr>
        <p:spPr>
          <a:xfrm>
            <a:off x="4823460" y="41574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aprende função.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relâmpago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distância geodésica é:</a:t>
            </a:r>
            <a:endParaRPr lang="en-US" sz="2200" dirty="0"/>
          </a:p>
        </p:txBody>
      </p:sp>
      <p:sp>
        <p:nvSpPr>
          <p:cNvPr id="6" name="opcao-fundo-1"/>
          <p:cNvSpPr/>
          <p:nvPr/>
        </p:nvSpPr>
        <p:spPr>
          <a:xfrm>
            <a:off x="457200" y="205740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opcao-letra-fundo-1"/>
          <p:cNvSpPr/>
          <p:nvPr/>
        </p:nvSpPr>
        <p:spPr>
          <a:xfrm>
            <a:off x="566928" y="214884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opcao-letra-1"/>
          <p:cNvSpPr txBox="1"/>
          <p:nvPr/>
        </p:nvSpPr>
        <p:spPr>
          <a:xfrm>
            <a:off x="566928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opcao-1"/>
          <p:cNvSpPr txBox="1"/>
          <p:nvPr/>
        </p:nvSpPr>
        <p:spPr>
          <a:xfrm>
            <a:off x="105156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linha reta</a:t>
            </a:r>
            <a:endParaRPr lang="en-US" sz="1800" dirty="0"/>
          </a:p>
        </p:txBody>
      </p:sp>
      <p:sp>
        <p:nvSpPr>
          <p:cNvPr id="10" name="opcao-fundo-2"/>
          <p:cNvSpPr/>
          <p:nvPr/>
        </p:nvSpPr>
        <p:spPr>
          <a:xfrm>
            <a:off x="457200" y="265176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opcao-letra-fundo-2"/>
          <p:cNvSpPr/>
          <p:nvPr/>
        </p:nvSpPr>
        <p:spPr>
          <a:xfrm>
            <a:off x="566928" y="274320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opcao-letra-2"/>
          <p:cNvSpPr txBox="1"/>
          <p:nvPr/>
        </p:nvSpPr>
        <p:spPr>
          <a:xfrm>
            <a:off x="566928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opcao-2"/>
          <p:cNvSpPr txBox="1"/>
          <p:nvPr/>
        </p:nvSpPr>
        <p:spPr>
          <a:xfrm>
            <a:off x="1051560" y="2651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 ao longo da variedade</a:t>
            </a:r>
            <a:endParaRPr lang="en-US" sz="1800" dirty="0"/>
          </a:p>
        </p:txBody>
      </p:sp>
      <p:sp>
        <p:nvSpPr>
          <p:cNvPr id="14" name="opcao-fundo-3"/>
          <p:cNvSpPr/>
          <p:nvPr/>
        </p:nvSpPr>
        <p:spPr>
          <a:xfrm>
            <a:off x="457200" y="32461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opcao-letra-fundo-3"/>
          <p:cNvSpPr/>
          <p:nvPr/>
        </p:nvSpPr>
        <p:spPr>
          <a:xfrm>
            <a:off x="566928" y="333756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opcao-letra-3"/>
          <p:cNvSpPr txBox="1"/>
          <p:nvPr/>
        </p:nvSpPr>
        <p:spPr>
          <a:xfrm>
            <a:off x="566928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opcao-3"/>
          <p:cNvSpPr txBox="1"/>
          <p:nvPr/>
        </p:nvSpPr>
        <p:spPr>
          <a:xfrm>
            <a:off x="1051560" y="3246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menor que a euclidiana</a:t>
            </a:r>
            <a:endParaRPr lang="en-US" sz="1800" dirty="0"/>
          </a:p>
        </p:txBody>
      </p:sp>
      <p:sp>
        <p:nvSpPr>
          <p:cNvPr id="18" name="opcao-fundo-4"/>
          <p:cNvSpPr/>
          <p:nvPr/>
        </p:nvSpPr>
        <p:spPr>
          <a:xfrm>
            <a:off x="457200" y="38404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opcao-letra-fundo-4"/>
          <p:cNvSpPr/>
          <p:nvPr/>
        </p:nvSpPr>
        <p:spPr>
          <a:xfrm>
            <a:off x="566928" y="393192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opcao-letra-4"/>
          <p:cNvSpPr txBox="1"/>
          <p:nvPr/>
        </p:nvSpPr>
        <p:spPr>
          <a:xfrm>
            <a:off x="566928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opcao-4"/>
          <p:cNvSpPr txBox="1"/>
          <p:nvPr/>
        </p:nvSpPr>
        <p:spPr>
          <a:xfrm>
            <a:off x="1051560" y="3840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à de Manhattan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relâmpago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t-SNE, o que NÃO se deve interpretar?</a:t>
            </a:r>
            <a:endParaRPr lang="en-US" sz="2200" dirty="0"/>
          </a:p>
        </p:txBody>
      </p:sp>
      <p:sp>
        <p:nvSpPr>
          <p:cNvPr id="6" name="opcao-fundo-1"/>
          <p:cNvSpPr/>
          <p:nvPr/>
        </p:nvSpPr>
        <p:spPr>
          <a:xfrm>
            <a:off x="457200" y="205740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opcao-letra-fundo-1"/>
          <p:cNvSpPr/>
          <p:nvPr/>
        </p:nvSpPr>
        <p:spPr>
          <a:xfrm>
            <a:off x="566928" y="214884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opcao-letra-1"/>
          <p:cNvSpPr txBox="1"/>
          <p:nvPr/>
        </p:nvSpPr>
        <p:spPr>
          <a:xfrm>
            <a:off x="566928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opcao-1"/>
          <p:cNvSpPr txBox="1"/>
          <p:nvPr/>
        </p:nvSpPr>
        <p:spPr>
          <a:xfrm>
            <a:off x="105156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separados</a:t>
            </a:r>
            <a:endParaRPr lang="en-US" sz="1800" dirty="0"/>
          </a:p>
        </p:txBody>
      </p:sp>
      <p:sp>
        <p:nvSpPr>
          <p:cNvPr id="10" name="opcao-fundo-2"/>
          <p:cNvSpPr/>
          <p:nvPr/>
        </p:nvSpPr>
        <p:spPr>
          <a:xfrm>
            <a:off x="457200" y="265176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opcao-letra-fundo-2"/>
          <p:cNvSpPr/>
          <p:nvPr/>
        </p:nvSpPr>
        <p:spPr>
          <a:xfrm>
            <a:off x="566928" y="274320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opcao-letra-2"/>
          <p:cNvSpPr txBox="1"/>
          <p:nvPr/>
        </p:nvSpPr>
        <p:spPr>
          <a:xfrm>
            <a:off x="566928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opcao-2"/>
          <p:cNvSpPr txBox="1"/>
          <p:nvPr/>
        </p:nvSpPr>
        <p:spPr>
          <a:xfrm>
            <a:off x="1051560" y="2651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distância entre grupos distantes</a:t>
            </a:r>
            <a:endParaRPr lang="en-US" sz="1800" dirty="0"/>
          </a:p>
        </p:txBody>
      </p:sp>
      <p:sp>
        <p:nvSpPr>
          <p:cNvPr id="14" name="opcao-fundo-3"/>
          <p:cNvSpPr/>
          <p:nvPr/>
        </p:nvSpPr>
        <p:spPr>
          <a:xfrm>
            <a:off x="457200" y="32461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opcao-letra-fundo-3"/>
          <p:cNvSpPr/>
          <p:nvPr/>
        </p:nvSpPr>
        <p:spPr>
          <a:xfrm>
            <a:off x="566928" y="333756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opcao-letra-3"/>
          <p:cNvSpPr txBox="1"/>
          <p:nvPr/>
        </p:nvSpPr>
        <p:spPr>
          <a:xfrm>
            <a:off x="566928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opcao-3"/>
          <p:cNvSpPr txBox="1"/>
          <p:nvPr/>
        </p:nvSpPr>
        <p:spPr>
          <a:xfrm>
            <a:off x="1051560" y="3246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Vizinhos próximos</a:t>
            </a:r>
            <a:endParaRPr lang="en-US" sz="1800" dirty="0"/>
          </a:p>
        </p:txBody>
      </p:sp>
      <p:sp>
        <p:nvSpPr>
          <p:cNvPr id="18" name="opcao-fundo-4"/>
          <p:cNvSpPr/>
          <p:nvPr/>
        </p:nvSpPr>
        <p:spPr>
          <a:xfrm>
            <a:off x="457200" y="38404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opcao-letra-fundo-4"/>
          <p:cNvSpPr/>
          <p:nvPr/>
        </p:nvSpPr>
        <p:spPr>
          <a:xfrm>
            <a:off x="566928" y="393192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opcao-letra-4"/>
          <p:cNvSpPr txBox="1"/>
          <p:nvPr/>
        </p:nvSpPr>
        <p:spPr>
          <a:xfrm>
            <a:off x="566928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opcao-4"/>
          <p:cNvSpPr txBox="1"/>
          <p:nvPr/>
        </p:nvSpPr>
        <p:spPr>
          <a:xfrm>
            <a:off x="1051560" y="3840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existência de agrupamentos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relâmpago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vantagem do UMAP sobre o t-SNE?</a:t>
            </a:r>
            <a:endParaRPr lang="en-US" sz="2200" dirty="0"/>
          </a:p>
        </p:txBody>
      </p:sp>
      <p:sp>
        <p:nvSpPr>
          <p:cNvPr id="6" name="opcao-fundo-1"/>
          <p:cNvSpPr/>
          <p:nvPr/>
        </p:nvSpPr>
        <p:spPr>
          <a:xfrm>
            <a:off x="457200" y="205740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opcao-letra-fundo-1"/>
          <p:cNvSpPr/>
          <p:nvPr/>
        </p:nvSpPr>
        <p:spPr>
          <a:xfrm>
            <a:off x="566928" y="214884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opcao-letra-1"/>
          <p:cNvSpPr txBox="1"/>
          <p:nvPr/>
        </p:nvSpPr>
        <p:spPr>
          <a:xfrm>
            <a:off x="566928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opcao-1"/>
          <p:cNvSpPr txBox="1"/>
          <p:nvPr/>
        </p:nvSpPr>
        <p:spPr>
          <a:xfrm>
            <a:off x="105156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uma função aplicável a novos dados</a:t>
            </a:r>
            <a:endParaRPr lang="en-US" sz="1800" dirty="0"/>
          </a:p>
        </p:txBody>
      </p:sp>
      <p:sp>
        <p:nvSpPr>
          <p:cNvPr id="10" name="opcao-fundo-2"/>
          <p:cNvSpPr/>
          <p:nvPr/>
        </p:nvSpPr>
        <p:spPr>
          <a:xfrm>
            <a:off x="457200" y="265176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opcao-letra-fundo-2"/>
          <p:cNvSpPr/>
          <p:nvPr/>
        </p:nvSpPr>
        <p:spPr>
          <a:xfrm>
            <a:off x="566928" y="274320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opcao-letra-2"/>
          <p:cNvSpPr txBox="1"/>
          <p:nvPr/>
        </p:nvSpPr>
        <p:spPr>
          <a:xfrm>
            <a:off x="566928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opcao-2"/>
          <p:cNvSpPr txBox="1"/>
          <p:nvPr/>
        </p:nvSpPr>
        <p:spPr>
          <a:xfrm>
            <a:off x="1051560" y="2651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tem parâmetros</a:t>
            </a:r>
            <a:endParaRPr lang="en-US" sz="1800" dirty="0"/>
          </a:p>
        </p:txBody>
      </p:sp>
      <p:sp>
        <p:nvSpPr>
          <p:cNvPr id="14" name="opcao-fundo-3"/>
          <p:cNvSpPr/>
          <p:nvPr/>
        </p:nvSpPr>
        <p:spPr>
          <a:xfrm>
            <a:off x="457200" y="32461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opcao-letra-fundo-3"/>
          <p:cNvSpPr/>
          <p:nvPr/>
        </p:nvSpPr>
        <p:spPr>
          <a:xfrm>
            <a:off x="566928" y="333756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opcao-letra-3"/>
          <p:cNvSpPr txBox="1"/>
          <p:nvPr/>
        </p:nvSpPr>
        <p:spPr>
          <a:xfrm>
            <a:off x="566928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opcao-3"/>
          <p:cNvSpPr txBox="1"/>
          <p:nvPr/>
        </p:nvSpPr>
        <p:spPr>
          <a:xfrm>
            <a:off x="1051560" y="3246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funciona em 2D</a:t>
            </a:r>
            <a:endParaRPr lang="en-US" sz="1800" dirty="0"/>
          </a:p>
        </p:txBody>
      </p:sp>
      <p:sp>
        <p:nvSpPr>
          <p:cNvPr id="18" name="opcao-fundo-4"/>
          <p:cNvSpPr/>
          <p:nvPr/>
        </p:nvSpPr>
        <p:spPr>
          <a:xfrm>
            <a:off x="457200" y="38404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opcao-letra-fundo-4"/>
          <p:cNvSpPr/>
          <p:nvPr/>
        </p:nvSpPr>
        <p:spPr>
          <a:xfrm>
            <a:off x="566928" y="393192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opcao-letra-4"/>
          <p:cNvSpPr txBox="1"/>
          <p:nvPr/>
        </p:nvSpPr>
        <p:spPr>
          <a:xfrm>
            <a:off x="566928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opcao-4"/>
          <p:cNvSpPr txBox="1"/>
          <p:nvPr/>
        </p:nvSpPr>
        <p:spPr>
          <a:xfrm>
            <a:off x="1051560" y="3840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mais lento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</a:t>
            </a:r>
            <a:endParaRPr lang="en-US" sz="3400" dirty="0"/>
          </a:p>
        </p:txBody>
      </p:sp>
      <p:sp>
        <p:nvSpPr>
          <p:cNvPr id="4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6" name="painel-missao"/>
          <p:cNvSpPr/>
          <p:nvPr/>
        </p:nvSpPr>
        <p:spPr>
          <a:xfrm>
            <a:off x="457200" y="1188720"/>
            <a:ext cx="5120640" cy="3429000"/>
          </a:xfrm>
          <a:prstGeom prst="roundRect">
            <a:avLst>
              <a:gd name="adj" fmla="val 266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rotulo-missao"/>
          <p:cNvSpPr txBox="1"/>
          <p:nvPr/>
        </p:nvSpPr>
        <p:spPr>
          <a:xfrm>
            <a:off x="640080" y="1280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Missão</a:t>
            </a:r>
            <a:endParaRPr lang="en-US" sz="1800" dirty="0"/>
          </a:p>
        </p:txBody>
      </p:sp>
      <p:sp>
        <p:nvSpPr>
          <p:cNvPr id="8" name="passos-missao"/>
          <p:cNvSpPr txBox="1"/>
          <p:nvPr/>
        </p:nvSpPr>
        <p:spPr>
          <a:xfrm>
            <a:off x="640080" y="169164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Reconstrua o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partir de distâncias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Desenrole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rocambole com Isomap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 a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perplexidade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t-SNE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Meça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trustworthiness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PCA, Isomap, t-SNE e UMAP</a:t>
            </a:r>
            <a:endParaRPr lang="en-US" sz="2000" dirty="0"/>
          </a:p>
        </p:txBody>
      </p:sp>
      <p:sp>
        <p:nvSpPr>
          <p:cNvPr id="9" name="painel-entrega"/>
          <p:cNvSpPr/>
          <p:nvPr/>
        </p:nvSpPr>
        <p:spPr>
          <a:xfrm>
            <a:off x="5806440" y="1188720"/>
            <a:ext cx="2880360" cy="3429000"/>
          </a:xfrm>
          <a:prstGeom prst="roundRect">
            <a:avLst>
              <a:gd name="adj" fmla="val 3175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rotulo-entrega"/>
          <p:cNvSpPr txBox="1"/>
          <p:nvPr/>
        </p:nvSpPr>
        <p:spPr>
          <a:xfrm>
            <a:off x="5989320" y="1280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800" dirty="0"/>
          </a:p>
        </p:txBody>
      </p:sp>
      <p:sp>
        <p:nvSpPr>
          <p:cNvPr id="11" name="itens-entrega"/>
          <p:cNvSpPr txBox="1"/>
          <p:nvPr/>
        </p:nvSpPr>
        <p:spPr>
          <a:xfrm>
            <a:off x="5989320" y="1691640"/>
            <a:ext cx="2560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reconstruído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projeções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trustworthiness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guardar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pic>
        <p:nvPicPr>
          <p:cNvPr id="5" name="marca" descr="marc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40180"/>
            <a:ext cx="274320" cy="274320"/>
          </a:xfrm>
          <a:prstGeom prst="rect">
            <a:avLst/>
          </a:prstGeom>
        </p:spPr>
      </p:pic>
      <p:sp>
        <p:nvSpPr>
          <p:cNvPr id="6" name="ponto-1"/>
          <p:cNvSpPr txBox="1"/>
          <p:nvPr/>
        </p:nvSpPr>
        <p:spPr>
          <a:xfrm>
            <a:off x="960120" y="12344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vivem em variedades</a:t>
            </a:r>
            <a:endParaRPr lang="en-US" sz="2000" dirty="0"/>
          </a:p>
        </p:txBody>
      </p:sp>
      <p:pic>
        <p:nvPicPr>
          <p:cNvPr id="7" name="marca" descr="marc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62556"/>
            <a:ext cx="274320" cy="274320"/>
          </a:xfrm>
          <a:prstGeom prst="rect">
            <a:avLst/>
          </a:prstGeom>
        </p:spPr>
      </p:pic>
      <p:sp>
        <p:nvSpPr>
          <p:cNvPr id="8" name="ponto-2"/>
          <p:cNvSpPr txBox="1"/>
          <p:nvPr/>
        </p:nvSpPr>
        <p:spPr>
          <a:xfrm>
            <a:off x="960120" y="1956816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Isomap usa geodésicas</a:t>
            </a:r>
            <a:endParaRPr lang="en-US" sz="2000" dirty="0"/>
          </a:p>
        </p:txBody>
      </p:sp>
      <p:pic>
        <p:nvPicPr>
          <p:cNvPr id="9" name="marca" descr="marc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884932"/>
            <a:ext cx="274320" cy="274320"/>
          </a:xfrm>
          <a:prstGeom prst="rect">
            <a:avLst/>
          </a:prstGeom>
        </p:spPr>
      </p:pic>
      <p:sp>
        <p:nvSpPr>
          <p:cNvPr id="10" name="ponto-3"/>
          <p:cNvSpPr txBox="1"/>
          <p:nvPr/>
        </p:nvSpPr>
        <p:spPr>
          <a:xfrm>
            <a:off x="960120" y="2679192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t-SNE: vizinhança local</a:t>
            </a:r>
            <a:endParaRPr lang="en-US" sz="2000" dirty="0"/>
          </a:p>
        </p:txBody>
      </p:sp>
      <p:pic>
        <p:nvPicPr>
          <p:cNvPr id="11" name="marca" descr="marc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607308"/>
            <a:ext cx="274320" cy="274320"/>
          </a:xfrm>
          <a:prstGeom prst="rect">
            <a:avLst/>
          </a:prstGeom>
        </p:spPr>
      </p:pic>
      <p:sp>
        <p:nvSpPr>
          <p:cNvPr id="12" name="ponto-4"/>
          <p:cNvSpPr txBox="1"/>
          <p:nvPr/>
        </p:nvSpPr>
        <p:spPr>
          <a:xfrm>
            <a:off x="960120" y="3401568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UMAP: rápido e global</a:t>
            </a:r>
            <a:endParaRPr lang="en-US" sz="2000" dirty="0"/>
          </a:p>
        </p:txBody>
      </p:sp>
      <p:sp>
        <p:nvSpPr>
          <p:cNvPr id="13" name="proximo"/>
          <p:cNvSpPr txBox="1"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10: Regras de associação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usters">
  <a:themeElements>
    <a:clrScheme name="Clusters">
      <a:dk1>
        <a:srgbClr val="1F2937"/>
      </a:dk1>
      <a:lt1>
        <a:srgbClr val="FFFFFF"/>
      </a:lt1>
      <a:dk2>
        <a:srgbClr val="111827"/>
      </a:dk2>
      <a:lt2>
        <a:srgbClr val="F3F4F6"/>
      </a:lt2>
      <a:accent1>
        <a:srgbClr val="4F46E5"/>
      </a:accent1>
      <a:accent2>
        <a:srgbClr val="F59E0B"/>
      </a:accent2>
      <a:accent3>
        <a:srgbClr val="10B981"/>
      </a:accent3>
      <a:accent4>
        <a:srgbClr val="06B6D4"/>
      </a:accent4>
      <a:accent5>
        <a:srgbClr val="8B5CF6"/>
      </a:accent5>
      <a:accent6>
        <a:srgbClr val="6B7280"/>
      </a:accent6>
      <a:hlink>
        <a:srgbClr val="4F46E5"/>
      </a:hlink>
      <a:folHlink>
        <a:srgbClr val="8B5CF6"/>
      </a:folHlink>
    </a:clrScheme>
    <a:fontScheme name="Cluster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Cap. 9 — Aprendizado de Variedades: MDS, Isomap, t-SNE e UMAP</dc:title>
  <dc:subject>Aprendizado Não Supervisionado</dc:subject>
  <dc:creator>Araken de Medeiros Santos</dc:creator>
  <cp:lastModifiedBy>Araken de Medeiros Santos</cp:lastModifiedBy>
  <cp:revision>1</cp:revision>
  <dcterms:created xsi:type="dcterms:W3CDTF">2026-10-26T18:42:50Z</dcterms:created>
  <dcterms:modified xsi:type="dcterms:W3CDTF">2026-10-26T18:42:50Z</dcterms:modified>
</cp:coreProperties>
</file>