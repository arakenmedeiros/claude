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4630fc0-0535-3a8d-6a2b-7e1d36efad78}">
          <p14:sldIdLst>
            <p14:sldId id="256"/>
            <p14:sldId id="257"/>
          </p14:sldIdLst>
        </p14:section>
        <p14:section name="Ideia" id="{8c3fb796-2317-2155-9e87-b7889bca0186}">
          <p14:sldIdLst>
            <p14:sldId id="258"/>
            <p14:sldId id="259"/>
            <p14:sldId id="260"/>
            <p14:sldId id="261"/>
          </p14:sldIdLst>
        </p14:section>
        <p14:section name="Estatística" id="{d74d03e8-c9e6-8f17-bc82-c2cdc4bcf868}">
          <p14:sldIdLst>
            <p14:sldId id="262"/>
            <p14:sldId id="263"/>
          </p14:sldIdLst>
        </p14:section>
        <p14:section name="Isolation Forest" id="{1c96f7af-bb78-91ce-b508-9df5f94a2d4d}">
          <p14:sldIdLst>
            <p14:sldId id="264"/>
            <p14:sldId id="265"/>
            <p14:sldId id="266"/>
          </p14:sldIdLst>
        </p14:section>
        <p14:section name="LOF" id="{d8c87e57-53bf-d636-1590-3883d07072f7}">
          <p14:sldIdLst>
            <p14:sldId id="267"/>
            <p14:sldId id="268"/>
            <p14:sldId id="269"/>
            <p14:sldId id="270"/>
            <p14:sldId id="271"/>
          </p14:sldIdLst>
        </p14:section>
        <p14:section name="Na prática" id="{06d88568-d70a-917b-fbad-e125b136a325}">
          <p14:sldIdLst>
            <p14:sldId id="272"/>
            <p14:sldId id="273"/>
            <p14:sldId id="274"/>
            <p14:sldId id="275"/>
          </p14:sldIdLst>
        </p14:section>
        <p14:section name="Fixação" id="{b6b6d9a3-bddd-200e-8f16-ca243fe24a9f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São fáceis de isolar, então precisam de poucos cortes.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Prever 'tudo normal' já dá acurácia altíssima sem achar nenhuma fraude.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Ele compara a densidade local de um ponto com a de seus vizinhos.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Projeto: detecção de fraude em transações de cartão. Resultado do livro: OCSVM com gamma 0,005 tem AUC 0,95; com gamma 'scale', 0,44.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Aprendizado Não Supervisionado  ·  Capítulo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o-0"/>
          <p:cNvSpPr/>
          <p:nvPr/>
        </p:nvSpPr>
        <p:spPr>
          <a:xfrm>
            <a:off x="5760720" y="365760"/>
            <a:ext cx="1645920" cy="1645920"/>
          </a:xfrm>
          <a:prstGeom prst="ellipse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ponto-0-0"/>
          <p:cNvSpPr/>
          <p:nvPr/>
        </p:nvSpPr>
        <p:spPr>
          <a:xfrm>
            <a:off x="6728865" y="1163343"/>
            <a:ext cx="69906" cy="6990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ponto-0-1"/>
          <p:cNvSpPr/>
          <p:nvPr/>
        </p:nvSpPr>
        <p:spPr>
          <a:xfrm>
            <a:off x="6276079" y="1512330"/>
            <a:ext cx="116230" cy="1162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ponto-0-2"/>
          <p:cNvSpPr/>
          <p:nvPr/>
        </p:nvSpPr>
        <p:spPr>
          <a:xfrm>
            <a:off x="6625569" y="836692"/>
            <a:ext cx="134247" cy="13424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onto-0-3"/>
          <p:cNvSpPr/>
          <p:nvPr/>
        </p:nvSpPr>
        <p:spPr>
          <a:xfrm>
            <a:off x="6192358" y="1165279"/>
            <a:ext cx="170409" cy="17040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onto-0-4"/>
          <p:cNvSpPr/>
          <p:nvPr/>
        </p:nvSpPr>
        <p:spPr>
          <a:xfrm>
            <a:off x="6113335" y="1266346"/>
            <a:ext cx="145049" cy="14504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onto-0-5"/>
          <p:cNvSpPr/>
          <p:nvPr/>
        </p:nvSpPr>
        <p:spPr>
          <a:xfrm>
            <a:off x="7129969" y="1448629"/>
            <a:ext cx="98467" cy="9846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onto-0-6"/>
          <p:cNvSpPr/>
          <p:nvPr/>
        </p:nvSpPr>
        <p:spPr>
          <a:xfrm>
            <a:off x="6773255" y="1276989"/>
            <a:ext cx="161101" cy="1611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onto-0-7"/>
          <p:cNvSpPr/>
          <p:nvPr/>
        </p:nvSpPr>
        <p:spPr>
          <a:xfrm>
            <a:off x="6454062" y="889282"/>
            <a:ext cx="159627" cy="15962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onto-0-8"/>
          <p:cNvSpPr/>
          <p:nvPr/>
        </p:nvSpPr>
        <p:spPr>
          <a:xfrm>
            <a:off x="6668627" y="976765"/>
            <a:ext cx="99349" cy="99349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ponto-0-9"/>
          <p:cNvSpPr/>
          <p:nvPr/>
        </p:nvSpPr>
        <p:spPr>
          <a:xfrm>
            <a:off x="6578484" y="1525295"/>
            <a:ext cx="95373" cy="9537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ponto-0-10"/>
          <p:cNvSpPr/>
          <p:nvPr/>
        </p:nvSpPr>
        <p:spPr>
          <a:xfrm>
            <a:off x="6711721" y="1374840"/>
            <a:ext cx="113301" cy="11330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ponto-0-11"/>
          <p:cNvSpPr/>
          <p:nvPr/>
        </p:nvSpPr>
        <p:spPr>
          <a:xfrm>
            <a:off x="6471905" y="1847619"/>
            <a:ext cx="118100" cy="1181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ponto-0-12"/>
          <p:cNvSpPr/>
          <p:nvPr/>
        </p:nvSpPr>
        <p:spPr>
          <a:xfrm>
            <a:off x="6535663" y="1842053"/>
            <a:ext cx="99162" cy="9916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onto-0-13"/>
          <p:cNvSpPr/>
          <p:nvPr/>
        </p:nvSpPr>
        <p:spPr>
          <a:xfrm>
            <a:off x="5943211" y="885254"/>
            <a:ext cx="80940" cy="809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ponto-0-14"/>
          <p:cNvSpPr/>
          <p:nvPr/>
        </p:nvSpPr>
        <p:spPr>
          <a:xfrm>
            <a:off x="5946729" y="1218401"/>
            <a:ext cx="134241" cy="134241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ponto-0-15"/>
          <p:cNvSpPr/>
          <p:nvPr/>
        </p:nvSpPr>
        <p:spPr>
          <a:xfrm>
            <a:off x="6227551" y="1128797"/>
            <a:ext cx="117083" cy="117083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halo-1"/>
          <p:cNvSpPr/>
          <p:nvPr/>
        </p:nvSpPr>
        <p:spPr>
          <a:xfrm>
            <a:off x="7040880" y="2103120"/>
            <a:ext cx="1645920" cy="1645920"/>
          </a:xfrm>
          <a:prstGeom prst="ellipse">
            <a:avLst/>
          </a:prstGeom>
          <a:solidFill>
            <a:schemeClr val="accent4">
              <a:alpha val="12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onto-1-0"/>
          <p:cNvSpPr/>
          <p:nvPr/>
        </p:nvSpPr>
        <p:spPr>
          <a:xfrm>
            <a:off x="7376434" y="2779711"/>
            <a:ext cx="153366" cy="15336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ponto-1-1"/>
          <p:cNvSpPr/>
          <p:nvPr/>
        </p:nvSpPr>
        <p:spPr>
          <a:xfrm>
            <a:off x="8403706" y="2644087"/>
            <a:ext cx="162696" cy="162696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ponto-1-2"/>
          <p:cNvSpPr/>
          <p:nvPr/>
        </p:nvSpPr>
        <p:spPr>
          <a:xfrm>
            <a:off x="8472815" y="2895830"/>
            <a:ext cx="112154" cy="11215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ponto-1-3"/>
          <p:cNvSpPr/>
          <p:nvPr/>
        </p:nvSpPr>
        <p:spPr>
          <a:xfrm>
            <a:off x="7111986" y="3010212"/>
            <a:ext cx="108939" cy="108939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4" name="ponto-1-4"/>
          <p:cNvSpPr/>
          <p:nvPr/>
        </p:nvSpPr>
        <p:spPr>
          <a:xfrm>
            <a:off x="8478539" y="2970499"/>
            <a:ext cx="129331" cy="12933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ponto-1-5"/>
          <p:cNvSpPr/>
          <p:nvPr/>
        </p:nvSpPr>
        <p:spPr>
          <a:xfrm>
            <a:off x="7284133" y="2677445"/>
            <a:ext cx="118304" cy="11830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6" name="ponto-1-6"/>
          <p:cNvSpPr/>
          <p:nvPr/>
        </p:nvSpPr>
        <p:spPr>
          <a:xfrm>
            <a:off x="7129311" y="3146810"/>
            <a:ext cx="128242" cy="12824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ponto-1-7"/>
          <p:cNvSpPr/>
          <p:nvPr/>
        </p:nvSpPr>
        <p:spPr>
          <a:xfrm>
            <a:off x="7404864" y="2331393"/>
            <a:ext cx="159858" cy="15985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ponto-1-8"/>
          <p:cNvSpPr/>
          <p:nvPr/>
        </p:nvSpPr>
        <p:spPr>
          <a:xfrm>
            <a:off x="7832201" y="3589790"/>
            <a:ext cx="77964" cy="7796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ponto-1-9"/>
          <p:cNvSpPr/>
          <p:nvPr/>
        </p:nvSpPr>
        <p:spPr>
          <a:xfrm>
            <a:off x="7528088" y="2667775"/>
            <a:ext cx="73961" cy="73961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ponto-1-10"/>
          <p:cNvSpPr/>
          <p:nvPr/>
        </p:nvSpPr>
        <p:spPr>
          <a:xfrm>
            <a:off x="7220574" y="3153466"/>
            <a:ext cx="68692" cy="6869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1" name="ponto-1-11"/>
          <p:cNvSpPr/>
          <p:nvPr/>
        </p:nvSpPr>
        <p:spPr>
          <a:xfrm>
            <a:off x="7589053" y="3031471"/>
            <a:ext cx="122353" cy="12235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2" name="ponto-1-12"/>
          <p:cNvSpPr/>
          <p:nvPr/>
        </p:nvSpPr>
        <p:spPr>
          <a:xfrm>
            <a:off x="7638684" y="2216134"/>
            <a:ext cx="77447" cy="77447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ponto-1-13"/>
          <p:cNvSpPr/>
          <p:nvPr/>
        </p:nvSpPr>
        <p:spPr>
          <a:xfrm>
            <a:off x="7352664" y="3017664"/>
            <a:ext cx="136208" cy="13620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ponto-1-14"/>
          <p:cNvSpPr/>
          <p:nvPr/>
        </p:nvSpPr>
        <p:spPr>
          <a:xfrm>
            <a:off x="8219198" y="2351497"/>
            <a:ext cx="74593" cy="74593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5" name="ponto-1-15"/>
          <p:cNvSpPr/>
          <p:nvPr/>
        </p:nvSpPr>
        <p:spPr>
          <a:xfrm>
            <a:off x="7557851" y="3256537"/>
            <a:ext cx="136438" cy="13643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6" name="halo-2"/>
          <p:cNvSpPr/>
          <p:nvPr/>
        </p:nvSpPr>
        <p:spPr>
          <a:xfrm>
            <a:off x="5212080" y="2743200"/>
            <a:ext cx="1645920" cy="1645920"/>
          </a:xfrm>
          <a:prstGeom prst="ellipse">
            <a:avLst/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ponto-2-0"/>
          <p:cNvSpPr/>
          <p:nvPr/>
        </p:nvSpPr>
        <p:spPr>
          <a:xfrm>
            <a:off x="6593595" y="3681887"/>
            <a:ext cx="158665" cy="15866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8" name="ponto-2-1"/>
          <p:cNvSpPr/>
          <p:nvPr/>
        </p:nvSpPr>
        <p:spPr>
          <a:xfrm>
            <a:off x="5708101" y="3235150"/>
            <a:ext cx="102496" cy="10249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9" name="ponto-2-2"/>
          <p:cNvSpPr/>
          <p:nvPr/>
        </p:nvSpPr>
        <p:spPr>
          <a:xfrm>
            <a:off x="6211724" y="4056513"/>
            <a:ext cx="65936" cy="6593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ponto-2-3"/>
          <p:cNvSpPr/>
          <p:nvPr/>
        </p:nvSpPr>
        <p:spPr>
          <a:xfrm>
            <a:off x="5535249" y="3864152"/>
            <a:ext cx="140604" cy="14060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1" name="ponto-2-4"/>
          <p:cNvSpPr/>
          <p:nvPr/>
        </p:nvSpPr>
        <p:spPr>
          <a:xfrm>
            <a:off x="6079741" y="3912082"/>
            <a:ext cx="150652" cy="15065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ponto-2-5"/>
          <p:cNvSpPr/>
          <p:nvPr/>
        </p:nvSpPr>
        <p:spPr>
          <a:xfrm>
            <a:off x="6345315" y="4072017"/>
            <a:ext cx="173350" cy="17335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3" name="ponto-2-6"/>
          <p:cNvSpPr/>
          <p:nvPr/>
        </p:nvSpPr>
        <p:spPr>
          <a:xfrm>
            <a:off x="6214773" y="3107752"/>
            <a:ext cx="124240" cy="1242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4" name="ponto-2-7"/>
          <p:cNvSpPr/>
          <p:nvPr/>
        </p:nvSpPr>
        <p:spPr>
          <a:xfrm>
            <a:off x="6049034" y="2804377"/>
            <a:ext cx="158532" cy="15853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ponto-2-8"/>
          <p:cNvSpPr/>
          <p:nvPr/>
        </p:nvSpPr>
        <p:spPr>
          <a:xfrm>
            <a:off x="5923087" y="4061971"/>
            <a:ext cx="90295" cy="9029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6" name="ponto-2-9"/>
          <p:cNvSpPr/>
          <p:nvPr/>
        </p:nvSpPr>
        <p:spPr>
          <a:xfrm>
            <a:off x="5860263" y="3546978"/>
            <a:ext cx="130411" cy="130411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7" name="ponto-2-10"/>
          <p:cNvSpPr/>
          <p:nvPr/>
        </p:nvSpPr>
        <p:spPr>
          <a:xfrm>
            <a:off x="6195387" y="3412442"/>
            <a:ext cx="104342" cy="10434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8" name="ponto-2-11"/>
          <p:cNvSpPr/>
          <p:nvPr/>
        </p:nvSpPr>
        <p:spPr>
          <a:xfrm>
            <a:off x="6657991" y="3270605"/>
            <a:ext cx="88519" cy="88519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9" name="ponto-2-12"/>
          <p:cNvSpPr/>
          <p:nvPr/>
        </p:nvSpPr>
        <p:spPr>
          <a:xfrm>
            <a:off x="5528814" y="4012651"/>
            <a:ext cx="138610" cy="13861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ponto-2-13"/>
          <p:cNvSpPr/>
          <p:nvPr/>
        </p:nvSpPr>
        <p:spPr>
          <a:xfrm>
            <a:off x="5958657" y="2895433"/>
            <a:ext cx="100837" cy="100837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1" name="ponto-2-14"/>
          <p:cNvSpPr/>
          <p:nvPr/>
        </p:nvSpPr>
        <p:spPr>
          <a:xfrm>
            <a:off x="6167353" y="3809355"/>
            <a:ext cx="98825" cy="98825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ponto-2-15"/>
          <p:cNvSpPr/>
          <p:nvPr/>
        </p:nvSpPr>
        <p:spPr>
          <a:xfrm>
            <a:off x="6320535" y="3043666"/>
            <a:ext cx="64413" cy="64413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3" name="halo-3"/>
          <p:cNvSpPr/>
          <p:nvPr/>
        </p:nvSpPr>
        <p:spPr>
          <a:xfrm>
            <a:off x="7315200" y="91440"/>
            <a:ext cx="1645920" cy="1645920"/>
          </a:xfrm>
          <a:prstGeom prst="ellipse">
            <a:avLst/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4" name="ponto-3-0"/>
          <p:cNvSpPr/>
          <p:nvPr/>
        </p:nvSpPr>
        <p:spPr>
          <a:xfrm>
            <a:off x="8588361" y="777931"/>
            <a:ext cx="82152" cy="821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5" name="ponto-3-1"/>
          <p:cNvSpPr/>
          <p:nvPr/>
        </p:nvSpPr>
        <p:spPr>
          <a:xfrm>
            <a:off x="8409031" y="1064362"/>
            <a:ext cx="129374" cy="12937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ponto-3-2"/>
          <p:cNvSpPr/>
          <p:nvPr/>
        </p:nvSpPr>
        <p:spPr>
          <a:xfrm>
            <a:off x="8515185" y="1470710"/>
            <a:ext cx="76437" cy="76437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7" name="ponto-3-3"/>
          <p:cNvSpPr/>
          <p:nvPr/>
        </p:nvSpPr>
        <p:spPr>
          <a:xfrm>
            <a:off x="8022682" y="200770"/>
            <a:ext cx="131018" cy="13101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8" name="ponto-3-4"/>
          <p:cNvSpPr/>
          <p:nvPr/>
        </p:nvSpPr>
        <p:spPr>
          <a:xfrm>
            <a:off x="8340005" y="508818"/>
            <a:ext cx="104031" cy="10403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9" name="ponto-3-5"/>
          <p:cNvSpPr/>
          <p:nvPr/>
        </p:nvSpPr>
        <p:spPr>
          <a:xfrm>
            <a:off x="7825407" y="1395709"/>
            <a:ext cx="123958" cy="12395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0" name="ponto-3-6"/>
          <p:cNvSpPr/>
          <p:nvPr/>
        </p:nvSpPr>
        <p:spPr>
          <a:xfrm>
            <a:off x="7565166" y="979220"/>
            <a:ext cx="134804" cy="13480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1" name="ponto-3-7"/>
          <p:cNvSpPr/>
          <p:nvPr/>
        </p:nvSpPr>
        <p:spPr>
          <a:xfrm>
            <a:off x="8287811" y="323614"/>
            <a:ext cx="106003" cy="106003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2" name="ponto-3-8"/>
          <p:cNvSpPr/>
          <p:nvPr/>
        </p:nvSpPr>
        <p:spPr>
          <a:xfrm>
            <a:off x="8008164" y="1109900"/>
            <a:ext cx="139020" cy="1390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3" name="ponto-3-9"/>
          <p:cNvSpPr/>
          <p:nvPr/>
        </p:nvSpPr>
        <p:spPr>
          <a:xfrm>
            <a:off x="7555301" y="872057"/>
            <a:ext cx="83149" cy="8314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4" name="ponto-3-10"/>
          <p:cNvSpPr/>
          <p:nvPr/>
        </p:nvSpPr>
        <p:spPr>
          <a:xfrm>
            <a:off x="8084846" y="315432"/>
            <a:ext cx="97141" cy="97141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5" name="ponto-3-11"/>
          <p:cNvSpPr/>
          <p:nvPr/>
        </p:nvSpPr>
        <p:spPr>
          <a:xfrm>
            <a:off x="8637467" y="519091"/>
            <a:ext cx="144314" cy="14431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6" name="ponto-3-12"/>
          <p:cNvSpPr/>
          <p:nvPr/>
        </p:nvSpPr>
        <p:spPr>
          <a:xfrm>
            <a:off x="7562873" y="890698"/>
            <a:ext cx="136445" cy="136445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7" name="ponto-3-13"/>
          <p:cNvSpPr/>
          <p:nvPr/>
        </p:nvSpPr>
        <p:spPr>
          <a:xfrm>
            <a:off x="8247386" y="1479861"/>
            <a:ext cx="115389" cy="115389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8" name="ponto-3-14"/>
          <p:cNvSpPr/>
          <p:nvPr/>
        </p:nvSpPr>
        <p:spPr>
          <a:xfrm>
            <a:off x="8663361" y="728951"/>
            <a:ext cx="78892" cy="788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9" name="ponto-3-15"/>
          <p:cNvSpPr/>
          <p:nvPr/>
        </p:nvSpPr>
        <p:spPr>
          <a:xfrm>
            <a:off x="7986193" y="147179"/>
            <a:ext cx="111448" cy="1114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halo-4"/>
          <p:cNvSpPr/>
          <p:nvPr/>
        </p:nvSpPr>
        <p:spPr>
          <a:xfrm>
            <a:off x="6126480" y="1463040"/>
            <a:ext cx="1645920" cy="1645920"/>
          </a:xfrm>
          <a:prstGeom prst="ellipse">
            <a:avLst/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1" name="ponto-4-0"/>
          <p:cNvSpPr/>
          <p:nvPr/>
        </p:nvSpPr>
        <p:spPr>
          <a:xfrm>
            <a:off x="6259166" y="2562503"/>
            <a:ext cx="98135" cy="9813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2" name="ponto-4-1"/>
          <p:cNvSpPr/>
          <p:nvPr/>
        </p:nvSpPr>
        <p:spPr>
          <a:xfrm>
            <a:off x="6978172" y="2733076"/>
            <a:ext cx="103268" cy="1032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3" name="ponto-4-2"/>
          <p:cNvSpPr/>
          <p:nvPr/>
        </p:nvSpPr>
        <p:spPr>
          <a:xfrm>
            <a:off x="6318193" y="2335977"/>
            <a:ext cx="74913" cy="7491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4" name="ponto-4-3"/>
          <p:cNvSpPr/>
          <p:nvPr/>
        </p:nvSpPr>
        <p:spPr>
          <a:xfrm>
            <a:off x="6689408" y="2379576"/>
            <a:ext cx="148290" cy="14829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5" name="ponto-4-4"/>
          <p:cNvSpPr/>
          <p:nvPr/>
        </p:nvSpPr>
        <p:spPr>
          <a:xfrm>
            <a:off x="6551428" y="2590582"/>
            <a:ext cx="110072" cy="11007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6" name="ponto-4-5"/>
          <p:cNvSpPr/>
          <p:nvPr/>
        </p:nvSpPr>
        <p:spPr>
          <a:xfrm>
            <a:off x="6388033" y="1917653"/>
            <a:ext cx="80551" cy="80551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7" name="ponto-4-6"/>
          <p:cNvSpPr/>
          <p:nvPr/>
        </p:nvSpPr>
        <p:spPr>
          <a:xfrm>
            <a:off x="7273676" y="1757800"/>
            <a:ext cx="90535" cy="9053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8" name="ponto-4-7"/>
          <p:cNvSpPr/>
          <p:nvPr/>
        </p:nvSpPr>
        <p:spPr>
          <a:xfrm>
            <a:off x="7325134" y="2676219"/>
            <a:ext cx="162074" cy="16207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9" name="ponto-4-8"/>
          <p:cNvSpPr/>
          <p:nvPr/>
        </p:nvSpPr>
        <p:spPr>
          <a:xfrm>
            <a:off x="6945360" y="2077145"/>
            <a:ext cx="69842" cy="6984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0" name="ponto-4-9"/>
          <p:cNvSpPr/>
          <p:nvPr/>
        </p:nvSpPr>
        <p:spPr>
          <a:xfrm>
            <a:off x="6352951" y="1721950"/>
            <a:ext cx="172243" cy="172243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1" name="ponto-4-10"/>
          <p:cNvSpPr/>
          <p:nvPr/>
        </p:nvSpPr>
        <p:spPr>
          <a:xfrm>
            <a:off x="6532329" y="2528415"/>
            <a:ext cx="118445" cy="11844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2" name="ponto-4-11"/>
          <p:cNvSpPr/>
          <p:nvPr/>
        </p:nvSpPr>
        <p:spPr>
          <a:xfrm>
            <a:off x="7092365" y="2300838"/>
            <a:ext cx="131277" cy="13127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3" name="ponto-4-12"/>
          <p:cNvSpPr/>
          <p:nvPr/>
        </p:nvSpPr>
        <p:spPr>
          <a:xfrm>
            <a:off x="6195742" y="2159520"/>
            <a:ext cx="80827" cy="8082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4" name="ponto-4-13"/>
          <p:cNvSpPr/>
          <p:nvPr/>
        </p:nvSpPr>
        <p:spPr>
          <a:xfrm>
            <a:off x="6992171" y="2725514"/>
            <a:ext cx="100284" cy="1002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5" name="ponto-4-14"/>
          <p:cNvSpPr/>
          <p:nvPr/>
        </p:nvSpPr>
        <p:spPr>
          <a:xfrm>
            <a:off x="6504488" y="2580932"/>
            <a:ext cx="148997" cy="148997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6" name="ponto-4-15"/>
          <p:cNvSpPr/>
          <p:nvPr/>
        </p:nvSpPr>
        <p:spPr>
          <a:xfrm>
            <a:off x="6669840" y="1508673"/>
            <a:ext cx="155325" cy="155325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7" name="rotulo-capitulo"/>
          <p:cNvSpPr txBox="1"/>
          <p:nvPr/>
        </p:nvSpPr>
        <p:spPr>
          <a:xfrm>
            <a:off x="548640" y="868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</a:t>
            </a:r>
            <a:endParaRPr lang="en-US" sz="1800" dirty="0"/>
          </a:p>
        </p:txBody>
      </p:sp>
      <p:sp>
        <p:nvSpPr>
          <p:cNvPr id="88" name="Text 0"/>
          <p:cNvSpPr/>
          <p:nvPr>
            <p:ph idx="100" type="title" hasCustomPrompt="1"/>
          </p:nvPr>
        </p:nvSpPr>
        <p:spPr>
          <a:xfrm>
            <a:off x="548640" y="14173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 de Anomalias</a:t>
            </a:r>
            <a:endParaRPr lang="en-US" sz="3800" dirty="0"/>
          </a:p>
        </p:txBody>
      </p:sp>
      <p:sp>
        <p:nvSpPr>
          <p:cNvPr id="89" name="Text 0"/>
          <p:cNvSpPr/>
          <p:nvPr>
            <p:ph idx="101" type="body" hasCustomPrompt="1"/>
          </p:nvPr>
        </p:nvSpPr>
        <p:spPr>
          <a:xfrm>
            <a:off x="548640" y="32918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Encontrando o que foge do normal: uma agulha no palheiro</a:t>
            </a:r>
            <a:endParaRPr lang="en-US" sz="1800" dirty="0"/>
          </a:p>
        </p:txBody>
      </p:sp>
      <p:sp>
        <p:nvSpPr>
          <p:cNvPr id="90" name="autor"/>
          <p:cNvSpPr txBox="1"/>
          <p:nvPr/>
        </p:nvSpPr>
        <p:spPr>
          <a:xfrm>
            <a:off x="54864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Araken de Medeiros Santos  ·  Aprendizado Não Supervisionado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310896" cy="310896"/>
          </a:xfrm>
          <a:prstGeom prst="rect">
            <a:avLst/>
          </a:prstGeom>
        </p:spPr>
      </p:pic>
      <p:sp>
        <p:nvSpPr>
          <p:cNvPr id="6" name="objetivo-1"/>
          <p:cNvSpPr txBox="1"/>
          <p:nvPr/>
        </p:nvSpPr>
        <p:spPr>
          <a:xfrm>
            <a:off x="1005840" y="1234440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seus tipos</a:t>
            </a:r>
            <a:endParaRPr lang="en-US" sz="22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12264"/>
            <a:ext cx="310896" cy="310896"/>
          </a:xfrm>
          <a:prstGeom prst="rect">
            <a:avLst/>
          </a:prstGeom>
        </p:spPr>
      </p:pic>
      <p:sp>
        <p:nvSpPr>
          <p:cNvPr id="8" name="objetivo-2"/>
          <p:cNvSpPr txBox="1"/>
          <p:nvPr/>
        </p:nvSpPr>
        <p:spPr>
          <a:xfrm>
            <a:off x="1005840" y="1929384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os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cenários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aprendizado</a:t>
            </a:r>
            <a:endParaRPr lang="en-US" sz="22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07208"/>
            <a:ext cx="310896" cy="310896"/>
          </a:xfrm>
          <a:prstGeom prst="rect">
            <a:avLst/>
          </a:prstGeom>
        </p:spPr>
      </p:pic>
      <p:sp>
        <p:nvSpPr>
          <p:cNvPr id="10" name="objetivo-3"/>
          <p:cNvSpPr txBox="1"/>
          <p:nvPr/>
        </p:nvSpPr>
        <p:spPr>
          <a:xfrm>
            <a:off x="1005840" y="2624328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z-score, MAD, IQR</a:t>
            </a:r>
            <a:endParaRPr lang="en-US" sz="22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502152"/>
            <a:ext cx="310896" cy="310896"/>
          </a:xfrm>
          <a:prstGeom prst="rect">
            <a:avLst/>
          </a:prstGeom>
        </p:spPr>
      </p:pic>
      <p:sp>
        <p:nvSpPr>
          <p:cNvPr id="12" name="objetivo-4"/>
          <p:cNvSpPr txBox="1"/>
          <p:nvPr/>
        </p:nvSpPr>
        <p:spPr>
          <a:xfrm>
            <a:off x="1005840" y="3319272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Forest, LOF, One-Class SVM</a:t>
            </a:r>
            <a:endParaRPr lang="en-US" sz="2200" dirty="0"/>
          </a:p>
        </p:txBody>
      </p:sp>
      <p:pic>
        <p:nvPicPr>
          <p:cNvPr id="13" name="marca" descr="marc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97096"/>
            <a:ext cx="310896" cy="310896"/>
          </a:xfrm>
          <a:prstGeom prst="rect">
            <a:avLst/>
          </a:prstGeom>
        </p:spPr>
      </p:pic>
      <p:sp>
        <p:nvSpPr>
          <p:cNvPr id="14" name="objetivo-5"/>
          <p:cNvSpPr txBox="1"/>
          <p:nvPr/>
        </p:nvSpPr>
        <p:spPr>
          <a:xfrm>
            <a:off x="1005840" y="4014216"/>
            <a:ext cx="7589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corretamente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agulha no palheiro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transações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só algumas são fraude. O detector procura a que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foge do padrão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11_agulha" descr="f11_agulh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384" y="1234440"/>
            <a:ext cx="3470353" cy="2377440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Raro e diferente.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anomalia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1_tipos" descr="f11_tip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993" y="1188720"/>
            <a:ext cx="6100014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Pontual, contextual e coletiva.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tipos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oluna-1"/>
          <p:cNvSpPr/>
          <p:nvPr/>
        </p:nvSpPr>
        <p:spPr>
          <a:xfrm>
            <a:off x="4572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cabeca-1"/>
          <p:cNvSpPr/>
          <p:nvPr/>
        </p:nvSpPr>
        <p:spPr>
          <a:xfrm>
            <a:off x="4572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itulo-coluna-1"/>
          <p:cNvSpPr txBox="1"/>
          <p:nvPr/>
        </p:nvSpPr>
        <p:spPr>
          <a:xfrm>
            <a:off x="5486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</a:t>
            </a:r>
            <a:endParaRPr lang="en-US" sz="1600" dirty="0"/>
          </a:p>
        </p:txBody>
      </p:sp>
      <p:sp>
        <p:nvSpPr>
          <p:cNvPr id="8" name="itens-1"/>
          <p:cNvSpPr txBox="1"/>
          <p:nvPr/>
        </p:nvSpPr>
        <p:spPr>
          <a:xfrm>
            <a:off x="6400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ponto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estranho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de R$ 50 mil</a:t>
            </a:r>
            <a:endParaRPr lang="en-US" sz="1800" dirty="0"/>
          </a:p>
        </p:txBody>
      </p:sp>
      <p:sp>
        <p:nvSpPr>
          <p:cNvPr id="9" name="coluna-2"/>
          <p:cNvSpPr/>
          <p:nvPr/>
        </p:nvSpPr>
        <p:spPr>
          <a:xfrm>
            <a:off x="32766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beca-2"/>
          <p:cNvSpPr/>
          <p:nvPr/>
        </p:nvSpPr>
        <p:spPr>
          <a:xfrm>
            <a:off x="32766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itulo-coluna-2"/>
          <p:cNvSpPr txBox="1"/>
          <p:nvPr/>
        </p:nvSpPr>
        <p:spPr>
          <a:xfrm>
            <a:off x="33680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</a:t>
            </a:r>
            <a:endParaRPr lang="en-US" sz="1600" dirty="0"/>
          </a:p>
        </p:txBody>
      </p:sp>
      <p:sp>
        <p:nvSpPr>
          <p:cNvPr id="12" name="itens-2"/>
          <p:cNvSpPr txBox="1"/>
          <p:nvPr/>
        </p:nvSpPr>
        <p:spPr>
          <a:xfrm>
            <a:off x="34594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Estranha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°C em julho no Sul</a:t>
            </a:r>
            <a:endParaRPr lang="en-US" sz="1800" dirty="0"/>
          </a:p>
        </p:txBody>
      </p:sp>
      <p:sp>
        <p:nvSpPr>
          <p:cNvPr id="13" name="coluna-3"/>
          <p:cNvSpPr/>
          <p:nvPr/>
        </p:nvSpPr>
        <p:spPr>
          <a:xfrm>
            <a:off x="6096000" y="1188720"/>
            <a:ext cx="2590800" cy="2834640"/>
          </a:xfrm>
          <a:prstGeom prst="roundRect">
            <a:avLst>
              <a:gd name="adj" fmla="val 352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cabeca-3"/>
          <p:cNvSpPr/>
          <p:nvPr/>
        </p:nvSpPr>
        <p:spPr>
          <a:xfrm>
            <a:off x="6096000" y="1188720"/>
            <a:ext cx="25908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titulo-coluna-3"/>
          <p:cNvSpPr txBox="1"/>
          <p:nvPr/>
        </p:nvSpPr>
        <p:spPr>
          <a:xfrm>
            <a:off x="6187440" y="1188720"/>
            <a:ext cx="240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Coletiva</a:t>
            </a:r>
            <a:endParaRPr lang="en-US" sz="1600" dirty="0"/>
          </a:p>
        </p:txBody>
      </p:sp>
      <p:sp>
        <p:nvSpPr>
          <p:cNvPr id="16" name="itens-3"/>
          <p:cNvSpPr txBox="1"/>
          <p:nvPr/>
        </p:nvSpPr>
        <p:spPr>
          <a:xfrm>
            <a:off x="6278880" y="1783080"/>
            <a:ext cx="2225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estranho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de acessos coordenado</a:t>
            </a:r>
            <a:endParaRPr lang="en-US" sz="18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Anormal depende de onde e de quando.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cenários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  <a:gridCol w="29260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Cenário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Rótulos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Supervisionado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e anômalo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Raro (poucas fraudes rotuladas)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Semissupervisionado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normal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Aprende o 'normal'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supervisionado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 comum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geral, só temos o 'normal'.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Estatura fora da curva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tem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 m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altura está longe da média, muitos desvios acima. Estatística simples já aponta.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Quão longe da média?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estatísticos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graphicFrame>
        <p:nvGraphicFramePr>
          <p:cNvPr id="9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|z| &gt;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Sensível a outliers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 ± k·MAD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Fora de Q1−1,5·IQR a Q3+1,5·IQR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Boxplot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Mahalanobis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Distância com covariância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Considera correlações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8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simples.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Jogo das 20 perguntas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estranho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identificado em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perguntas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Quem é comum precisa de muitas para ser separado.</a:t>
            </a:r>
            <a:endParaRPr lang="en-US" sz="2400" dirty="0"/>
          </a:p>
        </p:txBody>
      </p:sp>
      <p:sp>
        <p:nvSpPr>
          <p:cNvPr id="6" name="moldura-figura"/>
          <p:cNvSpPr/>
          <p:nvPr/>
        </p:nvSpPr>
        <p:spPr>
          <a:xfrm>
            <a:off x="4846320" y="1234440"/>
            <a:ext cx="3840480" cy="237744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11_iforest" descr="f11_ifore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82333"/>
            <a:ext cx="3840480" cy="1281654"/>
          </a:xfrm>
          <a:prstGeom prst="rect">
            <a:avLst/>
          </a:prstGeom>
        </p:spPr>
      </p:pic>
      <p:sp>
        <p:nvSpPr>
          <p:cNvPr id="8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Anomalia = caminho curto.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funciona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sso-circulo-1"/>
          <p:cNvSpPr/>
          <p:nvPr/>
        </p:nvSpPr>
        <p:spPr>
          <a:xfrm>
            <a:off x="457200" y="133273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asso-n-1"/>
          <p:cNvSpPr txBox="1"/>
          <p:nvPr/>
        </p:nvSpPr>
        <p:spPr>
          <a:xfrm>
            <a:off x="457200" y="133273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passo-1"/>
          <p:cNvSpPr txBox="1"/>
          <p:nvPr/>
        </p:nvSpPr>
        <p:spPr>
          <a:xfrm>
            <a:off x="1097280" y="118872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um atributo ao acaso</a:t>
            </a:r>
            <a:endParaRPr lang="en-US" sz="2000" dirty="0"/>
          </a:p>
        </p:txBody>
      </p:sp>
      <p:sp>
        <p:nvSpPr>
          <p:cNvPr id="8" name="passo-circulo-2"/>
          <p:cNvSpPr/>
          <p:nvPr/>
        </p:nvSpPr>
        <p:spPr>
          <a:xfrm>
            <a:off x="457200" y="2041398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passo-n-2"/>
          <p:cNvSpPr txBox="1"/>
          <p:nvPr/>
        </p:nvSpPr>
        <p:spPr>
          <a:xfrm>
            <a:off x="457200" y="204139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passo-2"/>
          <p:cNvSpPr txBox="1"/>
          <p:nvPr/>
        </p:nvSpPr>
        <p:spPr>
          <a:xfrm>
            <a:off x="1097280" y="189738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num ponto aleatório</a:t>
            </a:r>
            <a:endParaRPr lang="en-US" sz="2000" dirty="0"/>
          </a:p>
        </p:txBody>
      </p:sp>
      <p:sp>
        <p:nvSpPr>
          <p:cNvPr id="11" name="passo-circulo-3"/>
          <p:cNvSpPr/>
          <p:nvPr/>
        </p:nvSpPr>
        <p:spPr>
          <a:xfrm>
            <a:off x="457200" y="275005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passo-n-3"/>
          <p:cNvSpPr txBox="1"/>
          <p:nvPr/>
        </p:nvSpPr>
        <p:spPr>
          <a:xfrm>
            <a:off x="457200" y="275005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passo-3"/>
          <p:cNvSpPr txBox="1"/>
          <p:nvPr/>
        </p:nvSpPr>
        <p:spPr>
          <a:xfrm>
            <a:off x="1097280" y="260604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Repita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até isolar cada ponto</a:t>
            </a:r>
            <a:endParaRPr lang="en-US" sz="2000" dirty="0"/>
          </a:p>
        </p:txBody>
      </p:sp>
      <p:sp>
        <p:nvSpPr>
          <p:cNvPr id="14" name="passo-circulo-4"/>
          <p:cNvSpPr/>
          <p:nvPr/>
        </p:nvSpPr>
        <p:spPr>
          <a:xfrm>
            <a:off x="457200" y="3458718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passo-n-4"/>
          <p:cNvSpPr txBox="1"/>
          <p:nvPr/>
        </p:nvSpPr>
        <p:spPr>
          <a:xfrm>
            <a:off x="457200" y="34587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passo-4"/>
          <p:cNvSpPr txBox="1"/>
          <p:nvPr/>
        </p:nvSpPr>
        <p:spPr>
          <a:xfrm>
            <a:off x="1097280" y="3314700"/>
            <a:ext cx="75895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Pontue</a:t>
            </a:r>
            <a:r>
              <a:rPr lang="en-US" sz="2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caminho médio em muitas árvores</a:t>
            </a:r>
            <a:endParaRPr lang="en-US" sz="2000" dirty="0"/>
          </a:p>
        </p:txBody>
      </p:sp>
      <p:sp>
        <p:nvSpPr>
          <p:cNvPr id="1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curto, ponto suspeito.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ainel-codigo"/>
          <p:cNvSpPr/>
          <p:nvPr/>
        </p:nvSpPr>
        <p:spPr>
          <a:xfrm>
            <a:off x="457200" y="1234440"/>
            <a:ext cx="5394960" cy="1607820"/>
          </a:xfrm>
          <a:prstGeom prst="roundRect">
            <a:avLst>
              <a:gd name="adj" fmla="val 455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codigo"/>
          <p:cNvSpPr txBox="1"/>
          <p:nvPr/>
        </p:nvSpPr>
        <p:spPr>
          <a:xfrm>
            <a:off x="640080" y="1325880"/>
            <a:ext cx="5029200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IsolationForest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 = IsolationForest(n_estimators=200,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contamination=0.01, random_state=0)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 = if_.fit_predict(X)   # -1 = anomalia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escore = -if_.score_samples(X)</a:t>
            </a:r>
            <a:endParaRPr lang="en-US" sz="1400" dirty="0"/>
          </a:p>
        </p:txBody>
      </p:sp>
      <p:sp>
        <p:nvSpPr>
          <p:cNvPr id="7" name="dicas-codigo"/>
          <p:cNvSpPr txBox="1"/>
          <p:nvPr/>
        </p:nvSpPr>
        <p:spPr>
          <a:xfrm>
            <a:off x="6080760" y="123444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parte faz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`contamination`: fração esperada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`-1` = anomalia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`score_samples`: quanto mais baixo, mais anômalo</a:t>
            </a:r>
            <a:endParaRPr lang="en-US" sz="1600" dirty="0"/>
          </a:p>
        </p:txBody>
      </p:sp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 eficaz em muitas colunas.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LOF: densidade local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1_lof" descr="f11_lo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182" y="1188720"/>
            <a:ext cx="3411636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cada ponto com seus vizinhos.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LOF?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Bairros com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densidades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diferentes</a:t>
            </a:r>
            <a:endParaRPr lang="en-US" sz="16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ponto é anômalo </a:t>
            </a: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seu bairro</a:t>
            </a:r>
            <a:endParaRPr lang="en-US" sz="16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≈ 1: normal</a:t>
            </a:r>
            <a:endParaRPr lang="en-US" sz="16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≫ 1: anômalo</a:t>
            </a:r>
            <a:endParaRPr lang="en-US" sz="16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no centro pode ser estranho no subúrbio.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vizinho importa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estatistica-1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0,015</a:t>
            </a:r>
            <a:endParaRPr lang="en-US" sz="4800" dirty="0"/>
          </a:p>
        </p:txBody>
      </p:sp>
      <p:sp>
        <p:nvSpPr>
          <p:cNvPr id="7" name="rotulo-1"/>
          <p:cNvSpPr txBox="1"/>
          <p:nvPr/>
        </p:nvSpPr>
        <p:spPr>
          <a:xfrm>
            <a:off x="64008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com k = 30</a:t>
            </a:r>
            <a:endParaRPr lang="en-US" sz="1500" dirty="0"/>
          </a:p>
        </p:txBody>
      </p:sp>
      <p:sp>
        <p:nvSpPr>
          <p:cNvPr id="8" name="estatistica-2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338328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0,91</a:t>
            </a:r>
            <a:endParaRPr lang="en-US" sz="4800" dirty="0"/>
          </a:p>
        </p:txBody>
      </p:sp>
      <p:sp>
        <p:nvSpPr>
          <p:cNvPr id="10" name="rotulo-2"/>
          <p:cNvSpPr txBox="1"/>
          <p:nvPr/>
        </p:nvSpPr>
        <p:spPr>
          <a:xfrm>
            <a:off x="347472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com k = 300</a:t>
            </a:r>
            <a:endParaRPr lang="en-US" sz="1500" dirty="0"/>
          </a:p>
        </p:txBody>
      </p:sp>
      <p:sp>
        <p:nvSpPr>
          <p:cNvPr id="11" name="estatistica-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357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6217920" y="14173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4800" dirty="0"/>
          </a:p>
        </p:txBody>
      </p:sp>
      <p:sp>
        <p:nvSpPr>
          <p:cNvPr id="13" name="rotulo-3"/>
          <p:cNvSpPr txBox="1"/>
          <p:nvPr/>
        </p:nvSpPr>
        <p:spPr>
          <a:xfrm>
            <a:off x="6309360" y="2514600"/>
            <a:ext cx="2194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tudo</a:t>
            </a:r>
            <a:endParaRPr lang="en-US" sz="1500" dirty="0"/>
          </a:p>
        </p:txBody>
      </p:sp>
      <p:sp>
        <p:nvSpPr>
          <p:cNvPr id="14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6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mal escolhido = detector cego.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One-Class SVM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ontos"/>
          <p:cNvSpPr txBox="1"/>
          <p:nvPr/>
        </p:nvSpPr>
        <p:spPr>
          <a:xfrm>
            <a:off x="457200" y="1234440"/>
            <a:ext cx="41148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a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 do normal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fronteira =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 com dados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normais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`gamma` é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decisivo</a:t>
            </a:r>
            <a:endParaRPr lang="en-US" sz="2000" dirty="0"/>
          </a:p>
        </p:txBody>
      </p:sp>
      <p:sp>
        <p:nvSpPr>
          <p:cNvPr id="6" name="moldura-figura"/>
          <p:cNvSpPr/>
          <p:nvPr/>
        </p:nvSpPr>
        <p:spPr>
          <a:xfrm>
            <a:off x="4754880" y="1234440"/>
            <a:ext cx="393192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7" name="figura-f11_ocsvm" descr="f11_ocsv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449" y="1234440"/>
            <a:ext cx="2726782" cy="2788920"/>
          </a:xfrm>
          <a:prstGeom prst="rect">
            <a:avLst/>
          </a:prstGeom>
        </p:spPr>
      </p:pic>
      <p:sp>
        <p:nvSpPr>
          <p:cNvPr id="8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10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a região normal.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Comparando detectores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1_comparacao" descr="f11_comparac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17378"/>
            <a:ext cx="7498080" cy="1977323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método vê um tipo de anomalia.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limiar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moldura-figura"/>
          <p:cNvSpPr/>
          <p:nvPr/>
        </p:nvSpPr>
        <p:spPr>
          <a:xfrm>
            <a:off x="822960" y="1188720"/>
            <a:ext cx="7498080" cy="283464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pic>
        <p:nvPicPr>
          <p:cNvPr id="6" name="figura-f11_limiar" descr="f11_limi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880" y="1188720"/>
            <a:ext cx="4306240" cy="2834640"/>
          </a:xfrm>
          <a:prstGeom prst="rect">
            <a:avLst/>
          </a:prstGeom>
        </p:spPr>
      </p:pic>
      <p:sp>
        <p:nvSpPr>
          <p:cNvPr id="7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cone-frase" descr="desta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9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traçar a linha?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Limiar é decisão de negócio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positivo: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alarme falso</a:t>
            </a:r>
            <a:endParaRPr lang="en-US" sz="18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negativo:</a:t>
            </a: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fraude passa</a:t>
            </a:r>
            <a:endParaRPr lang="en-US" sz="18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endParaRPr lang="en-US" sz="18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com </a:t>
            </a: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 e revocação</a:t>
            </a:r>
            <a:endParaRPr lang="en-US" sz="18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custa errar para cada lado?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avaliar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-1"/>
          <p:cNvSpPr/>
          <p:nvPr/>
        </p:nvSpPr>
        <p:spPr>
          <a:xfrm>
            <a:off x="640080" y="139903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-1"/>
          <p:cNvSpPr txBox="1"/>
          <p:nvPr/>
        </p:nvSpPr>
        <p:spPr>
          <a:xfrm>
            <a:off x="6400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o-1"/>
          <p:cNvSpPr txBox="1"/>
          <p:nvPr/>
        </p:nvSpPr>
        <p:spPr>
          <a:xfrm>
            <a:off x="6400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desbalanceadas</a:t>
            </a:r>
            <a:endParaRPr lang="en-US" sz="1700" dirty="0"/>
          </a:p>
        </p:txBody>
      </p:sp>
      <p:sp>
        <p:nvSpPr>
          <p:cNvPr id="9" name="cartao-2"/>
          <p:cNvSpPr/>
          <p:nvPr/>
        </p:nvSpPr>
        <p:spPr>
          <a:xfrm>
            <a:off x="4686300" y="123444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numero-2"/>
          <p:cNvSpPr/>
          <p:nvPr/>
        </p:nvSpPr>
        <p:spPr>
          <a:xfrm>
            <a:off x="4869180" y="1399032"/>
            <a:ext cx="384048" cy="38404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n-2"/>
          <p:cNvSpPr txBox="1"/>
          <p:nvPr/>
        </p:nvSpPr>
        <p:spPr>
          <a:xfrm>
            <a:off x="4869180" y="1399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o-2"/>
          <p:cNvSpPr txBox="1"/>
          <p:nvPr/>
        </p:nvSpPr>
        <p:spPr>
          <a:xfrm>
            <a:off x="4869180" y="187452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engana</a:t>
            </a: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(99% de normais)</a:t>
            </a:r>
            <a:endParaRPr lang="en-US" sz="1700" dirty="0"/>
          </a:p>
        </p:txBody>
      </p:sp>
      <p:sp>
        <p:nvSpPr>
          <p:cNvPr id="13" name="cartao-3"/>
          <p:cNvSpPr/>
          <p:nvPr/>
        </p:nvSpPr>
        <p:spPr>
          <a:xfrm>
            <a:off x="4572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numero-3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n-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o-3"/>
          <p:cNvSpPr txBox="1"/>
          <p:nvPr/>
        </p:nvSpPr>
        <p:spPr>
          <a:xfrm>
            <a:off x="6400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precisão, revocação, AUPRC</a:t>
            </a:r>
            <a:endParaRPr lang="en-US" sz="1700" dirty="0"/>
          </a:p>
        </p:txBody>
      </p:sp>
      <p:sp>
        <p:nvSpPr>
          <p:cNvPr id="17" name="cartao-4"/>
          <p:cNvSpPr/>
          <p:nvPr/>
        </p:nvSpPr>
        <p:spPr>
          <a:xfrm>
            <a:off x="4686300" y="2743200"/>
            <a:ext cx="4000500" cy="1280160"/>
          </a:xfrm>
          <a:prstGeom prst="roundRect">
            <a:avLst>
              <a:gd name="adj" fmla="val 7143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numero-4"/>
          <p:cNvSpPr/>
          <p:nvPr/>
        </p:nvSpPr>
        <p:spPr>
          <a:xfrm>
            <a:off x="4869180" y="2907792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n-4"/>
          <p:cNvSpPr txBox="1"/>
          <p:nvPr/>
        </p:nvSpPr>
        <p:spPr>
          <a:xfrm>
            <a:off x="48691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o-4"/>
          <p:cNvSpPr txBox="1"/>
          <p:nvPr/>
        </p:nvSpPr>
        <p:spPr>
          <a:xfrm>
            <a:off x="4869180" y="3383280"/>
            <a:ext cx="36347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com </a:t>
            </a: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</a:t>
            </a:r>
            <a:endParaRPr lang="en-US" sz="1700" dirty="0"/>
          </a:p>
        </p:txBody>
      </p:sp>
      <p:sp>
        <p:nvSpPr>
          <p:cNvPr id="21" name="faixa-frase"/>
          <p:cNvSpPr/>
          <p:nvPr/>
        </p:nvSpPr>
        <p:spPr>
          <a:xfrm>
            <a:off x="457200" y="4160520"/>
            <a:ext cx="8229600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1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cone-frase" descr="destaq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4270248"/>
            <a:ext cx="256032" cy="256032"/>
          </a:xfrm>
          <a:prstGeom prst="rect">
            <a:avLst/>
          </a:prstGeom>
        </p:spPr>
      </p:pic>
      <p:sp>
        <p:nvSpPr>
          <p:cNvPr id="23" name="frase"/>
          <p:cNvSpPr txBox="1"/>
          <p:nvPr/>
        </p:nvSpPr>
        <p:spPr>
          <a:xfrm>
            <a:off x="1005840" y="416052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'tudo normal' acerta 99% e não serve.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alerta à ação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historia"/>
          <p:cNvSpPr txBox="1"/>
          <p:nvPr/>
        </p:nvSpPr>
        <p:spPr>
          <a:xfrm>
            <a:off x="457200" y="128016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detector é um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de incêndio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avisa, mas quem confere e decide é uma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</a:t>
            </a:r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Alarme demais = ninguém escuta.</a:t>
            </a:r>
            <a:endParaRPr lang="en-US" sz="2400" dirty="0"/>
          </a:p>
        </p:txBody>
      </p:sp>
      <p:sp>
        <p:nvSpPr>
          <p:cNvPr id="6" name="frase-central"/>
          <p:cNvSpPr txBox="1"/>
          <p:nvPr/>
        </p:nvSpPr>
        <p:spPr>
          <a:xfrm>
            <a:off x="457200" y="36576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 sem ação é ruído.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Cartões de memória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cartao-1"/>
          <p:cNvSpPr/>
          <p:nvPr/>
        </p:nvSpPr>
        <p:spPr>
          <a:xfrm>
            <a:off x="4572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ergunta-fundo-1"/>
          <p:cNvSpPr/>
          <p:nvPr/>
        </p:nvSpPr>
        <p:spPr>
          <a:xfrm>
            <a:off x="4572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ergunta-1"/>
          <p:cNvSpPr txBox="1"/>
          <p:nvPr/>
        </p:nvSpPr>
        <p:spPr>
          <a:xfrm>
            <a:off x="5943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Anomalia?</a:t>
            </a:r>
            <a:endParaRPr lang="en-US" sz="1500" dirty="0"/>
          </a:p>
        </p:txBody>
      </p:sp>
      <p:sp>
        <p:nvSpPr>
          <p:cNvPr id="8" name="resposta-1"/>
          <p:cNvSpPr txBox="1"/>
          <p:nvPr/>
        </p:nvSpPr>
        <p:spPr>
          <a:xfrm>
            <a:off x="5943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Rara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cartao-2"/>
          <p:cNvSpPr/>
          <p:nvPr/>
        </p:nvSpPr>
        <p:spPr>
          <a:xfrm>
            <a:off x="4686300" y="11887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pergunta-fundo-2"/>
          <p:cNvSpPr/>
          <p:nvPr/>
        </p:nvSpPr>
        <p:spPr>
          <a:xfrm>
            <a:off x="4686300" y="11887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ergunta-2"/>
          <p:cNvSpPr txBox="1"/>
          <p:nvPr/>
        </p:nvSpPr>
        <p:spPr>
          <a:xfrm>
            <a:off x="4823460" y="11887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Forest?</a:t>
            </a:r>
            <a:endParaRPr lang="en-US" sz="1500" dirty="0"/>
          </a:p>
        </p:txBody>
      </p:sp>
      <p:sp>
        <p:nvSpPr>
          <p:cNvPr id="12" name="resposta-2"/>
          <p:cNvSpPr txBox="1"/>
          <p:nvPr/>
        </p:nvSpPr>
        <p:spPr>
          <a:xfrm>
            <a:off x="4823460" y="17190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anomalia.</a:t>
            </a:r>
            <a:endParaRPr lang="en-US" sz="2000" dirty="0"/>
          </a:p>
        </p:txBody>
      </p:sp>
      <p:sp>
        <p:nvSpPr>
          <p:cNvPr id="13" name="cartao-3"/>
          <p:cNvSpPr/>
          <p:nvPr/>
        </p:nvSpPr>
        <p:spPr>
          <a:xfrm>
            <a:off x="4572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pergunta-fundo-3"/>
          <p:cNvSpPr/>
          <p:nvPr/>
        </p:nvSpPr>
        <p:spPr>
          <a:xfrm>
            <a:off x="4572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pergunta-3"/>
          <p:cNvSpPr txBox="1"/>
          <p:nvPr/>
        </p:nvSpPr>
        <p:spPr>
          <a:xfrm>
            <a:off x="5943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LOF?</a:t>
            </a:r>
            <a:endParaRPr lang="en-US" sz="1500" dirty="0"/>
          </a:p>
        </p:txBody>
      </p:sp>
      <p:sp>
        <p:nvSpPr>
          <p:cNvPr id="16" name="resposta-3"/>
          <p:cNvSpPr txBox="1"/>
          <p:nvPr/>
        </p:nvSpPr>
        <p:spPr>
          <a:xfrm>
            <a:off x="5943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Densidade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vizinhos.</a:t>
            </a:r>
            <a:endParaRPr lang="en-US" sz="2000" dirty="0"/>
          </a:p>
        </p:txBody>
      </p:sp>
      <p:sp>
        <p:nvSpPr>
          <p:cNvPr id="17" name="cartao-4"/>
          <p:cNvSpPr/>
          <p:nvPr/>
        </p:nvSpPr>
        <p:spPr>
          <a:xfrm>
            <a:off x="4686300" y="24079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pergunta-fundo-4"/>
          <p:cNvSpPr/>
          <p:nvPr/>
        </p:nvSpPr>
        <p:spPr>
          <a:xfrm>
            <a:off x="4686300" y="24079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pergunta-4"/>
          <p:cNvSpPr txBox="1"/>
          <p:nvPr/>
        </p:nvSpPr>
        <p:spPr>
          <a:xfrm>
            <a:off x="4823460" y="24079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SVM?</a:t>
            </a:r>
            <a:endParaRPr lang="en-US" sz="1500" dirty="0"/>
          </a:p>
        </p:txBody>
      </p:sp>
      <p:sp>
        <p:nvSpPr>
          <p:cNvPr id="20" name="resposta-4"/>
          <p:cNvSpPr txBox="1"/>
          <p:nvPr/>
        </p:nvSpPr>
        <p:spPr>
          <a:xfrm>
            <a:off x="4823460" y="29382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21" name="cartao-5"/>
          <p:cNvSpPr/>
          <p:nvPr/>
        </p:nvSpPr>
        <p:spPr>
          <a:xfrm>
            <a:off x="4572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pergunta-fundo-5"/>
          <p:cNvSpPr/>
          <p:nvPr/>
        </p:nvSpPr>
        <p:spPr>
          <a:xfrm>
            <a:off x="4572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pergunta-5"/>
          <p:cNvSpPr txBox="1"/>
          <p:nvPr/>
        </p:nvSpPr>
        <p:spPr>
          <a:xfrm>
            <a:off x="5943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Limiar?</a:t>
            </a:r>
            <a:endParaRPr lang="en-US" sz="1500" dirty="0"/>
          </a:p>
        </p:txBody>
      </p:sp>
      <p:sp>
        <p:nvSpPr>
          <p:cNvPr id="24" name="resposta-5"/>
          <p:cNvSpPr txBox="1"/>
          <p:nvPr/>
        </p:nvSpPr>
        <p:spPr>
          <a:xfrm>
            <a:off x="5943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de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25" name="cartao-6"/>
          <p:cNvSpPr/>
          <p:nvPr/>
        </p:nvSpPr>
        <p:spPr>
          <a:xfrm>
            <a:off x="4686300" y="3627120"/>
            <a:ext cx="4000500" cy="990600"/>
          </a:xfrm>
          <a:prstGeom prst="roundRect">
            <a:avLst>
              <a:gd name="adj" fmla="val 9231"/>
            </a:avLst>
          </a:prstGeom>
          <a:solidFill>
            <a:schemeClr val="accent1">
              <a:alpha val="1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pergunta-fundo-6"/>
          <p:cNvSpPr/>
          <p:nvPr/>
        </p:nvSpPr>
        <p:spPr>
          <a:xfrm>
            <a:off x="4686300" y="3627120"/>
            <a:ext cx="40005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pergunta-6"/>
          <p:cNvSpPr txBox="1"/>
          <p:nvPr/>
        </p:nvSpPr>
        <p:spPr>
          <a:xfrm>
            <a:off x="4823460" y="3627120"/>
            <a:ext cx="3726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Métrica?</a:t>
            </a:r>
            <a:endParaRPr lang="en-US" sz="1500" dirty="0"/>
          </a:p>
        </p:txBody>
      </p:sp>
      <p:sp>
        <p:nvSpPr>
          <p:cNvPr id="28" name="resposta-6"/>
          <p:cNvSpPr txBox="1"/>
          <p:nvPr/>
        </p:nvSpPr>
        <p:spPr>
          <a:xfrm>
            <a:off x="4823460" y="4157472"/>
            <a:ext cx="372618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não acurácia.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Isolation Forest, anomalias têm: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longos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Caminhos curtos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vizinhos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variância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acurácia é ruim para detectar fraudes?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difícil de calcular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muito desbalanceadas a inflam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funciona com k=2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gamma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relâmpago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LOF é indicado quando:</a:t>
            </a:r>
            <a:endParaRPr lang="en-US" sz="2200" dirty="0"/>
          </a:p>
        </p:txBody>
      </p:sp>
      <p:sp>
        <p:nvSpPr>
          <p:cNvPr id="6" name="opcao-fundo-1"/>
          <p:cNvSpPr/>
          <p:nvPr/>
        </p:nvSpPr>
        <p:spPr>
          <a:xfrm>
            <a:off x="457200" y="205740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opcao-letra-fundo-1"/>
          <p:cNvSpPr/>
          <p:nvPr/>
        </p:nvSpPr>
        <p:spPr>
          <a:xfrm>
            <a:off x="566928" y="214884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opcao-letra-1"/>
          <p:cNvSpPr txBox="1"/>
          <p:nvPr/>
        </p:nvSpPr>
        <p:spPr>
          <a:xfrm>
            <a:off x="566928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opcao-1"/>
          <p:cNvSpPr txBox="1"/>
          <p:nvPr/>
        </p:nvSpPr>
        <p:spPr>
          <a:xfrm>
            <a:off x="1051560" y="2057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dados têm a mesma densidade</a:t>
            </a:r>
            <a:endParaRPr lang="en-US" sz="1800" dirty="0"/>
          </a:p>
        </p:txBody>
      </p:sp>
      <p:sp>
        <p:nvSpPr>
          <p:cNvPr id="10" name="opcao-fundo-2"/>
          <p:cNvSpPr/>
          <p:nvPr/>
        </p:nvSpPr>
        <p:spPr>
          <a:xfrm>
            <a:off x="457200" y="26517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opcao-letra-fundo-2"/>
          <p:cNvSpPr/>
          <p:nvPr/>
        </p:nvSpPr>
        <p:spPr>
          <a:xfrm>
            <a:off x="566928" y="274320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opcao-letra-2"/>
          <p:cNvSpPr txBox="1"/>
          <p:nvPr/>
        </p:nvSpPr>
        <p:spPr>
          <a:xfrm>
            <a:off x="566928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3" name="opcao-2"/>
          <p:cNvSpPr txBox="1"/>
          <p:nvPr/>
        </p:nvSpPr>
        <p:spPr>
          <a:xfrm>
            <a:off x="1051560" y="26517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regiões têm densidades diferentes</a:t>
            </a:r>
            <a:endParaRPr lang="en-US" sz="1800" dirty="0"/>
          </a:p>
        </p:txBody>
      </p:sp>
      <p:sp>
        <p:nvSpPr>
          <p:cNvPr id="14" name="opcao-fundo-3"/>
          <p:cNvSpPr/>
          <p:nvPr/>
        </p:nvSpPr>
        <p:spPr>
          <a:xfrm>
            <a:off x="457200" y="324612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opcao-letra-fundo-3"/>
          <p:cNvSpPr/>
          <p:nvPr/>
        </p:nvSpPr>
        <p:spPr>
          <a:xfrm>
            <a:off x="566928" y="333756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opcao-letra-3"/>
          <p:cNvSpPr txBox="1"/>
          <p:nvPr/>
        </p:nvSpPr>
        <p:spPr>
          <a:xfrm>
            <a:off x="566928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opcao-3"/>
          <p:cNvSpPr txBox="1"/>
          <p:nvPr/>
        </p:nvSpPr>
        <p:spPr>
          <a:xfrm>
            <a:off x="1051560" y="32461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vizinhos</a:t>
            </a:r>
            <a:endParaRPr lang="en-US" sz="1800" dirty="0"/>
          </a:p>
        </p:txBody>
      </p:sp>
      <p:sp>
        <p:nvSpPr>
          <p:cNvPr id="18" name="opcao-fundo-4"/>
          <p:cNvSpPr/>
          <p:nvPr/>
        </p:nvSpPr>
        <p:spPr>
          <a:xfrm>
            <a:off x="457200" y="384048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opcao-letra-fundo-4"/>
          <p:cNvSpPr/>
          <p:nvPr/>
        </p:nvSpPr>
        <p:spPr>
          <a:xfrm>
            <a:off x="566928" y="3931920"/>
            <a:ext cx="320040" cy="320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cao-letra-4"/>
          <p:cNvSpPr txBox="1"/>
          <p:nvPr/>
        </p:nvSpPr>
        <p:spPr>
          <a:xfrm>
            <a:off x="566928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1" name="opcao-4"/>
          <p:cNvSpPr txBox="1"/>
          <p:nvPr/>
        </p:nvSpPr>
        <p:spPr>
          <a:xfrm>
            <a:off x="1051560" y="38404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há 1 atributo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400" dirty="0"/>
          </a:p>
        </p:txBody>
      </p:sp>
      <p:sp>
        <p:nvSpPr>
          <p:cNvPr id="4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sp>
        <p:nvSpPr>
          <p:cNvPr id="6" name="painel-missao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66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otulo-missao"/>
          <p:cNvSpPr txBox="1"/>
          <p:nvPr/>
        </p:nvSpPr>
        <p:spPr>
          <a:xfrm>
            <a:off x="640080" y="1280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</a:t>
            </a:r>
            <a:endParaRPr lang="en-US" sz="1800" dirty="0"/>
          </a:p>
        </p:txBody>
      </p:sp>
      <p:sp>
        <p:nvSpPr>
          <p:cNvPr id="8" name="passos-missao"/>
          <p:cNvSpPr txBox="1"/>
          <p:nvPr/>
        </p:nvSpPr>
        <p:spPr>
          <a:xfrm>
            <a:off x="640080" y="169164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Aplique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z-score, MAD e IQR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numa medida real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n_neighbors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LOF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Treine o </a:t>
            </a: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One-Class SVM</a:t>
            </a: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só com normais</a:t>
            </a:r>
            <a:endParaRPr lang="en-US" sz="2000" dirty="0"/>
          </a:p>
        </p:txBody>
      </p:sp>
      <p:sp>
        <p:nvSpPr>
          <p:cNvPr id="9" name="painel-entrega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3175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rotulo-entrega"/>
          <p:cNvSpPr txBox="1"/>
          <p:nvPr/>
        </p:nvSpPr>
        <p:spPr>
          <a:xfrm>
            <a:off x="598932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800" dirty="0"/>
          </a:p>
        </p:txBody>
      </p:sp>
      <p:sp>
        <p:nvSpPr>
          <p:cNvPr id="11" name="itens-entrega"/>
          <p:cNvSpPr txBox="1"/>
          <p:nvPr/>
        </p:nvSpPr>
        <p:spPr>
          <a:xfrm>
            <a:off x="5989320" y="169164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detectores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precisão × revocação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 de cada método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188720" y="2743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guardar</a:t>
            </a:r>
            <a:endParaRPr lang="en-US" sz="3400" dirty="0"/>
          </a:p>
        </p:txBody>
      </p:sp>
      <p:sp>
        <p:nvSpPr>
          <p:cNvPr id="3" name="icone-titulo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cone" descr="íc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486461"/>
            <a:ext cx="307238" cy="307238"/>
          </a:xfrm>
          <a:prstGeom prst="rect">
            <a:avLst/>
          </a:prstGeom>
        </p:spPr>
      </p:pic>
      <p:pic>
        <p:nvPicPr>
          <p:cNvPr id="5" name="marca" descr="marc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40180"/>
            <a:ext cx="274320" cy="274320"/>
          </a:xfrm>
          <a:prstGeom prst="rect">
            <a:avLst/>
          </a:prstGeom>
        </p:spPr>
      </p:pic>
      <p:sp>
        <p:nvSpPr>
          <p:cNvPr id="6" name="ponto-1"/>
          <p:cNvSpPr txBox="1"/>
          <p:nvPr/>
        </p:nvSpPr>
        <p:spPr>
          <a:xfrm>
            <a:off x="9601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 = rara e diferente</a:t>
            </a:r>
            <a:endParaRPr lang="en-US" sz="2000" dirty="0"/>
          </a:p>
        </p:txBody>
      </p:sp>
      <p:pic>
        <p:nvPicPr>
          <p:cNvPr id="7" name="marca" descr="mar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62556"/>
            <a:ext cx="274320" cy="274320"/>
          </a:xfrm>
          <a:prstGeom prst="rect">
            <a:avLst/>
          </a:prstGeom>
        </p:spPr>
      </p:pic>
      <p:sp>
        <p:nvSpPr>
          <p:cNvPr id="8" name="ponto-2"/>
          <p:cNvSpPr txBox="1"/>
          <p:nvPr/>
        </p:nvSpPr>
        <p:spPr>
          <a:xfrm>
            <a:off x="960120" y="1956816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simples primeiro</a:t>
            </a:r>
            <a:endParaRPr lang="en-US" sz="2000" dirty="0"/>
          </a:p>
        </p:txBody>
      </p:sp>
      <p:pic>
        <p:nvPicPr>
          <p:cNvPr id="9" name="marca" descr="marc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84932"/>
            <a:ext cx="274320" cy="274320"/>
          </a:xfrm>
          <a:prstGeom prst="rect">
            <a:avLst/>
          </a:prstGeom>
        </p:spPr>
      </p:pic>
      <p:sp>
        <p:nvSpPr>
          <p:cNvPr id="10" name="ponto-3"/>
          <p:cNvSpPr txBox="1"/>
          <p:nvPr/>
        </p:nvSpPr>
        <p:spPr>
          <a:xfrm>
            <a:off x="960120" y="2679192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IF, LOF, OCSVM</a:t>
            </a:r>
            <a:endParaRPr lang="en-US" sz="2000" dirty="0"/>
          </a:p>
        </p:txBody>
      </p:sp>
      <p:pic>
        <p:nvPicPr>
          <p:cNvPr id="11" name="marca" descr="marc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07308"/>
            <a:ext cx="274320" cy="274320"/>
          </a:xfrm>
          <a:prstGeom prst="rect">
            <a:avLst/>
          </a:prstGeom>
        </p:spPr>
      </p:pic>
      <p:sp>
        <p:nvSpPr>
          <p:cNvPr id="12" name="ponto-4"/>
          <p:cNvSpPr txBox="1"/>
          <p:nvPr/>
        </p:nvSpPr>
        <p:spPr>
          <a:xfrm>
            <a:off x="960120" y="340156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Limiar e métrica adequada</a:t>
            </a:r>
            <a:endParaRPr lang="en-US" sz="2000" dirty="0"/>
          </a:p>
        </p:txBody>
      </p:sp>
      <p:sp>
        <p:nvSpPr>
          <p:cNvPr id="13" name="proximo"/>
          <p:cNvSpPr txBox="1"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12: Aprendizado profundo não supervisionado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bg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usters">
  <a:themeElements>
    <a:clrScheme name="Clusters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8B5CF6"/>
      </a:accent5>
      <a:accent6>
        <a:srgbClr val="6B7280"/>
      </a:accent6>
      <a:hlink>
        <a:srgbClr val="4F46E5"/>
      </a:hlink>
      <a:folHlink>
        <a:srgbClr val="8B5CF6"/>
      </a:folHlink>
    </a:clrScheme>
    <a:fontScheme name="Cluster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11 — Detecção de Anomalias</dc:title>
  <dc:subject>Aprendizado Não Supervisionado</dc:subject>
  <dc:creator>Araken de Medeiros Santos</dc:creator>
  <cp:lastModifiedBy>Araken de Medeiros Santos</cp:lastModifiedBy>
  <cp:revision>1</cp:revision>
  <dcterms:created xsi:type="dcterms:W3CDTF">2026-10-26T18:42:51Z</dcterms:created>
  <dcterms:modified xsi:type="dcterms:W3CDTF">2026-10-26T18:42:51Z</dcterms:modified>
</cp:coreProperties>
</file>