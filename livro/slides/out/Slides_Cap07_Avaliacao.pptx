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6d9dec3-a1f2-6d21-5726-c913a4f5c091}">
          <p14:sldIdLst>
            <p14:sldId id="256"/>
            <p14:sldId id="257"/>
          </p14:sldIdLst>
        </p14:section>
        <p14:section name="Dilema" id="{63352371-a61d-ed97-efc0-953678d05382}">
          <p14:sldIdLst>
            <p14:sldId id="258"/>
            <p14:sldId id="259"/>
            <p14:sldId id="260"/>
          </p14:sldIdLst>
        </p14:section>
        <p14:section name="Há estrutura?" id="{f443279e-048f-2e58-fe77-2f1daac088b2}">
          <p14:sldIdLst>
            <p14:sldId id="261"/>
          </p14:sldIdLst>
        </p14:section>
        <p14:section name="Validação interna" id="{be97f79b-2f3a-9d3b-6814-13867d17ed7f}">
          <p14:sldIdLst>
            <p14:sldId id="262"/>
            <p14:sldId id="263"/>
            <p14:sldId id="264"/>
            <p14:sldId id="265"/>
            <p14:sldId id="266"/>
          </p14:sldIdLst>
        </p14:section>
        <p14:section name="Escolher k" id="{9d79325e-526c-1846-baf9-808f567b3281}">
          <p14:sldIdLst>
            <p14:sldId id="267"/>
            <p14:sldId id="268"/>
          </p14:sldIdLst>
        </p14:section>
        <p14:section name="Validação externa" id="{bbbf74b3-7b44-f401-004d-ee92a4893d25}">
          <p14:sldIdLst>
            <p14:sldId id="269"/>
            <p14:sldId id="270"/>
            <p14:sldId id="271"/>
          </p14:sldIdLst>
        </p14:section>
        <p14:section name="Uso e interpretação" id="{82ee2fa8-8772-0c58-e100-604d772317c7}">
          <p14:sldIdLst>
            <p14:sldId id="272"/>
            <p14:sldId id="273"/>
            <p14:sldId id="274"/>
          </p14:sldIdLst>
        </p14:section>
        <p14:section name="Fixação" id="{07fa9597-a95c-6204-2bbf-4453e9a073b1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Valores negativos indicam que o ponto está mais perto de outro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C. O ARI compara com rótulos de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Davies-Bouldin mede sobreposição; menor é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Projeto: painel de avaliação de agrupamentos.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6617070" y="1112364"/>
            <a:ext cx="160446" cy="16044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6070173" y="1523132"/>
            <a:ext cx="121040" cy="121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5941796" y="935189"/>
            <a:ext cx="72031" cy="7203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6687757" y="709016"/>
            <a:ext cx="111864" cy="1118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7189329" y="1225248"/>
            <a:ext cx="173237" cy="17323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6077090" y="982370"/>
            <a:ext cx="99905" cy="9990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6337492" y="1437789"/>
            <a:ext cx="162795" cy="16279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6515816" y="1662477"/>
            <a:ext cx="158599" cy="15859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5959519" y="950352"/>
            <a:ext cx="134201" cy="13420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5858377" y="1093389"/>
            <a:ext cx="88575" cy="885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6971692" y="949653"/>
            <a:ext cx="131762" cy="1317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6794722" y="782440"/>
            <a:ext cx="79160" cy="79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6615840" y="642099"/>
            <a:ext cx="151557" cy="1515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6781505" y="450132"/>
            <a:ext cx="165484" cy="1654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6867627" y="1312356"/>
            <a:ext cx="157370" cy="15737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6473298" y="1355506"/>
            <a:ext cx="87856" cy="878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7651025" y="2158345"/>
            <a:ext cx="109478" cy="10947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7365739" y="2592105"/>
            <a:ext cx="89853" cy="8985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7530790" y="2634883"/>
            <a:ext cx="137529" cy="13752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7914248" y="3117111"/>
            <a:ext cx="163917" cy="16391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8078329" y="2911979"/>
            <a:ext cx="94078" cy="9407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7868995" y="2217660"/>
            <a:ext cx="155287" cy="15528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8090563" y="3419898"/>
            <a:ext cx="157591" cy="15759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8286323" y="2958351"/>
            <a:ext cx="154684" cy="1546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7773718" y="2422811"/>
            <a:ext cx="128220" cy="1282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7564211" y="3034085"/>
            <a:ext cx="136222" cy="13622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8495219" y="2702018"/>
            <a:ext cx="157230" cy="15723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7822106" y="2147303"/>
            <a:ext cx="109114" cy="10911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8079237" y="2348733"/>
            <a:ext cx="115291" cy="11529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8358607" y="2790988"/>
            <a:ext cx="161882" cy="16188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7285144" y="3368395"/>
            <a:ext cx="163043" cy="16304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7873809" y="3022254"/>
            <a:ext cx="110010" cy="11001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6206698" y="3866141"/>
            <a:ext cx="104339" cy="10433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5327578" y="3682212"/>
            <a:ext cx="151661" cy="15166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5985243" y="3049379"/>
            <a:ext cx="105071" cy="10507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5631276" y="3294416"/>
            <a:ext cx="159822" cy="15982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6375930" y="2924938"/>
            <a:ext cx="76039" cy="7603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6249761" y="2928594"/>
            <a:ext cx="106839" cy="10683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5490104" y="3874180"/>
            <a:ext cx="125360" cy="125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6079417" y="4069512"/>
            <a:ext cx="92062" cy="9206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6086346" y="3510615"/>
            <a:ext cx="72317" cy="7231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5787054" y="2996120"/>
            <a:ext cx="85422" cy="8542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090847" y="3539710"/>
            <a:ext cx="83756" cy="8375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5938792" y="2870616"/>
            <a:ext cx="88654" cy="8865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6451709" y="3582170"/>
            <a:ext cx="171956" cy="17195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5769830" y="4151308"/>
            <a:ext cx="74195" cy="7419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5847798" y="3750485"/>
            <a:ext cx="102979" cy="10297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6395576" y="4033960"/>
            <a:ext cx="121163" cy="12116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7454802" y="1096892"/>
            <a:ext cx="79291" cy="7929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8527160" y="610026"/>
            <a:ext cx="69721" cy="6972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252421" y="999915"/>
            <a:ext cx="87415" cy="8741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8160562" y="1554921"/>
            <a:ext cx="113853" cy="11385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7858703" y="324797"/>
            <a:ext cx="82744" cy="82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7991637" y="329552"/>
            <a:ext cx="139809" cy="13980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7582966" y="1177621"/>
            <a:ext cx="133754" cy="13375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8351521" y="796746"/>
            <a:ext cx="94573" cy="9457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7687015" y="239742"/>
            <a:ext cx="149866" cy="14986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8532317" y="393190"/>
            <a:ext cx="90496" cy="904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8395915" y="1466163"/>
            <a:ext cx="76703" cy="7670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7392447" y="897732"/>
            <a:ext cx="71979" cy="7197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8563787" y="310174"/>
            <a:ext cx="150655" cy="15065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7915259" y="134984"/>
            <a:ext cx="168456" cy="168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7975435" y="1588483"/>
            <a:ext cx="73545" cy="7354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8045702" y="635192"/>
            <a:ext cx="77336" cy="77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6289929" y="2360886"/>
            <a:ext cx="68806" cy="6880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7172019" y="1899838"/>
            <a:ext cx="157845" cy="15784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7479538" y="2274707"/>
            <a:ext cx="149024" cy="1490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7104671" y="2124197"/>
            <a:ext cx="113947" cy="11394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7161046" y="2362404"/>
            <a:ext cx="162611" cy="16261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7443515" y="2186955"/>
            <a:ext cx="119718" cy="11971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7365311" y="2519386"/>
            <a:ext cx="119613" cy="1196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7435678" y="2192757"/>
            <a:ext cx="88641" cy="8864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7475158" y="2646808"/>
            <a:ext cx="93349" cy="9334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6964777" y="2497720"/>
            <a:ext cx="95970" cy="9597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6698774" y="2047820"/>
            <a:ext cx="139528" cy="1395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6785520" y="2309990"/>
            <a:ext cx="171321" cy="17132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7248612" y="2466053"/>
            <a:ext cx="84945" cy="8494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7267002" y="1943541"/>
            <a:ext cx="99443" cy="9944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6537767" y="1794406"/>
            <a:ext cx="80262" cy="8026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6604837" y="1836585"/>
            <a:ext cx="79847" cy="7984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Saber se os Grupos São Bons?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e validação: o juiz que não tem regras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por que avaliar </a:t>
            </a: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gabarito</a:t>
            </a: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difícil</a:t>
            </a:r>
            <a:endParaRPr lang="en-US" sz="21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validação </a:t>
            </a: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interna, externa e relativa</a:t>
            </a:r>
            <a:endParaRPr lang="en-US" sz="21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</a:t>
            </a: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silhueta, CH e DB</a:t>
            </a:r>
            <a:endParaRPr lang="en-US" sz="21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</a:t>
            </a: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ARI, NMI e pureza</a:t>
            </a:r>
            <a:endParaRPr lang="en-US" sz="21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</a:t>
            </a: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</a:t>
            </a: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a estatística de </a:t>
            </a: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Hopkins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juiz sem regras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um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de bolos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 receita nem critério. Quem ganhou? Em agrupamento, ninguém entrega o gabarito.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nota oficial, usamos vários critérios.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famílias de validação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7_familias" descr="f7_famili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766" y="1188720"/>
            <a:ext cx="6784468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Interna, externa e relativa.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 cada uma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9260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os dados e os grupos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Silhueta, CH, DB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Rótulos de referência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ARI, NMI, pureza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 configurações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Gap, estabilidade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responde a uma pergunta.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Existem grupos aqui?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agrupar,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8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de Hopkins</a:t>
            </a:r>
            <a:endParaRPr lang="en-US" sz="18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 agrupáveis</a:t>
            </a:r>
            <a:endParaRPr lang="en-US" sz="18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0,5: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 aleatórios</a:t>
            </a:r>
            <a:endParaRPr lang="en-US" sz="18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procure ilhas num lago.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Coesão e separação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bom grupo é como uma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torcida organizada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todos juntos (coesão) e longe da torcida rival (separação).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Juntos por dentro. Longe por fora.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coeficiente de silhueta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7_silhueta" descr="f7_silhu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991" y="1188720"/>
            <a:ext cx="6748018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−1 (errado) a +1 (perfeito).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Silhueta de um ponto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formula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869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ormula"/>
          <p:cNvSpPr txBox="1"/>
          <p:nvPr/>
        </p:nvSpPr>
        <p:spPr>
          <a:xfrm>
            <a:off x="640080" y="11887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(b − a) / max(a, b)</a:t>
            </a:r>
            <a:endParaRPr lang="en-US" sz="2600" dirty="0"/>
          </a:p>
        </p:txBody>
      </p:sp>
      <p:sp>
        <p:nvSpPr>
          <p:cNvPr id="7" name="explicacao"/>
          <p:cNvSpPr txBox="1"/>
          <p:nvPr/>
        </p:nvSpPr>
        <p:spPr>
          <a:xfrm>
            <a:off x="457200" y="242316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distância média ao próprio grupo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distância média ao grupo vizinho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≈ 1: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bem encaixado;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&lt; 0: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grupo errado</a:t>
            </a:r>
            <a:endParaRPr lang="en-US" sz="20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é melhor.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Índices internos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11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4206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Ideia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Silhueta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Encaixe de cada ponto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Calinski-Harabasz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Separação ÷ coesão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Sobreposição média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Dunn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separação ÷ maior diâmetro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confie num único índice.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de índices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7_indices" descr="f7_indic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86565"/>
            <a:ext cx="7498080" cy="2238949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índices, uma decisão informada.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Estatística gap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7_gap" descr="f7_g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94" y="1188720"/>
            <a:ext cx="4372412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com dados sem estrutura.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7_estabilidade" descr="f7_estabilida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673" y="1188720"/>
            <a:ext cx="4436653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grupo sobrevive a reamostragens.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contingência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7_contingencia" descr="f7_contingenc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39" y="1188720"/>
            <a:ext cx="2981123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× classes de referência.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Índices externos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1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4389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Pureza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a 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Favorece muitos grupos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 a 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Corrige o acaso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a 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Informação compartilhada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V-measure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a 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Homogeneidade + completude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 NMI ignoram os nomes dos grupos.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Cuidado: números enganam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estatistica-1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0,98</a:t>
            </a:r>
            <a:endParaRPr lang="en-US" sz="4800" dirty="0"/>
          </a:p>
        </p:txBody>
      </p:sp>
      <p:sp>
        <p:nvSpPr>
          <p:cNvPr id="7" name="rotulo-1"/>
          <p:cNvSpPr txBox="1"/>
          <p:nvPr/>
        </p:nvSpPr>
        <p:spPr>
          <a:xfrm>
            <a:off x="64008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 alta</a:t>
            </a:r>
            <a:endParaRPr lang="en-US" sz="1500" dirty="0"/>
          </a:p>
        </p:txBody>
      </p:sp>
      <p:sp>
        <p:nvSpPr>
          <p:cNvPr id="8" name="estatistica-2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338328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rotulo-2"/>
          <p:cNvSpPr txBox="1"/>
          <p:nvPr/>
        </p:nvSpPr>
        <p:spPr>
          <a:xfrm>
            <a:off x="347472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com a verdade</a:t>
            </a:r>
            <a:endParaRPr lang="en-US" sz="1500" dirty="0"/>
          </a:p>
        </p:txBody>
      </p:sp>
      <p:sp>
        <p:nvSpPr>
          <p:cNvPr id="11" name="estatistica-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621792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800" dirty="0"/>
          </a:p>
        </p:txBody>
      </p:sp>
      <p:sp>
        <p:nvSpPr>
          <p:cNvPr id="13" name="rotulo-3"/>
          <p:cNvSpPr txBox="1"/>
          <p:nvPr/>
        </p:nvSpPr>
        <p:spPr>
          <a:xfrm>
            <a:off x="630936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confiar?</a:t>
            </a:r>
            <a:endParaRPr lang="en-US" sz="1500" dirty="0"/>
          </a:p>
        </p:txBody>
      </p:sp>
      <p:sp>
        <p:nvSpPr>
          <p:cNvPr id="14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6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índice alto pode medir a coisa errada.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grupo serve?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cada grupo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Nomeie: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'jovens digitais'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Pergunte: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acionável?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com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</a:t>
            </a:r>
            <a:endParaRPr lang="en-US" sz="20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 índice é o negócio dizer 'faz sentido'.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Tendência de agrupamento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7_tendencia" descr="f7_tendenc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435" y="1188720"/>
            <a:ext cx="5515130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 e sem estrutura.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roteiro de avaliação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2618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estrutura?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Hopkins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182880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75564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k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silhueta, CH, DB, gap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239572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32257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estabilidade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várias sementes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2962656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288950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algoritmos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mesmos critérios</a:t>
            </a:r>
            <a:endParaRPr lang="en-US" sz="2000" dirty="0"/>
          </a:p>
        </p:txBody>
      </p:sp>
      <p:sp>
        <p:nvSpPr>
          <p:cNvPr id="17" name="passo-circulo-5"/>
          <p:cNvSpPr/>
          <p:nvPr/>
        </p:nvSpPr>
        <p:spPr>
          <a:xfrm>
            <a:off x="457200" y="3529584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passo-n-5"/>
          <p:cNvSpPr txBox="1"/>
          <p:nvPr/>
        </p:nvSpPr>
        <p:spPr>
          <a:xfrm>
            <a:off x="457200" y="3529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passo-5"/>
          <p:cNvSpPr txBox="1"/>
          <p:nvPr/>
        </p:nvSpPr>
        <p:spPr>
          <a:xfrm>
            <a:off x="1097280" y="345643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perfil e utilidade</a:t>
            </a:r>
            <a:endParaRPr lang="en-US" sz="2000" dirty="0"/>
          </a:p>
        </p:txBody>
      </p:sp>
      <p:sp>
        <p:nvSpPr>
          <p:cNvPr id="20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2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olhares, uma conclusão.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Hopkins?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achar?</a:t>
            </a:r>
            <a:endParaRPr lang="en-US" sz="15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a 1;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melhor.</a:t>
            </a:r>
            <a:endParaRPr lang="en-US" sz="15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melhor.</a:t>
            </a:r>
            <a:endParaRPr lang="en-US" sz="15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com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corrige o acaso.</a:t>
            </a:r>
            <a:endParaRPr lang="en-US" sz="15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 estabilidade?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Ajudam a escolher </a:t>
            </a: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 final?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utilidade.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 próxima de −1 significa: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perfeito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possivelmente no grupo errado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grupos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índice é de validação EXTERNA?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índice Davies-Bouldin, o melhor valor é: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menor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1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absoluto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Hopkins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com e sem estrutura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silhueta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grupo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um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4 índices internos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algoritmos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ARI e NMI</a:t>
            </a:r>
            <a:endParaRPr lang="en-US" sz="20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índices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externa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escolhido, com justificativa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validações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Silhueta, CH, DB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 NMI com rótulos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decide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8: PCA e métodos lineares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7 — Como Saber se os Grupos São Bons?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2026-10-26T18:42:50Z</dcterms:created>
  <dcterms:modified xsi:type="dcterms:W3CDTF">2026-10-26T18:42:50Z</dcterms:modified>
</cp:coreProperties>
</file>