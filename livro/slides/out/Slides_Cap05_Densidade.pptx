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8c40f1ff-79ca-5069-6c31-e2f8da062b97}">
          <p14:sldIdLst>
            <p14:sldId id="256"/>
            <p14:sldId id="257"/>
          </p14:sldIdLst>
        </p14:section>
        <p14:section name="Ideia" id="{69075ad6-37e8-156b-aeb6-87e003b4fed7}">
          <p14:sldIdLst>
            <p14:sldId id="258"/>
            <p14:sldId id="259"/>
          </p14:sldIdLst>
        </p14:section>
        <p14:section name="DBSCAN" id="{8cfe68f6-da16-8698-e926-df55a471b061}">
          <p14:sldIdLst>
            <p14:sldId id="260"/>
            <p14:sldId id="261"/>
            <p14:sldId id="262"/>
            <p14:sldId id="263"/>
            <p14:sldId id="264"/>
          </p14:sldIdLst>
        </p14:section>
        <p14:section name="Parâmetros" id="{ae143fef-2c0a-6f58-80ba-fa342c0f2902}">
          <p14:sldIdLst>
            <p14:sldId id="265"/>
            <p14:sldId id="266"/>
            <p14:sldId id="267"/>
          </p14:sldIdLst>
        </p14:section>
        <p14:section name="OPTICS e HDBSCAN" id="{5d6ac04e-bbc7-2282-cabd-f96bee1bdf49}">
          <p14:sldIdLst>
            <p14:sldId id="268"/>
            <p14:sldId id="269"/>
            <p14:sldId id="270"/>
            <p14:sldId id="271"/>
          </p14:sldIdLst>
        </p14:section>
        <p14:section name="Caso e comparação" id="{dbc816d7-00cd-0e05-276e-477f70658a6a}">
          <p14:sldIdLst>
            <p14:sldId id="272"/>
            <p14:sldId id="273"/>
          </p14:sldIdLst>
        </p14:section>
        <p14:section name="Fixação" id="{f14fd0d4-34fb-e5bc-574d-70e32a6b7924}">
          <p14:sldIdLst>
            <p14:sldId id="274"/>
            <p14:sldId id="275"/>
            <p14:sldId id="276"/>
            <p14:sldId id="277"/>
            <p14:sldId id="278"/>
            <p14:sldId id="27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RESPOSTA: C. Pontos sem densidade suficiente são marcados como ruído.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RESPOSTA: B. Um único eps não serve para densidades variadas; use OPTICS ou HDBSCAN.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RESPOSTA: C. O 'joelho' da curva indica um bom valor de eps.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Projeto: pontos quentes de ocorrências urbanas.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Aprendizado Não Supervisionado  ·  Capítulo 5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SCURO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Aprendizado Não Supervisionado  ·  Capítulo 5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bg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512064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291840"/>
            <a:ext cx="49377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image" Target="../media/image-24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alo-0"/>
          <p:cNvSpPr/>
          <p:nvPr/>
        </p:nvSpPr>
        <p:spPr>
          <a:xfrm>
            <a:off x="5760720" y="365760"/>
            <a:ext cx="1645920" cy="1645920"/>
          </a:xfrm>
          <a:prstGeom prst="ellipse">
            <a:avLst/>
          </a:prstGeom>
          <a:solidFill>
            <a:schemeClr val="accent1">
              <a:alpha val="12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ponto-0-0"/>
          <p:cNvSpPr/>
          <p:nvPr/>
        </p:nvSpPr>
        <p:spPr>
          <a:xfrm>
            <a:off x="7055794" y="1153465"/>
            <a:ext cx="95988" cy="9598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ponto-0-1"/>
          <p:cNvSpPr/>
          <p:nvPr/>
        </p:nvSpPr>
        <p:spPr>
          <a:xfrm>
            <a:off x="6204200" y="1380390"/>
            <a:ext cx="68581" cy="68581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ponto-0-2"/>
          <p:cNvSpPr/>
          <p:nvPr/>
        </p:nvSpPr>
        <p:spPr>
          <a:xfrm>
            <a:off x="6355938" y="1227947"/>
            <a:ext cx="95786" cy="9578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ponto-0-3"/>
          <p:cNvSpPr/>
          <p:nvPr/>
        </p:nvSpPr>
        <p:spPr>
          <a:xfrm>
            <a:off x="5796828" y="1224278"/>
            <a:ext cx="137455" cy="137455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ponto-0-4"/>
          <p:cNvSpPr/>
          <p:nvPr/>
        </p:nvSpPr>
        <p:spPr>
          <a:xfrm>
            <a:off x="6663898" y="814873"/>
            <a:ext cx="132467" cy="132467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ponto-0-5"/>
          <p:cNvSpPr/>
          <p:nvPr/>
        </p:nvSpPr>
        <p:spPr>
          <a:xfrm>
            <a:off x="6595079" y="769784"/>
            <a:ext cx="155488" cy="15548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ponto-0-6"/>
          <p:cNvSpPr/>
          <p:nvPr/>
        </p:nvSpPr>
        <p:spPr>
          <a:xfrm>
            <a:off x="6867377" y="964741"/>
            <a:ext cx="163643" cy="163643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ponto-0-7"/>
          <p:cNvSpPr/>
          <p:nvPr/>
        </p:nvSpPr>
        <p:spPr>
          <a:xfrm>
            <a:off x="6938284" y="1169876"/>
            <a:ext cx="103222" cy="10322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ponto-0-8"/>
          <p:cNvSpPr/>
          <p:nvPr/>
        </p:nvSpPr>
        <p:spPr>
          <a:xfrm>
            <a:off x="6144667" y="1409167"/>
            <a:ext cx="151628" cy="1516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ponto-0-9"/>
          <p:cNvSpPr/>
          <p:nvPr/>
        </p:nvSpPr>
        <p:spPr>
          <a:xfrm>
            <a:off x="6367504" y="902008"/>
            <a:ext cx="85176" cy="8517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ponto-0-10"/>
          <p:cNvSpPr/>
          <p:nvPr/>
        </p:nvSpPr>
        <p:spPr>
          <a:xfrm>
            <a:off x="6216753" y="1586862"/>
            <a:ext cx="140992" cy="14099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ponto-0-11"/>
          <p:cNvSpPr/>
          <p:nvPr/>
        </p:nvSpPr>
        <p:spPr>
          <a:xfrm>
            <a:off x="6167604" y="712362"/>
            <a:ext cx="114554" cy="11455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ponto-0-12"/>
          <p:cNvSpPr/>
          <p:nvPr/>
        </p:nvSpPr>
        <p:spPr>
          <a:xfrm>
            <a:off x="7096238" y="1329885"/>
            <a:ext cx="122890" cy="12289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ponto-0-13"/>
          <p:cNvSpPr/>
          <p:nvPr/>
        </p:nvSpPr>
        <p:spPr>
          <a:xfrm>
            <a:off x="6642616" y="1095887"/>
            <a:ext cx="98028" cy="980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ponto-0-14"/>
          <p:cNvSpPr/>
          <p:nvPr/>
        </p:nvSpPr>
        <p:spPr>
          <a:xfrm>
            <a:off x="6753504" y="931309"/>
            <a:ext cx="114071" cy="114071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ponto-0-15"/>
          <p:cNvSpPr/>
          <p:nvPr/>
        </p:nvSpPr>
        <p:spPr>
          <a:xfrm>
            <a:off x="6695801" y="1639903"/>
            <a:ext cx="128106" cy="12810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halo-1"/>
          <p:cNvSpPr/>
          <p:nvPr/>
        </p:nvSpPr>
        <p:spPr>
          <a:xfrm>
            <a:off x="7040880" y="2103120"/>
            <a:ext cx="1645920" cy="1645920"/>
          </a:xfrm>
          <a:prstGeom prst="ellipse">
            <a:avLst/>
          </a:prstGeom>
          <a:solidFill>
            <a:schemeClr val="accent4">
              <a:alpha val="12000"/>
            </a:schemeClr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0" name="ponto-1-0"/>
          <p:cNvSpPr/>
          <p:nvPr/>
        </p:nvSpPr>
        <p:spPr>
          <a:xfrm>
            <a:off x="7946874" y="2462016"/>
            <a:ext cx="142398" cy="14239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1" name="ponto-1-1"/>
          <p:cNvSpPr/>
          <p:nvPr/>
        </p:nvSpPr>
        <p:spPr>
          <a:xfrm>
            <a:off x="8179167" y="2593986"/>
            <a:ext cx="163159" cy="163159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2" name="ponto-1-2"/>
          <p:cNvSpPr/>
          <p:nvPr/>
        </p:nvSpPr>
        <p:spPr>
          <a:xfrm>
            <a:off x="8417886" y="2517078"/>
            <a:ext cx="95353" cy="95353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3" name="ponto-1-3"/>
          <p:cNvSpPr/>
          <p:nvPr/>
        </p:nvSpPr>
        <p:spPr>
          <a:xfrm>
            <a:off x="8457646" y="3018041"/>
            <a:ext cx="81678" cy="8167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4" name="ponto-1-4"/>
          <p:cNvSpPr/>
          <p:nvPr/>
        </p:nvSpPr>
        <p:spPr>
          <a:xfrm>
            <a:off x="7460252" y="2848158"/>
            <a:ext cx="76451" cy="76451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5" name="ponto-1-5"/>
          <p:cNvSpPr/>
          <p:nvPr/>
        </p:nvSpPr>
        <p:spPr>
          <a:xfrm>
            <a:off x="8143262" y="2595558"/>
            <a:ext cx="64051" cy="64051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6" name="ponto-1-6"/>
          <p:cNvSpPr/>
          <p:nvPr/>
        </p:nvSpPr>
        <p:spPr>
          <a:xfrm>
            <a:off x="7472944" y="2761802"/>
            <a:ext cx="172265" cy="172265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7" name="ponto-1-7"/>
          <p:cNvSpPr/>
          <p:nvPr/>
        </p:nvSpPr>
        <p:spPr>
          <a:xfrm>
            <a:off x="7752759" y="2447892"/>
            <a:ext cx="97233" cy="97233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8" name="ponto-1-8"/>
          <p:cNvSpPr/>
          <p:nvPr/>
        </p:nvSpPr>
        <p:spPr>
          <a:xfrm>
            <a:off x="7994744" y="2832028"/>
            <a:ext cx="153349" cy="153349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9" name="ponto-1-9"/>
          <p:cNvSpPr/>
          <p:nvPr/>
        </p:nvSpPr>
        <p:spPr>
          <a:xfrm>
            <a:off x="7624428" y="3391138"/>
            <a:ext cx="167352" cy="167352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0" name="ponto-1-10"/>
          <p:cNvSpPr/>
          <p:nvPr/>
        </p:nvSpPr>
        <p:spPr>
          <a:xfrm>
            <a:off x="7872658" y="3425789"/>
            <a:ext cx="91771" cy="91771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1" name="ponto-1-11"/>
          <p:cNvSpPr/>
          <p:nvPr/>
        </p:nvSpPr>
        <p:spPr>
          <a:xfrm>
            <a:off x="7152924" y="3135529"/>
            <a:ext cx="157358" cy="15735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2" name="ponto-1-12"/>
          <p:cNvSpPr/>
          <p:nvPr/>
        </p:nvSpPr>
        <p:spPr>
          <a:xfrm>
            <a:off x="7399412" y="3200222"/>
            <a:ext cx="134213" cy="134213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3" name="ponto-1-13"/>
          <p:cNvSpPr/>
          <p:nvPr/>
        </p:nvSpPr>
        <p:spPr>
          <a:xfrm>
            <a:off x="7783622" y="3490844"/>
            <a:ext cx="119855" cy="119855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4" name="ponto-1-14"/>
          <p:cNvSpPr/>
          <p:nvPr/>
        </p:nvSpPr>
        <p:spPr>
          <a:xfrm>
            <a:off x="8155825" y="3247156"/>
            <a:ext cx="152404" cy="152404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5" name="ponto-1-15"/>
          <p:cNvSpPr/>
          <p:nvPr/>
        </p:nvSpPr>
        <p:spPr>
          <a:xfrm>
            <a:off x="7470994" y="2591687"/>
            <a:ext cx="96797" cy="96797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6" name="halo-2"/>
          <p:cNvSpPr/>
          <p:nvPr/>
        </p:nvSpPr>
        <p:spPr>
          <a:xfrm>
            <a:off x="5212080" y="2743200"/>
            <a:ext cx="1645920" cy="1645920"/>
          </a:xfrm>
          <a:prstGeom prst="ellipse">
            <a:avLst/>
          </a:prstGeom>
          <a:solidFill>
            <a:schemeClr val="accent5">
              <a:alpha val="12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7" name="ponto-2-0"/>
          <p:cNvSpPr/>
          <p:nvPr/>
        </p:nvSpPr>
        <p:spPr>
          <a:xfrm>
            <a:off x="6037890" y="3719852"/>
            <a:ext cx="77176" cy="77176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8" name="ponto-2-1"/>
          <p:cNvSpPr/>
          <p:nvPr/>
        </p:nvSpPr>
        <p:spPr>
          <a:xfrm>
            <a:off x="6373267" y="3119420"/>
            <a:ext cx="66515" cy="66515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9" name="ponto-2-2"/>
          <p:cNvSpPr/>
          <p:nvPr/>
        </p:nvSpPr>
        <p:spPr>
          <a:xfrm>
            <a:off x="6616906" y="3634125"/>
            <a:ext cx="124638" cy="12463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0" name="ponto-2-3"/>
          <p:cNvSpPr/>
          <p:nvPr/>
        </p:nvSpPr>
        <p:spPr>
          <a:xfrm>
            <a:off x="5750073" y="2991005"/>
            <a:ext cx="114567" cy="114567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1" name="ponto-2-4"/>
          <p:cNvSpPr/>
          <p:nvPr/>
        </p:nvSpPr>
        <p:spPr>
          <a:xfrm>
            <a:off x="6161631" y="3791527"/>
            <a:ext cx="148461" cy="148461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2" name="ponto-2-5"/>
          <p:cNvSpPr/>
          <p:nvPr/>
        </p:nvSpPr>
        <p:spPr>
          <a:xfrm>
            <a:off x="5786558" y="3249259"/>
            <a:ext cx="128447" cy="128447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3" name="ponto-2-6"/>
          <p:cNvSpPr/>
          <p:nvPr/>
        </p:nvSpPr>
        <p:spPr>
          <a:xfrm>
            <a:off x="6164645" y="3880789"/>
            <a:ext cx="125919" cy="125919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4" name="ponto-2-7"/>
          <p:cNvSpPr/>
          <p:nvPr/>
        </p:nvSpPr>
        <p:spPr>
          <a:xfrm>
            <a:off x="6620394" y="3265359"/>
            <a:ext cx="168554" cy="168554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5" name="ponto-2-8"/>
          <p:cNvSpPr/>
          <p:nvPr/>
        </p:nvSpPr>
        <p:spPr>
          <a:xfrm>
            <a:off x="5731850" y="4089326"/>
            <a:ext cx="118192" cy="118192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6" name="ponto-2-9"/>
          <p:cNvSpPr/>
          <p:nvPr/>
        </p:nvSpPr>
        <p:spPr>
          <a:xfrm>
            <a:off x="5788116" y="3919990"/>
            <a:ext cx="117792" cy="117792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7" name="ponto-2-10"/>
          <p:cNvSpPr/>
          <p:nvPr/>
        </p:nvSpPr>
        <p:spPr>
          <a:xfrm>
            <a:off x="6450847" y="3752371"/>
            <a:ext cx="73462" cy="73462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8" name="ponto-2-11"/>
          <p:cNvSpPr/>
          <p:nvPr/>
        </p:nvSpPr>
        <p:spPr>
          <a:xfrm>
            <a:off x="6375039" y="3959595"/>
            <a:ext cx="143586" cy="143586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9" name="ponto-2-12"/>
          <p:cNvSpPr/>
          <p:nvPr/>
        </p:nvSpPr>
        <p:spPr>
          <a:xfrm>
            <a:off x="6268623" y="3224117"/>
            <a:ext cx="78901" cy="78901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0" name="ponto-2-13"/>
          <p:cNvSpPr/>
          <p:nvPr/>
        </p:nvSpPr>
        <p:spPr>
          <a:xfrm>
            <a:off x="6559924" y="3863971"/>
            <a:ext cx="115738" cy="11573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1" name="ponto-2-14"/>
          <p:cNvSpPr/>
          <p:nvPr/>
        </p:nvSpPr>
        <p:spPr>
          <a:xfrm>
            <a:off x="5756506" y="3597119"/>
            <a:ext cx="159920" cy="15992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2" name="ponto-2-15"/>
          <p:cNvSpPr/>
          <p:nvPr/>
        </p:nvSpPr>
        <p:spPr>
          <a:xfrm>
            <a:off x="6154131" y="2801064"/>
            <a:ext cx="149539" cy="149539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3" name="halo-3"/>
          <p:cNvSpPr/>
          <p:nvPr/>
        </p:nvSpPr>
        <p:spPr>
          <a:xfrm>
            <a:off x="7315200" y="91440"/>
            <a:ext cx="1645920" cy="1645920"/>
          </a:xfrm>
          <a:prstGeom prst="ellipse">
            <a:avLst/>
          </a:prstGeom>
          <a:solidFill>
            <a:schemeClr val="accent3">
              <a:alpha val="12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4" name="ponto-3-0"/>
          <p:cNvSpPr/>
          <p:nvPr/>
        </p:nvSpPr>
        <p:spPr>
          <a:xfrm>
            <a:off x="7856182" y="341788"/>
            <a:ext cx="132725" cy="132725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5" name="ponto-3-1"/>
          <p:cNvSpPr/>
          <p:nvPr/>
        </p:nvSpPr>
        <p:spPr>
          <a:xfrm>
            <a:off x="7859371" y="1362556"/>
            <a:ext cx="94759" cy="94759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6" name="ponto-3-2"/>
          <p:cNvSpPr/>
          <p:nvPr/>
        </p:nvSpPr>
        <p:spPr>
          <a:xfrm>
            <a:off x="8558090" y="1141850"/>
            <a:ext cx="147768" cy="14776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7" name="ponto-3-3"/>
          <p:cNvSpPr/>
          <p:nvPr/>
        </p:nvSpPr>
        <p:spPr>
          <a:xfrm>
            <a:off x="7365292" y="957025"/>
            <a:ext cx="105270" cy="10527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8" name="ponto-3-4"/>
          <p:cNvSpPr/>
          <p:nvPr/>
        </p:nvSpPr>
        <p:spPr>
          <a:xfrm>
            <a:off x="8407605" y="1101384"/>
            <a:ext cx="126964" cy="12696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9" name="ponto-3-5"/>
          <p:cNvSpPr/>
          <p:nvPr/>
        </p:nvSpPr>
        <p:spPr>
          <a:xfrm>
            <a:off x="8523743" y="665747"/>
            <a:ext cx="92871" cy="92871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0" name="ponto-3-6"/>
          <p:cNvSpPr/>
          <p:nvPr/>
        </p:nvSpPr>
        <p:spPr>
          <a:xfrm>
            <a:off x="8346016" y="638606"/>
            <a:ext cx="78365" cy="78365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1" name="ponto-3-7"/>
          <p:cNvSpPr/>
          <p:nvPr/>
        </p:nvSpPr>
        <p:spPr>
          <a:xfrm>
            <a:off x="8516369" y="938406"/>
            <a:ext cx="143723" cy="143723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2" name="ponto-3-8"/>
          <p:cNvSpPr/>
          <p:nvPr/>
        </p:nvSpPr>
        <p:spPr>
          <a:xfrm>
            <a:off x="8333666" y="518695"/>
            <a:ext cx="100425" cy="100425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3" name="ponto-3-9"/>
          <p:cNvSpPr/>
          <p:nvPr/>
        </p:nvSpPr>
        <p:spPr>
          <a:xfrm>
            <a:off x="8720558" y="1066583"/>
            <a:ext cx="149034" cy="14903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4" name="ponto-3-10"/>
          <p:cNvSpPr/>
          <p:nvPr/>
        </p:nvSpPr>
        <p:spPr>
          <a:xfrm>
            <a:off x="7559793" y="1334182"/>
            <a:ext cx="66484" cy="664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5" name="ponto-3-11"/>
          <p:cNvSpPr/>
          <p:nvPr/>
        </p:nvSpPr>
        <p:spPr>
          <a:xfrm>
            <a:off x="8049460" y="914061"/>
            <a:ext cx="145539" cy="145539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6" name="ponto-3-12"/>
          <p:cNvSpPr/>
          <p:nvPr/>
        </p:nvSpPr>
        <p:spPr>
          <a:xfrm>
            <a:off x="8393675" y="975318"/>
            <a:ext cx="157760" cy="1577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7" name="ponto-3-13"/>
          <p:cNvSpPr/>
          <p:nvPr/>
        </p:nvSpPr>
        <p:spPr>
          <a:xfrm>
            <a:off x="8615784" y="785419"/>
            <a:ext cx="85262" cy="8526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8" name="ponto-3-14"/>
          <p:cNvSpPr/>
          <p:nvPr/>
        </p:nvSpPr>
        <p:spPr>
          <a:xfrm>
            <a:off x="7534044" y="1077775"/>
            <a:ext cx="125735" cy="125735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9" name="ponto-3-15"/>
          <p:cNvSpPr/>
          <p:nvPr/>
        </p:nvSpPr>
        <p:spPr>
          <a:xfrm>
            <a:off x="7895466" y="243188"/>
            <a:ext cx="170008" cy="17000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70" name="halo-4"/>
          <p:cNvSpPr/>
          <p:nvPr/>
        </p:nvSpPr>
        <p:spPr>
          <a:xfrm>
            <a:off x="6126480" y="1463040"/>
            <a:ext cx="1645920" cy="1645920"/>
          </a:xfrm>
          <a:prstGeom prst="ellipse">
            <a:avLst/>
          </a:prstGeom>
          <a:solidFill>
            <a:schemeClr val="accent2">
              <a:alpha val="12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1" name="ponto-4-0"/>
          <p:cNvSpPr/>
          <p:nvPr/>
        </p:nvSpPr>
        <p:spPr>
          <a:xfrm>
            <a:off x="7174000" y="2224574"/>
            <a:ext cx="109005" cy="109005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2" name="ponto-4-1"/>
          <p:cNvSpPr/>
          <p:nvPr/>
        </p:nvSpPr>
        <p:spPr>
          <a:xfrm>
            <a:off x="7119241" y="2860561"/>
            <a:ext cx="75406" cy="7540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3" name="ponto-4-2"/>
          <p:cNvSpPr/>
          <p:nvPr/>
        </p:nvSpPr>
        <p:spPr>
          <a:xfrm>
            <a:off x="7050240" y="1652093"/>
            <a:ext cx="76352" cy="7635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4" name="ponto-4-3"/>
          <p:cNvSpPr/>
          <p:nvPr/>
        </p:nvSpPr>
        <p:spPr>
          <a:xfrm>
            <a:off x="6722430" y="1700637"/>
            <a:ext cx="96775" cy="96775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5" name="ponto-4-4"/>
          <p:cNvSpPr/>
          <p:nvPr/>
        </p:nvSpPr>
        <p:spPr>
          <a:xfrm>
            <a:off x="7070255" y="2133856"/>
            <a:ext cx="134017" cy="134017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6" name="ponto-4-5"/>
          <p:cNvSpPr/>
          <p:nvPr/>
        </p:nvSpPr>
        <p:spPr>
          <a:xfrm>
            <a:off x="7104248" y="2727665"/>
            <a:ext cx="84438" cy="8443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7" name="ponto-4-6"/>
          <p:cNvSpPr/>
          <p:nvPr/>
        </p:nvSpPr>
        <p:spPr>
          <a:xfrm>
            <a:off x="7058719" y="2757522"/>
            <a:ext cx="79288" cy="7928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8" name="ponto-4-7"/>
          <p:cNvSpPr/>
          <p:nvPr/>
        </p:nvSpPr>
        <p:spPr>
          <a:xfrm>
            <a:off x="6302402" y="2587054"/>
            <a:ext cx="106789" cy="106789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9" name="ponto-4-8"/>
          <p:cNvSpPr/>
          <p:nvPr/>
        </p:nvSpPr>
        <p:spPr>
          <a:xfrm>
            <a:off x="6933840" y="1558182"/>
            <a:ext cx="105103" cy="105103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0" name="ponto-4-9"/>
          <p:cNvSpPr/>
          <p:nvPr/>
        </p:nvSpPr>
        <p:spPr>
          <a:xfrm>
            <a:off x="6532576" y="2211510"/>
            <a:ext cx="112697" cy="112697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1" name="ponto-4-10"/>
          <p:cNvSpPr/>
          <p:nvPr/>
        </p:nvSpPr>
        <p:spPr>
          <a:xfrm>
            <a:off x="6853877" y="1741044"/>
            <a:ext cx="95205" cy="95205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2" name="ponto-4-11"/>
          <p:cNvSpPr/>
          <p:nvPr/>
        </p:nvSpPr>
        <p:spPr>
          <a:xfrm>
            <a:off x="6362192" y="2238385"/>
            <a:ext cx="136479" cy="136479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3" name="ponto-4-12"/>
          <p:cNvSpPr/>
          <p:nvPr/>
        </p:nvSpPr>
        <p:spPr>
          <a:xfrm>
            <a:off x="6538920" y="2594812"/>
            <a:ext cx="87004" cy="8700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4" name="ponto-4-13"/>
          <p:cNvSpPr/>
          <p:nvPr/>
        </p:nvSpPr>
        <p:spPr>
          <a:xfrm>
            <a:off x="6989263" y="2919331"/>
            <a:ext cx="99023" cy="99023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5" name="ponto-4-14"/>
          <p:cNvSpPr/>
          <p:nvPr/>
        </p:nvSpPr>
        <p:spPr>
          <a:xfrm>
            <a:off x="6810704" y="2842357"/>
            <a:ext cx="100759" cy="100759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6" name="ponto-4-15"/>
          <p:cNvSpPr/>
          <p:nvPr/>
        </p:nvSpPr>
        <p:spPr>
          <a:xfrm>
            <a:off x="7159830" y="2479585"/>
            <a:ext cx="96971" cy="96971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7" name="rotulo-capitulo"/>
          <p:cNvSpPr txBox="1"/>
          <p:nvPr/>
        </p:nvSpPr>
        <p:spPr>
          <a:xfrm>
            <a:off x="548640" y="868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600" kern="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5</a:t>
            </a:r>
            <a:endParaRPr lang="en-US" sz="1800" dirty="0"/>
          </a:p>
        </p:txBody>
      </p:sp>
      <p:sp>
        <p:nvSpPr>
          <p:cNvPr id="88" name="Text 0"/>
          <p:cNvSpPr/>
          <p:nvPr>
            <p:ph idx="100" type="title" hasCustomPrompt="1"/>
          </p:nvPr>
        </p:nvSpPr>
        <p:spPr>
          <a:xfrm>
            <a:off x="548640" y="1417320"/>
            <a:ext cx="5120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Agrupamento por Densidade: DBSCAN, OPTICS e HDBSCAN</a:t>
            </a:r>
            <a:endParaRPr lang="en-US" sz="3800" dirty="0"/>
          </a:p>
        </p:txBody>
      </p:sp>
      <p:sp>
        <p:nvSpPr>
          <p:cNvPr id="89" name="Text 0"/>
          <p:cNvSpPr/>
          <p:nvPr>
            <p:ph idx="101" type="body" hasCustomPrompt="1"/>
          </p:nvPr>
        </p:nvSpPr>
        <p:spPr>
          <a:xfrm>
            <a:off x="548640" y="329184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Ilhas de pontos num oceano vazio</a:t>
            </a:r>
            <a:endParaRPr lang="en-US" sz="1800" dirty="0"/>
          </a:p>
        </p:txBody>
      </p:sp>
      <p:sp>
        <p:nvSpPr>
          <p:cNvPr id="90" name="autor"/>
          <p:cNvSpPr txBox="1"/>
          <p:nvPr/>
        </p:nvSpPr>
        <p:spPr>
          <a:xfrm>
            <a:off x="548640" y="45720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Araken de Medeiros Santos  ·  Aprendizado Não Supervisionado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você vai aprender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pic>
        <p:nvPicPr>
          <p:cNvPr id="5" name="marca" descr="marc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17320"/>
            <a:ext cx="310896" cy="310896"/>
          </a:xfrm>
          <a:prstGeom prst="rect">
            <a:avLst/>
          </a:prstGeom>
        </p:spPr>
      </p:pic>
      <p:sp>
        <p:nvSpPr>
          <p:cNvPr id="6" name="objetivo-1"/>
          <p:cNvSpPr txBox="1"/>
          <p:nvPr/>
        </p:nvSpPr>
        <p:spPr>
          <a:xfrm>
            <a:off x="1005840" y="1234440"/>
            <a:ext cx="7589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grupos como </a:t>
            </a:r>
            <a:r>
              <a:rPr lang="en-US" sz="2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regiões densas</a:t>
            </a:r>
            <a:endParaRPr lang="en-US" sz="2200" dirty="0"/>
          </a:p>
        </p:txBody>
      </p:sp>
      <p:pic>
        <p:nvPicPr>
          <p:cNvPr id="7" name="marca" descr="marca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112264"/>
            <a:ext cx="310896" cy="310896"/>
          </a:xfrm>
          <a:prstGeom prst="rect">
            <a:avLst/>
          </a:prstGeom>
        </p:spPr>
      </p:pic>
      <p:sp>
        <p:nvSpPr>
          <p:cNvPr id="8" name="objetivo-2"/>
          <p:cNvSpPr txBox="1"/>
          <p:nvPr/>
        </p:nvSpPr>
        <p:spPr>
          <a:xfrm>
            <a:off x="1005840" y="1929384"/>
            <a:ext cx="7589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ponto </a:t>
            </a:r>
            <a:r>
              <a:rPr lang="en-US" sz="2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central, de borda e ruído</a:t>
            </a:r>
            <a:endParaRPr lang="en-US" sz="2200" dirty="0"/>
          </a:p>
        </p:txBody>
      </p:sp>
      <p:pic>
        <p:nvPicPr>
          <p:cNvPr id="9" name="marca" descr="marca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2807208"/>
            <a:ext cx="310896" cy="310896"/>
          </a:xfrm>
          <a:prstGeom prst="rect">
            <a:avLst/>
          </a:prstGeom>
        </p:spPr>
      </p:pic>
      <p:sp>
        <p:nvSpPr>
          <p:cNvPr id="10" name="objetivo-3"/>
          <p:cNvSpPr txBox="1"/>
          <p:nvPr/>
        </p:nvSpPr>
        <p:spPr>
          <a:xfrm>
            <a:off x="1005840" y="2624328"/>
            <a:ext cx="7589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o </a:t>
            </a:r>
            <a:r>
              <a:rPr lang="en-US" sz="2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DBSCAN</a:t>
            </a:r>
            <a:r>
              <a:rPr lang="en-US" sz="2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ajustar eps e min_samples</a:t>
            </a:r>
            <a:endParaRPr lang="en-US" sz="2200" dirty="0"/>
          </a:p>
        </p:txBody>
      </p:sp>
      <p:pic>
        <p:nvPicPr>
          <p:cNvPr id="11" name="marca" descr="marca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3502152"/>
            <a:ext cx="310896" cy="310896"/>
          </a:xfrm>
          <a:prstGeom prst="rect">
            <a:avLst/>
          </a:prstGeom>
        </p:spPr>
      </p:pic>
      <p:sp>
        <p:nvSpPr>
          <p:cNvPr id="12" name="objetivo-4"/>
          <p:cNvSpPr txBox="1"/>
          <p:nvPr/>
        </p:nvSpPr>
        <p:spPr>
          <a:xfrm>
            <a:off x="1005840" y="3319272"/>
            <a:ext cx="7589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o gráfico de </a:t>
            </a:r>
            <a:r>
              <a:rPr lang="en-US" sz="2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k-distâncias</a:t>
            </a:r>
            <a:endParaRPr lang="en-US" sz="2200" dirty="0"/>
          </a:p>
        </p:txBody>
      </p:sp>
      <p:pic>
        <p:nvPicPr>
          <p:cNvPr id="13" name="marca" descr="marca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" y="4197096"/>
            <a:ext cx="310896" cy="310896"/>
          </a:xfrm>
          <a:prstGeom prst="rect">
            <a:avLst/>
          </a:prstGeom>
        </p:spPr>
      </p:pic>
      <p:sp>
        <p:nvSpPr>
          <p:cNvPr id="14" name="objetivo-5"/>
          <p:cNvSpPr txBox="1"/>
          <p:nvPr/>
        </p:nvSpPr>
        <p:spPr>
          <a:xfrm>
            <a:off x="1005840" y="4014216"/>
            <a:ext cx="7589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Conhecer </a:t>
            </a:r>
            <a:r>
              <a:rPr lang="en-US" sz="2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OPTICS</a:t>
            </a:r>
            <a:r>
              <a:rPr lang="en-US" sz="2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2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HDBSCAN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Ilhas e oceano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historia"/>
          <p:cNvSpPr txBox="1"/>
          <p:nvPr/>
        </p:nvSpPr>
        <p:spPr>
          <a:xfrm>
            <a:off x="457200" y="1280160"/>
            <a:ext cx="4206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do avião, uma </a:t>
            </a:r>
            <a:r>
              <a:rPr lang="en-US" sz="2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ilha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é uma região cheia de casas; o </a:t>
            </a:r>
            <a:r>
              <a:rPr lang="en-US" sz="2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oceano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é o vazio. Grupo = ilha. Casa isolada no mar = ruído.</a:t>
            </a:r>
            <a:endParaRPr lang="en-US" sz="2400" dirty="0"/>
          </a:p>
        </p:txBody>
      </p:sp>
      <p:sp>
        <p:nvSpPr>
          <p:cNvPr id="6" name="moldura-figura"/>
          <p:cNvSpPr/>
          <p:nvPr/>
        </p:nvSpPr>
        <p:spPr>
          <a:xfrm>
            <a:off x="4846320" y="1234440"/>
            <a:ext cx="3840480" cy="2377440"/>
          </a:xfrm>
          <a:prstGeom prst="roundRect">
            <a:avLst>
              <a:gd name="adj" fmla="val 3077"/>
            </a:avLst>
          </a:prstGeom>
          <a:solidFill>
            <a:schemeClr val="bg1"/>
          </a:solidFill>
          <a:ln w="15875">
            <a:solidFill>
              <a:schemeClr val="bg2"/>
            </a:solidFill>
            <a:prstDash val="solid"/>
          </a:ln>
        </p:spPr>
      </p:sp>
      <p:pic>
        <p:nvPicPr>
          <p:cNvPr id="7" name="figura-f5_ilhas" descr="f5_ilha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384968"/>
            <a:ext cx="3840480" cy="2076384"/>
          </a:xfrm>
          <a:prstGeom prst="rect">
            <a:avLst/>
          </a:prstGeom>
        </p:spPr>
      </p:pic>
      <p:sp>
        <p:nvSpPr>
          <p:cNvPr id="8" name="frase-central"/>
          <p:cNvSpPr txBox="1"/>
          <p:nvPr/>
        </p:nvSpPr>
        <p:spPr>
          <a:xfrm>
            <a:off x="457200" y="365760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i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Grupo é onde há gente junta.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bg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não K-means?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moldura-figura"/>
          <p:cNvSpPr/>
          <p:nvPr/>
        </p:nvSpPr>
        <p:spPr>
          <a:xfrm>
            <a:off x="822960" y="1188720"/>
            <a:ext cx="7498080" cy="2834640"/>
          </a:xfrm>
          <a:prstGeom prst="roundRect">
            <a:avLst>
              <a:gd name="adj" fmla="val 2581"/>
            </a:avLst>
          </a:prstGeom>
          <a:solidFill>
            <a:schemeClr val="bg1"/>
          </a:solidFill>
          <a:ln w="15875">
            <a:solidFill>
              <a:schemeClr val="bg2"/>
            </a:solidFill>
            <a:prstDash val="solid"/>
          </a:ln>
        </p:spPr>
      </p:sp>
      <p:pic>
        <p:nvPicPr>
          <p:cNvPr id="6" name="figura-f5_vs_kmeans" descr="f5_vs_kmean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8742" y="1188720"/>
            <a:ext cx="5706517" cy="2834640"/>
          </a:xfrm>
          <a:prstGeom prst="rect">
            <a:avLst/>
          </a:prstGeom>
        </p:spPr>
      </p:pic>
      <p:sp>
        <p:nvSpPr>
          <p:cNvPr id="7" name="faixa-frase"/>
          <p:cNvSpPr/>
          <p:nvPr/>
        </p:nvSpPr>
        <p:spPr>
          <a:xfrm>
            <a:off x="457200" y="4160520"/>
            <a:ext cx="8229600" cy="475488"/>
          </a:xfrm>
          <a:prstGeom prst="roundRect">
            <a:avLst>
              <a:gd name="adj" fmla="val 19231"/>
            </a:avLst>
          </a:prstGeom>
          <a:solidFill>
            <a:schemeClr val="accent2">
              <a:alpha val="18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8" name="icone-frase" descr="destaqu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4270248"/>
            <a:ext cx="256032" cy="256032"/>
          </a:xfrm>
          <a:prstGeom prst="rect">
            <a:avLst/>
          </a:prstGeom>
        </p:spPr>
      </p:pic>
      <p:sp>
        <p:nvSpPr>
          <p:cNvPr id="9" name="frase"/>
          <p:cNvSpPr txBox="1"/>
          <p:nvPr/>
        </p:nvSpPr>
        <p:spPr>
          <a:xfrm>
            <a:off x="1005840" y="416052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Densidade segue qualquer forma.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Dois parâmetros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cartao-1"/>
          <p:cNvSpPr/>
          <p:nvPr/>
        </p:nvSpPr>
        <p:spPr>
          <a:xfrm>
            <a:off x="457200" y="1234440"/>
            <a:ext cx="4000500" cy="1280160"/>
          </a:xfrm>
          <a:prstGeom prst="roundRect">
            <a:avLst>
              <a:gd name="adj" fmla="val 7143"/>
            </a:avLst>
          </a:prstGeom>
          <a:solidFill>
            <a:schemeClr val="accent1">
              <a:alpha val="1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numero-1"/>
          <p:cNvSpPr/>
          <p:nvPr/>
        </p:nvSpPr>
        <p:spPr>
          <a:xfrm>
            <a:off x="640080" y="139903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n-1"/>
          <p:cNvSpPr txBox="1"/>
          <p:nvPr/>
        </p:nvSpPr>
        <p:spPr>
          <a:xfrm>
            <a:off x="640080" y="1399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o-1"/>
          <p:cNvSpPr txBox="1"/>
          <p:nvPr/>
        </p:nvSpPr>
        <p:spPr>
          <a:xfrm>
            <a:off x="640080" y="1874520"/>
            <a:ext cx="36347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eps (ε):</a:t>
            </a: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raio da vizinhança</a:t>
            </a:r>
            <a:endParaRPr lang="en-US" sz="1600" dirty="0"/>
          </a:p>
        </p:txBody>
      </p:sp>
      <p:sp>
        <p:nvSpPr>
          <p:cNvPr id="9" name="cartao-2"/>
          <p:cNvSpPr/>
          <p:nvPr/>
        </p:nvSpPr>
        <p:spPr>
          <a:xfrm>
            <a:off x="4686300" y="1234440"/>
            <a:ext cx="4000500" cy="1280160"/>
          </a:xfrm>
          <a:prstGeom prst="roundRect">
            <a:avLst>
              <a:gd name="adj" fmla="val 7143"/>
            </a:avLst>
          </a:prstGeom>
          <a:solidFill>
            <a:schemeClr val="accent3">
              <a:alpha val="10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numero-2"/>
          <p:cNvSpPr/>
          <p:nvPr/>
        </p:nvSpPr>
        <p:spPr>
          <a:xfrm>
            <a:off x="4869180" y="1399032"/>
            <a:ext cx="384048" cy="38404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1" name="n-2"/>
          <p:cNvSpPr txBox="1"/>
          <p:nvPr/>
        </p:nvSpPr>
        <p:spPr>
          <a:xfrm>
            <a:off x="4869180" y="1399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o-2"/>
          <p:cNvSpPr txBox="1"/>
          <p:nvPr/>
        </p:nvSpPr>
        <p:spPr>
          <a:xfrm>
            <a:off x="4869180" y="1874520"/>
            <a:ext cx="36347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min_samples:</a:t>
            </a: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mínimo de vizinhos</a:t>
            </a:r>
            <a:endParaRPr lang="en-US" sz="1600" dirty="0"/>
          </a:p>
        </p:txBody>
      </p:sp>
      <p:sp>
        <p:nvSpPr>
          <p:cNvPr id="13" name="cartao-3"/>
          <p:cNvSpPr/>
          <p:nvPr/>
        </p:nvSpPr>
        <p:spPr>
          <a:xfrm>
            <a:off x="457200" y="2743200"/>
            <a:ext cx="4000500" cy="1280160"/>
          </a:xfrm>
          <a:prstGeom prst="roundRect">
            <a:avLst>
              <a:gd name="adj" fmla="val 7143"/>
            </a:avLst>
          </a:prstGeom>
          <a:solidFill>
            <a:schemeClr val="accent4">
              <a:alpha val="10000"/>
            </a:schemeClr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numero-3"/>
          <p:cNvSpPr/>
          <p:nvPr/>
        </p:nvSpPr>
        <p:spPr>
          <a:xfrm>
            <a:off x="640080" y="2907792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5" name="n-3"/>
          <p:cNvSpPr txBox="1"/>
          <p:nvPr/>
        </p:nvSpPr>
        <p:spPr>
          <a:xfrm>
            <a:off x="640080" y="2907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o-3"/>
          <p:cNvSpPr txBox="1"/>
          <p:nvPr/>
        </p:nvSpPr>
        <p:spPr>
          <a:xfrm>
            <a:off x="640080" y="3383280"/>
            <a:ext cx="36347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Região com muitos vizinhos = </a:t>
            </a: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densa</a:t>
            </a:r>
            <a:endParaRPr lang="en-US" sz="1600" dirty="0"/>
          </a:p>
        </p:txBody>
      </p:sp>
      <p:sp>
        <p:nvSpPr>
          <p:cNvPr id="17" name="cartao-4"/>
          <p:cNvSpPr/>
          <p:nvPr/>
        </p:nvSpPr>
        <p:spPr>
          <a:xfrm>
            <a:off x="4686300" y="2743200"/>
            <a:ext cx="4000500" cy="1280160"/>
          </a:xfrm>
          <a:prstGeom prst="roundRect">
            <a:avLst>
              <a:gd name="adj" fmla="val 7143"/>
            </a:avLst>
          </a:prstGeom>
          <a:solidFill>
            <a:schemeClr val="accent5">
              <a:alpha val="10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8" name="numero-4"/>
          <p:cNvSpPr/>
          <p:nvPr/>
        </p:nvSpPr>
        <p:spPr>
          <a:xfrm>
            <a:off x="4869180" y="2907792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9" name="n-4"/>
          <p:cNvSpPr txBox="1"/>
          <p:nvPr/>
        </p:nvSpPr>
        <p:spPr>
          <a:xfrm>
            <a:off x="4869180" y="2907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o-4"/>
          <p:cNvSpPr txBox="1"/>
          <p:nvPr/>
        </p:nvSpPr>
        <p:spPr>
          <a:xfrm>
            <a:off x="4869180" y="3383280"/>
            <a:ext cx="36347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pedir </a:t>
            </a: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endParaRPr lang="en-US" sz="1600" dirty="0"/>
          </a:p>
        </p:txBody>
      </p:sp>
      <p:sp>
        <p:nvSpPr>
          <p:cNvPr id="21" name="faixa-frase"/>
          <p:cNvSpPr/>
          <p:nvPr/>
        </p:nvSpPr>
        <p:spPr>
          <a:xfrm>
            <a:off x="457200" y="4160520"/>
            <a:ext cx="8229600" cy="475488"/>
          </a:xfrm>
          <a:prstGeom prst="roundRect">
            <a:avLst>
              <a:gd name="adj" fmla="val 19231"/>
            </a:avLst>
          </a:prstGeom>
          <a:solidFill>
            <a:schemeClr val="accent2">
              <a:alpha val="18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2" name="icone-frase" descr="destaq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4270248"/>
            <a:ext cx="256032" cy="256032"/>
          </a:xfrm>
          <a:prstGeom prst="rect">
            <a:avLst/>
          </a:prstGeom>
        </p:spPr>
      </p:pic>
      <p:sp>
        <p:nvSpPr>
          <p:cNvPr id="23" name="frase"/>
          <p:cNvSpPr txBox="1"/>
          <p:nvPr/>
        </p:nvSpPr>
        <p:spPr>
          <a:xfrm>
            <a:off x="1005840" y="416052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Raio e quórum: só isso.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três tipos de ponto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moldura-figura"/>
          <p:cNvSpPr/>
          <p:nvPr/>
        </p:nvSpPr>
        <p:spPr>
          <a:xfrm>
            <a:off x="822960" y="1188720"/>
            <a:ext cx="7498080" cy="2834640"/>
          </a:xfrm>
          <a:prstGeom prst="roundRect">
            <a:avLst>
              <a:gd name="adj" fmla="val 2581"/>
            </a:avLst>
          </a:prstGeom>
          <a:solidFill>
            <a:schemeClr val="bg1"/>
          </a:solidFill>
          <a:ln w="15875">
            <a:solidFill>
              <a:schemeClr val="bg2"/>
            </a:solidFill>
            <a:prstDash val="solid"/>
          </a:ln>
        </p:spPr>
      </p:sp>
      <p:pic>
        <p:nvPicPr>
          <p:cNvPr id="6" name="figura-f5_conceitos" descr="f5_conceito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5245" y="1188720"/>
            <a:ext cx="4133510" cy="2834640"/>
          </a:xfrm>
          <a:prstGeom prst="rect">
            <a:avLst/>
          </a:prstGeom>
        </p:spPr>
      </p:pic>
      <p:sp>
        <p:nvSpPr>
          <p:cNvPr id="7" name="faixa-frase"/>
          <p:cNvSpPr/>
          <p:nvPr/>
        </p:nvSpPr>
        <p:spPr>
          <a:xfrm>
            <a:off x="457200" y="4160520"/>
            <a:ext cx="8229600" cy="475488"/>
          </a:xfrm>
          <a:prstGeom prst="roundRect">
            <a:avLst>
              <a:gd name="adj" fmla="val 19231"/>
            </a:avLst>
          </a:prstGeom>
          <a:solidFill>
            <a:schemeClr val="accent2">
              <a:alpha val="18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8" name="icone-frase" descr="destaqu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4270248"/>
            <a:ext cx="256032" cy="256032"/>
          </a:xfrm>
          <a:prstGeom prst="rect">
            <a:avLst/>
          </a:prstGeom>
        </p:spPr>
      </p:pic>
      <p:sp>
        <p:nvSpPr>
          <p:cNvPr id="9" name="frase"/>
          <p:cNvSpPr txBox="1"/>
          <p:nvPr/>
        </p:nvSpPr>
        <p:spPr>
          <a:xfrm>
            <a:off x="1005840" y="416052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Central, borda e ruído.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Quem é quem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coluna-1"/>
          <p:cNvSpPr/>
          <p:nvPr/>
        </p:nvSpPr>
        <p:spPr>
          <a:xfrm>
            <a:off x="457200" y="1188720"/>
            <a:ext cx="2590800" cy="2834640"/>
          </a:xfrm>
          <a:prstGeom prst="roundRect">
            <a:avLst>
              <a:gd name="adj" fmla="val 3529"/>
            </a:avLst>
          </a:prstGeom>
          <a:solidFill>
            <a:schemeClr val="accent1">
              <a:alpha val="1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cabeca-1"/>
          <p:cNvSpPr/>
          <p:nvPr/>
        </p:nvSpPr>
        <p:spPr>
          <a:xfrm>
            <a:off x="457200" y="1188720"/>
            <a:ext cx="2590800" cy="45720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itulo-coluna-1"/>
          <p:cNvSpPr txBox="1"/>
          <p:nvPr/>
        </p:nvSpPr>
        <p:spPr>
          <a:xfrm>
            <a:off x="548640" y="1188720"/>
            <a:ext cx="240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</a:t>
            </a:r>
            <a:endParaRPr lang="en-US" sz="1600" dirty="0"/>
          </a:p>
        </p:txBody>
      </p:sp>
      <p:sp>
        <p:nvSpPr>
          <p:cNvPr id="8" name="itens-1"/>
          <p:cNvSpPr txBox="1"/>
          <p:nvPr/>
        </p:nvSpPr>
        <p:spPr>
          <a:xfrm>
            <a:off x="640080" y="1783080"/>
            <a:ext cx="22250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 </a:t>
            </a: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min_samples</a:t>
            </a: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vizinhos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Coração da ilha</a:t>
            </a:r>
            <a:endParaRPr lang="en-US" sz="1800" dirty="0"/>
          </a:p>
        </p:txBody>
      </p:sp>
      <p:sp>
        <p:nvSpPr>
          <p:cNvPr id="9" name="coluna-2"/>
          <p:cNvSpPr/>
          <p:nvPr/>
        </p:nvSpPr>
        <p:spPr>
          <a:xfrm>
            <a:off x="3276600" y="1188720"/>
            <a:ext cx="2590800" cy="2834640"/>
          </a:xfrm>
          <a:prstGeom prst="roundRect">
            <a:avLst>
              <a:gd name="adj" fmla="val 3529"/>
            </a:avLst>
          </a:prstGeom>
          <a:solidFill>
            <a:schemeClr val="accent3">
              <a:alpha val="10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cabeca-2"/>
          <p:cNvSpPr/>
          <p:nvPr/>
        </p:nvSpPr>
        <p:spPr>
          <a:xfrm>
            <a:off x="3276600" y="1188720"/>
            <a:ext cx="2590800" cy="457200"/>
          </a:xfrm>
          <a:prstGeom prst="roundRect">
            <a:avLst>
              <a:gd name="adj" fmla="val 2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1" name="titulo-coluna-2"/>
          <p:cNvSpPr txBox="1"/>
          <p:nvPr/>
        </p:nvSpPr>
        <p:spPr>
          <a:xfrm>
            <a:off x="3368040" y="1188720"/>
            <a:ext cx="240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Borda</a:t>
            </a:r>
            <a:endParaRPr lang="en-US" sz="1600" dirty="0"/>
          </a:p>
        </p:txBody>
      </p:sp>
      <p:sp>
        <p:nvSpPr>
          <p:cNvPr id="12" name="itens-2"/>
          <p:cNvSpPr txBox="1"/>
          <p:nvPr/>
        </p:nvSpPr>
        <p:spPr>
          <a:xfrm>
            <a:off x="3459480" y="1783080"/>
            <a:ext cx="22250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Poucos vizinhos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 </a:t>
            </a: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vizinho de um central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Praia</a:t>
            </a:r>
            <a:endParaRPr lang="en-US" sz="1800" dirty="0"/>
          </a:p>
        </p:txBody>
      </p:sp>
      <p:sp>
        <p:nvSpPr>
          <p:cNvPr id="13" name="coluna-3"/>
          <p:cNvSpPr/>
          <p:nvPr/>
        </p:nvSpPr>
        <p:spPr>
          <a:xfrm>
            <a:off x="6096000" y="1188720"/>
            <a:ext cx="2590800" cy="2834640"/>
          </a:xfrm>
          <a:prstGeom prst="roundRect">
            <a:avLst>
              <a:gd name="adj" fmla="val 3529"/>
            </a:avLst>
          </a:prstGeom>
          <a:solidFill>
            <a:schemeClr val="accent4">
              <a:alpha val="10000"/>
            </a:schemeClr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cabeca-3"/>
          <p:cNvSpPr/>
          <p:nvPr/>
        </p:nvSpPr>
        <p:spPr>
          <a:xfrm>
            <a:off x="6096000" y="1188720"/>
            <a:ext cx="2590800" cy="457200"/>
          </a:xfrm>
          <a:prstGeom prst="roundRect">
            <a:avLst>
              <a:gd name="adj" fmla="val 2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5" name="titulo-coluna-3"/>
          <p:cNvSpPr txBox="1"/>
          <p:nvPr/>
        </p:nvSpPr>
        <p:spPr>
          <a:xfrm>
            <a:off x="6187440" y="1188720"/>
            <a:ext cx="240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Ruído</a:t>
            </a:r>
            <a:endParaRPr lang="en-US" sz="1600" dirty="0"/>
          </a:p>
        </p:txBody>
      </p:sp>
      <p:sp>
        <p:nvSpPr>
          <p:cNvPr id="16" name="itens-3"/>
          <p:cNvSpPr txBox="1"/>
          <p:nvPr/>
        </p:nvSpPr>
        <p:spPr>
          <a:xfrm>
            <a:off x="6278880" y="1783080"/>
            <a:ext cx="22250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alcança ninguém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Rótulo </a:t>
            </a: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aberto</a:t>
            </a:r>
            <a:endParaRPr lang="en-US" sz="1800" dirty="0"/>
          </a:p>
        </p:txBody>
      </p:sp>
      <p:sp>
        <p:nvSpPr>
          <p:cNvPr id="17" name="faixa-frase"/>
          <p:cNvSpPr/>
          <p:nvPr/>
        </p:nvSpPr>
        <p:spPr>
          <a:xfrm>
            <a:off x="457200" y="4160520"/>
            <a:ext cx="8229600" cy="475488"/>
          </a:xfrm>
          <a:prstGeom prst="roundRect">
            <a:avLst>
              <a:gd name="adj" fmla="val 19231"/>
            </a:avLst>
          </a:prstGeom>
          <a:solidFill>
            <a:schemeClr val="accent2">
              <a:alpha val="18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8" name="icone-frase" descr="destaq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4270248"/>
            <a:ext cx="256032" cy="256032"/>
          </a:xfrm>
          <a:prstGeom prst="rect">
            <a:avLst/>
          </a:prstGeom>
        </p:spPr>
      </p:pic>
      <p:sp>
        <p:nvSpPr>
          <p:cNvPr id="19" name="frase"/>
          <p:cNvSpPr txBox="1"/>
          <p:nvPr/>
        </p:nvSpPr>
        <p:spPr>
          <a:xfrm>
            <a:off x="1005840" y="416052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Centro, praia e mar.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algoritmo em palavras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passo-circulo-1"/>
          <p:cNvSpPr/>
          <p:nvPr/>
        </p:nvSpPr>
        <p:spPr>
          <a:xfrm>
            <a:off x="457200" y="1332738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passo-n-1"/>
          <p:cNvSpPr txBox="1"/>
          <p:nvPr/>
        </p:nvSpPr>
        <p:spPr>
          <a:xfrm>
            <a:off x="457200" y="133273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passo-1"/>
          <p:cNvSpPr txBox="1"/>
          <p:nvPr/>
        </p:nvSpPr>
        <p:spPr>
          <a:xfrm>
            <a:off x="1097280" y="1188720"/>
            <a:ext cx="758952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Escolha</a:t>
            </a:r>
            <a:r>
              <a:rPr lang="en-US" sz="20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um ponto não visitado</a:t>
            </a:r>
            <a:endParaRPr lang="en-US" sz="2000" dirty="0"/>
          </a:p>
        </p:txBody>
      </p:sp>
      <p:sp>
        <p:nvSpPr>
          <p:cNvPr id="8" name="passo-circulo-2"/>
          <p:cNvSpPr/>
          <p:nvPr/>
        </p:nvSpPr>
        <p:spPr>
          <a:xfrm>
            <a:off x="457200" y="2041398"/>
            <a:ext cx="420624" cy="42062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passo-n-2"/>
          <p:cNvSpPr txBox="1"/>
          <p:nvPr/>
        </p:nvSpPr>
        <p:spPr>
          <a:xfrm>
            <a:off x="457200" y="204139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passo-2"/>
          <p:cNvSpPr txBox="1"/>
          <p:nvPr/>
        </p:nvSpPr>
        <p:spPr>
          <a:xfrm>
            <a:off x="1097280" y="1897380"/>
            <a:ext cx="758952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</a:t>
            </a:r>
            <a:r>
              <a:rPr lang="en-US" sz="20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vizinhos dentro de eps</a:t>
            </a:r>
            <a:endParaRPr lang="en-US" sz="2000" dirty="0"/>
          </a:p>
        </p:txBody>
      </p:sp>
      <p:sp>
        <p:nvSpPr>
          <p:cNvPr id="11" name="passo-circulo-3"/>
          <p:cNvSpPr/>
          <p:nvPr/>
        </p:nvSpPr>
        <p:spPr>
          <a:xfrm>
            <a:off x="457200" y="2750058"/>
            <a:ext cx="420624" cy="420624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2" name="passo-n-3"/>
          <p:cNvSpPr txBox="1"/>
          <p:nvPr/>
        </p:nvSpPr>
        <p:spPr>
          <a:xfrm>
            <a:off x="457200" y="275005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passo-3"/>
          <p:cNvSpPr txBox="1"/>
          <p:nvPr/>
        </p:nvSpPr>
        <p:spPr>
          <a:xfrm>
            <a:off x="1097280" y="2606040"/>
            <a:ext cx="758952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Expanda</a:t>
            </a:r>
            <a:r>
              <a:rPr lang="en-US" sz="20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se for central, espalhe o grupo</a:t>
            </a:r>
            <a:endParaRPr lang="en-US" sz="2000" dirty="0"/>
          </a:p>
        </p:txBody>
      </p:sp>
      <p:sp>
        <p:nvSpPr>
          <p:cNvPr id="14" name="passo-circulo-4"/>
          <p:cNvSpPr/>
          <p:nvPr/>
        </p:nvSpPr>
        <p:spPr>
          <a:xfrm>
            <a:off x="457200" y="3458718"/>
            <a:ext cx="420624" cy="420624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5" name="passo-n-4"/>
          <p:cNvSpPr txBox="1"/>
          <p:nvPr/>
        </p:nvSpPr>
        <p:spPr>
          <a:xfrm>
            <a:off x="457200" y="345871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passo-4"/>
          <p:cNvSpPr txBox="1"/>
          <p:nvPr/>
        </p:nvSpPr>
        <p:spPr>
          <a:xfrm>
            <a:off x="1097280" y="3314700"/>
            <a:ext cx="758952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Marque</a:t>
            </a:r>
            <a:r>
              <a:rPr lang="en-US" sz="20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 que sobrar como ruído</a:t>
            </a:r>
            <a:endParaRPr lang="en-US" sz="2000" dirty="0"/>
          </a:p>
        </p:txBody>
      </p:sp>
      <p:sp>
        <p:nvSpPr>
          <p:cNvPr id="17" name="faixa-frase"/>
          <p:cNvSpPr/>
          <p:nvPr/>
        </p:nvSpPr>
        <p:spPr>
          <a:xfrm>
            <a:off x="457200" y="4160520"/>
            <a:ext cx="8229600" cy="475488"/>
          </a:xfrm>
          <a:prstGeom prst="roundRect">
            <a:avLst>
              <a:gd name="adj" fmla="val 19231"/>
            </a:avLst>
          </a:prstGeom>
          <a:solidFill>
            <a:schemeClr val="accent2">
              <a:alpha val="18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8" name="icone-frase" descr="destaq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4270248"/>
            <a:ext cx="256032" cy="256032"/>
          </a:xfrm>
          <a:prstGeom prst="rect">
            <a:avLst/>
          </a:prstGeom>
        </p:spPr>
      </p:pic>
      <p:sp>
        <p:nvSpPr>
          <p:cNvPr id="19" name="frase"/>
          <p:cNvSpPr txBox="1"/>
          <p:nvPr/>
        </p:nvSpPr>
        <p:spPr>
          <a:xfrm>
            <a:off x="1005840" y="416052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grupo cresce como uma mancha.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DBSCAN em Python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painel-codigo"/>
          <p:cNvSpPr/>
          <p:nvPr/>
        </p:nvSpPr>
        <p:spPr>
          <a:xfrm>
            <a:off x="457200" y="1234440"/>
            <a:ext cx="5394960" cy="1718945"/>
          </a:xfrm>
          <a:prstGeom prst="roundRect">
            <a:avLst>
              <a:gd name="adj" fmla="val 425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codigo"/>
          <p:cNvSpPr txBox="1"/>
          <p:nvPr/>
        </p:nvSpPr>
        <p:spPr>
          <a:xfrm>
            <a:off x="640080" y="1325880"/>
            <a:ext cx="5029200" cy="15360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sklearn.cluster import DBSCAN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 = DBSCAN(eps=0.3, min_samples=5)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rot = db.fit_predict(X)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n_grupos = len(set(rot)) - (1 in rot or -1 in rot)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ruido = (rot == -1).sum()</a:t>
            </a:r>
            <a:endParaRPr lang="en-US" sz="1300" dirty="0"/>
          </a:p>
        </p:txBody>
      </p:sp>
      <p:sp>
        <p:nvSpPr>
          <p:cNvPr id="7" name="dicas-codigo"/>
          <p:cNvSpPr txBox="1"/>
          <p:nvPr/>
        </p:nvSpPr>
        <p:spPr>
          <a:xfrm>
            <a:off x="6080760" y="1234440"/>
            <a:ext cx="26060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cada parte faz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`eps` e `min_samples`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Rótulo `-1` = ruído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Escale os dados antes</a:t>
            </a:r>
            <a:endParaRPr lang="en-US" sz="1600" dirty="0"/>
          </a:p>
        </p:txBody>
      </p:sp>
      <p:sp>
        <p:nvSpPr>
          <p:cNvPr id="8" name="faixa-frase"/>
          <p:cNvSpPr/>
          <p:nvPr/>
        </p:nvSpPr>
        <p:spPr>
          <a:xfrm>
            <a:off x="457200" y="4160520"/>
            <a:ext cx="8229600" cy="475488"/>
          </a:xfrm>
          <a:prstGeom prst="roundRect">
            <a:avLst>
              <a:gd name="adj" fmla="val 19231"/>
            </a:avLst>
          </a:prstGeom>
          <a:solidFill>
            <a:schemeClr val="accent2">
              <a:alpha val="18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9" name="icone-frase" descr="destaq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4270248"/>
            <a:ext cx="256032" cy="256032"/>
          </a:xfrm>
          <a:prstGeom prst="rect">
            <a:avLst/>
          </a:prstGeom>
        </p:spPr>
      </p:pic>
      <p:sp>
        <p:nvSpPr>
          <p:cNvPr id="10" name="frase"/>
          <p:cNvSpPr txBox="1"/>
          <p:nvPr/>
        </p:nvSpPr>
        <p:spPr>
          <a:xfrm>
            <a:off x="1005840" y="416052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k. Com ruído detectado.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Gráfico de k-distâncias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moldura-figura"/>
          <p:cNvSpPr/>
          <p:nvPr/>
        </p:nvSpPr>
        <p:spPr>
          <a:xfrm>
            <a:off x="822960" y="1188720"/>
            <a:ext cx="7498080" cy="2834640"/>
          </a:xfrm>
          <a:prstGeom prst="roundRect">
            <a:avLst>
              <a:gd name="adj" fmla="val 2581"/>
            </a:avLst>
          </a:prstGeom>
          <a:solidFill>
            <a:schemeClr val="bg1"/>
          </a:solidFill>
          <a:ln w="15875">
            <a:solidFill>
              <a:schemeClr val="bg2"/>
            </a:solidFill>
            <a:prstDash val="solid"/>
          </a:ln>
        </p:spPr>
      </p:sp>
      <p:pic>
        <p:nvPicPr>
          <p:cNvPr id="6" name="figura-f5_kdist" descr="f5_kdis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6881" y="1188720"/>
            <a:ext cx="4370237" cy="2834640"/>
          </a:xfrm>
          <a:prstGeom prst="rect">
            <a:avLst/>
          </a:prstGeom>
        </p:spPr>
      </p:pic>
      <p:sp>
        <p:nvSpPr>
          <p:cNvPr id="7" name="faixa-frase"/>
          <p:cNvSpPr/>
          <p:nvPr/>
        </p:nvSpPr>
        <p:spPr>
          <a:xfrm>
            <a:off x="457200" y="4160520"/>
            <a:ext cx="8229600" cy="475488"/>
          </a:xfrm>
          <a:prstGeom prst="roundRect">
            <a:avLst>
              <a:gd name="adj" fmla="val 19231"/>
            </a:avLst>
          </a:prstGeom>
          <a:solidFill>
            <a:schemeClr val="accent2">
              <a:alpha val="18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8" name="icone-frase" descr="destaqu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4270248"/>
            <a:ext cx="256032" cy="256032"/>
          </a:xfrm>
          <a:prstGeom prst="rect">
            <a:avLst/>
          </a:prstGeom>
        </p:spPr>
      </p:pic>
      <p:sp>
        <p:nvSpPr>
          <p:cNvPr id="9" name="frase"/>
          <p:cNvSpPr txBox="1"/>
          <p:nvPr/>
        </p:nvSpPr>
        <p:spPr>
          <a:xfrm>
            <a:off x="1005840" y="416052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joelho sugere o eps.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Escolhendo parâmetros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cartao-1"/>
          <p:cNvSpPr/>
          <p:nvPr/>
        </p:nvSpPr>
        <p:spPr>
          <a:xfrm>
            <a:off x="457200" y="1234440"/>
            <a:ext cx="4000500" cy="1280160"/>
          </a:xfrm>
          <a:prstGeom prst="roundRect">
            <a:avLst>
              <a:gd name="adj" fmla="val 7143"/>
            </a:avLst>
          </a:prstGeom>
          <a:solidFill>
            <a:schemeClr val="accent1">
              <a:alpha val="1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numero-1"/>
          <p:cNvSpPr/>
          <p:nvPr/>
        </p:nvSpPr>
        <p:spPr>
          <a:xfrm>
            <a:off x="640080" y="139903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n-1"/>
          <p:cNvSpPr txBox="1"/>
          <p:nvPr/>
        </p:nvSpPr>
        <p:spPr>
          <a:xfrm>
            <a:off x="640080" y="1399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o-1"/>
          <p:cNvSpPr txBox="1"/>
          <p:nvPr/>
        </p:nvSpPr>
        <p:spPr>
          <a:xfrm>
            <a:off x="640080" y="1874520"/>
            <a:ext cx="36347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min_samples:</a:t>
            </a: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≥ dimensões + 1 (regra: 2 × dim)</a:t>
            </a:r>
            <a:endParaRPr lang="en-US" sz="1600" dirty="0"/>
          </a:p>
        </p:txBody>
      </p:sp>
      <p:sp>
        <p:nvSpPr>
          <p:cNvPr id="9" name="cartao-2"/>
          <p:cNvSpPr/>
          <p:nvPr/>
        </p:nvSpPr>
        <p:spPr>
          <a:xfrm>
            <a:off x="4686300" y="1234440"/>
            <a:ext cx="4000500" cy="1280160"/>
          </a:xfrm>
          <a:prstGeom prst="roundRect">
            <a:avLst>
              <a:gd name="adj" fmla="val 7143"/>
            </a:avLst>
          </a:prstGeom>
          <a:solidFill>
            <a:schemeClr val="accent3">
              <a:alpha val="10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numero-2"/>
          <p:cNvSpPr/>
          <p:nvPr/>
        </p:nvSpPr>
        <p:spPr>
          <a:xfrm>
            <a:off x="4869180" y="1399032"/>
            <a:ext cx="384048" cy="38404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1" name="n-2"/>
          <p:cNvSpPr txBox="1"/>
          <p:nvPr/>
        </p:nvSpPr>
        <p:spPr>
          <a:xfrm>
            <a:off x="4869180" y="1399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o-2"/>
          <p:cNvSpPr txBox="1"/>
          <p:nvPr/>
        </p:nvSpPr>
        <p:spPr>
          <a:xfrm>
            <a:off x="4869180" y="1874520"/>
            <a:ext cx="36347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eps:</a:t>
            </a: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joelho do gráfico</a:t>
            </a:r>
            <a:endParaRPr lang="en-US" sz="1600" dirty="0"/>
          </a:p>
        </p:txBody>
      </p:sp>
      <p:sp>
        <p:nvSpPr>
          <p:cNvPr id="13" name="cartao-3"/>
          <p:cNvSpPr/>
          <p:nvPr/>
        </p:nvSpPr>
        <p:spPr>
          <a:xfrm>
            <a:off x="457200" y="2743200"/>
            <a:ext cx="4000500" cy="1280160"/>
          </a:xfrm>
          <a:prstGeom prst="roundRect">
            <a:avLst>
              <a:gd name="adj" fmla="val 7143"/>
            </a:avLst>
          </a:prstGeom>
          <a:solidFill>
            <a:schemeClr val="accent4">
              <a:alpha val="10000"/>
            </a:schemeClr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numero-3"/>
          <p:cNvSpPr/>
          <p:nvPr/>
        </p:nvSpPr>
        <p:spPr>
          <a:xfrm>
            <a:off x="640080" y="2907792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5" name="n-3"/>
          <p:cNvSpPr txBox="1"/>
          <p:nvPr/>
        </p:nvSpPr>
        <p:spPr>
          <a:xfrm>
            <a:off x="640080" y="2907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o-3"/>
          <p:cNvSpPr txBox="1"/>
          <p:nvPr/>
        </p:nvSpPr>
        <p:spPr>
          <a:xfrm>
            <a:off x="640080" y="3383280"/>
            <a:ext cx="36347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eps </a:t>
            </a: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pequeno:</a:t>
            </a: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quase tudo ruído</a:t>
            </a:r>
            <a:endParaRPr lang="en-US" sz="1600" dirty="0"/>
          </a:p>
        </p:txBody>
      </p:sp>
      <p:sp>
        <p:nvSpPr>
          <p:cNvPr id="17" name="cartao-4"/>
          <p:cNvSpPr/>
          <p:nvPr/>
        </p:nvSpPr>
        <p:spPr>
          <a:xfrm>
            <a:off x="4686300" y="2743200"/>
            <a:ext cx="4000500" cy="1280160"/>
          </a:xfrm>
          <a:prstGeom prst="roundRect">
            <a:avLst>
              <a:gd name="adj" fmla="val 7143"/>
            </a:avLst>
          </a:prstGeom>
          <a:solidFill>
            <a:schemeClr val="accent5">
              <a:alpha val="10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8" name="numero-4"/>
          <p:cNvSpPr/>
          <p:nvPr/>
        </p:nvSpPr>
        <p:spPr>
          <a:xfrm>
            <a:off x="4869180" y="2907792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9" name="n-4"/>
          <p:cNvSpPr txBox="1"/>
          <p:nvPr/>
        </p:nvSpPr>
        <p:spPr>
          <a:xfrm>
            <a:off x="4869180" y="2907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o-4"/>
          <p:cNvSpPr txBox="1"/>
          <p:nvPr/>
        </p:nvSpPr>
        <p:spPr>
          <a:xfrm>
            <a:off x="4869180" y="3383280"/>
            <a:ext cx="36347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eps </a:t>
            </a: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grande:</a:t>
            </a: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tudo vira um grupo</a:t>
            </a:r>
            <a:endParaRPr lang="en-US" sz="1600" dirty="0"/>
          </a:p>
        </p:txBody>
      </p:sp>
      <p:sp>
        <p:nvSpPr>
          <p:cNvPr id="21" name="faixa-frase"/>
          <p:cNvSpPr/>
          <p:nvPr/>
        </p:nvSpPr>
        <p:spPr>
          <a:xfrm>
            <a:off x="457200" y="4160520"/>
            <a:ext cx="8229600" cy="475488"/>
          </a:xfrm>
          <a:prstGeom prst="roundRect">
            <a:avLst>
              <a:gd name="adj" fmla="val 19231"/>
            </a:avLst>
          </a:prstGeom>
          <a:solidFill>
            <a:schemeClr val="accent2">
              <a:alpha val="18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2" name="icone-frase" descr="destaq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4270248"/>
            <a:ext cx="256032" cy="256032"/>
          </a:xfrm>
          <a:prstGeom prst="rect">
            <a:avLst/>
          </a:prstGeom>
        </p:spPr>
      </p:pic>
      <p:sp>
        <p:nvSpPr>
          <p:cNvPr id="23" name="frase"/>
          <p:cNvSpPr txBox="1"/>
          <p:nvPr/>
        </p:nvSpPr>
        <p:spPr>
          <a:xfrm>
            <a:off x="1005840" y="416052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Pequeno demais fragmenta. Grande demais funde.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Forças e fraquezas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coluna-1"/>
          <p:cNvSpPr/>
          <p:nvPr/>
        </p:nvSpPr>
        <p:spPr>
          <a:xfrm>
            <a:off x="457200" y="1188720"/>
            <a:ext cx="4000500" cy="2834640"/>
          </a:xfrm>
          <a:prstGeom prst="roundRect">
            <a:avLst>
              <a:gd name="adj" fmla="val 3226"/>
            </a:avLst>
          </a:prstGeom>
          <a:solidFill>
            <a:schemeClr val="accent1">
              <a:alpha val="1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cabeca-1"/>
          <p:cNvSpPr/>
          <p:nvPr/>
        </p:nvSpPr>
        <p:spPr>
          <a:xfrm>
            <a:off x="457200" y="1188720"/>
            <a:ext cx="4000500" cy="45720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itulo-coluna-1"/>
          <p:cNvSpPr txBox="1"/>
          <p:nvPr/>
        </p:nvSpPr>
        <p:spPr>
          <a:xfrm>
            <a:off x="548640" y="1188720"/>
            <a:ext cx="38176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 fortes</a:t>
            </a:r>
            <a:endParaRPr lang="en-US" sz="1600" dirty="0"/>
          </a:p>
        </p:txBody>
      </p:sp>
      <p:sp>
        <p:nvSpPr>
          <p:cNvPr id="8" name="itens-1"/>
          <p:cNvSpPr txBox="1"/>
          <p:nvPr/>
        </p:nvSpPr>
        <p:spPr>
          <a:xfrm>
            <a:off x="640080" y="1783080"/>
            <a:ext cx="36347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Qualquer </a:t>
            </a: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Acha </a:t>
            </a: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ruído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k</a:t>
            </a:r>
            <a:endParaRPr lang="en-US" sz="1800" dirty="0"/>
          </a:p>
        </p:txBody>
      </p:sp>
      <p:sp>
        <p:nvSpPr>
          <p:cNvPr id="9" name="coluna-2"/>
          <p:cNvSpPr/>
          <p:nvPr/>
        </p:nvSpPr>
        <p:spPr>
          <a:xfrm>
            <a:off x="4686300" y="1188720"/>
            <a:ext cx="4000500" cy="2834640"/>
          </a:xfrm>
          <a:prstGeom prst="roundRect">
            <a:avLst>
              <a:gd name="adj" fmla="val 3226"/>
            </a:avLst>
          </a:prstGeom>
          <a:solidFill>
            <a:schemeClr val="accent3">
              <a:alpha val="10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cabeca-2"/>
          <p:cNvSpPr/>
          <p:nvPr/>
        </p:nvSpPr>
        <p:spPr>
          <a:xfrm>
            <a:off x="4686300" y="1188720"/>
            <a:ext cx="4000500" cy="457200"/>
          </a:xfrm>
          <a:prstGeom prst="roundRect">
            <a:avLst>
              <a:gd name="adj" fmla="val 2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1" name="titulo-coluna-2"/>
          <p:cNvSpPr txBox="1"/>
          <p:nvPr/>
        </p:nvSpPr>
        <p:spPr>
          <a:xfrm>
            <a:off x="4777740" y="1188720"/>
            <a:ext cx="38176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 fracos</a:t>
            </a:r>
            <a:endParaRPr lang="en-US" sz="1600" dirty="0"/>
          </a:p>
        </p:txBody>
      </p:sp>
      <p:sp>
        <p:nvSpPr>
          <p:cNvPr id="12" name="itens-2"/>
          <p:cNvSpPr txBox="1"/>
          <p:nvPr/>
        </p:nvSpPr>
        <p:spPr>
          <a:xfrm>
            <a:off x="4869180" y="1783080"/>
            <a:ext cx="36347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Densidades</a:t>
            </a: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variáveis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dimensão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Sensível a eps</a:t>
            </a:r>
            <a:endParaRPr lang="en-US" sz="1800" dirty="0"/>
          </a:p>
        </p:txBody>
      </p:sp>
      <p:sp>
        <p:nvSpPr>
          <p:cNvPr id="13" name="faixa-frase"/>
          <p:cNvSpPr/>
          <p:nvPr/>
        </p:nvSpPr>
        <p:spPr>
          <a:xfrm>
            <a:off x="457200" y="4160520"/>
            <a:ext cx="8229600" cy="475488"/>
          </a:xfrm>
          <a:prstGeom prst="roundRect">
            <a:avLst>
              <a:gd name="adj" fmla="val 19231"/>
            </a:avLst>
          </a:prstGeom>
          <a:solidFill>
            <a:schemeClr val="accent2">
              <a:alpha val="18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4" name="icone-frase" descr="destaq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4270248"/>
            <a:ext cx="256032" cy="256032"/>
          </a:xfrm>
          <a:prstGeom prst="rect">
            <a:avLst/>
          </a:prstGeom>
        </p:spPr>
      </p:pic>
      <p:sp>
        <p:nvSpPr>
          <p:cNvPr id="15" name="frase"/>
          <p:cNvSpPr txBox="1"/>
          <p:nvPr/>
        </p:nvSpPr>
        <p:spPr>
          <a:xfrm>
            <a:off x="1005840" y="416052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eps só não serve para todas as ilhas.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Densidades variáveis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moldura-figura"/>
          <p:cNvSpPr/>
          <p:nvPr/>
        </p:nvSpPr>
        <p:spPr>
          <a:xfrm>
            <a:off x="822960" y="1188720"/>
            <a:ext cx="7498080" cy="2834640"/>
          </a:xfrm>
          <a:prstGeom prst="roundRect">
            <a:avLst>
              <a:gd name="adj" fmla="val 2581"/>
            </a:avLst>
          </a:prstGeom>
          <a:solidFill>
            <a:schemeClr val="bg1"/>
          </a:solidFill>
          <a:ln w="15875">
            <a:solidFill>
              <a:schemeClr val="bg2"/>
            </a:solidFill>
            <a:prstDash val="solid"/>
          </a:ln>
        </p:spPr>
      </p:sp>
      <p:pic>
        <p:nvPicPr>
          <p:cNvPr id="6" name="figura-f5_densidades" descr="f5_densidad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427083"/>
            <a:ext cx="7498080" cy="2357914"/>
          </a:xfrm>
          <a:prstGeom prst="rect">
            <a:avLst/>
          </a:prstGeom>
        </p:spPr>
      </p:pic>
      <p:sp>
        <p:nvSpPr>
          <p:cNvPr id="7" name="faixa-frase"/>
          <p:cNvSpPr/>
          <p:nvPr/>
        </p:nvSpPr>
        <p:spPr>
          <a:xfrm>
            <a:off x="457200" y="4160520"/>
            <a:ext cx="8229600" cy="475488"/>
          </a:xfrm>
          <a:prstGeom prst="roundRect">
            <a:avLst>
              <a:gd name="adj" fmla="val 19231"/>
            </a:avLst>
          </a:prstGeom>
          <a:solidFill>
            <a:schemeClr val="accent2">
              <a:alpha val="18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8" name="icone-frase" descr="destaqu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4270248"/>
            <a:ext cx="256032" cy="256032"/>
          </a:xfrm>
          <a:prstGeom prst="rect">
            <a:avLst/>
          </a:prstGeom>
        </p:spPr>
      </p:pic>
      <p:sp>
        <p:nvSpPr>
          <p:cNvPr id="9" name="frase"/>
          <p:cNvSpPr txBox="1"/>
          <p:nvPr/>
        </p:nvSpPr>
        <p:spPr>
          <a:xfrm>
            <a:off x="1005840" y="416052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Ilhas densas e ilhas ralas.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OPTICS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pontos"/>
          <p:cNvSpPr txBox="1"/>
          <p:nvPr/>
        </p:nvSpPr>
        <p:spPr>
          <a:xfrm>
            <a:off x="457200" y="1234440"/>
            <a:ext cx="411480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Ordena</a:t>
            </a: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os pontos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Gráfico de </a:t>
            </a: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alcançabilidade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Vales</a:t>
            </a: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grupos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 fundo = grupo denso</a:t>
            </a:r>
            <a:endParaRPr lang="en-US" sz="2000" dirty="0"/>
          </a:p>
        </p:txBody>
      </p:sp>
      <p:sp>
        <p:nvSpPr>
          <p:cNvPr id="6" name="moldura-figura"/>
          <p:cNvSpPr/>
          <p:nvPr/>
        </p:nvSpPr>
        <p:spPr>
          <a:xfrm>
            <a:off x="4754880" y="1234440"/>
            <a:ext cx="3931920" cy="2788920"/>
          </a:xfrm>
          <a:prstGeom prst="roundRect">
            <a:avLst>
              <a:gd name="adj" fmla="val 2623"/>
            </a:avLst>
          </a:prstGeom>
          <a:solidFill>
            <a:schemeClr val="bg1"/>
          </a:solidFill>
          <a:ln w="15875">
            <a:solidFill>
              <a:schemeClr val="bg2"/>
            </a:solidFill>
            <a:prstDash val="solid"/>
          </a:ln>
        </p:spPr>
      </p:sp>
      <p:pic>
        <p:nvPicPr>
          <p:cNvPr id="7" name="figura-f5_optics" descr="f5_optic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965933"/>
            <a:ext cx="3931920" cy="1325933"/>
          </a:xfrm>
          <a:prstGeom prst="rect">
            <a:avLst/>
          </a:prstGeom>
        </p:spPr>
      </p:pic>
      <p:sp>
        <p:nvSpPr>
          <p:cNvPr id="8" name="faixa-frase"/>
          <p:cNvSpPr/>
          <p:nvPr/>
        </p:nvSpPr>
        <p:spPr>
          <a:xfrm>
            <a:off x="457200" y="4160520"/>
            <a:ext cx="8229600" cy="475488"/>
          </a:xfrm>
          <a:prstGeom prst="roundRect">
            <a:avLst>
              <a:gd name="adj" fmla="val 19231"/>
            </a:avLst>
          </a:prstGeom>
          <a:solidFill>
            <a:schemeClr val="accent2">
              <a:alpha val="18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9" name="icone-frase" descr="destaqu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4270248"/>
            <a:ext cx="256032" cy="256032"/>
          </a:xfrm>
          <a:prstGeom prst="rect">
            <a:avLst/>
          </a:prstGeom>
        </p:spPr>
      </p:pic>
      <p:sp>
        <p:nvSpPr>
          <p:cNvPr id="10" name="frase"/>
          <p:cNvSpPr txBox="1"/>
          <p:nvPr/>
        </p:nvSpPr>
        <p:spPr>
          <a:xfrm>
            <a:off x="1005840" y="416052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vez de um eps, um mapa de relevo.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HDBSCAN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cartao-1"/>
          <p:cNvSpPr/>
          <p:nvPr/>
        </p:nvSpPr>
        <p:spPr>
          <a:xfrm>
            <a:off x="457200" y="1234440"/>
            <a:ext cx="4000500" cy="1280160"/>
          </a:xfrm>
          <a:prstGeom prst="roundRect">
            <a:avLst>
              <a:gd name="adj" fmla="val 7143"/>
            </a:avLst>
          </a:prstGeom>
          <a:solidFill>
            <a:schemeClr val="accent1">
              <a:alpha val="1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numero-1"/>
          <p:cNvSpPr/>
          <p:nvPr/>
        </p:nvSpPr>
        <p:spPr>
          <a:xfrm>
            <a:off x="640080" y="139903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n-1"/>
          <p:cNvSpPr txBox="1"/>
          <p:nvPr/>
        </p:nvSpPr>
        <p:spPr>
          <a:xfrm>
            <a:off x="640080" y="1399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o-1"/>
          <p:cNvSpPr txBox="1"/>
          <p:nvPr/>
        </p:nvSpPr>
        <p:spPr>
          <a:xfrm>
            <a:off x="640080" y="1874520"/>
            <a:ext cx="36347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DBSCAN </a:t>
            </a: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hierárquico</a:t>
            </a:r>
            <a:endParaRPr lang="en-US" sz="1800" dirty="0"/>
          </a:p>
        </p:txBody>
      </p:sp>
      <p:sp>
        <p:nvSpPr>
          <p:cNvPr id="9" name="cartao-2"/>
          <p:cNvSpPr/>
          <p:nvPr/>
        </p:nvSpPr>
        <p:spPr>
          <a:xfrm>
            <a:off x="4686300" y="1234440"/>
            <a:ext cx="4000500" cy="1280160"/>
          </a:xfrm>
          <a:prstGeom prst="roundRect">
            <a:avLst>
              <a:gd name="adj" fmla="val 7143"/>
            </a:avLst>
          </a:prstGeom>
          <a:solidFill>
            <a:schemeClr val="accent3">
              <a:alpha val="10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numero-2"/>
          <p:cNvSpPr/>
          <p:nvPr/>
        </p:nvSpPr>
        <p:spPr>
          <a:xfrm>
            <a:off x="4869180" y="1399032"/>
            <a:ext cx="384048" cy="38404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1" name="n-2"/>
          <p:cNvSpPr txBox="1"/>
          <p:nvPr/>
        </p:nvSpPr>
        <p:spPr>
          <a:xfrm>
            <a:off x="4869180" y="1399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o-2"/>
          <p:cNvSpPr txBox="1"/>
          <p:nvPr/>
        </p:nvSpPr>
        <p:spPr>
          <a:xfrm>
            <a:off x="4869180" y="1874520"/>
            <a:ext cx="36347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 </a:t>
            </a: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vários eps</a:t>
            </a: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ao mesmo tempo</a:t>
            </a:r>
            <a:endParaRPr lang="en-US" sz="1800" dirty="0"/>
          </a:p>
        </p:txBody>
      </p:sp>
      <p:sp>
        <p:nvSpPr>
          <p:cNvPr id="13" name="cartao-3"/>
          <p:cNvSpPr/>
          <p:nvPr/>
        </p:nvSpPr>
        <p:spPr>
          <a:xfrm>
            <a:off x="457200" y="2743200"/>
            <a:ext cx="4000500" cy="1280160"/>
          </a:xfrm>
          <a:prstGeom prst="roundRect">
            <a:avLst>
              <a:gd name="adj" fmla="val 7143"/>
            </a:avLst>
          </a:prstGeom>
          <a:solidFill>
            <a:schemeClr val="accent4">
              <a:alpha val="10000"/>
            </a:schemeClr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numero-3"/>
          <p:cNvSpPr/>
          <p:nvPr/>
        </p:nvSpPr>
        <p:spPr>
          <a:xfrm>
            <a:off x="640080" y="2907792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5" name="n-3"/>
          <p:cNvSpPr txBox="1"/>
          <p:nvPr/>
        </p:nvSpPr>
        <p:spPr>
          <a:xfrm>
            <a:off x="640080" y="2907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o-3"/>
          <p:cNvSpPr txBox="1"/>
          <p:nvPr/>
        </p:nvSpPr>
        <p:spPr>
          <a:xfrm>
            <a:off x="640080" y="3383280"/>
            <a:ext cx="36347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Fica com os grupos </a:t>
            </a: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estáveis</a:t>
            </a:r>
            <a:endParaRPr lang="en-US" sz="1800" dirty="0"/>
          </a:p>
        </p:txBody>
      </p:sp>
      <p:sp>
        <p:nvSpPr>
          <p:cNvPr id="17" name="cartao-4"/>
          <p:cNvSpPr/>
          <p:nvPr/>
        </p:nvSpPr>
        <p:spPr>
          <a:xfrm>
            <a:off x="4686300" y="2743200"/>
            <a:ext cx="4000500" cy="1280160"/>
          </a:xfrm>
          <a:prstGeom prst="roundRect">
            <a:avLst>
              <a:gd name="adj" fmla="val 7143"/>
            </a:avLst>
          </a:prstGeom>
          <a:solidFill>
            <a:schemeClr val="accent5">
              <a:alpha val="10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8" name="numero-4"/>
          <p:cNvSpPr/>
          <p:nvPr/>
        </p:nvSpPr>
        <p:spPr>
          <a:xfrm>
            <a:off x="4869180" y="2907792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9" name="n-4"/>
          <p:cNvSpPr txBox="1"/>
          <p:nvPr/>
        </p:nvSpPr>
        <p:spPr>
          <a:xfrm>
            <a:off x="4869180" y="2907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o-4"/>
          <p:cNvSpPr txBox="1"/>
          <p:nvPr/>
        </p:nvSpPr>
        <p:spPr>
          <a:xfrm>
            <a:off x="4869180" y="3383280"/>
            <a:ext cx="36347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pede </a:t>
            </a: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min_cluster_size</a:t>
            </a:r>
            <a:endParaRPr lang="en-US" sz="1800" dirty="0"/>
          </a:p>
        </p:txBody>
      </p:sp>
      <p:sp>
        <p:nvSpPr>
          <p:cNvPr id="21" name="faixa-frase"/>
          <p:cNvSpPr/>
          <p:nvPr/>
        </p:nvSpPr>
        <p:spPr>
          <a:xfrm>
            <a:off x="457200" y="4160520"/>
            <a:ext cx="8229600" cy="475488"/>
          </a:xfrm>
          <a:prstGeom prst="roundRect">
            <a:avLst>
              <a:gd name="adj" fmla="val 19231"/>
            </a:avLst>
          </a:prstGeom>
          <a:solidFill>
            <a:schemeClr val="accent2">
              <a:alpha val="18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2" name="icone-frase" descr="destaq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4270248"/>
            <a:ext cx="256032" cy="256032"/>
          </a:xfrm>
          <a:prstGeom prst="rect">
            <a:avLst/>
          </a:prstGeom>
        </p:spPr>
      </p:pic>
      <p:sp>
        <p:nvSpPr>
          <p:cNvPr id="23" name="frase"/>
          <p:cNvSpPr txBox="1"/>
          <p:nvPr/>
        </p:nvSpPr>
        <p:spPr>
          <a:xfrm>
            <a:off x="1005840" y="416052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DBSCAN que aguenta densidades diferentes.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HDBSCAN em Python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painel-codigo"/>
          <p:cNvSpPr/>
          <p:nvPr/>
        </p:nvSpPr>
        <p:spPr>
          <a:xfrm>
            <a:off x="457200" y="1234440"/>
            <a:ext cx="5394960" cy="1703070"/>
          </a:xfrm>
          <a:prstGeom prst="roundRect">
            <a:avLst>
              <a:gd name="adj" fmla="val 4295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codigo"/>
          <p:cNvSpPr txBox="1"/>
          <p:nvPr/>
        </p:nvSpPr>
        <p:spPr>
          <a:xfrm>
            <a:off x="640080" y="1325880"/>
            <a:ext cx="5029200" cy="15201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sklearn.cluster import HDBSCAN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 = HDBSCAN(min_cluster_size=30)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rot = h.fit_predict(X)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print(h.probabilities_[:5])</a:t>
            </a:r>
            <a:endParaRPr lang="en-US" sz="1800" dirty="0"/>
          </a:p>
        </p:txBody>
      </p:sp>
      <p:sp>
        <p:nvSpPr>
          <p:cNvPr id="7" name="dicas-codigo"/>
          <p:cNvSpPr txBox="1"/>
          <p:nvPr/>
        </p:nvSpPr>
        <p:spPr>
          <a:xfrm>
            <a:off x="6080760" y="1234440"/>
            <a:ext cx="26060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cada parte faz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Já está no scikit-learn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`probabilities_`: força da pertinência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Rótulo `-1` = ruído</a:t>
            </a:r>
            <a:endParaRPr lang="en-US" sz="1600" dirty="0"/>
          </a:p>
        </p:txBody>
      </p:sp>
      <p:sp>
        <p:nvSpPr>
          <p:cNvPr id="8" name="faixa-frase"/>
          <p:cNvSpPr/>
          <p:nvPr/>
        </p:nvSpPr>
        <p:spPr>
          <a:xfrm>
            <a:off x="457200" y="4160520"/>
            <a:ext cx="8229600" cy="475488"/>
          </a:xfrm>
          <a:prstGeom prst="roundRect">
            <a:avLst>
              <a:gd name="adj" fmla="val 19231"/>
            </a:avLst>
          </a:prstGeom>
          <a:solidFill>
            <a:schemeClr val="accent2">
              <a:alpha val="18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9" name="icone-frase" descr="destaq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4270248"/>
            <a:ext cx="256032" cy="256032"/>
          </a:xfrm>
          <a:prstGeom prst="rect">
            <a:avLst/>
          </a:prstGeom>
        </p:spPr>
      </p:pic>
      <p:sp>
        <p:nvSpPr>
          <p:cNvPr id="10" name="frase"/>
          <p:cNvSpPr txBox="1"/>
          <p:nvPr/>
        </p:nvSpPr>
        <p:spPr>
          <a:xfrm>
            <a:off x="1005840" y="416052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ajuste, mais robustez.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Pontos de táxi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historia"/>
          <p:cNvSpPr txBox="1"/>
          <p:nvPr/>
        </p:nvSpPr>
        <p:spPr>
          <a:xfrm>
            <a:off x="457200" y="1280160"/>
            <a:ext cx="8229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Milhares de corridas num mapa: </a:t>
            </a:r>
            <a:r>
              <a:rPr lang="en-US" sz="2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aeroporto, rodoviária, centro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Densidade mostra os pontos quentes; corridas soltas são ruído.</a:t>
            </a:r>
            <a:endParaRPr lang="en-US" sz="2400" dirty="0"/>
          </a:p>
        </p:txBody>
      </p:sp>
      <p:sp>
        <p:nvSpPr>
          <p:cNvPr id="6" name="frase-central"/>
          <p:cNvSpPr txBox="1"/>
          <p:nvPr/>
        </p:nvSpPr>
        <p:spPr>
          <a:xfrm>
            <a:off x="457200" y="365760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i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Densidade revela onde a cidade pulsa.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bg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Comparando os métodos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graphicFrame>
        <p:nvGraphicFramePr>
          <p:cNvPr id="19" name="tabe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011680"/>
                <a:gridCol w="1645920"/>
                <a:gridCol w="274320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Método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Ruído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Parâmetro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K-means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Esférica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DBSCAN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Qualquer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eps, min_samples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OPTICS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Qualquer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min_samples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HDBSCAN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Qualquer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min_cluster_size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6" name="faixa-frase"/>
          <p:cNvSpPr/>
          <p:nvPr/>
        </p:nvSpPr>
        <p:spPr>
          <a:xfrm>
            <a:off x="457200" y="4160520"/>
            <a:ext cx="8229600" cy="475488"/>
          </a:xfrm>
          <a:prstGeom prst="roundRect">
            <a:avLst>
              <a:gd name="adj" fmla="val 19231"/>
            </a:avLst>
          </a:prstGeom>
          <a:solidFill>
            <a:schemeClr val="accent2">
              <a:alpha val="18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7" name="icone-frase" descr="destaq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4270248"/>
            <a:ext cx="256032" cy="256032"/>
          </a:xfrm>
          <a:prstGeom prst="rect">
            <a:avLst/>
          </a:prstGeom>
        </p:spPr>
      </p:pic>
      <p:sp>
        <p:nvSpPr>
          <p:cNvPr id="8" name="frase"/>
          <p:cNvSpPr txBox="1"/>
          <p:nvPr/>
        </p:nvSpPr>
        <p:spPr>
          <a:xfrm>
            <a:off x="1005840" y="416052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 método ganha sempre.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Cartões de memória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cartao-1"/>
          <p:cNvSpPr/>
          <p:nvPr/>
        </p:nvSpPr>
        <p:spPr>
          <a:xfrm>
            <a:off x="457200" y="1188720"/>
            <a:ext cx="4000500" cy="990600"/>
          </a:xfrm>
          <a:prstGeom prst="roundRect">
            <a:avLst>
              <a:gd name="adj" fmla="val 9231"/>
            </a:avLst>
          </a:prstGeom>
          <a:solidFill>
            <a:schemeClr val="accent1">
              <a:alpha val="1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pergunta-fundo-1"/>
          <p:cNvSpPr/>
          <p:nvPr/>
        </p:nvSpPr>
        <p:spPr>
          <a:xfrm>
            <a:off x="457200" y="1188720"/>
            <a:ext cx="4000500" cy="45720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pergunta-1"/>
          <p:cNvSpPr txBox="1"/>
          <p:nvPr/>
        </p:nvSpPr>
        <p:spPr>
          <a:xfrm>
            <a:off x="594360" y="1188720"/>
            <a:ext cx="37261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Grupo?</a:t>
            </a:r>
            <a:endParaRPr lang="en-US" sz="1500" dirty="0"/>
          </a:p>
        </p:txBody>
      </p:sp>
      <p:sp>
        <p:nvSpPr>
          <p:cNvPr id="8" name="resposta-1"/>
          <p:cNvSpPr txBox="1"/>
          <p:nvPr/>
        </p:nvSpPr>
        <p:spPr>
          <a:xfrm>
            <a:off x="594360" y="1719072"/>
            <a:ext cx="372618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Região </a:t>
            </a: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densa</a:t>
            </a: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entre vazios.</a:t>
            </a:r>
            <a:endParaRPr lang="en-US" sz="2000" dirty="0"/>
          </a:p>
        </p:txBody>
      </p:sp>
      <p:sp>
        <p:nvSpPr>
          <p:cNvPr id="9" name="cartao-2"/>
          <p:cNvSpPr/>
          <p:nvPr/>
        </p:nvSpPr>
        <p:spPr>
          <a:xfrm>
            <a:off x="4686300" y="1188720"/>
            <a:ext cx="4000500" cy="990600"/>
          </a:xfrm>
          <a:prstGeom prst="roundRect">
            <a:avLst>
              <a:gd name="adj" fmla="val 9231"/>
            </a:avLst>
          </a:prstGeom>
          <a:solidFill>
            <a:schemeClr val="accent3">
              <a:alpha val="10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pergunta-fundo-2"/>
          <p:cNvSpPr/>
          <p:nvPr/>
        </p:nvSpPr>
        <p:spPr>
          <a:xfrm>
            <a:off x="4686300" y="1188720"/>
            <a:ext cx="4000500" cy="457200"/>
          </a:xfrm>
          <a:prstGeom prst="roundRect">
            <a:avLst>
              <a:gd name="adj" fmla="val 2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1" name="pergunta-2"/>
          <p:cNvSpPr txBox="1"/>
          <p:nvPr/>
        </p:nvSpPr>
        <p:spPr>
          <a:xfrm>
            <a:off x="4823460" y="1188720"/>
            <a:ext cx="37261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eps?</a:t>
            </a:r>
            <a:endParaRPr lang="en-US" sz="1500" dirty="0"/>
          </a:p>
        </p:txBody>
      </p:sp>
      <p:sp>
        <p:nvSpPr>
          <p:cNvPr id="12" name="resposta-2"/>
          <p:cNvSpPr txBox="1"/>
          <p:nvPr/>
        </p:nvSpPr>
        <p:spPr>
          <a:xfrm>
            <a:off x="4823460" y="1719072"/>
            <a:ext cx="372618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Raio</a:t>
            </a: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 vizinhança.</a:t>
            </a:r>
            <a:endParaRPr lang="en-US" sz="2000" dirty="0"/>
          </a:p>
        </p:txBody>
      </p:sp>
      <p:sp>
        <p:nvSpPr>
          <p:cNvPr id="13" name="cartao-3"/>
          <p:cNvSpPr/>
          <p:nvPr/>
        </p:nvSpPr>
        <p:spPr>
          <a:xfrm>
            <a:off x="457200" y="2407920"/>
            <a:ext cx="4000500" cy="990600"/>
          </a:xfrm>
          <a:prstGeom prst="roundRect">
            <a:avLst>
              <a:gd name="adj" fmla="val 9231"/>
            </a:avLst>
          </a:prstGeom>
          <a:solidFill>
            <a:schemeClr val="accent4">
              <a:alpha val="10000"/>
            </a:schemeClr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pergunta-fundo-3"/>
          <p:cNvSpPr/>
          <p:nvPr/>
        </p:nvSpPr>
        <p:spPr>
          <a:xfrm>
            <a:off x="457200" y="2407920"/>
            <a:ext cx="4000500" cy="457200"/>
          </a:xfrm>
          <a:prstGeom prst="roundRect">
            <a:avLst>
              <a:gd name="adj" fmla="val 2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5" name="pergunta-3"/>
          <p:cNvSpPr txBox="1"/>
          <p:nvPr/>
        </p:nvSpPr>
        <p:spPr>
          <a:xfrm>
            <a:off x="594360" y="2407920"/>
            <a:ext cx="37261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Rótulo −1?</a:t>
            </a:r>
            <a:endParaRPr lang="en-US" sz="1500" dirty="0"/>
          </a:p>
        </p:txBody>
      </p:sp>
      <p:sp>
        <p:nvSpPr>
          <p:cNvPr id="16" name="resposta-3"/>
          <p:cNvSpPr txBox="1"/>
          <p:nvPr/>
        </p:nvSpPr>
        <p:spPr>
          <a:xfrm>
            <a:off x="594360" y="2938272"/>
            <a:ext cx="372618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Ruído</a:t>
            </a: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000" dirty="0"/>
          </a:p>
        </p:txBody>
      </p:sp>
      <p:sp>
        <p:nvSpPr>
          <p:cNvPr id="17" name="cartao-4"/>
          <p:cNvSpPr/>
          <p:nvPr/>
        </p:nvSpPr>
        <p:spPr>
          <a:xfrm>
            <a:off x="4686300" y="2407920"/>
            <a:ext cx="4000500" cy="990600"/>
          </a:xfrm>
          <a:prstGeom prst="roundRect">
            <a:avLst>
              <a:gd name="adj" fmla="val 9231"/>
            </a:avLst>
          </a:prstGeom>
          <a:solidFill>
            <a:schemeClr val="accent5">
              <a:alpha val="10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8" name="pergunta-fundo-4"/>
          <p:cNvSpPr/>
          <p:nvPr/>
        </p:nvSpPr>
        <p:spPr>
          <a:xfrm>
            <a:off x="4686300" y="2407920"/>
            <a:ext cx="4000500" cy="457200"/>
          </a:xfrm>
          <a:prstGeom prst="roundRect">
            <a:avLst>
              <a:gd name="adj" fmla="val 20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9" name="pergunta-4"/>
          <p:cNvSpPr txBox="1"/>
          <p:nvPr/>
        </p:nvSpPr>
        <p:spPr>
          <a:xfrm>
            <a:off x="4823460" y="2407920"/>
            <a:ext cx="37261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achar eps?</a:t>
            </a:r>
            <a:endParaRPr lang="en-US" sz="1500" dirty="0"/>
          </a:p>
        </p:txBody>
      </p:sp>
      <p:sp>
        <p:nvSpPr>
          <p:cNvPr id="20" name="resposta-4"/>
          <p:cNvSpPr txBox="1"/>
          <p:nvPr/>
        </p:nvSpPr>
        <p:spPr>
          <a:xfrm>
            <a:off x="4823460" y="2938272"/>
            <a:ext cx="372618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Joelho</a:t>
            </a: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 k-distância.</a:t>
            </a:r>
            <a:endParaRPr lang="en-US" sz="2000" dirty="0"/>
          </a:p>
        </p:txBody>
      </p:sp>
      <p:sp>
        <p:nvSpPr>
          <p:cNvPr id="21" name="cartao-5"/>
          <p:cNvSpPr/>
          <p:nvPr/>
        </p:nvSpPr>
        <p:spPr>
          <a:xfrm>
            <a:off x="457200" y="3627120"/>
            <a:ext cx="4000500" cy="990600"/>
          </a:xfrm>
          <a:prstGeom prst="roundRect">
            <a:avLst>
              <a:gd name="adj" fmla="val 9231"/>
            </a:avLst>
          </a:prstGeom>
          <a:solidFill>
            <a:schemeClr val="accent2">
              <a:alpha val="10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2" name="pergunta-fundo-5"/>
          <p:cNvSpPr/>
          <p:nvPr/>
        </p:nvSpPr>
        <p:spPr>
          <a:xfrm>
            <a:off x="457200" y="3627120"/>
            <a:ext cx="4000500" cy="457200"/>
          </a:xfrm>
          <a:prstGeom prst="roundRect">
            <a:avLst>
              <a:gd name="adj" fmla="val 2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3" name="pergunta-5"/>
          <p:cNvSpPr txBox="1"/>
          <p:nvPr/>
        </p:nvSpPr>
        <p:spPr>
          <a:xfrm>
            <a:off x="594360" y="3627120"/>
            <a:ext cx="37261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OPTICS?</a:t>
            </a:r>
            <a:endParaRPr lang="en-US" sz="1500" dirty="0"/>
          </a:p>
        </p:txBody>
      </p:sp>
      <p:sp>
        <p:nvSpPr>
          <p:cNvPr id="24" name="resposta-5"/>
          <p:cNvSpPr txBox="1"/>
          <p:nvPr/>
        </p:nvSpPr>
        <p:spPr>
          <a:xfrm>
            <a:off x="594360" y="4157472"/>
            <a:ext cx="372618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Vales de </a:t>
            </a: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alcançabilidade</a:t>
            </a: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000" dirty="0"/>
          </a:p>
        </p:txBody>
      </p:sp>
      <p:sp>
        <p:nvSpPr>
          <p:cNvPr id="25" name="cartao-6"/>
          <p:cNvSpPr/>
          <p:nvPr/>
        </p:nvSpPr>
        <p:spPr>
          <a:xfrm>
            <a:off x="4686300" y="3627120"/>
            <a:ext cx="4000500" cy="990600"/>
          </a:xfrm>
          <a:prstGeom prst="roundRect">
            <a:avLst>
              <a:gd name="adj" fmla="val 9231"/>
            </a:avLst>
          </a:prstGeom>
          <a:solidFill>
            <a:schemeClr val="accent1">
              <a:alpha val="1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6" name="pergunta-fundo-6"/>
          <p:cNvSpPr/>
          <p:nvPr/>
        </p:nvSpPr>
        <p:spPr>
          <a:xfrm>
            <a:off x="4686300" y="3627120"/>
            <a:ext cx="4000500" cy="45720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7" name="pergunta-6"/>
          <p:cNvSpPr txBox="1"/>
          <p:nvPr/>
        </p:nvSpPr>
        <p:spPr>
          <a:xfrm>
            <a:off x="4823460" y="3627120"/>
            <a:ext cx="37261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HDBSCAN?</a:t>
            </a:r>
            <a:endParaRPr lang="en-US" sz="1500" dirty="0"/>
          </a:p>
        </p:txBody>
      </p:sp>
      <p:sp>
        <p:nvSpPr>
          <p:cNvPr id="28" name="resposta-6"/>
          <p:cNvSpPr txBox="1"/>
          <p:nvPr/>
        </p:nvSpPr>
        <p:spPr>
          <a:xfrm>
            <a:off x="4823460" y="4157472"/>
            <a:ext cx="372618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`min_cluster_size`.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Pergunta relâmpago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pergunta"/>
          <p:cNvSpPr txBox="1"/>
          <p:nvPr/>
        </p:nvSpPr>
        <p:spPr>
          <a:xfrm>
            <a:off x="457200" y="11887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DBSCAN, o rótulo −1 indica:</a:t>
            </a:r>
            <a:endParaRPr lang="en-US" sz="2200" dirty="0"/>
          </a:p>
        </p:txBody>
      </p:sp>
      <p:sp>
        <p:nvSpPr>
          <p:cNvPr id="6" name="opcao-fundo-1"/>
          <p:cNvSpPr/>
          <p:nvPr/>
        </p:nvSpPr>
        <p:spPr>
          <a:xfrm>
            <a:off x="457200" y="2057400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opcao-letra-fundo-1"/>
          <p:cNvSpPr/>
          <p:nvPr/>
        </p:nvSpPr>
        <p:spPr>
          <a:xfrm>
            <a:off x="566928" y="2148840"/>
            <a:ext cx="320040" cy="3200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opcao-letra-1"/>
          <p:cNvSpPr txBox="1"/>
          <p:nvPr/>
        </p:nvSpPr>
        <p:spPr>
          <a:xfrm>
            <a:off x="566928" y="21488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9" name="opcao-1"/>
          <p:cNvSpPr txBox="1"/>
          <p:nvPr/>
        </p:nvSpPr>
        <p:spPr>
          <a:xfrm>
            <a:off x="1051560" y="205740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maior grupo</a:t>
            </a:r>
            <a:endParaRPr lang="en-US" sz="1800" dirty="0"/>
          </a:p>
        </p:txBody>
      </p:sp>
      <p:sp>
        <p:nvSpPr>
          <p:cNvPr id="10" name="opcao-fundo-2"/>
          <p:cNvSpPr/>
          <p:nvPr/>
        </p:nvSpPr>
        <p:spPr>
          <a:xfrm>
            <a:off x="457200" y="2651760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opcao-letra-fundo-2"/>
          <p:cNvSpPr/>
          <p:nvPr/>
        </p:nvSpPr>
        <p:spPr>
          <a:xfrm>
            <a:off x="566928" y="2743200"/>
            <a:ext cx="320040" cy="3200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opcao-letra-2"/>
          <p:cNvSpPr txBox="1"/>
          <p:nvPr/>
        </p:nvSpPr>
        <p:spPr>
          <a:xfrm>
            <a:off x="566928" y="27432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3" name="opcao-2"/>
          <p:cNvSpPr txBox="1"/>
          <p:nvPr/>
        </p:nvSpPr>
        <p:spPr>
          <a:xfrm>
            <a:off x="1051560" y="265176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 central</a:t>
            </a:r>
            <a:endParaRPr lang="en-US" sz="1800" dirty="0"/>
          </a:p>
        </p:txBody>
      </p:sp>
      <p:sp>
        <p:nvSpPr>
          <p:cNvPr id="14" name="opcao-fundo-3"/>
          <p:cNvSpPr/>
          <p:nvPr/>
        </p:nvSpPr>
        <p:spPr>
          <a:xfrm>
            <a:off x="457200" y="3246120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opcao-letra-fundo-3"/>
          <p:cNvSpPr/>
          <p:nvPr/>
        </p:nvSpPr>
        <p:spPr>
          <a:xfrm>
            <a:off x="566928" y="3337560"/>
            <a:ext cx="320040" cy="3200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opcao-letra-3"/>
          <p:cNvSpPr txBox="1"/>
          <p:nvPr/>
        </p:nvSpPr>
        <p:spPr>
          <a:xfrm>
            <a:off x="566928" y="33375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17" name="opcao-3"/>
          <p:cNvSpPr txBox="1"/>
          <p:nvPr/>
        </p:nvSpPr>
        <p:spPr>
          <a:xfrm>
            <a:off x="1051560" y="324612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Ruído</a:t>
            </a:r>
            <a:endParaRPr lang="en-US" sz="1800" dirty="0"/>
          </a:p>
        </p:txBody>
      </p:sp>
      <p:sp>
        <p:nvSpPr>
          <p:cNvPr id="18" name="opcao-fundo-4"/>
          <p:cNvSpPr/>
          <p:nvPr/>
        </p:nvSpPr>
        <p:spPr>
          <a:xfrm>
            <a:off x="457200" y="3840480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opcao-letra-fundo-4"/>
          <p:cNvSpPr/>
          <p:nvPr/>
        </p:nvSpPr>
        <p:spPr>
          <a:xfrm>
            <a:off x="566928" y="3931920"/>
            <a:ext cx="320040" cy="3200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opcao-letra-4"/>
          <p:cNvSpPr txBox="1"/>
          <p:nvPr/>
        </p:nvSpPr>
        <p:spPr>
          <a:xfrm>
            <a:off x="566928" y="39319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1" name="opcao-4"/>
          <p:cNvSpPr txBox="1"/>
          <p:nvPr/>
        </p:nvSpPr>
        <p:spPr>
          <a:xfrm>
            <a:off x="1051560" y="384048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 de execução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Pergunta relâmpago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pergunta"/>
          <p:cNvSpPr txBox="1"/>
          <p:nvPr/>
        </p:nvSpPr>
        <p:spPr>
          <a:xfrm>
            <a:off x="457200" y="11887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DBSCAN tem dificuldade quando:</a:t>
            </a:r>
            <a:endParaRPr lang="en-US" sz="2200" dirty="0"/>
          </a:p>
        </p:txBody>
      </p:sp>
      <p:sp>
        <p:nvSpPr>
          <p:cNvPr id="6" name="opcao-fundo-1"/>
          <p:cNvSpPr/>
          <p:nvPr/>
        </p:nvSpPr>
        <p:spPr>
          <a:xfrm>
            <a:off x="457200" y="2057400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opcao-letra-fundo-1"/>
          <p:cNvSpPr/>
          <p:nvPr/>
        </p:nvSpPr>
        <p:spPr>
          <a:xfrm>
            <a:off x="566928" y="2148840"/>
            <a:ext cx="320040" cy="3200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opcao-letra-1"/>
          <p:cNvSpPr txBox="1"/>
          <p:nvPr/>
        </p:nvSpPr>
        <p:spPr>
          <a:xfrm>
            <a:off x="566928" y="21488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9" name="opcao-1"/>
          <p:cNvSpPr txBox="1"/>
          <p:nvPr/>
        </p:nvSpPr>
        <p:spPr>
          <a:xfrm>
            <a:off x="1051560" y="205740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grupos têm forma de lua</a:t>
            </a:r>
            <a:endParaRPr lang="en-US" sz="1800" dirty="0"/>
          </a:p>
        </p:txBody>
      </p:sp>
      <p:sp>
        <p:nvSpPr>
          <p:cNvPr id="10" name="opcao-fundo-2"/>
          <p:cNvSpPr/>
          <p:nvPr/>
        </p:nvSpPr>
        <p:spPr>
          <a:xfrm>
            <a:off x="457200" y="2651760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opcao-letra-fundo-2"/>
          <p:cNvSpPr/>
          <p:nvPr/>
        </p:nvSpPr>
        <p:spPr>
          <a:xfrm>
            <a:off x="566928" y="2743200"/>
            <a:ext cx="320040" cy="3200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opcao-letra-2"/>
          <p:cNvSpPr txBox="1"/>
          <p:nvPr/>
        </p:nvSpPr>
        <p:spPr>
          <a:xfrm>
            <a:off x="566928" y="27432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3" name="opcao-2"/>
          <p:cNvSpPr txBox="1"/>
          <p:nvPr/>
        </p:nvSpPr>
        <p:spPr>
          <a:xfrm>
            <a:off x="1051560" y="265176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grupos têm densidades muito diferentes</a:t>
            </a:r>
            <a:endParaRPr lang="en-US" sz="1800" dirty="0"/>
          </a:p>
        </p:txBody>
      </p:sp>
      <p:sp>
        <p:nvSpPr>
          <p:cNvPr id="14" name="opcao-fundo-3"/>
          <p:cNvSpPr/>
          <p:nvPr/>
        </p:nvSpPr>
        <p:spPr>
          <a:xfrm>
            <a:off x="457200" y="3246120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opcao-letra-fundo-3"/>
          <p:cNvSpPr/>
          <p:nvPr/>
        </p:nvSpPr>
        <p:spPr>
          <a:xfrm>
            <a:off x="566928" y="3337560"/>
            <a:ext cx="320040" cy="3200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opcao-letra-3"/>
          <p:cNvSpPr txBox="1"/>
          <p:nvPr/>
        </p:nvSpPr>
        <p:spPr>
          <a:xfrm>
            <a:off x="566928" y="33375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17" name="opcao-3"/>
          <p:cNvSpPr txBox="1"/>
          <p:nvPr/>
        </p:nvSpPr>
        <p:spPr>
          <a:xfrm>
            <a:off x="1051560" y="324612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Há ruído</a:t>
            </a:r>
            <a:endParaRPr lang="en-US" sz="1800" dirty="0"/>
          </a:p>
        </p:txBody>
      </p:sp>
      <p:sp>
        <p:nvSpPr>
          <p:cNvPr id="18" name="opcao-fundo-4"/>
          <p:cNvSpPr/>
          <p:nvPr/>
        </p:nvSpPr>
        <p:spPr>
          <a:xfrm>
            <a:off x="457200" y="3840480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opcao-letra-fundo-4"/>
          <p:cNvSpPr/>
          <p:nvPr/>
        </p:nvSpPr>
        <p:spPr>
          <a:xfrm>
            <a:off x="566928" y="3931920"/>
            <a:ext cx="320040" cy="3200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opcao-letra-4"/>
          <p:cNvSpPr txBox="1"/>
          <p:nvPr/>
        </p:nvSpPr>
        <p:spPr>
          <a:xfrm>
            <a:off x="566928" y="39319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1" name="opcao-4"/>
          <p:cNvSpPr txBox="1"/>
          <p:nvPr/>
        </p:nvSpPr>
        <p:spPr>
          <a:xfrm>
            <a:off x="1051560" y="384048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se conhece k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Pergunta relâmpago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pergunta"/>
          <p:cNvSpPr txBox="1"/>
          <p:nvPr/>
        </p:nvSpPr>
        <p:spPr>
          <a:xfrm>
            <a:off x="457200" y="11887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 gráfico de k-distâncias ajuda a escolher?</a:t>
            </a:r>
            <a:endParaRPr lang="en-US" sz="2200" dirty="0"/>
          </a:p>
        </p:txBody>
      </p:sp>
      <p:sp>
        <p:nvSpPr>
          <p:cNvPr id="6" name="opcao-fundo-1"/>
          <p:cNvSpPr/>
          <p:nvPr/>
        </p:nvSpPr>
        <p:spPr>
          <a:xfrm>
            <a:off x="457200" y="2057400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opcao-letra-fundo-1"/>
          <p:cNvSpPr/>
          <p:nvPr/>
        </p:nvSpPr>
        <p:spPr>
          <a:xfrm>
            <a:off x="566928" y="2148840"/>
            <a:ext cx="320040" cy="3200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opcao-letra-1"/>
          <p:cNvSpPr txBox="1"/>
          <p:nvPr/>
        </p:nvSpPr>
        <p:spPr>
          <a:xfrm>
            <a:off x="566928" y="21488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9" name="opcao-1"/>
          <p:cNvSpPr txBox="1"/>
          <p:nvPr/>
        </p:nvSpPr>
        <p:spPr>
          <a:xfrm>
            <a:off x="1051560" y="205740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min_samples</a:t>
            </a:r>
            <a:endParaRPr lang="en-US" sz="1800" dirty="0"/>
          </a:p>
        </p:txBody>
      </p:sp>
      <p:sp>
        <p:nvSpPr>
          <p:cNvPr id="10" name="opcao-fundo-2"/>
          <p:cNvSpPr/>
          <p:nvPr/>
        </p:nvSpPr>
        <p:spPr>
          <a:xfrm>
            <a:off x="457200" y="2651760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opcao-letra-fundo-2"/>
          <p:cNvSpPr/>
          <p:nvPr/>
        </p:nvSpPr>
        <p:spPr>
          <a:xfrm>
            <a:off x="566928" y="2743200"/>
            <a:ext cx="320040" cy="3200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opcao-letra-2"/>
          <p:cNvSpPr txBox="1"/>
          <p:nvPr/>
        </p:nvSpPr>
        <p:spPr>
          <a:xfrm>
            <a:off x="566928" y="27432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3" name="opcao-2"/>
          <p:cNvSpPr txBox="1"/>
          <p:nvPr/>
        </p:nvSpPr>
        <p:spPr>
          <a:xfrm>
            <a:off x="1051560" y="265176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número de grupos</a:t>
            </a:r>
            <a:endParaRPr lang="en-US" sz="1800" dirty="0"/>
          </a:p>
        </p:txBody>
      </p:sp>
      <p:sp>
        <p:nvSpPr>
          <p:cNvPr id="14" name="opcao-fundo-3"/>
          <p:cNvSpPr/>
          <p:nvPr/>
        </p:nvSpPr>
        <p:spPr>
          <a:xfrm>
            <a:off x="457200" y="3246120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opcao-letra-fundo-3"/>
          <p:cNvSpPr/>
          <p:nvPr/>
        </p:nvSpPr>
        <p:spPr>
          <a:xfrm>
            <a:off x="566928" y="3337560"/>
            <a:ext cx="320040" cy="3200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opcao-letra-3"/>
          <p:cNvSpPr txBox="1"/>
          <p:nvPr/>
        </p:nvSpPr>
        <p:spPr>
          <a:xfrm>
            <a:off x="566928" y="33375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17" name="opcao-3"/>
          <p:cNvSpPr txBox="1"/>
          <p:nvPr/>
        </p:nvSpPr>
        <p:spPr>
          <a:xfrm>
            <a:off x="1051560" y="324612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eps</a:t>
            </a:r>
            <a:endParaRPr lang="en-US" sz="1800" dirty="0"/>
          </a:p>
        </p:txBody>
      </p:sp>
      <p:sp>
        <p:nvSpPr>
          <p:cNvPr id="18" name="opcao-fundo-4"/>
          <p:cNvSpPr/>
          <p:nvPr/>
        </p:nvSpPr>
        <p:spPr>
          <a:xfrm>
            <a:off x="457200" y="3840480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opcao-letra-fundo-4"/>
          <p:cNvSpPr/>
          <p:nvPr/>
        </p:nvSpPr>
        <p:spPr>
          <a:xfrm>
            <a:off x="566928" y="3931920"/>
            <a:ext cx="320040" cy="3200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opcao-letra-4"/>
          <p:cNvSpPr txBox="1"/>
          <p:nvPr/>
        </p:nvSpPr>
        <p:spPr>
          <a:xfrm>
            <a:off x="566928" y="39319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1" name="opcao-4"/>
          <p:cNvSpPr txBox="1"/>
          <p:nvPr/>
        </p:nvSpPr>
        <p:spPr>
          <a:xfrm>
            <a:off x="1051560" y="384048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ligação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Mão na massa</a:t>
            </a:r>
            <a:endParaRPr lang="en-US" sz="3400" dirty="0"/>
          </a:p>
        </p:txBody>
      </p:sp>
      <p:sp>
        <p:nvSpPr>
          <p:cNvPr id="4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5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6" name="painel-missao"/>
          <p:cNvSpPr/>
          <p:nvPr/>
        </p:nvSpPr>
        <p:spPr>
          <a:xfrm>
            <a:off x="457200" y="1188720"/>
            <a:ext cx="5120640" cy="3429000"/>
          </a:xfrm>
          <a:prstGeom prst="roundRect">
            <a:avLst>
              <a:gd name="adj" fmla="val 2667"/>
            </a:avLst>
          </a:prstGeom>
          <a:solidFill>
            <a:schemeClr val="accent3">
              <a:alpha val="10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7" name="rotulo-missao"/>
          <p:cNvSpPr txBox="1"/>
          <p:nvPr/>
        </p:nvSpPr>
        <p:spPr>
          <a:xfrm>
            <a:off x="640080" y="12801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Missão</a:t>
            </a:r>
            <a:endParaRPr lang="en-US" sz="1800" dirty="0"/>
          </a:p>
        </p:txBody>
      </p:sp>
      <p:sp>
        <p:nvSpPr>
          <p:cNvPr id="8" name="passos-missao"/>
          <p:cNvSpPr txBox="1"/>
          <p:nvPr/>
        </p:nvSpPr>
        <p:spPr>
          <a:xfrm>
            <a:off x="640080" y="1691640"/>
            <a:ext cx="47548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9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Varra </a:t>
            </a:r>
            <a:r>
              <a:rPr lang="en-US" sz="19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eps</a:t>
            </a:r>
            <a:r>
              <a:rPr lang="en-US" sz="19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0,1 a 1,0 e conte grupos e ruído</a:t>
            </a:r>
            <a:endParaRPr lang="en-US" sz="19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9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Ache o </a:t>
            </a:r>
            <a:r>
              <a:rPr lang="en-US" sz="19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joelho</a:t>
            </a:r>
            <a:r>
              <a:rPr lang="en-US" sz="19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 gráfico de k-distâncias</a:t>
            </a:r>
            <a:endParaRPr lang="en-US" sz="19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9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</a:t>
            </a:r>
            <a:r>
              <a:rPr lang="en-US" sz="19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DBSCAN, K-means e espectral</a:t>
            </a:r>
            <a:r>
              <a:rPr lang="en-US" sz="19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em anéis</a:t>
            </a:r>
            <a:endParaRPr lang="en-US" sz="19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9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</a:t>
            </a:r>
            <a:r>
              <a:rPr lang="en-US" sz="19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haversine</a:t>
            </a:r>
            <a:r>
              <a:rPr lang="en-US" sz="19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 coordenadas geográficas</a:t>
            </a:r>
            <a:endParaRPr lang="en-US" sz="1900" dirty="0"/>
          </a:p>
        </p:txBody>
      </p:sp>
      <p:sp>
        <p:nvSpPr>
          <p:cNvPr id="9" name="painel-entrega"/>
          <p:cNvSpPr/>
          <p:nvPr/>
        </p:nvSpPr>
        <p:spPr>
          <a:xfrm>
            <a:off x="5806440" y="1188720"/>
            <a:ext cx="2880360" cy="3429000"/>
          </a:xfrm>
          <a:prstGeom prst="roundRect">
            <a:avLst>
              <a:gd name="adj" fmla="val 3175"/>
            </a:avLst>
          </a:prstGeom>
          <a:solidFill>
            <a:schemeClr val="accent2">
              <a:alpha val="15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rotulo-entrega"/>
          <p:cNvSpPr txBox="1"/>
          <p:nvPr/>
        </p:nvSpPr>
        <p:spPr>
          <a:xfrm>
            <a:off x="5989320" y="12801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</a:t>
            </a:r>
            <a:endParaRPr lang="en-US" sz="1800" dirty="0"/>
          </a:p>
        </p:txBody>
      </p:sp>
      <p:sp>
        <p:nvSpPr>
          <p:cNvPr id="11" name="itens-entrega"/>
          <p:cNvSpPr txBox="1"/>
          <p:nvPr/>
        </p:nvSpPr>
        <p:spPr>
          <a:xfrm>
            <a:off x="5989320" y="1691640"/>
            <a:ext cx="25603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Curva eps × grupos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Gráfico de k-distâncias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de pontos quentes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guardar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pic>
        <p:nvPicPr>
          <p:cNvPr id="5" name="marca" descr="marc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40180"/>
            <a:ext cx="274320" cy="274320"/>
          </a:xfrm>
          <a:prstGeom prst="rect">
            <a:avLst/>
          </a:prstGeom>
        </p:spPr>
      </p:pic>
      <p:sp>
        <p:nvSpPr>
          <p:cNvPr id="6" name="ponto-1"/>
          <p:cNvSpPr txBox="1"/>
          <p:nvPr/>
        </p:nvSpPr>
        <p:spPr>
          <a:xfrm>
            <a:off x="960120" y="123444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= região densa</a:t>
            </a:r>
            <a:endParaRPr lang="en-US" sz="2000" dirty="0"/>
          </a:p>
        </p:txBody>
      </p:sp>
      <p:pic>
        <p:nvPicPr>
          <p:cNvPr id="7" name="marca" descr="marca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162556"/>
            <a:ext cx="274320" cy="274320"/>
          </a:xfrm>
          <a:prstGeom prst="rect">
            <a:avLst/>
          </a:prstGeom>
        </p:spPr>
      </p:pic>
      <p:sp>
        <p:nvSpPr>
          <p:cNvPr id="8" name="ponto-2"/>
          <p:cNvSpPr txBox="1"/>
          <p:nvPr/>
        </p:nvSpPr>
        <p:spPr>
          <a:xfrm>
            <a:off x="960120" y="1956816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eps e min_samples</a:t>
            </a:r>
            <a:endParaRPr lang="en-US" sz="2000" dirty="0"/>
          </a:p>
        </p:txBody>
      </p:sp>
      <p:pic>
        <p:nvPicPr>
          <p:cNvPr id="9" name="marca" descr="marca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2884932"/>
            <a:ext cx="274320" cy="274320"/>
          </a:xfrm>
          <a:prstGeom prst="rect">
            <a:avLst/>
          </a:prstGeom>
        </p:spPr>
      </p:pic>
      <p:sp>
        <p:nvSpPr>
          <p:cNvPr id="10" name="ponto-3"/>
          <p:cNvSpPr txBox="1"/>
          <p:nvPr/>
        </p:nvSpPr>
        <p:spPr>
          <a:xfrm>
            <a:off x="960120" y="2679192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Ruído é detectado</a:t>
            </a:r>
            <a:endParaRPr lang="en-US" sz="2000" dirty="0"/>
          </a:p>
        </p:txBody>
      </p:sp>
      <p:pic>
        <p:nvPicPr>
          <p:cNvPr id="11" name="marca" descr="marca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3607308"/>
            <a:ext cx="274320" cy="274320"/>
          </a:xfrm>
          <a:prstGeom prst="rect">
            <a:avLst/>
          </a:prstGeom>
        </p:spPr>
      </p:pic>
      <p:sp>
        <p:nvSpPr>
          <p:cNvPr id="12" name="ponto-4"/>
          <p:cNvSpPr txBox="1"/>
          <p:nvPr/>
        </p:nvSpPr>
        <p:spPr>
          <a:xfrm>
            <a:off x="960120" y="3401568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HDBSCAN para densidades variáveis</a:t>
            </a:r>
            <a:endParaRPr lang="en-US" sz="2000" dirty="0"/>
          </a:p>
        </p:txBody>
      </p:sp>
      <p:sp>
        <p:nvSpPr>
          <p:cNvPr id="13" name="proximo"/>
          <p:cNvSpPr txBox="1"/>
          <p:nvPr/>
        </p:nvSpPr>
        <p:spPr>
          <a:xfrm>
            <a:off x="457200" y="42976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6: Misturas gaussianas e espectral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bg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lusters">
  <a:themeElements>
    <a:clrScheme name="Clusters">
      <a:dk1>
        <a:srgbClr val="1F2937"/>
      </a:dk1>
      <a:lt1>
        <a:srgbClr val="FFFFFF"/>
      </a:lt1>
      <a:dk2>
        <a:srgbClr val="111827"/>
      </a:dk2>
      <a:lt2>
        <a:srgbClr val="F3F4F6"/>
      </a:lt2>
      <a:accent1>
        <a:srgbClr val="4F46E5"/>
      </a:accent1>
      <a:accent2>
        <a:srgbClr val="F59E0B"/>
      </a:accent2>
      <a:accent3>
        <a:srgbClr val="10B981"/>
      </a:accent3>
      <a:accent4>
        <a:srgbClr val="06B6D4"/>
      </a:accent4>
      <a:accent5>
        <a:srgbClr val="8B5CF6"/>
      </a:accent5>
      <a:accent6>
        <a:srgbClr val="6B7280"/>
      </a:accent6>
      <a:hlink>
        <a:srgbClr val="4F46E5"/>
      </a:hlink>
      <a:folHlink>
        <a:srgbClr val="8B5CF6"/>
      </a:folHlink>
    </a:clrScheme>
    <a:fontScheme name="Cluster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Cap. 5 — Agrupamento por Densidade: DBSCAN, OPTICS e HDBSCAN</dc:title>
  <dc:subject>Aprendizado Não Supervisionado</dc:subject>
  <dc:creator>Araken de Medeiros Santos</dc:creator>
  <cp:lastModifiedBy>Araken de Medeiros Santos</cp:lastModifiedBy>
  <cp:revision>1</cp:revision>
  <dcterms:created xsi:type="dcterms:W3CDTF">2026-10-26T18:42:50Z</dcterms:created>
  <dcterms:modified xsi:type="dcterms:W3CDTF">2026-10-26T18:42:50Z</dcterms:modified>
</cp:coreProperties>
</file>