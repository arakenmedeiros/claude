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8f962b4-3ef6-e63c-0e97-b2c9e42e7939}">
          <p14:sldIdLst>
            <p14:sldId id="256"/>
            <p14:sldId id="257"/>
          </p14:sldIdLst>
        </p14:section>
        <p14:section name="Mistura gaussiana" id="{d7fadfd1-d753-f567-29db-1720339e3f34}">
          <p14:sldIdLst>
            <p14:sldId id="258"/>
            <p14:sldId id="259"/>
            <p14:sldId id="260"/>
          </p14:sldIdLst>
        </p14:section>
        <p14:section name="EM" id="{c69c64ec-6dbc-b095-84f1-b546dd4dfc6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spectral" id="{170d688d-e1b2-1095-8ed0-d1de24933746}">
          <p14:sldIdLst>
            <p14:sldId id="270"/>
            <p14:sldId id="271"/>
            <p14:sldId id="272"/>
            <p14:sldId id="273"/>
          </p14:sldIdLst>
        </p14:section>
        <p14:section name="Balanço" id="{a350c2df-9138-6817-7275-1ff26b8e10d1}">
          <p14:sldIdLst>
            <p14:sldId id="274"/>
          </p14:sldIdLst>
        </p14:section>
        <p14:section name="Fixação" id="{4346fcef-7d82-a2b9-f8b6-9d033874a76f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 (esperança) estima a quem cada ponto pertence; M atualiza os 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Eles equilibram ajuste e número de parâmetros.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Primeiro projeta nos autovetores da Laplaciana; depois aplica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perfis com probabilidades numa operadora de telecomunicações.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6895972" y="1135627"/>
            <a:ext cx="128217" cy="12821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7118309" y="700307"/>
            <a:ext cx="94810" cy="9481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7244093" y="1109296"/>
            <a:ext cx="83908" cy="839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745190" y="1398251"/>
            <a:ext cx="69795" cy="6979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015988" y="1365067"/>
            <a:ext cx="152852" cy="1528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719708" y="1497320"/>
            <a:ext cx="127696" cy="1276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962403" y="1609144"/>
            <a:ext cx="108355" cy="1083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185076" y="769633"/>
            <a:ext cx="130911" cy="13091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5993204" y="1218686"/>
            <a:ext cx="142915" cy="14291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999459" y="1404469"/>
            <a:ext cx="86876" cy="868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212849" y="744474"/>
            <a:ext cx="81513" cy="815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574235" y="1859224"/>
            <a:ext cx="96857" cy="968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352631" y="1209495"/>
            <a:ext cx="137223" cy="13722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5998800" y="1632165"/>
            <a:ext cx="131756" cy="1317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877081" y="1081916"/>
            <a:ext cx="135721" cy="13572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537639" y="1798174"/>
            <a:ext cx="107981" cy="10798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781797" y="3485168"/>
            <a:ext cx="71074" cy="7107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799342" y="3367409"/>
            <a:ext cx="126506" cy="12650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821169" y="2672484"/>
            <a:ext cx="116441" cy="11644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8400373" y="3337443"/>
            <a:ext cx="67934" cy="6793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783954" y="3201073"/>
            <a:ext cx="85264" cy="852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856949" y="2694900"/>
            <a:ext cx="164533" cy="16453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332661" y="3414863"/>
            <a:ext cx="164928" cy="164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8314571" y="2384771"/>
            <a:ext cx="125958" cy="1259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8227778" y="2413590"/>
            <a:ext cx="85921" cy="8592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400644" y="3418120"/>
            <a:ext cx="151787" cy="15178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8108684" y="3089858"/>
            <a:ext cx="124500" cy="1245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390869" y="2592973"/>
            <a:ext cx="133236" cy="1332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393701" y="2544604"/>
            <a:ext cx="69888" cy="698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354814" y="2443154"/>
            <a:ext cx="140869" cy="14086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787165" y="2473154"/>
            <a:ext cx="157724" cy="1577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317532" y="3244084"/>
            <a:ext cx="103403" cy="10340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221717" y="4086564"/>
            <a:ext cx="90757" cy="9075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308145" y="4026416"/>
            <a:ext cx="109088" cy="1090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161501" y="3359187"/>
            <a:ext cx="114854" cy="11485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285072" y="3857189"/>
            <a:ext cx="137195" cy="13719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543437" y="3501614"/>
            <a:ext cx="112250" cy="11225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020824" y="4199512"/>
            <a:ext cx="172507" cy="17250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018400" y="3447647"/>
            <a:ext cx="70776" cy="7077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656071" y="3309691"/>
            <a:ext cx="130308" cy="1303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249043" y="3837166"/>
            <a:ext cx="150118" cy="15011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256159" y="3494871"/>
            <a:ext cx="101607" cy="10160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570923" y="3690597"/>
            <a:ext cx="133473" cy="13347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6536182" y="3231158"/>
            <a:ext cx="170984" cy="1709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532359" y="3648398"/>
            <a:ext cx="125428" cy="1254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818348" y="3085036"/>
            <a:ext cx="149830" cy="14983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18282" y="3704038"/>
            <a:ext cx="76585" cy="7658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5311967" y="3664025"/>
            <a:ext cx="80487" cy="8048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395992" y="999471"/>
            <a:ext cx="106008" cy="1060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137393" y="905391"/>
            <a:ext cx="137104" cy="1371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602619" y="1218632"/>
            <a:ext cx="172455" cy="17245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522998" y="296589"/>
            <a:ext cx="109561" cy="10956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7653778" y="1153553"/>
            <a:ext cx="159718" cy="15971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316134" y="416320"/>
            <a:ext cx="116340" cy="1163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613649" y="283851"/>
            <a:ext cx="160923" cy="16092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7438598" y="872052"/>
            <a:ext cx="119148" cy="1191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110843" y="609347"/>
            <a:ext cx="70282" cy="7028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729724" y="690534"/>
            <a:ext cx="119765" cy="11976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983017" y="1290653"/>
            <a:ext cx="126458" cy="12645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7499288" y="1293060"/>
            <a:ext cx="163623" cy="16362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334963" y="812615"/>
            <a:ext cx="99344" cy="993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746925" y="1392334"/>
            <a:ext cx="71995" cy="7199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649811" y="1350623"/>
            <a:ext cx="154504" cy="1545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214463" y="1329855"/>
            <a:ext cx="68808" cy="688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925935" y="2701940"/>
            <a:ext cx="143769" cy="1437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071019" y="2268803"/>
            <a:ext cx="116625" cy="1166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368889" y="2555911"/>
            <a:ext cx="167552" cy="1675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7036401" y="1805612"/>
            <a:ext cx="160225" cy="1602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598682" y="2202389"/>
            <a:ext cx="148314" cy="1483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7356092" y="2519899"/>
            <a:ext cx="102078" cy="10207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202984" y="2642993"/>
            <a:ext cx="154314" cy="1543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977488" y="2529896"/>
            <a:ext cx="152579" cy="15257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488956" y="2434218"/>
            <a:ext cx="99226" cy="9922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694865" y="2478597"/>
            <a:ext cx="104334" cy="10433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602841" y="1644187"/>
            <a:ext cx="117367" cy="11736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206307" y="2028668"/>
            <a:ext cx="153900" cy="1539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863220" y="1784031"/>
            <a:ext cx="85974" cy="8597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325866" y="1988194"/>
            <a:ext cx="154097" cy="15409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7481228" y="2079748"/>
            <a:ext cx="90511" cy="9051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399176" y="2694044"/>
            <a:ext cx="88409" cy="8840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Mistura Gaussiana e Agrupamento Espectral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 probabilidades e grafos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os dados como uma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distribuições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algoritmo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componentes com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e AIC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agrupamento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suave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espectral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Estatura no ônibus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ônibus com </a:t>
            </a: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e crianças</a:t>
            </a: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 alturas formam duas 'montanhas' sobrepostas. Cada pessoa pertence a uma montanha, com certa probabilidade.</a:t>
            </a:r>
            <a:endParaRPr lang="en-US" sz="23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6_mistura" descr="f6_mis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987" y="1234440"/>
            <a:ext cx="3507146" cy="2377440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= várias montanhas misturadas.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 em 2 minutos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(centro)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(largura)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várias dimensões: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covariância dá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6_gauss2d" descr="f6_gauss2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84389"/>
            <a:ext cx="3931920" cy="1089023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decide onde; covariância decide a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da mistura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= uma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gaussiana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vêm de uma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ponderada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ponto: probabilidade de cada grupo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elípticos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só bolas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com 'sabor' probabilístico.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 e galinha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grupo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ponto pertence, preciso dos parâmetros. Para estimar os parâmetros, preciso dos grupos. Solução: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alternar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Chute, melhore, repita.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parâmetros (por exemplo, K-means)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calcular as responsabilidades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M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reestimar médias, covariâncias e pesos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até a verossimilhança estabilizar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estima quem é de quem. M reajusta os grupos.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em 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6_em" descr="f6_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8315"/>
            <a:ext cx="7498080" cy="195545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elipses se ajustam a cada iteração.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Rígido × suave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6_suave" descr="f6_su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37" y="1188720"/>
            <a:ext cx="6473926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na fronteira têm dúvida honesta.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tipos de resposta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Rígido (K-means)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ponto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dúvida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Suave (GMM)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grupo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ambiguidade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70% A, 30% B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'talvez' vale mais que 'sim'.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covariância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 dos grupos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Elipses alinhadas aos eixos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elipse para todos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Elipses livres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liberdade, mais parâmetros.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GMM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830070"/>
          </a:xfrm>
          <a:prstGeom prst="roundRect">
            <a:avLst>
              <a:gd name="adj" fmla="val 39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sklearn.mixture import GaussianMixture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 = GaussianMixture(n_components=3,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covariance_type="full", random_state=0)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gm.fit_predict(X)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gm.predict_proba(X)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print(gm.bic(X))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`n_components`: nº de gaussianas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`predict_proba`: pertinência suave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`bic`: menor é melhor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 diz o quanto confia.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componentes?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6_bic" descr="f6_b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726" y="1188720"/>
            <a:ext cx="4408548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BIC, melhor equilíbrio.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 com o GMM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cair em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local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(poucos dados)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gaussiano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com vários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Elegante, mas exigente com os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de amigos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</a:t>
            </a:r>
            <a:r>
              <a:rPr lang="en-US" sz="2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social</a:t>
            </a:r>
            <a:r>
              <a:rPr lang="en-US" sz="2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comunidades são grupos de amigos muito ligados entre si e pouco ligados ao resto. O espectral procura essas comunidades.</a:t>
            </a:r>
            <a:endParaRPr lang="en-US" sz="23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6_grafo" descr="f6_graf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96713"/>
            <a:ext cx="3840480" cy="2252894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= comunidade num grafo.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Espectral em 4 passos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similaridade entre pontos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matriz que descreve o grafo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Autovetores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os k menores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novo espaço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de espaço; o problema vira fácil.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Espectral × K-means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6_espectral_vs_kmeans" descr="f6_espectral_vs_kme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888" y="1188720"/>
            <a:ext cx="5562225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luas e anéis que o K-means não separa.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Eigengap e custos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Eigengap: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salto nos autovalores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sugere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(matriz n × n)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milhões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forma, preço de memória.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escolher?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2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377440"/>
                <a:gridCol w="1828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Bolas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Espectral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Forma, probabilidade ou topologia?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ponderada de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gaussianas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Suave?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K;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melhor.</a:t>
            </a:r>
            <a:endParaRPr lang="en-US" sz="17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→ Laplaciana → autovetores.</a:t>
            </a:r>
            <a:endParaRPr lang="en-US" sz="17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Eigengap?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o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grupos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E do EM calcula: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médias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responsabilidades (probabilidades de pertinência)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grupos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e AIC servem para: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os dados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número de componentes penalizando a complexidade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outliers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silhueta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agrupamento espectral usa K-means: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dados originais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 dos autovetores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nos outliers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tipos de covariância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Iris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compare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BIC/AIC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pontos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ambíguos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(probabilidade &lt; 0,7)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detectar anomalias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BIC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pontos ambíguos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espectral × K-means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gaussianas e EM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Pertinência suave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escolhe K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Espectral: grafos e autovetores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7: Avaliação e validação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6 — Modelos de Mistura Gaussiana e Agrupamento Espectral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2026-10-26T18:42:50Z</dcterms:created>
  <dcterms:modified xsi:type="dcterms:W3CDTF">2026-10-26T18:42:50Z</dcterms:modified>
</cp:coreProperties>
</file>