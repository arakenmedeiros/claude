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060c62f-5926-8066-cabe-f942911b97d5}">
          <p14:sldIdLst>
            <p14:sldId id="256"/>
            <p14:sldId id="257"/>
          </p14:sldIdLst>
        </p14:section>
        <p14:section name="Ideia central" id="{c27ffc81-ef88-8984-e576-3ae1839d1aff}">
          <p14:sldIdLst>
            <p14:sldId id="258"/>
            <p14:sldId id="259"/>
            <p14:sldId id="260"/>
          </p14:sldIdLst>
        </p14:section>
        <p14:section name="Paradigmas" id="{634d5d1b-eefe-75c1-6e93-0568a5948aa1}">
          <p14:sldIdLst>
            <p14:sldId id="261"/>
            <p14:sldId id="262"/>
            <p14:sldId id="263"/>
            <p14:sldId id="264"/>
          </p14:sldIdLst>
        </p14:section>
        <p14:section name="Famílias de tarefas" id="{0b77d191-e489-18fb-9dda-a76c1e5a1fee}">
          <p14:sldIdLst>
            <p14:sldId id="265"/>
            <p14:sldId id="266"/>
            <p14:sldId id="267"/>
          </p14:sldIdLst>
        </p14:section>
        <p14:section name="História" id="{5f53bdc0-856e-9b87-0888-db898baf3eae}">
          <p14:sldIdLst>
            <p14:sldId id="268"/>
          </p14:sldIdLst>
        </p14:section>
        <p14:section name="Na prática" id="{89beb6a0-dfda-4b51-6370-ea07ced0c6fe}">
          <p14:sldIdLst>
            <p14:sldId id="269"/>
            <p14:sldId id="270"/>
            <p14:sldId id="271"/>
            <p14:sldId id="272"/>
          </p14:sldIdLst>
        </p14:section>
        <p14:section name="Ética e roteiro" id="{ea331abf-9aa6-4e80-00e1-62b8cb2437da}">
          <p14:sldIdLst>
            <p14:sldId id="273"/>
            <p14:sldId id="274"/>
          </p14:sldIdLst>
        </p14:section>
        <p14:section name="Fixação" id="{216eb122-9b6d-e116-a790-34b5b9e67946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disciplina. Pergunte à turma: 'Já arrumaram uma gaveta sem ter etiquetas?' Esse é o espírito do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imagem mental do capítulo inteiro: estrutura emerge dos dados sem rótulos.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Não há variável-alvo; busca-se estrutura nos dados. As demais alternativas usam rótulo ou recompensa.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Exemplo: esconder uma palavra e pedir ao modelo para prevê-la.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Ele devolve o número pedido; é preciso validar e interpretar.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esperado no livro: ARI ≈ 0,37 sem escala e ≈ 0,90 com padronização.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7046327" y="1153030"/>
            <a:ext cx="76801" cy="768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004480" y="1322655"/>
            <a:ext cx="73391" cy="7339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785233" y="1652450"/>
            <a:ext cx="143298" cy="14329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671426" y="861273"/>
            <a:ext cx="78909" cy="7890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5958503" y="1472816"/>
            <a:ext cx="160654" cy="16065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434264" y="1771474"/>
            <a:ext cx="156926" cy="156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696483" y="1493994"/>
            <a:ext cx="165337" cy="16533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5909206" y="956590"/>
            <a:ext cx="102195" cy="10219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7177634" y="1489511"/>
            <a:ext cx="76752" cy="767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7123287" y="881857"/>
            <a:ext cx="78379" cy="7837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946891" y="1613239"/>
            <a:ext cx="159453" cy="15945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675958" y="1859161"/>
            <a:ext cx="75613" cy="756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271399" y="978009"/>
            <a:ext cx="65557" cy="655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664569" y="1434251"/>
            <a:ext cx="72845" cy="7284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5833831" y="1151690"/>
            <a:ext cx="137201" cy="1372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7040747" y="1124694"/>
            <a:ext cx="98878" cy="9887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867608" y="2876181"/>
            <a:ext cx="98509" cy="9850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544881" y="2791049"/>
            <a:ext cx="90316" cy="903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7395362" y="2816418"/>
            <a:ext cx="120728" cy="120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791427" y="2774796"/>
            <a:ext cx="136656" cy="13665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273823" y="2812316"/>
            <a:ext cx="150925" cy="15092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8256630" y="3171251"/>
            <a:ext cx="101034" cy="10103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7700588" y="3594971"/>
            <a:ext cx="91886" cy="9188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973032" y="3012445"/>
            <a:ext cx="92058" cy="920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294028" y="2948590"/>
            <a:ext cx="93877" cy="9387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8245708" y="3142787"/>
            <a:ext cx="119886" cy="11988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893076" y="2272355"/>
            <a:ext cx="70581" cy="7058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949496" y="2242440"/>
            <a:ext cx="144119" cy="14411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7412586" y="2823588"/>
            <a:ext cx="172057" cy="17205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7990252" y="2172478"/>
            <a:ext cx="145530" cy="14553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444126" y="2363827"/>
            <a:ext cx="131126" cy="13112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722373" y="2918118"/>
            <a:ext cx="70369" cy="7036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5706997" y="3984077"/>
            <a:ext cx="132577" cy="13257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5895266" y="3287779"/>
            <a:ext cx="115680" cy="115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5474943" y="3166508"/>
            <a:ext cx="163772" cy="1637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6245686" y="3245138"/>
            <a:ext cx="133785" cy="13378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6161937" y="2882073"/>
            <a:ext cx="73849" cy="7384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5931103" y="3524284"/>
            <a:ext cx="171665" cy="17166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5911343" y="2927762"/>
            <a:ext cx="127039" cy="12703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5513147" y="3845354"/>
            <a:ext cx="102083" cy="10208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6315376" y="3534628"/>
            <a:ext cx="100213" cy="10021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5355687" y="3216071"/>
            <a:ext cx="72803" cy="7280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177141" y="3883467"/>
            <a:ext cx="162604" cy="1626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6461446" y="3257234"/>
            <a:ext cx="143721" cy="14372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5285636" y="3346629"/>
            <a:ext cx="112246" cy="11224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5565834" y="2938909"/>
            <a:ext cx="89095" cy="8909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881858" y="3438652"/>
            <a:ext cx="164074" cy="16407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6240671" y="3690363"/>
            <a:ext cx="96561" cy="9656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8444497" y="1464445"/>
            <a:ext cx="129864" cy="1298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8468680" y="1321952"/>
            <a:ext cx="144834" cy="14483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656805" y="1002092"/>
            <a:ext cx="158746" cy="15874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8341292" y="828427"/>
            <a:ext cx="88105" cy="8810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8626239" y="640724"/>
            <a:ext cx="105676" cy="10567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7886893" y="1179018"/>
            <a:ext cx="108722" cy="10872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8296941" y="485430"/>
            <a:ext cx="77315" cy="7731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8353580" y="1488725"/>
            <a:ext cx="132293" cy="13229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126911" y="1123279"/>
            <a:ext cx="111272" cy="1112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7819816" y="965675"/>
            <a:ext cx="156381" cy="15638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8189586" y="547544"/>
            <a:ext cx="155775" cy="15577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282951" y="664073"/>
            <a:ext cx="73203" cy="7320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7451427" y="1033496"/>
            <a:ext cx="171970" cy="17197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7468280" y="905183"/>
            <a:ext cx="138329" cy="13832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8101358" y="129896"/>
            <a:ext cx="120388" cy="1203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7841524" y="216697"/>
            <a:ext cx="135896" cy="135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7589739" y="2435952"/>
            <a:ext cx="79676" cy="7967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7221926" y="1737105"/>
            <a:ext cx="129983" cy="12998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6588468" y="2760205"/>
            <a:ext cx="150463" cy="15046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888951" y="2759320"/>
            <a:ext cx="172160" cy="172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6486413" y="1736644"/>
            <a:ext cx="76828" cy="768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6504735" y="1988574"/>
            <a:ext cx="123605" cy="12360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6454614" y="2410079"/>
            <a:ext cx="108366" cy="10836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6797746" y="2784389"/>
            <a:ext cx="143084" cy="1430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7430090" y="2517878"/>
            <a:ext cx="128610" cy="12861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7278944" y="2506040"/>
            <a:ext cx="146152" cy="1461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7186986" y="2162682"/>
            <a:ext cx="116288" cy="1162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7018638" y="1775694"/>
            <a:ext cx="66795" cy="6679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7538878" y="2038492"/>
            <a:ext cx="91121" cy="9112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7445875" y="1851085"/>
            <a:ext cx="98183" cy="9818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231273" y="2056700"/>
            <a:ext cx="141752" cy="1417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7461375" y="2459936"/>
            <a:ext cx="131221" cy="13122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 ao Aprendizado Não Supervisionado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padrões sem ninguém dar as respostas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com suas palavras o que é aprendizado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paradigmas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aprendizado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as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famílias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tarefas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as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 projeto</a:t>
            </a:r>
            <a:endParaRPr lang="en-US" sz="20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seu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agrupamento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Python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festa sem crachás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chega a uma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onde ninguém usa crachá. Em minutos, percebe rodinhas: quem fala de futebol, quem fala de filmes, quem dança.</a:t>
            </a:r>
            <a:endParaRPr lang="en-US" sz="2400" dirty="0"/>
          </a:p>
        </p:txBody>
      </p:sp>
      <p:sp>
        <p:nvSpPr>
          <p:cNvPr id="7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8" name="figura-f1_festa" descr="f1_fe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89987"/>
            <a:ext cx="3840480" cy="2066345"/>
          </a:xfrm>
          <a:prstGeom prst="rect">
            <a:avLst/>
          </a:prstGeom>
        </p:spPr>
      </p:pic>
      <p:sp>
        <p:nvSpPr>
          <p:cNvPr id="9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disse os grupos. Você os descobriu.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com dados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exemplos descritos por atributos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resumo que generaliza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ajustar o modelo aos dados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passada → decisão nova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é generalizar, não decorar.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 = só X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temos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(as medidas)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y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(gabarito)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busca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grupos, mapas, regras, alertas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professor, sem prova, sem nota.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paradigmas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_tipos" descr="f1_tip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653" y="1188720"/>
            <a:ext cx="4512693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paradigma muda o tipo de 'feedback'.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dá o feedback?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8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Pista dada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correta (y)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Prever preço de casa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supervisionado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Segmentar clientes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Semissupervisionado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Poucas respostas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Rotular poucas fotos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Auto-supervisionado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Respostas criadas dos 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Prever a próxima palavra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reforço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Recompensa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Robô que aprende a andar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é a pista, não o computador.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 × Não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um alvo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com professor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gabarito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padrões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sem mapa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pergunta 'qual a resposta?'. O outro, 'o que existe aqui?'.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estudar isso?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custam caro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(tempo, dinheiro)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dados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rótulo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o que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imaginou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dados para outros modelos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é artigo de luxo. Dado bruto é abundante.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famílias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_tarefas" descr="f1_taref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569" y="1188720"/>
            <a:ext cx="3904861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Agrupar, reduzir, associar, estranhar.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perguntas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1885950" cy="2834640"/>
          </a:xfrm>
          <a:prstGeom prst="roundRect">
            <a:avLst>
              <a:gd name="adj" fmla="val 4848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188595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152019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parecido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perfis de clientes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2571750" y="1188720"/>
            <a:ext cx="1885950" cy="2834640"/>
          </a:xfrm>
          <a:prstGeom prst="roundRect">
            <a:avLst>
              <a:gd name="adj" fmla="val 4848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2571750" y="1188720"/>
            <a:ext cx="188595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2663190" y="1188720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2754630" y="1783080"/>
            <a:ext cx="152019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mapa 2D de dados</a:t>
            </a:r>
            <a:endParaRPr lang="en-US" sz="1800" dirty="0"/>
          </a:p>
        </p:txBody>
      </p:sp>
      <p:sp>
        <p:nvSpPr>
          <p:cNvPr id="13" name="coluna-3"/>
          <p:cNvSpPr/>
          <p:nvPr/>
        </p:nvSpPr>
        <p:spPr>
          <a:xfrm>
            <a:off x="4686300" y="1188720"/>
            <a:ext cx="1885950" cy="2834640"/>
          </a:xfrm>
          <a:prstGeom prst="roundRect">
            <a:avLst>
              <a:gd name="adj" fmla="val 4848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abeca-3"/>
          <p:cNvSpPr/>
          <p:nvPr/>
        </p:nvSpPr>
        <p:spPr>
          <a:xfrm>
            <a:off x="4686300" y="1188720"/>
            <a:ext cx="188595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itulo-coluna-3"/>
          <p:cNvSpPr txBox="1"/>
          <p:nvPr/>
        </p:nvSpPr>
        <p:spPr>
          <a:xfrm>
            <a:off x="4777740" y="1188720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</a:t>
            </a:r>
            <a:endParaRPr lang="en-US" sz="1600" dirty="0"/>
          </a:p>
        </p:txBody>
      </p:sp>
      <p:sp>
        <p:nvSpPr>
          <p:cNvPr id="16" name="itens-3"/>
          <p:cNvSpPr txBox="1"/>
          <p:nvPr/>
        </p:nvSpPr>
        <p:spPr>
          <a:xfrm>
            <a:off x="4869180" y="1783080"/>
            <a:ext cx="152019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cesta de compras</a:t>
            </a:r>
            <a:endParaRPr lang="en-US" sz="1800" dirty="0"/>
          </a:p>
        </p:txBody>
      </p:sp>
      <p:sp>
        <p:nvSpPr>
          <p:cNvPr id="17" name="coluna-4"/>
          <p:cNvSpPr/>
          <p:nvPr/>
        </p:nvSpPr>
        <p:spPr>
          <a:xfrm>
            <a:off x="6800850" y="1188720"/>
            <a:ext cx="1885950" cy="2834640"/>
          </a:xfrm>
          <a:prstGeom prst="roundRect">
            <a:avLst>
              <a:gd name="adj" fmla="val 4848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cabeca-4"/>
          <p:cNvSpPr/>
          <p:nvPr/>
        </p:nvSpPr>
        <p:spPr>
          <a:xfrm>
            <a:off x="6800850" y="1188720"/>
            <a:ext cx="188595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itulo-coluna-4"/>
          <p:cNvSpPr txBox="1"/>
          <p:nvPr/>
        </p:nvSpPr>
        <p:spPr>
          <a:xfrm>
            <a:off x="6892290" y="1188720"/>
            <a:ext cx="170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1600" dirty="0"/>
          </a:p>
        </p:txBody>
      </p:sp>
      <p:sp>
        <p:nvSpPr>
          <p:cNvPr id="20" name="itens-4"/>
          <p:cNvSpPr txBox="1"/>
          <p:nvPr/>
        </p:nvSpPr>
        <p:spPr>
          <a:xfrm>
            <a:off x="6983730" y="1783080"/>
            <a:ext cx="152019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foge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normal?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fraude no cartão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tarefa para cada pergunta.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Gaveta de meias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é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arrumar uma gaveta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etiquetas: você junta o que parece igual (cor, tamanho, material).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 = juntar os parecidos.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do tempo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_historia" descr="f1_histor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30" y="1188720"/>
            <a:ext cx="7166340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Ideias antigas, poder computacional novo.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de um projeto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_pipeline" descr="f1_pipe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083" y="1188720"/>
            <a:ext cx="5877835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Entender, preparar, modelar, avaliar, agir.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etapas, em resumo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2146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2146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qual é a pergunta?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16870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16870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661160"/>
            <a:ext cx="75895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e limpar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dados confiáveis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15950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1595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133600"/>
            <a:ext cx="75895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escalar, codificar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263194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26319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2606040"/>
            <a:ext cx="75895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algoritmo + parâmetros</a:t>
            </a:r>
            <a:endParaRPr lang="en-US" sz="2000" dirty="0"/>
          </a:p>
        </p:txBody>
      </p:sp>
      <p:sp>
        <p:nvSpPr>
          <p:cNvPr id="17" name="passo-circulo-5"/>
          <p:cNvSpPr/>
          <p:nvPr/>
        </p:nvSpPr>
        <p:spPr>
          <a:xfrm>
            <a:off x="457200" y="310438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passo-n-5"/>
          <p:cNvSpPr txBox="1"/>
          <p:nvPr/>
        </p:nvSpPr>
        <p:spPr>
          <a:xfrm>
            <a:off x="457200" y="3104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passo-5"/>
          <p:cNvSpPr txBox="1"/>
          <p:nvPr/>
        </p:nvSpPr>
        <p:spPr>
          <a:xfrm>
            <a:off x="1097280" y="3078480"/>
            <a:ext cx="75895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 interpretar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isso faz sentido?</a:t>
            </a:r>
            <a:endParaRPr lang="en-US" sz="2000" dirty="0"/>
          </a:p>
        </p:txBody>
      </p:sp>
      <p:sp>
        <p:nvSpPr>
          <p:cNvPr id="20" name="passo-circulo-6"/>
          <p:cNvSpPr/>
          <p:nvPr/>
        </p:nvSpPr>
        <p:spPr>
          <a:xfrm>
            <a:off x="457200" y="35768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asso-n-6"/>
          <p:cNvSpPr txBox="1"/>
          <p:nvPr/>
        </p:nvSpPr>
        <p:spPr>
          <a:xfrm>
            <a:off x="457200" y="35768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passo-6"/>
          <p:cNvSpPr txBox="1"/>
          <p:nvPr/>
        </p:nvSpPr>
        <p:spPr>
          <a:xfrm>
            <a:off x="1097280" y="3550920"/>
            <a:ext cx="75895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decisão com humanos</a:t>
            </a:r>
            <a:endParaRPr lang="en-US" sz="2000" dirty="0"/>
          </a:p>
        </p:txBody>
      </p:sp>
      <p:sp>
        <p:nvSpPr>
          <p:cNvPr id="2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é só uma etapa.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agrupamento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2052320"/>
          </a:xfrm>
          <a:prstGeom prst="roundRect">
            <a:avLst>
              <a:gd name="adj" fmla="val 35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load_iris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load_iris(return_X_y=True)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KMeans(n_clusters=3, n_init=10,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random_state=0)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 = km.fit_predict(X)  # sem usar y!</a:t>
            </a:r>
            <a:endParaRPr lang="en-US" sz="16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`load_iris`: 150 flores, 4 medidas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`n_clusters=3`: pedimos 3 grupos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`fit_predict`: descobre e devolve o grupo de cada flor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`y` só serve para conferir depois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linhas de método, zero rótulos.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 a este detalhe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responde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estrutura real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≠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absoluta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</a:t>
            </a:r>
            <a:endParaRPr lang="en-US" sz="20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algoritmo dá uma resposta. Nem toda resposta é boa.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éticos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nos dados vira viés no modelo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pessoas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podem virar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estigmas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sugere;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decidem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para agrupar exige responsabilidade.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roteiro do livro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_roteiro" descr="f1_rotei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4" y="1188720"/>
            <a:ext cx="5958353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partes, treze capítulos, um projeto final.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y. Descobre estrutura.</a:t>
            </a:r>
            <a:endParaRPr lang="en-US" sz="15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famílias?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Agrupar, reduzir, associar, alertar.</a:t>
            </a:r>
            <a:endParaRPr lang="en-US" sz="15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Auto-supervisionado?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dos próprios dados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central?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gabarito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 algoritmo sugere.</a:t>
            </a:r>
            <a:endParaRPr lang="en-US" sz="15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pipeline?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só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etapas.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cenário é típico de aprendizado NÃO supervisionado?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o preço de um imóvel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clientes por comportamento de compra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e-mails como spam, com exemplos rotulados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 robô com recompensas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caracteriza o aprendizado auto-supervisionado?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dados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rótulos humanos para tudo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próprio rótulo a partir dos dados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recompensas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K-means retornou 3 grupos. Isso prova que existem 3 grupos reais?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sempre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Não: o algoritmo sempre devolve k grupos pedidos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se rodar rápido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houver rótulos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Carregue o conjunto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scikit-learn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com K-means (k=3),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 sem escala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as classes usando o ARI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com PCA em 2D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medidas de ARI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dos grupos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Parágrafo explicando o efeito da escala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 = descobrir estrutura sem gabarito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famílias de tarefas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= muito além do algoritmo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Ética: pessoas decidem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2: Dados, distâncias e pré-processamento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 — Bem-vindo ao Aprendizado Não Supervisionado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2026-10-26T18:42:48Z</dcterms:created>
  <dcterms:modified xsi:type="dcterms:W3CDTF">2026-10-26T18:42:48Z</dcterms:modified>
</cp:coreProperties>
</file>