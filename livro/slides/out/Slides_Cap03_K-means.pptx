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9263c72-b65e-e7e5-add8-d7d291203813}">
          <p14:sldIdLst>
            <p14:sldId id="256"/>
            <p14:sldId id="257"/>
          </p14:sldIdLst>
        </p14:section>
        <p14:section name="Ideia" id="{c6625e74-0f48-05fa-4b5b-ad5e2f60bae6}">
          <p14:sldIdLst>
            <p14:sldId id="258"/>
            <p14:sldId id="259"/>
          </p14:sldIdLst>
        </p14:section>
        <p14:section name="Algoritmo" id="{cb5baf69-16c4-1c78-e2e1-665efd3a59e1}">
          <p14:sldIdLst>
            <p14:sldId id="260"/>
            <p14:sldId id="261"/>
            <p14:sldId id="262"/>
            <p14:sldId id="263"/>
            <p14:sldId id="264"/>
          </p14:sldIdLst>
        </p14:section>
        <p14:section name="Inicialização" id="{42ea5ef1-b0e3-81e1-6eeb-cfd17c8f4002}">
          <p14:sldIdLst>
            <p14:sldId id="265"/>
            <p14:sldId id="266"/>
          </p14:sldIdLst>
        </p14:section>
        <p14:section name="Escolher k" id="{43838ce6-2e49-dc3f-9eb4-50a92741ffd3}">
          <p14:sldIdLst>
            <p14:sldId id="267"/>
            <p14:sldId id="268"/>
          </p14:sldIdLst>
        </p14:section>
        <p14:section name="Limites" id="{dfec35d9-c67d-94d3-ce51-4a665c0eb7ac}">
          <p14:sldIdLst>
            <p14:sldId id="269"/>
            <p14:sldId id="270"/>
          </p14:sldIdLst>
        </p14:section>
        <p14:section name="Variantes" id="{74bd1f05-0106-08a2-d6b2-668209aad62a}">
          <p14:sldIdLst>
            <p14:sldId id="271"/>
          </p14:sldIdLst>
        </p14:section>
        <p14:section name="Estudos de caso" id="{403450b1-5e65-5e7c-c21c-eae45a67a68f}">
          <p14:sldIdLst>
            <p14:sldId id="272"/>
            <p14:sldId id="273"/>
            <p14:sldId id="274"/>
          </p14:sldIdLst>
        </p14:section>
        <p14:section name="Fixação" id="{f9ca033b-4121-5753-6089-2b6bf5d3c184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É a média: daí o nome K-means.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Ele melhora a inicialização, reduzindo mínimos locais ruins.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Para formas não convexas, use densidade ou espectral.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 do capítulo: segmentação RFM de uma loja.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o-0"/>
          <p:cNvSpPr/>
          <p:nvPr/>
        </p:nvSpPr>
        <p:spPr>
          <a:xfrm>
            <a:off x="5760720" y="365760"/>
            <a:ext cx="1645920" cy="1645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ponto-0-0"/>
          <p:cNvSpPr/>
          <p:nvPr/>
        </p:nvSpPr>
        <p:spPr>
          <a:xfrm>
            <a:off x="7239899" y="1128957"/>
            <a:ext cx="141258" cy="14125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onto-0-1"/>
          <p:cNvSpPr/>
          <p:nvPr/>
        </p:nvSpPr>
        <p:spPr>
          <a:xfrm>
            <a:off x="5872527" y="1432684"/>
            <a:ext cx="125850" cy="1258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onto-0-2"/>
          <p:cNvSpPr/>
          <p:nvPr/>
        </p:nvSpPr>
        <p:spPr>
          <a:xfrm>
            <a:off x="6381350" y="1553543"/>
            <a:ext cx="119542" cy="11954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onto-0-3"/>
          <p:cNvSpPr/>
          <p:nvPr/>
        </p:nvSpPr>
        <p:spPr>
          <a:xfrm>
            <a:off x="6840413" y="1552654"/>
            <a:ext cx="163046" cy="16304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onto-0-4"/>
          <p:cNvSpPr/>
          <p:nvPr/>
        </p:nvSpPr>
        <p:spPr>
          <a:xfrm>
            <a:off x="6142645" y="801262"/>
            <a:ext cx="91696" cy="916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onto-0-5"/>
          <p:cNvSpPr/>
          <p:nvPr/>
        </p:nvSpPr>
        <p:spPr>
          <a:xfrm>
            <a:off x="6656409" y="1160672"/>
            <a:ext cx="101343" cy="10134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onto-0-6"/>
          <p:cNvSpPr/>
          <p:nvPr/>
        </p:nvSpPr>
        <p:spPr>
          <a:xfrm>
            <a:off x="6115093" y="958150"/>
            <a:ext cx="164490" cy="16449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onto-0-7"/>
          <p:cNvSpPr/>
          <p:nvPr/>
        </p:nvSpPr>
        <p:spPr>
          <a:xfrm>
            <a:off x="6534088" y="950827"/>
            <a:ext cx="157572" cy="1575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onto-0-8"/>
          <p:cNvSpPr/>
          <p:nvPr/>
        </p:nvSpPr>
        <p:spPr>
          <a:xfrm>
            <a:off x="6529409" y="1418524"/>
            <a:ext cx="169054" cy="16905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onto-0-9"/>
          <p:cNvSpPr/>
          <p:nvPr/>
        </p:nvSpPr>
        <p:spPr>
          <a:xfrm>
            <a:off x="6670748" y="666355"/>
            <a:ext cx="81777" cy="8177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onto-0-10"/>
          <p:cNvSpPr/>
          <p:nvPr/>
        </p:nvSpPr>
        <p:spPr>
          <a:xfrm>
            <a:off x="6460310" y="499894"/>
            <a:ext cx="150222" cy="15022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onto-0-11"/>
          <p:cNvSpPr/>
          <p:nvPr/>
        </p:nvSpPr>
        <p:spPr>
          <a:xfrm>
            <a:off x="5929691" y="1389776"/>
            <a:ext cx="149947" cy="1499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onto-0-12"/>
          <p:cNvSpPr/>
          <p:nvPr/>
        </p:nvSpPr>
        <p:spPr>
          <a:xfrm>
            <a:off x="6224641" y="1782247"/>
            <a:ext cx="94223" cy="9422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onto-0-13"/>
          <p:cNvSpPr/>
          <p:nvPr/>
        </p:nvSpPr>
        <p:spPr>
          <a:xfrm>
            <a:off x="6726804" y="1207624"/>
            <a:ext cx="140300" cy="140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onto-0-14"/>
          <p:cNvSpPr/>
          <p:nvPr/>
        </p:nvSpPr>
        <p:spPr>
          <a:xfrm>
            <a:off x="6509283" y="1057034"/>
            <a:ext cx="70772" cy="707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onto-0-15"/>
          <p:cNvSpPr/>
          <p:nvPr/>
        </p:nvSpPr>
        <p:spPr>
          <a:xfrm>
            <a:off x="6577772" y="1158824"/>
            <a:ext cx="168356" cy="1683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halo-1"/>
          <p:cNvSpPr/>
          <p:nvPr/>
        </p:nvSpPr>
        <p:spPr>
          <a:xfrm>
            <a:off x="7040880" y="2103120"/>
            <a:ext cx="1645920" cy="1645920"/>
          </a:xfrm>
          <a:prstGeom prst="ellipse">
            <a:avLst/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ponto-1-0"/>
          <p:cNvSpPr/>
          <p:nvPr/>
        </p:nvSpPr>
        <p:spPr>
          <a:xfrm>
            <a:off x="8323393" y="2553246"/>
            <a:ext cx="65589" cy="6558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ponto-1-1"/>
          <p:cNvSpPr/>
          <p:nvPr/>
        </p:nvSpPr>
        <p:spPr>
          <a:xfrm>
            <a:off x="7848190" y="3249223"/>
            <a:ext cx="126737" cy="12673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ponto-1-2"/>
          <p:cNvSpPr/>
          <p:nvPr/>
        </p:nvSpPr>
        <p:spPr>
          <a:xfrm>
            <a:off x="7902392" y="3407127"/>
            <a:ext cx="162904" cy="1629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ponto-1-3"/>
          <p:cNvSpPr/>
          <p:nvPr/>
        </p:nvSpPr>
        <p:spPr>
          <a:xfrm>
            <a:off x="8160708" y="2571270"/>
            <a:ext cx="109167" cy="10916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ponto-1-4"/>
          <p:cNvSpPr/>
          <p:nvPr/>
        </p:nvSpPr>
        <p:spPr>
          <a:xfrm>
            <a:off x="8225635" y="2882669"/>
            <a:ext cx="168552" cy="16855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ponto-1-5"/>
          <p:cNvSpPr/>
          <p:nvPr/>
        </p:nvSpPr>
        <p:spPr>
          <a:xfrm>
            <a:off x="8528756" y="2822462"/>
            <a:ext cx="82542" cy="8254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ponto-1-6"/>
          <p:cNvSpPr/>
          <p:nvPr/>
        </p:nvSpPr>
        <p:spPr>
          <a:xfrm>
            <a:off x="8292768" y="2582055"/>
            <a:ext cx="77212" cy="772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ponto-1-7"/>
          <p:cNvSpPr/>
          <p:nvPr/>
        </p:nvSpPr>
        <p:spPr>
          <a:xfrm>
            <a:off x="7492181" y="3015264"/>
            <a:ext cx="149509" cy="14950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ponto-1-8"/>
          <p:cNvSpPr/>
          <p:nvPr/>
        </p:nvSpPr>
        <p:spPr>
          <a:xfrm>
            <a:off x="7899813" y="3542411"/>
            <a:ext cx="68749" cy="6874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ponto-1-9"/>
          <p:cNvSpPr/>
          <p:nvPr/>
        </p:nvSpPr>
        <p:spPr>
          <a:xfrm>
            <a:off x="7882692" y="3045985"/>
            <a:ext cx="88755" cy="8875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ponto-1-10"/>
          <p:cNvSpPr/>
          <p:nvPr/>
        </p:nvSpPr>
        <p:spPr>
          <a:xfrm>
            <a:off x="7519986" y="2857504"/>
            <a:ext cx="136040" cy="1360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ponto-1-11"/>
          <p:cNvSpPr/>
          <p:nvPr/>
        </p:nvSpPr>
        <p:spPr>
          <a:xfrm>
            <a:off x="8324622" y="3304790"/>
            <a:ext cx="95874" cy="9587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ponto-1-12"/>
          <p:cNvSpPr/>
          <p:nvPr/>
        </p:nvSpPr>
        <p:spPr>
          <a:xfrm>
            <a:off x="8214203" y="2702142"/>
            <a:ext cx="153135" cy="15313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ponto-1-13"/>
          <p:cNvSpPr/>
          <p:nvPr/>
        </p:nvSpPr>
        <p:spPr>
          <a:xfrm>
            <a:off x="7164781" y="2781622"/>
            <a:ext cx="77829" cy="7782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ponto-1-14"/>
          <p:cNvSpPr/>
          <p:nvPr/>
        </p:nvSpPr>
        <p:spPr>
          <a:xfrm>
            <a:off x="7990937" y="2693948"/>
            <a:ext cx="141765" cy="14176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ponto-1-15"/>
          <p:cNvSpPr/>
          <p:nvPr/>
        </p:nvSpPr>
        <p:spPr>
          <a:xfrm>
            <a:off x="8418543" y="3018426"/>
            <a:ext cx="83583" cy="8358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halo-2"/>
          <p:cNvSpPr/>
          <p:nvPr/>
        </p:nvSpPr>
        <p:spPr>
          <a:xfrm>
            <a:off x="5212080" y="2743200"/>
            <a:ext cx="1645920" cy="1645920"/>
          </a:xfrm>
          <a:prstGeom prst="ellipse">
            <a:avLst/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onto-2-0"/>
          <p:cNvSpPr/>
          <p:nvPr/>
        </p:nvSpPr>
        <p:spPr>
          <a:xfrm>
            <a:off x="5861687" y="4141768"/>
            <a:ext cx="159740" cy="1597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ponto-2-1"/>
          <p:cNvSpPr/>
          <p:nvPr/>
        </p:nvSpPr>
        <p:spPr>
          <a:xfrm>
            <a:off x="5909635" y="3939876"/>
            <a:ext cx="91098" cy="9109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ponto-2-2"/>
          <p:cNvSpPr/>
          <p:nvPr/>
        </p:nvSpPr>
        <p:spPr>
          <a:xfrm>
            <a:off x="5834057" y="3804916"/>
            <a:ext cx="144205" cy="14420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ponto-2-3"/>
          <p:cNvSpPr/>
          <p:nvPr/>
        </p:nvSpPr>
        <p:spPr>
          <a:xfrm>
            <a:off x="6145886" y="2840700"/>
            <a:ext cx="69312" cy="6931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ponto-2-4"/>
          <p:cNvSpPr/>
          <p:nvPr/>
        </p:nvSpPr>
        <p:spPr>
          <a:xfrm>
            <a:off x="5450778" y="3602039"/>
            <a:ext cx="111155" cy="11115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ponto-2-5"/>
          <p:cNvSpPr/>
          <p:nvPr/>
        </p:nvSpPr>
        <p:spPr>
          <a:xfrm>
            <a:off x="5400493" y="3558419"/>
            <a:ext cx="150056" cy="15005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3" name="ponto-2-6"/>
          <p:cNvSpPr/>
          <p:nvPr/>
        </p:nvSpPr>
        <p:spPr>
          <a:xfrm>
            <a:off x="6666149" y="3297197"/>
            <a:ext cx="126479" cy="12647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ponto-2-7"/>
          <p:cNvSpPr/>
          <p:nvPr/>
        </p:nvSpPr>
        <p:spPr>
          <a:xfrm>
            <a:off x="5797314" y="3157122"/>
            <a:ext cx="135319" cy="13531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ponto-2-8"/>
          <p:cNvSpPr/>
          <p:nvPr/>
        </p:nvSpPr>
        <p:spPr>
          <a:xfrm>
            <a:off x="5685714" y="3056776"/>
            <a:ext cx="164067" cy="16406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ponto-2-9"/>
          <p:cNvSpPr/>
          <p:nvPr/>
        </p:nvSpPr>
        <p:spPr>
          <a:xfrm>
            <a:off x="6244149" y="3389015"/>
            <a:ext cx="150162" cy="15016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ponto-2-10"/>
          <p:cNvSpPr/>
          <p:nvPr/>
        </p:nvSpPr>
        <p:spPr>
          <a:xfrm>
            <a:off x="6461278" y="3965879"/>
            <a:ext cx="172897" cy="17289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ponto-2-11"/>
          <p:cNvSpPr/>
          <p:nvPr/>
        </p:nvSpPr>
        <p:spPr>
          <a:xfrm>
            <a:off x="5414914" y="3404409"/>
            <a:ext cx="88789" cy="8878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ponto-2-12"/>
          <p:cNvSpPr/>
          <p:nvPr/>
        </p:nvSpPr>
        <p:spPr>
          <a:xfrm>
            <a:off x="5908878" y="3267333"/>
            <a:ext cx="95573" cy="95573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ponto-2-13"/>
          <p:cNvSpPr/>
          <p:nvPr/>
        </p:nvSpPr>
        <p:spPr>
          <a:xfrm>
            <a:off x="6432124" y="2971109"/>
            <a:ext cx="157280" cy="1572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1" name="ponto-2-14"/>
          <p:cNvSpPr/>
          <p:nvPr/>
        </p:nvSpPr>
        <p:spPr>
          <a:xfrm>
            <a:off x="5809991" y="3507508"/>
            <a:ext cx="107133" cy="107133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" name="ponto-2-15"/>
          <p:cNvSpPr/>
          <p:nvPr/>
        </p:nvSpPr>
        <p:spPr>
          <a:xfrm>
            <a:off x="5821205" y="3597711"/>
            <a:ext cx="68186" cy="6818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halo-3"/>
          <p:cNvSpPr/>
          <p:nvPr/>
        </p:nvSpPr>
        <p:spPr>
          <a:xfrm>
            <a:off x="7315200" y="91440"/>
            <a:ext cx="1645920" cy="1645920"/>
          </a:xfrm>
          <a:prstGeom prst="ellipse">
            <a:avLst/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4" name="ponto-3-0"/>
          <p:cNvSpPr/>
          <p:nvPr/>
        </p:nvSpPr>
        <p:spPr>
          <a:xfrm>
            <a:off x="8435222" y="704615"/>
            <a:ext cx="76430" cy="7643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ponto-3-1"/>
          <p:cNvSpPr/>
          <p:nvPr/>
        </p:nvSpPr>
        <p:spPr>
          <a:xfrm>
            <a:off x="8001533" y="271381"/>
            <a:ext cx="119796" cy="1197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6" name="ponto-3-2"/>
          <p:cNvSpPr/>
          <p:nvPr/>
        </p:nvSpPr>
        <p:spPr>
          <a:xfrm>
            <a:off x="8367928" y="986503"/>
            <a:ext cx="98393" cy="9839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7" name="ponto-3-3"/>
          <p:cNvSpPr/>
          <p:nvPr/>
        </p:nvSpPr>
        <p:spPr>
          <a:xfrm>
            <a:off x="8064954" y="701268"/>
            <a:ext cx="96688" cy="9668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8" name="ponto-3-4"/>
          <p:cNvSpPr/>
          <p:nvPr/>
        </p:nvSpPr>
        <p:spPr>
          <a:xfrm>
            <a:off x="7333971" y="735821"/>
            <a:ext cx="171184" cy="171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9" name="ponto-3-5"/>
          <p:cNvSpPr/>
          <p:nvPr/>
        </p:nvSpPr>
        <p:spPr>
          <a:xfrm>
            <a:off x="8345661" y="1156900"/>
            <a:ext cx="155660" cy="1556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0" name="ponto-3-6"/>
          <p:cNvSpPr/>
          <p:nvPr/>
        </p:nvSpPr>
        <p:spPr>
          <a:xfrm>
            <a:off x="7685170" y="1369816"/>
            <a:ext cx="132704" cy="1327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1" name="ponto-3-7"/>
          <p:cNvSpPr/>
          <p:nvPr/>
        </p:nvSpPr>
        <p:spPr>
          <a:xfrm>
            <a:off x="8555805" y="1246644"/>
            <a:ext cx="83144" cy="831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2" name="ponto-3-8"/>
          <p:cNvSpPr/>
          <p:nvPr/>
        </p:nvSpPr>
        <p:spPr>
          <a:xfrm>
            <a:off x="8669061" y="974634"/>
            <a:ext cx="160713" cy="16071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3" name="ponto-3-9"/>
          <p:cNvSpPr/>
          <p:nvPr/>
        </p:nvSpPr>
        <p:spPr>
          <a:xfrm>
            <a:off x="8097778" y="970591"/>
            <a:ext cx="97844" cy="978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4" name="ponto-3-10"/>
          <p:cNvSpPr/>
          <p:nvPr/>
        </p:nvSpPr>
        <p:spPr>
          <a:xfrm>
            <a:off x="7908818" y="720361"/>
            <a:ext cx="165993" cy="16599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5" name="ponto-3-11"/>
          <p:cNvSpPr/>
          <p:nvPr/>
        </p:nvSpPr>
        <p:spPr>
          <a:xfrm>
            <a:off x="8267180" y="950781"/>
            <a:ext cx="109371" cy="109371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6" name="ponto-3-12"/>
          <p:cNvSpPr/>
          <p:nvPr/>
        </p:nvSpPr>
        <p:spPr>
          <a:xfrm>
            <a:off x="8038413" y="1348553"/>
            <a:ext cx="164865" cy="16486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7" name="ponto-3-13"/>
          <p:cNvSpPr/>
          <p:nvPr/>
        </p:nvSpPr>
        <p:spPr>
          <a:xfrm>
            <a:off x="8112742" y="1088280"/>
            <a:ext cx="111796" cy="1117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8" name="ponto-3-14"/>
          <p:cNvSpPr/>
          <p:nvPr/>
        </p:nvSpPr>
        <p:spPr>
          <a:xfrm>
            <a:off x="7767516" y="648287"/>
            <a:ext cx="68197" cy="68197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9" name="ponto-3-15"/>
          <p:cNvSpPr/>
          <p:nvPr/>
        </p:nvSpPr>
        <p:spPr>
          <a:xfrm>
            <a:off x="7948670" y="479643"/>
            <a:ext cx="152952" cy="15295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0" name="halo-4"/>
          <p:cNvSpPr/>
          <p:nvPr/>
        </p:nvSpPr>
        <p:spPr>
          <a:xfrm>
            <a:off x="6126480" y="1463040"/>
            <a:ext cx="1645920" cy="164592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1" name="ponto-4-0"/>
          <p:cNvSpPr/>
          <p:nvPr/>
        </p:nvSpPr>
        <p:spPr>
          <a:xfrm>
            <a:off x="6342034" y="2145173"/>
            <a:ext cx="149205" cy="14920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2" name="ponto-4-1"/>
          <p:cNvSpPr/>
          <p:nvPr/>
        </p:nvSpPr>
        <p:spPr>
          <a:xfrm>
            <a:off x="6561722" y="2186870"/>
            <a:ext cx="102694" cy="10269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3" name="ponto-4-2"/>
          <p:cNvSpPr/>
          <p:nvPr/>
        </p:nvSpPr>
        <p:spPr>
          <a:xfrm>
            <a:off x="6315460" y="2015705"/>
            <a:ext cx="113407" cy="11340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4" name="ponto-4-3"/>
          <p:cNvSpPr/>
          <p:nvPr/>
        </p:nvSpPr>
        <p:spPr>
          <a:xfrm>
            <a:off x="6691204" y="2286719"/>
            <a:ext cx="79604" cy="796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5" name="ponto-4-4"/>
          <p:cNvSpPr/>
          <p:nvPr/>
        </p:nvSpPr>
        <p:spPr>
          <a:xfrm>
            <a:off x="7056620" y="1537633"/>
            <a:ext cx="105422" cy="10542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" name="ponto-4-5"/>
          <p:cNvSpPr/>
          <p:nvPr/>
        </p:nvSpPr>
        <p:spPr>
          <a:xfrm>
            <a:off x="6498140" y="2521629"/>
            <a:ext cx="158885" cy="15888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7" name="ponto-4-6"/>
          <p:cNvSpPr/>
          <p:nvPr/>
        </p:nvSpPr>
        <p:spPr>
          <a:xfrm>
            <a:off x="6654920" y="2665779"/>
            <a:ext cx="148691" cy="14869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8" name="ponto-4-7"/>
          <p:cNvSpPr/>
          <p:nvPr/>
        </p:nvSpPr>
        <p:spPr>
          <a:xfrm>
            <a:off x="7091742" y="1915061"/>
            <a:ext cx="124937" cy="12493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9" name="ponto-4-8"/>
          <p:cNvSpPr/>
          <p:nvPr/>
        </p:nvSpPr>
        <p:spPr>
          <a:xfrm>
            <a:off x="6324448" y="2543848"/>
            <a:ext cx="116857" cy="11685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0" name="ponto-4-9"/>
          <p:cNvSpPr/>
          <p:nvPr/>
        </p:nvSpPr>
        <p:spPr>
          <a:xfrm>
            <a:off x="7029646" y="1811236"/>
            <a:ext cx="129425" cy="12942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1" name="ponto-4-10"/>
          <p:cNvSpPr/>
          <p:nvPr/>
        </p:nvSpPr>
        <p:spPr>
          <a:xfrm>
            <a:off x="7258532" y="1670344"/>
            <a:ext cx="160611" cy="16061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2" name="ponto-4-11"/>
          <p:cNvSpPr/>
          <p:nvPr/>
        </p:nvSpPr>
        <p:spPr>
          <a:xfrm>
            <a:off x="6433808" y="1682560"/>
            <a:ext cx="101637" cy="10163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3" name="ponto-4-12"/>
          <p:cNvSpPr/>
          <p:nvPr/>
        </p:nvSpPr>
        <p:spPr>
          <a:xfrm>
            <a:off x="6601941" y="1731933"/>
            <a:ext cx="89062" cy="8906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4" name="ponto-4-13"/>
          <p:cNvSpPr/>
          <p:nvPr/>
        </p:nvSpPr>
        <p:spPr>
          <a:xfrm>
            <a:off x="6497894" y="2060642"/>
            <a:ext cx="98603" cy="9860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5" name="ponto-4-14"/>
          <p:cNvSpPr/>
          <p:nvPr/>
        </p:nvSpPr>
        <p:spPr>
          <a:xfrm>
            <a:off x="7419748" y="1867438"/>
            <a:ext cx="121256" cy="1212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6" name="ponto-4-15"/>
          <p:cNvSpPr/>
          <p:nvPr/>
        </p:nvSpPr>
        <p:spPr>
          <a:xfrm>
            <a:off x="6282840" y="1836160"/>
            <a:ext cx="114096" cy="1140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7" name="rotulo-capitulo"/>
          <p:cNvSpPr txBox="1"/>
          <p:nvPr/>
        </p:nvSpPr>
        <p:spPr>
          <a:xfrm>
            <a:off x="54864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</a:t>
            </a:r>
            <a:endParaRPr lang="en-US" sz="1800" dirty="0"/>
          </a:p>
        </p:txBody>
      </p:sp>
      <p:sp>
        <p:nvSpPr>
          <p:cNvPr id="88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K-means: o Clássico do Agrupamento</a:t>
            </a:r>
            <a:endParaRPr lang="en-US" sz="3800" dirty="0"/>
          </a:p>
        </p:txBody>
      </p:sp>
      <p:sp>
        <p:nvSpPr>
          <p:cNvPr id="89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bairro das pizzarias ao cotovelo</a:t>
            </a:r>
            <a:endParaRPr lang="en-US" sz="1800" dirty="0"/>
          </a:p>
        </p:txBody>
      </p:sp>
      <p:sp>
        <p:nvSpPr>
          <p:cNvPr id="90" name="autor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Araken de Medeiros Santos  ·  Aprendizado Não Supervisionado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310896" cy="310896"/>
          </a:xfrm>
          <a:prstGeom prst="rect">
            <a:avLst/>
          </a:prstGeom>
        </p:spPr>
      </p:pic>
      <p:sp>
        <p:nvSpPr>
          <p:cNvPr id="6" name="objetivo-1"/>
          <p:cNvSpPr txBox="1"/>
          <p:nvPr/>
        </p:nvSpPr>
        <p:spPr>
          <a:xfrm>
            <a:off x="1005840" y="1234440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o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uma analogia</a:t>
            </a:r>
            <a:endParaRPr lang="en-US" sz="22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12264"/>
            <a:ext cx="310896" cy="310896"/>
          </a:xfrm>
          <a:prstGeom prst="rect">
            <a:avLst/>
          </a:prstGeom>
        </p:spPr>
      </p:pic>
      <p:sp>
        <p:nvSpPr>
          <p:cNvPr id="8" name="objetivo-2"/>
          <p:cNvSpPr txBox="1"/>
          <p:nvPr/>
        </p:nvSpPr>
        <p:spPr>
          <a:xfrm>
            <a:off x="1005840" y="1929384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o algoritmo de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passo a passo</a:t>
            </a:r>
            <a:endParaRPr lang="en-US" sz="22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07208"/>
            <a:ext cx="310896" cy="310896"/>
          </a:xfrm>
          <a:prstGeom prst="rect">
            <a:avLst/>
          </a:prstGeom>
        </p:spPr>
      </p:pic>
      <p:sp>
        <p:nvSpPr>
          <p:cNvPr id="10" name="objetivo-3"/>
          <p:cNvSpPr txBox="1"/>
          <p:nvPr/>
        </p:nvSpPr>
        <p:spPr>
          <a:xfrm>
            <a:off x="1005840" y="2624328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inércia</a:t>
            </a:r>
            <a:endParaRPr lang="en-US" sz="22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02152"/>
            <a:ext cx="310896" cy="310896"/>
          </a:xfrm>
          <a:prstGeom prst="rect">
            <a:avLst/>
          </a:prstGeom>
        </p:spPr>
      </p:pic>
      <p:sp>
        <p:nvSpPr>
          <p:cNvPr id="12" name="objetivo-4"/>
          <p:cNvSpPr txBox="1"/>
          <p:nvPr/>
        </p:nvSpPr>
        <p:spPr>
          <a:xfrm>
            <a:off x="1005840" y="3319272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(cotovelo) e inicializar com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</a:t>
            </a:r>
            <a:endParaRPr lang="en-US" sz="2200" dirty="0"/>
          </a:p>
        </p:txBody>
      </p:sp>
      <p:pic>
        <p:nvPicPr>
          <p:cNvPr id="13" name="marca" descr="marc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97096"/>
            <a:ext cx="310896" cy="310896"/>
          </a:xfrm>
          <a:prstGeom prst="rect">
            <a:avLst/>
          </a:prstGeom>
        </p:spPr>
      </p:pic>
      <p:sp>
        <p:nvSpPr>
          <p:cNvPr id="14" name="objetivo-5"/>
          <p:cNvSpPr txBox="1"/>
          <p:nvPr/>
        </p:nvSpPr>
        <p:spPr>
          <a:xfrm>
            <a:off x="1005840" y="4014216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variantes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Imagine 3 pizzarias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vai abrir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pizzarias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numa cidade. Cada morador pede na mais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Onde colocá-las para que todos andem pouco?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3_passos" descr="f3_pass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04449"/>
            <a:ext cx="3840480" cy="1037423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Pizzaria = centroide. Bairro = grupo.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K-means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escolhe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(nº de grupos)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tem um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centroide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média)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vai ao centroide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próximo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grupos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compactos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centros, K grupos, K-means.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algoritmo de Lloyd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sso-circulo-1"/>
          <p:cNvSpPr/>
          <p:nvPr/>
        </p:nvSpPr>
        <p:spPr>
          <a:xfrm>
            <a:off x="457200" y="133273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so-n-1"/>
          <p:cNvSpPr txBox="1"/>
          <p:nvPr/>
        </p:nvSpPr>
        <p:spPr>
          <a:xfrm>
            <a:off x="457200" y="133273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passo-1"/>
          <p:cNvSpPr txBox="1"/>
          <p:nvPr/>
        </p:nvSpPr>
        <p:spPr>
          <a:xfrm>
            <a:off x="1097280" y="118872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sorteie k centros</a:t>
            </a:r>
            <a:endParaRPr lang="en-US" sz="2000" dirty="0"/>
          </a:p>
        </p:txBody>
      </p:sp>
      <p:sp>
        <p:nvSpPr>
          <p:cNvPr id="8" name="passo-circulo-2"/>
          <p:cNvSpPr/>
          <p:nvPr/>
        </p:nvSpPr>
        <p:spPr>
          <a:xfrm>
            <a:off x="457200" y="204139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so-n-2"/>
          <p:cNvSpPr txBox="1"/>
          <p:nvPr/>
        </p:nvSpPr>
        <p:spPr>
          <a:xfrm>
            <a:off x="457200" y="204139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passo-2"/>
          <p:cNvSpPr txBox="1"/>
          <p:nvPr/>
        </p:nvSpPr>
        <p:spPr>
          <a:xfrm>
            <a:off x="1097280" y="189738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cada ponto ao centro mais próximo</a:t>
            </a:r>
            <a:endParaRPr lang="en-US" sz="2000" dirty="0"/>
          </a:p>
        </p:txBody>
      </p:sp>
      <p:sp>
        <p:nvSpPr>
          <p:cNvPr id="11" name="passo-circulo-3"/>
          <p:cNvSpPr/>
          <p:nvPr/>
        </p:nvSpPr>
        <p:spPr>
          <a:xfrm>
            <a:off x="457200" y="275005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so-n-3"/>
          <p:cNvSpPr txBox="1"/>
          <p:nvPr/>
        </p:nvSpPr>
        <p:spPr>
          <a:xfrm>
            <a:off x="457200" y="275005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passo-3"/>
          <p:cNvSpPr txBox="1"/>
          <p:nvPr/>
        </p:nvSpPr>
        <p:spPr>
          <a:xfrm>
            <a:off x="1097280" y="260604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centro vira a média do grupo</a:t>
            </a:r>
            <a:endParaRPr lang="en-US" sz="2000" dirty="0"/>
          </a:p>
        </p:txBody>
      </p:sp>
      <p:sp>
        <p:nvSpPr>
          <p:cNvPr id="14" name="passo-circulo-4"/>
          <p:cNvSpPr/>
          <p:nvPr/>
        </p:nvSpPr>
        <p:spPr>
          <a:xfrm>
            <a:off x="457200" y="345871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asso-n-4"/>
          <p:cNvSpPr txBox="1"/>
          <p:nvPr/>
        </p:nvSpPr>
        <p:spPr>
          <a:xfrm>
            <a:off x="457200" y="345871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passo-4"/>
          <p:cNvSpPr txBox="1"/>
          <p:nvPr/>
        </p:nvSpPr>
        <p:spPr>
          <a:xfrm>
            <a:off x="1097280" y="331470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até ninguém mudar</a:t>
            </a:r>
            <a:endParaRPr lang="en-US" sz="2000" dirty="0"/>
          </a:p>
        </p:txBody>
      </p:sp>
      <p:sp>
        <p:nvSpPr>
          <p:cNvPr id="1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Atribuir, mover, repetir.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passos em imagem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3_passos" descr="f3_pass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93318"/>
            <a:ext cx="7498080" cy="2025444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centros caminham até se acomodar.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Células de Voronoi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3_voronoi" descr="f3_vorono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915" y="1188720"/>
            <a:ext cx="3314170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centro domina uma região.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ele minimiza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formula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869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formula"/>
          <p:cNvSpPr txBox="1"/>
          <p:nvPr/>
        </p:nvSpPr>
        <p:spPr>
          <a:xfrm>
            <a:off x="640080" y="11887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 = Σₖ Σ ‖x − μₖ‖²</a:t>
            </a:r>
            <a:endParaRPr lang="en-US" sz="2600" dirty="0"/>
          </a:p>
        </p:txBody>
      </p:sp>
      <p:sp>
        <p:nvSpPr>
          <p:cNvPr id="7" name="explicacao"/>
          <p:cNvSpPr txBox="1"/>
          <p:nvPr/>
        </p:nvSpPr>
        <p:spPr>
          <a:xfrm>
            <a:off x="457200" y="2423160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Inércia: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soma dos quadrados dentro dos grupos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mais compactos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passo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piora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</a:t>
            </a:r>
            <a:endParaRPr lang="en-US" sz="20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Compacto é bom. Convergência é garantida.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em poucas linhas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codigo"/>
          <p:cNvSpPr/>
          <p:nvPr/>
        </p:nvSpPr>
        <p:spPr>
          <a:xfrm>
            <a:off x="457200" y="1234440"/>
            <a:ext cx="5394960" cy="1830070"/>
          </a:xfrm>
          <a:prstGeom prst="roundRect">
            <a:avLst>
              <a:gd name="adj" fmla="val 39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igo"/>
          <p:cNvSpPr txBox="1"/>
          <p:nvPr/>
        </p:nvSpPr>
        <p:spPr>
          <a:xfrm>
            <a:off x="640080" y="1325880"/>
            <a:ext cx="5029200" cy="164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= KMeans(n_clusters=3, init="k-means++",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n_init=10, random_state=0)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 = km.fit_predict(X)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print(km.cluster_centers_)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print(km.inertia_)</a:t>
            </a:r>
            <a:endParaRPr lang="en-US" sz="1400" dirty="0"/>
          </a:p>
        </p:txBody>
      </p:sp>
      <p:sp>
        <p:nvSpPr>
          <p:cNvPr id="7" name="dicas-codigo"/>
          <p:cNvSpPr txBox="1"/>
          <p:nvPr/>
        </p:nvSpPr>
        <p:spPr>
          <a:xfrm>
            <a:off x="6080760" y="12344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parte faz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`init`: como escolher os centros iniciais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`n_init`: quantas tentativas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`inertia_`: o valor de J</a:t>
            </a:r>
            <a:endParaRPr lang="en-US" sz="16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rodar. Difícil de interpretar.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Largada ruim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 3 pizzarias começam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coladas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numa esquina, o resultado final pode ser ruim. O ponto de partida importa.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3_init" descr="f3_in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45653"/>
            <a:ext cx="3840480" cy="1555013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pode parar num mínimo local.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k-means++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centro: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aleatório</a:t>
            </a:r>
            <a:endParaRPr lang="en-US" sz="17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Próximos: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já escolhidos</a:t>
            </a:r>
            <a:endParaRPr lang="en-US" sz="17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 ∝ distância²</a:t>
            </a:r>
            <a:endParaRPr lang="en-US" sz="17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com vários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n_init</a:t>
            </a:r>
            <a:endParaRPr lang="en-US" sz="17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Espalhe os centros. Largue bem.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cotovelo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3_cotovelo" descr="f3_cotovel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188720"/>
            <a:ext cx="4251960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inércia desacelera.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Cotovelo × Silhueta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Cotovelo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 a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inércia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a dobra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sempre é nítido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46863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47777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Silhueta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48691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encaixe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o pico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objetiva</a:t>
            </a:r>
            <a:endParaRPr lang="en-US" sz="1800" dirty="0"/>
          </a:p>
        </p:txBody>
      </p:sp>
      <p:sp>
        <p:nvSpPr>
          <p:cNvPr id="13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5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os dois. Confirme pelo sentido.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K-means falha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3_falhas" descr="f3_falh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95845"/>
            <a:ext cx="7498080" cy="2620391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impõe bolas.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fraquezas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não esféricas (luas, anéis)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muito diferentes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puxam a média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dados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escalados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grupo não é uma bola, não use K-means.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Primos do K-means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17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291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Muda o quê?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Mini-Batch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lotes pequenos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enormes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K-medoids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é ponto real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K-modes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a moda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Fuzzy C-means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Pertinência parcial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Grupos que se misturam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ideia, ajustes para casos reais.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 em perfis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loja agrupa clientes por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recência, frequência e valor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(RFM). Surgem perfis: fiéis, ocasionais, em risco.</a:t>
            </a:r>
            <a:endParaRPr lang="en-US" sz="2400" dirty="0"/>
          </a:p>
        </p:txBody>
      </p:sp>
      <p:sp>
        <p:nvSpPr>
          <p:cNvPr id="6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grupo, uma estratégia.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Comprimir imagem com cores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3_compressao" descr="f3_compressa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74864"/>
            <a:ext cx="7498080" cy="1662351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cores, mesma foto.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 dados</a:t>
            </a:r>
            <a:endParaRPr lang="en-US" sz="20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com vários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n_init</a:t>
            </a:r>
            <a:endParaRPr lang="en-US" sz="20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vários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0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 grupos</a:t>
            </a:r>
            <a:endParaRPr lang="en-US" sz="20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é fácil. Validar dá trabalho.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Cartões de memória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ergunta-fundo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ergunta-1"/>
          <p:cNvSpPr txBox="1"/>
          <p:nvPr/>
        </p:nvSpPr>
        <p:spPr>
          <a:xfrm>
            <a:off x="5943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centroide?</a:t>
            </a:r>
            <a:endParaRPr lang="en-US" sz="1500" dirty="0"/>
          </a:p>
        </p:txBody>
      </p:sp>
      <p:sp>
        <p:nvSpPr>
          <p:cNvPr id="8" name="resposta-1"/>
          <p:cNvSpPr txBox="1"/>
          <p:nvPr/>
        </p:nvSpPr>
        <p:spPr>
          <a:xfrm>
            <a:off x="5943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grupo.</a:t>
            </a:r>
            <a:endParaRPr lang="en-US" sz="2000" dirty="0"/>
          </a:p>
        </p:txBody>
      </p:sp>
      <p:sp>
        <p:nvSpPr>
          <p:cNvPr id="9" name="cartao-2"/>
          <p:cNvSpPr/>
          <p:nvPr/>
        </p:nvSpPr>
        <p:spPr>
          <a:xfrm>
            <a:off x="46863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ergunta-fundo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ergunta-2"/>
          <p:cNvSpPr txBox="1"/>
          <p:nvPr/>
        </p:nvSpPr>
        <p:spPr>
          <a:xfrm>
            <a:off x="48234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minimiza?</a:t>
            </a:r>
            <a:endParaRPr lang="en-US" sz="1500" dirty="0"/>
          </a:p>
        </p:txBody>
      </p:sp>
      <p:sp>
        <p:nvSpPr>
          <p:cNvPr id="12" name="resposta-2"/>
          <p:cNvSpPr txBox="1"/>
          <p:nvPr/>
        </p:nvSpPr>
        <p:spPr>
          <a:xfrm>
            <a:off x="48234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inércia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13" name="cartao-3"/>
          <p:cNvSpPr/>
          <p:nvPr/>
        </p:nvSpPr>
        <p:spPr>
          <a:xfrm>
            <a:off x="4572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ergunta-fundo-3"/>
          <p:cNvSpPr/>
          <p:nvPr/>
        </p:nvSpPr>
        <p:spPr>
          <a:xfrm>
            <a:off x="4572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pergunta-3"/>
          <p:cNvSpPr txBox="1"/>
          <p:nvPr/>
        </p:nvSpPr>
        <p:spPr>
          <a:xfrm>
            <a:off x="5943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k-means++?</a:t>
            </a:r>
            <a:endParaRPr lang="en-US" sz="1500" dirty="0"/>
          </a:p>
        </p:txBody>
      </p:sp>
      <p:sp>
        <p:nvSpPr>
          <p:cNvPr id="16" name="resposta-3"/>
          <p:cNvSpPr txBox="1"/>
          <p:nvPr/>
        </p:nvSpPr>
        <p:spPr>
          <a:xfrm>
            <a:off x="5943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iniciais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espalhados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17" name="cartao-4"/>
          <p:cNvSpPr/>
          <p:nvPr/>
        </p:nvSpPr>
        <p:spPr>
          <a:xfrm>
            <a:off x="46863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ergunta-fundo-4"/>
          <p:cNvSpPr/>
          <p:nvPr/>
        </p:nvSpPr>
        <p:spPr>
          <a:xfrm>
            <a:off x="46863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pergunta-4"/>
          <p:cNvSpPr txBox="1"/>
          <p:nvPr/>
        </p:nvSpPr>
        <p:spPr>
          <a:xfrm>
            <a:off x="48234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Cotovelo?</a:t>
            </a:r>
            <a:endParaRPr lang="en-US" sz="1500" dirty="0"/>
          </a:p>
        </p:txBody>
      </p:sp>
      <p:sp>
        <p:nvSpPr>
          <p:cNvPr id="20" name="resposta-4"/>
          <p:cNvSpPr txBox="1"/>
          <p:nvPr/>
        </p:nvSpPr>
        <p:spPr>
          <a:xfrm>
            <a:off x="48234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inércia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desacelera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21" name="cartao-5"/>
          <p:cNvSpPr/>
          <p:nvPr/>
        </p:nvSpPr>
        <p:spPr>
          <a:xfrm>
            <a:off x="4572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pergunta-fundo-5"/>
          <p:cNvSpPr/>
          <p:nvPr/>
        </p:nvSpPr>
        <p:spPr>
          <a:xfrm>
            <a:off x="4572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pergunta-5"/>
          <p:cNvSpPr txBox="1"/>
          <p:nvPr/>
        </p:nvSpPr>
        <p:spPr>
          <a:xfrm>
            <a:off x="5943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onde?</a:t>
            </a:r>
            <a:endParaRPr lang="en-US" sz="1500" dirty="0"/>
          </a:p>
        </p:txBody>
      </p:sp>
      <p:sp>
        <p:nvSpPr>
          <p:cNvPr id="24" name="resposta-5"/>
          <p:cNvSpPr txBox="1"/>
          <p:nvPr/>
        </p:nvSpPr>
        <p:spPr>
          <a:xfrm>
            <a:off x="5943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Luas, anéis, outliers.</a:t>
            </a:r>
            <a:endParaRPr lang="en-US" sz="2000" dirty="0"/>
          </a:p>
        </p:txBody>
      </p:sp>
      <p:sp>
        <p:nvSpPr>
          <p:cNvPr id="25" name="cartao-6"/>
          <p:cNvSpPr/>
          <p:nvPr/>
        </p:nvSpPr>
        <p:spPr>
          <a:xfrm>
            <a:off x="46863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pergunta-fundo-6"/>
          <p:cNvSpPr/>
          <p:nvPr/>
        </p:nvSpPr>
        <p:spPr>
          <a:xfrm>
            <a:off x="46863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pergunta-6"/>
          <p:cNvSpPr txBox="1"/>
          <p:nvPr/>
        </p:nvSpPr>
        <p:spPr>
          <a:xfrm>
            <a:off x="48234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enormes?</a:t>
            </a:r>
            <a:endParaRPr lang="en-US" sz="1500" dirty="0"/>
          </a:p>
        </p:txBody>
      </p:sp>
      <p:sp>
        <p:nvSpPr>
          <p:cNvPr id="28" name="resposta-6"/>
          <p:cNvSpPr txBox="1"/>
          <p:nvPr/>
        </p:nvSpPr>
        <p:spPr>
          <a:xfrm>
            <a:off x="48234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centroide é calculado como: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mediana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dos pontos do grupo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mais distante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ponto sorteado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vantagem do k-means++?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escolher k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Espalha os centros iniciais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formas arbitrárias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outliers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formato de duas luas. O K-means: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perfeitamente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 a falhar, pois assume grupos esféricos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só com k=3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escala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400" dirty="0"/>
          </a:p>
        </p:txBody>
      </p:sp>
      <p:sp>
        <p:nvSpPr>
          <p:cNvPr id="4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6" name="painel-missao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66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rotulo-missao"/>
          <p:cNvSpPr txBox="1"/>
          <p:nvPr/>
        </p:nvSpPr>
        <p:spPr>
          <a:xfrm>
            <a:off x="64008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</a:t>
            </a:r>
            <a:endParaRPr lang="en-US" sz="1800" dirty="0"/>
          </a:p>
        </p:txBody>
      </p:sp>
      <p:sp>
        <p:nvSpPr>
          <p:cNvPr id="8" name="passos-missao"/>
          <p:cNvSpPr txBox="1"/>
          <p:nvPr/>
        </p:nvSpPr>
        <p:spPr>
          <a:xfrm>
            <a:off x="64008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o K-means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NumPy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de 2 a 9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inércia e silhueta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aleatória × k-means++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 as cores de uma foto</a:t>
            </a:r>
            <a:endParaRPr lang="en-US" sz="2000" dirty="0"/>
          </a:p>
        </p:txBody>
      </p:sp>
      <p:sp>
        <p:nvSpPr>
          <p:cNvPr id="9" name="painel-entrega"/>
          <p:cNvSpPr/>
          <p:nvPr/>
        </p:nvSpPr>
        <p:spPr>
          <a:xfrm>
            <a:off x="5806440" y="1188720"/>
            <a:ext cx="2880360" cy="3429000"/>
          </a:xfrm>
          <a:prstGeom prst="roundRect">
            <a:avLst>
              <a:gd name="adj" fmla="val 317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otulo-entrega"/>
          <p:cNvSpPr txBox="1"/>
          <p:nvPr/>
        </p:nvSpPr>
        <p:spPr>
          <a:xfrm>
            <a:off x="598932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800" dirty="0"/>
          </a:p>
        </p:txBody>
      </p:sp>
      <p:sp>
        <p:nvSpPr>
          <p:cNvPr id="11" name="itens-entrega"/>
          <p:cNvSpPr txBox="1"/>
          <p:nvPr/>
        </p:nvSpPr>
        <p:spPr>
          <a:xfrm>
            <a:off x="5989320" y="169164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do cotovelo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k × silhueta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comprimida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guardar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0180"/>
            <a:ext cx="274320" cy="274320"/>
          </a:xfrm>
          <a:prstGeom prst="rect">
            <a:avLst/>
          </a:prstGeom>
        </p:spPr>
      </p:pic>
      <p:sp>
        <p:nvSpPr>
          <p:cNvPr id="6" name="ponto-1"/>
          <p:cNvSpPr txBox="1"/>
          <p:nvPr/>
        </p:nvSpPr>
        <p:spPr>
          <a:xfrm>
            <a:off x="960120" y="1234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 e atualizar</a:t>
            </a:r>
            <a:endParaRPr lang="en-US" sz="20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62556"/>
            <a:ext cx="274320" cy="274320"/>
          </a:xfrm>
          <a:prstGeom prst="rect">
            <a:avLst/>
          </a:prstGeom>
        </p:spPr>
      </p:pic>
      <p:sp>
        <p:nvSpPr>
          <p:cNvPr id="8" name="ponto-2"/>
          <p:cNvSpPr txBox="1"/>
          <p:nvPr/>
        </p:nvSpPr>
        <p:spPr>
          <a:xfrm>
            <a:off x="960120" y="1956816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 a inércia</a:t>
            </a:r>
            <a:endParaRPr lang="en-US" sz="20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84932"/>
            <a:ext cx="274320" cy="274320"/>
          </a:xfrm>
          <a:prstGeom prst="rect">
            <a:avLst/>
          </a:prstGeom>
        </p:spPr>
      </p:pic>
      <p:sp>
        <p:nvSpPr>
          <p:cNvPr id="10" name="ponto-3"/>
          <p:cNvSpPr txBox="1"/>
          <p:nvPr/>
        </p:nvSpPr>
        <p:spPr>
          <a:xfrm>
            <a:off x="960120" y="26791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 e n_init ajudam</a:t>
            </a:r>
            <a:endParaRPr lang="en-US" sz="20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07308"/>
            <a:ext cx="274320" cy="274320"/>
          </a:xfrm>
          <a:prstGeom prst="rect">
            <a:avLst/>
          </a:prstGeom>
        </p:spPr>
      </p:pic>
      <p:sp>
        <p:nvSpPr>
          <p:cNvPr id="12" name="ponto-4"/>
          <p:cNvSpPr txBox="1"/>
          <p:nvPr/>
        </p:nvSpPr>
        <p:spPr>
          <a:xfrm>
            <a:off x="960120" y="340156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com formas não esféricas</a:t>
            </a:r>
            <a:endParaRPr lang="en-US" sz="2000" dirty="0"/>
          </a:p>
        </p:txBody>
      </p:sp>
      <p:sp>
        <p:nvSpPr>
          <p:cNvPr id="13" name="proximo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4: Agrupamento hierárquico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usters">
  <a:themeElements>
    <a:clrScheme name="Clusters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8B5CF6"/>
      </a:accent5>
      <a:accent6>
        <a:srgbClr val="6B7280"/>
      </a:accent6>
      <a:hlink>
        <a:srgbClr val="4F46E5"/>
      </a:hlink>
      <a:folHlink>
        <a:srgbClr val="8B5CF6"/>
      </a:folHlink>
    </a:clrScheme>
    <a:fontScheme name="Clust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3 — K-means: o Clássico do Agrupamento</dc:title>
  <dc:subject>Aprendizado Não Supervisionado</dc:subject>
  <dc:creator>Araken de Medeiros Santos</dc:creator>
  <cp:lastModifiedBy>Araken de Medeiros Santos</cp:lastModifiedBy>
  <cp:revision>1</cp:revision>
  <dcterms:created xsi:type="dcterms:W3CDTF">2026-10-26T18:42:49Z</dcterms:created>
  <dcterms:modified xsi:type="dcterms:W3CDTF">2026-10-26T18:42:49Z</dcterms:modified>
</cp:coreProperties>
</file>