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3d93e9d-62df-432a-fdf5-ef5e50a84b12}">
          <p14:sldIdLst>
            <p14:sldId id="256"/>
            <p14:sldId id="257"/>
          </p14:sldIdLst>
        </p14:section>
        <p14:section name="Planejamento" id="{6af4658b-2e17-19f8-aa49-35d4e8737d35}">
          <p14:sldIdLst>
            <p14:sldId id="258"/>
            <p14:sldId id="259"/>
            <p14:sldId id="260"/>
            <p14:sldId id="261"/>
          </p14:sldIdLst>
        </p14:section>
        <p14:section name="Organização" id="{3b566bbd-c5f4-fd8d-8ed7-394722cc949e}">
          <p14:sldIdLst>
            <p14:sldId id="262"/>
            <p14:sldId id="263"/>
            <p14:sldId id="264"/>
          </p14:sldIdLst>
        </p14:section>
        <p14:section name="Rigor" id="{3d84c6df-0566-5f0e-56f1-caf7f63066fe}">
          <p14:sldIdLst>
            <p14:sldId id="265"/>
            <p14:sldId id="266"/>
            <p14:sldId id="267"/>
            <p14:sldId id="268"/>
          </p14:sldIdLst>
        </p14:section>
        <p14:section name="Relatório e ética" id="{825f78d1-a5d7-9917-99dc-0c467dce1b49}">
          <p14:sldIdLst>
            <p14:sldId id="269"/>
            <p14:sldId id="270"/>
            <p14:sldId id="271"/>
            <p14:sldId id="272"/>
            <p14:sldId id="273"/>
          </p14:sldIdLst>
        </p14:section>
        <p14:section name="Fixação" id="{15bea63c-1c9e-1bfc-2c93-c5668c3c3ab4}">
          <p14:sldIdLst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Usar rótulos para ajustar causa vazamento e resultados otimistas.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A pergunta define dados, método e critério de sucesso.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Projeto: Laboratório de Dígitos: do dado bruto à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13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13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7072103" y="1156391"/>
            <a:ext cx="134363" cy="1343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6229487" y="1675422"/>
            <a:ext cx="168689" cy="16868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7155627" y="861191"/>
            <a:ext cx="110491" cy="11049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679418" y="584354"/>
            <a:ext cx="144818" cy="14481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6454423" y="1025411"/>
            <a:ext cx="76092" cy="760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6588265" y="981377"/>
            <a:ext cx="152612" cy="1526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218318" y="1160177"/>
            <a:ext cx="160254" cy="16025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6944917" y="997012"/>
            <a:ext cx="105276" cy="1052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6946001" y="1190020"/>
            <a:ext cx="81923" cy="8192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7139901" y="1538535"/>
            <a:ext cx="98772" cy="987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530460" y="989833"/>
            <a:ext cx="104071" cy="10407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5912648" y="1268401"/>
            <a:ext cx="82706" cy="8270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7113151" y="1055543"/>
            <a:ext cx="127829" cy="12782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5927268" y="1338908"/>
            <a:ext cx="148396" cy="1483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6237094" y="591672"/>
            <a:ext cx="67812" cy="678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6053290" y="784305"/>
            <a:ext cx="76833" cy="7683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7140904" y="3165159"/>
            <a:ext cx="120446" cy="12044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7338433" y="2367864"/>
            <a:ext cx="89390" cy="8939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7710756" y="2596141"/>
            <a:ext cx="154330" cy="15433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7505779" y="2608791"/>
            <a:ext cx="81450" cy="8145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7161602" y="2740730"/>
            <a:ext cx="146958" cy="14695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7127426" y="3109033"/>
            <a:ext cx="99812" cy="998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8319894" y="3103184"/>
            <a:ext cx="113567" cy="11356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8478338" y="2684011"/>
            <a:ext cx="107581" cy="10758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8112458" y="2849387"/>
            <a:ext cx="162563" cy="16256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599934" y="2219388"/>
            <a:ext cx="152558" cy="15255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7971271" y="3172523"/>
            <a:ext cx="134151" cy="13415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7753689" y="2557439"/>
            <a:ext cx="74109" cy="7410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7866160" y="2956102"/>
            <a:ext cx="168253" cy="16825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8014567" y="3254201"/>
            <a:ext cx="68507" cy="6850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8132175" y="3081547"/>
            <a:ext cx="85232" cy="852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7962751" y="2742021"/>
            <a:ext cx="149652" cy="14965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6209353" y="3515917"/>
            <a:ext cx="76101" cy="7610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6119091" y="4042906"/>
            <a:ext cx="77914" cy="7791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6224275" y="3315015"/>
            <a:ext cx="156097" cy="15609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5907426" y="3893789"/>
            <a:ext cx="76131" cy="7613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6137462" y="3408558"/>
            <a:ext cx="78230" cy="7823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5715683" y="3969440"/>
            <a:ext cx="151741" cy="15174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6568449" y="3731366"/>
            <a:ext cx="123681" cy="12368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6510063" y="3676573"/>
            <a:ext cx="82040" cy="820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6543632" y="3175031"/>
            <a:ext cx="154149" cy="15414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6117201" y="3183325"/>
            <a:ext cx="98041" cy="9804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409299" y="3109311"/>
            <a:ext cx="114635" cy="11463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5849960" y="3461277"/>
            <a:ext cx="143316" cy="1433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5839013" y="3482188"/>
            <a:ext cx="121937" cy="12193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6532396" y="3340218"/>
            <a:ext cx="169023" cy="16902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6292930" y="3662381"/>
            <a:ext cx="151611" cy="15161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6155623" y="3989546"/>
            <a:ext cx="145765" cy="14576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7991237" y="208508"/>
            <a:ext cx="138446" cy="13844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7945298" y="558804"/>
            <a:ext cx="104337" cy="10433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294645" y="1281328"/>
            <a:ext cx="125812" cy="1258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7446959" y="881118"/>
            <a:ext cx="139600" cy="1396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7498618" y="1085267"/>
            <a:ext cx="169539" cy="16953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8528063" y="1247995"/>
            <a:ext cx="170896" cy="17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8804855" y="812821"/>
            <a:ext cx="80465" cy="8046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8005538" y="396389"/>
            <a:ext cx="166581" cy="16658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8611730" y="1238694"/>
            <a:ext cx="78732" cy="787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7877857" y="1285837"/>
            <a:ext cx="134339" cy="13433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7609875" y="754739"/>
            <a:ext cx="107359" cy="10735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8534638" y="1335048"/>
            <a:ext cx="70754" cy="7075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7978172" y="1187687"/>
            <a:ext cx="129340" cy="1293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8404513" y="775769"/>
            <a:ext cx="88855" cy="8885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8294980" y="163145"/>
            <a:ext cx="136429" cy="13642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8032182" y="396279"/>
            <a:ext cx="128504" cy="1285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7316962" y="1881107"/>
            <a:ext cx="167664" cy="1676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7032968" y="2159812"/>
            <a:ext cx="75980" cy="759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6715799" y="1637732"/>
            <a:ext cx="147586" cy="14758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6424602" y="1831627"/>
            <a:ext cx="165461" cy="16546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6322173" y="2154921"/>
            <a:ext cx="138666" cy="13866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6396017" y="2639300"/>
            <a:ext cx="115831" cy="11583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6832414" y="1591399"/>
            <a:ext cx="130860" cy="1308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6722907" y="1752915"/>
            <a:ext cx="143927" cy="14392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7057523" y="2377216"/>
            <a:ext cx="167817" cy="16781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6578699" y="2794934"/>
            <a:ext cx="155516" cy="1555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6842738" y="2377410"/>
            <a:ext cx="162767" cy="16276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7360734" y="1904503"/>
            <a:ext cx="166119" cy="16611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6980496" y="2893633"/>
            <a:ext cx="78769" cy="7876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7441367" y="1750076"/>
            <a:ext cx="100704" cy="1007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6862474" y="1732746"/>
            <a:ext cx="128500" cy="1285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6916901" y="2575714"/>
            <a:ext cx="138200" cy="138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13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Final: Integrando Tudo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dado bruto à decisão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projeto completo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agrupamento, redução, associação, anomalias e representações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métodos com justiça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o código para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</a:t>
            </a:r>
            <a:endParaRPr lang="en-US" sz="20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resultados, limites e riscos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Montar um quebra-cabeça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aprendeu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peças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Agora encaixe tudo numa única imagem: um projeto de verdade, com início, meio e fim.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técnica é uma peça. O projeto é o quadro.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vem primeiro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resultado apoia?</a:t>
            </a:r>
            <a:endParaRPr lang="en-US" sz="18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vai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saber que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é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fim</a:t>
            </a:r>
            <a:endParaRPr lang="en-US" sz="18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pergunta, qualquer resposta serve.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oito etapas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3_etapas" descr="f13_etap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707" y="1188720"/>
            <a:ext cx="5130587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preparo ao relatório.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roteiro do projeto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155573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15557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limpar, escalar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1509903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150990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543050"/>
            <a:ext cx="7589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vários algoritmos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1864233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186423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1897380"/>
            <a:ext cx="7589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PCA, t-SNE, UMAP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2218563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221856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2251710"/>
            <a:ext cx="7589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autoencoder</a:t>
            </a:r>
            <a:endParaRPr lang="en-US" sz="2000" dirty="0"/>
          </a:p>
        </p:txBody>
      </p:sp>
      <p:sp>
        <p:nvSpPr>
          <p:cNvPr id="17" name="passo-circulo-5"/>
          <p:cNvSpPr/>
          <p:nvPr/>
        </p:nvSpPr>
        <p:spPr>
          <a:xfrm>
            <a:off x="457200" y="2572893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passo-n-5"/>
          <p:cNvSpPr txBox="1"/>
          <p:nvPr/>
        </p:nvSpPr>
        <p:spPr>
          <a:xfrm>
            <a:off x="457200" y="257289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passo-5"/>
          <p:cNvSpPr txBox="1"/>
          <p:nvPr/>
        </p:nvSpPr>
        <p:spPr>
          <a:xfrm>
            <a:off x="1097280" y="2606040"/>
            <a:ext cx="7589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que foge</a:t>
            </a:r>
            <a:endParaRPr lang="en-US" sz="2000" dirty="0"/>
          </a:p>
        </p:txBody>
      </p:sp>
      <p:sp>
        <p:nvSpPr>
          <p:cNvPr id="20" name="passo-circulo-6"/>
          <p:cNvSpPr/>
          <p:nvPr/>
        </p:nvSpPr>
        <p:spPr>
          <a:xfrm>
            <a:off x="457200" y="2927223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asso-n-6"/>
          <p:cNvSpPr txBox="1"/>
          <p:nvPr/>
        </p:nvSpPr>
        <p:spPr>
          <a:xfrm>
            <a:off x="457200" y="292722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passo-6"/>
          <p:cNvSpPr txBox="1"/>
          <p:nvPr/>
        </p:nvSpPr>
        <p:spPr>
          <a:xfrm>
            <a:off x="1097280" y="2960370"/>
            <a:ext cx="7589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que anda junto</a:t>
            </a:r>
            <a:endParaRPr lang="en-US" sz="2000" dirty="0"/>
          </a:p>
        </p:txBody>
      </p:sp>
      <p:sp>
        <p:nvSpPr>
          <p:cNvPr id="23" name="passo-circulo-7"/>
          <p:cNvSpPr/>
          <p:nvPr/>
        </p:nvSpPr>
        <p:spPr>
          <a:xfrm>
            <a:off x="457200" y="3281553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passo-n-7"/>
          <p:cNvSpPr txBox="1"/>
          <p:nvPr/>
        </p:nvSpPr>
        <p:spPr>
          <a:xfrm>
            <a:off x="457200" y="32815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passo-7"/>
          <p:cNvSpPr txBox="1"/>
          <p:nvPr/>
        </p:nvSpPr>
        <p:spPr>
          <a:xfrm>
            <a:off x="1097280" y="3314700"/>
            <a:ext cx="7589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 pouco orçamento</a:t>
            </a:r>
            <a:endParaRPr lang="en-US" sz="2000" dirty="0"/>
          </a:p>
        </p:txBody>
      </p:sp>
      <p:sp>
        <p:nvSpPr>
          <p:cNvPr id="26" name="passo-circulo-8"/>
          <p:cNvSpPr/>
          <p:nvPr/>
        </p:nvSpPr>
        <p:spPr>
          <a:xfrm>
            <a:off x="457200" y="3635883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asso-n-8"/>
          <p:cNvSpPr txBox="1"/>
          <p:nvPr/>
        </p:nvSpPr>
        <p:spPr>
          <a:xfrm>
            <a:off x="457200" y="36358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passo-8"/>
          <p:cNvSpPr txBox="1"/>
          <p:nvPr/>
        </p:nvSpPr>
        <p:spPr>
          <a:xfrm>
            <a:off x="1097280" y="3669030"/>
            <a:ext cx="7589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comunicar</a:t>
            </a:r>
            <a:endParaRPr lang="en-US" sz="2000" dirty="0"/>
          </a:p>
        </p:txBody>
      </p:sp>
      <p:sp>
        <p:nvSpPr>
          <p:cNvPr id="29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31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usa um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projeto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dados/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brutos e tratados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funções reutilizáveis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notebooks/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exploração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relatorio/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texto e figuras</a:t>
            </a:r>
            <a:endParaRPr lang="en-US" sz="20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arrumada, projeto vivo.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Reprodutibilidade em 5 hábitos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25908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as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sementes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3276600" y="1234440"/>
            <a:ext cx="25908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34594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34594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3459480" y="18745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as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6096000" y="1234440"/>
            <a:ext cx="25908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278880" y="139903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2788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278880" y="18745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cópias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57200" y="2743200"/>
            <a:ext cx="25908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640080" y="33832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endParaRPr lang="en-US" sz="1600" dirty="0"/>
          </a:p>
        </p:txBody>
      </p:sp>
      <p:sp>
        <p:nvSpPr>
          <p:cNvPr id="21" name="cartao-5"/>
          <p:cNvSpPr/>
          <p:nvPr/>
        </p:nvSpPr>
        <p:spPr>
          <a:xfrm>
            <a:off x="3276600" y="2743200"/>
            <a:ext cx="2590800" cy="1280160"/>
          </a:xfrm>
          <a:prstGeom prst="roundRect">
            <a:avLst>
              <a:gd name="adj" fmla="val 7143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umero-5"/>
          <p:cNvSpPr/>
          <p:nvPr/>
        </p:nvSpPr>
        <p:spPr>
          <a:xfrm>
            <a:off x="3459480" y="29077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n-5"/>
          <p:cNvSpPr txBox="1"/>
          <p:nvPr/>
        </p:nvSpPr>
        <p:spPr>
          <a:xfrm>
            <a:off x="34594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o-5"/>
          <p:cNvSpPr txBox="1"/>
          <p:nvPr/>
        </p:nvSpPr>
        <p:spPr>
          <a:xfrm>
            <a:off x="3459480" y="338328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os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originais</a:t>
            </a:r>
            <a:endParaRPr lang="en-US" sz="1600" dirty="0"/>
          </a:p>
        </p:txBody>
      </p:sp>
      <p:sp>
        <p:nvSpPr>
          <p:cNvPr id="25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7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pessoa deve repetir seu resultado.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ou script?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no notebook, consolide no script.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Corrida justa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todos largam do mesmo ponto, com as mesmas regras. Na comparação de métodos também.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Mesmos dados, mesmas regras, vários critérios.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com justiça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dados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pré-processamento</a:t>
            </a:r>
            <a:endParaRPr lang="en-US" sz="17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definidos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7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só no fim</a:t>
            </a:r>
            <a:endParaRPr lang="en-US" sz="17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sementes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linha de base</a:t>
            </a:r>
            <a:endParaRPr lang="en-US" sz="17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trapaça: rótulo é para conferir, não para ajustar.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do capítulo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estatistica-1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0,76</a:t>
            </a:r>
            <a:endParaRPr lang="en-US" sz="4800" dirty="0"/>
          </a:p>
        </p:txBody>
      </p:sp>
      <p:sp>
        <p:nvSpPr>
          <p:cNvPr id="7" name="rotulo-1"/>
          <p:cNvSpPr txBox="1"/>
          <p:nvPr/>
        </p:nvSpPr>
        <p:spPr>
          <a:xfrm>
            <a:off x="64008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do espectral</a:t>
            </a:r>
            <a:endParaRPr lang="en-US" sz="1500" dirty="0"/>
          </a:p>
        </p:txBody>
      </p:sp>
      <p:sp>
        <p:nvSpPr>
          <p:cNvPr id="8" name="estatistica-2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33832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0,993</a:t>
            </a:r>
            <a:endParaRPr lang="en-US" sz="4800" dirty="0"/>
          </a:p>
        </p:txBody>
      </p:sp>
      <p:sp>
        <p:nvSpPr>
          <p:cNvPr id="10" name="rotulo-2"/>
          <p:cNvSpPr txBox="1"/>
          <p:nvPr/>
        </p:nvSpPr>
        <p:spPr>
          <a:xfrm>
            <a:off x="347472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trustworthiness do t-SNE</a:t>
            </a:r>
            <a:endParaRPr lang="en-US" sz="1500" dirty="0"/>
          </a:p>
        </p:txBody>
      </p:sp>
      <p:sp>
        <p:nvSpPr>
          <p:cNvPr id="11" name="estatistica-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621792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0,93</a:t>
            </a:r>
            <a:endParaRPr lang="en-US" sz="4800" dirty="0"/>
          </a:p>
        </p:txBody>
      </p:sp>
      <p:sp>
        <p:nvSpPr>
          <p:cNvPr id="13" name="rotulo-3"/>
          <p:cNvSpPr txBox="1"/>
          <p:nvPr/>
        </p:nvSpPr>
        <p:spPr>
          <a:xfrm>
            <a:off x="630936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acurácia: agrupar e rotular</a:t>
            </a:r>
            <a:endParaRPr lang="en-US" sz="1500" dirty="0"/>
          </a:p>
        </p:txBody>
      </p:sp>
      <p:sp>
        <p:nvSpPr>
          <p:cNvPr id="14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6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rótulo, grande rendimento.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Cluster-then-label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 puro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rótulos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0,66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+ rotular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 grupo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0,93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não supervisionada multiplica cada rótulo.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relatório final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2618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página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182880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75564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como fizemos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39572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32257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gráficos claros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2962656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288950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que não sabemos</a:t>
            </a:r>
            <a:endParaRPr lang="en-US" sz="2000" dirty="0"/>
          </a:p>
        </p:txBody>
      </p:sp>
      <p:sp>
        <p:nvSpPr>
          <p:cNvPr id="17" name="passo-circulo-5"/>
          <p:cNvSpPr/>
          <p:nvPr/>
        </p:nvSpPr>
        <p:spPr>
          <a:xfrm>
            <a:off x="457200" y="3529584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passo-n-5"/>
          <p:cNvSpPr txBox="1"/>
          <p:nvPr/>
        </p:nvSpPr>
        <p:spPr>
          <a:xfrm>
            <a:off x="457200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passo-5"/>
          <p:cNvSpPr txBox="1"/>
          <p:nvPr/>
        </p:nvSpPr>
        <p:spPr>
          <a:xfrm>
            <a:off x="1097280" y="345643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que fazer</a:t>
            </a:r>
            <a:endParaRPr lang="en-US" sz="2000" dirty="0"/>
          </a:p>
        </p:txBody>
      </p:sp>
      <p:sp>
        <p:nvSpPr>
          <p:cNvPr id="20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2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para quem decide.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Gráficos que comunicam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recado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gráfico</a:t>
            </a:r>
            <a:endParaRPr lang="en-US" sz="19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que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dizem a conclusão</a:t>
            </a:r>
            <a:endParaRPr lang="en-US" sz="19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propósito</a:t>
            </a:r>
            <a:endParaRPr lang="en-US" sz="19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</a:t>
            </a:r>
            <a:endParaRPr lang="en-US" sz="19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bom se entende em 5 segundos.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e responsabilidade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afetado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nos dados?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protegida?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no circuito</a:t>
            </a:r>
            <a:endParaRPr lang="en-US" sz="20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sem ética é risco.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será avaliado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8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se espera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 e relevante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 justa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Reprodutibilidade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e sementes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claro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Ética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Riscos discutidos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vale mais que complexidade.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ir além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reais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sua área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clustering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dados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20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livro termina. A prática começa.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passo?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negócio.</a:t>
            </a:r>
            <a:endParaRPr lang="en-US" sz="15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justa?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regras,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só no fim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Sementes, versões, funções.</a:t>
            </a:r>
            <a:endParaRPr lang="en-US" sz="15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Resumo, método, resultados, limites.</a:t>
            </a:r>
            <a:endParaRPr lang="en-US" sz="15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Viés, privacidade,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no circuito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do algoritmo?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fim.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comparação justa de métodos, os rótulos devem ser usados: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ajustar os parâmetros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no fim, para conferir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pré-processamento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primeiro num projeto?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algoritmo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 negócio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a rede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gráficos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projeto final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critério de sucesso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as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etapas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os Dígitos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métodos com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sementes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limitações e riscos</a:t>
            </a:r>
            <a:endParaRPr lang="en-US" sz="19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reprodutível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5 a 8 páginas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10 minutos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primeiro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justa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reprodutível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sempre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 Agora é com você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13 — Projeto Final: Integrando Tudo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2026-10-26T18:42:52Z</dcterms:created>
  <dcterms:modified xsi:type="dcterms:W3CDTF">2026-10-26T18:42:52Z</dcterms:modified>
</cp:coreProperties>
</file>