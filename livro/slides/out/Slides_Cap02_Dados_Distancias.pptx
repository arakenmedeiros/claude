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54ae04a-e974-8681-a1de-8bf940694070}">
          <p14:sldIdLst>
            <p14:sldId id="256"/>
            <p14:sldId id="257"/>
          </p14:sldIdLst>
        </p14:section>
        <p14:section name="Dados" id="{d2100517-2c14-102b-a1d8-17bc752a3579}">
          <p14:sldIdLst>
            <p14:sldId id="258"/>
            <p14:sldId id="259"/>
            <p14:sldId id="260"/>
          </p14:sldIdLst>
        </p14:section>
        <p14:section name="Distâncias" id="{0eb009e8-5c5f-ea95-e552-3350dc4035a3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Escala" id="{7a8af28f-445b-a0b8-cf7f-901a96ef0fed}">
          <p14:sldIdLst>
            <p14:sldId id="269"/>
            <p14:sldId id="270"/>
            <p14:sldId id="271"/>
          </p14:sldIdLst>
        </p14:section>
        <p14:section name="Limpeza" id="{536e21c2-04db-85e2-9020-1afe16d194d2}">
          <p14:sldIdLst>
            <p14:sldId id="272"/>
            <p14:sldId id="273"/>
            <p14:sldId id="274"/>
          </p14:sldIdLst>
        </p14:section>
        <p14:section name="Dimensionalidade" id="{5bd04641-086d-fece-409f-6af5149c1256}">
          <p14:sldIdLst>
            <p14:sldId id="275"/>
            <p14:sldId id="276"/>
            <p14:sldId id="277"/>
          </p14:sldIdLst>
        </p14:section>
        <p14:section name="Fixação" id="{26a2356b-4fc8-44d9-cf4a-9378ff458cf2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Mensagem-chave: lixo entra, lixo sai. Prepare os dados antes de escolher o algoritmo.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C. Euclidiana: raiz da soma dos quadrados das diferenças.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A distância é afetada pela escala. Sem ela, um atributo domina.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O cosseno ignora o comprimento e compara a direção.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 do capítulo: pipeline de preparação para uma carteira de clientes. Alerta: silhueta 0,98 com ARI 0 mostra que um bom índice pode enganar.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6878690" y="1137763"/>
            <a:ext cx="109030" cy="1090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6896070" y="996949"/>
            <a:ext cx="99620" cy="996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6478754" y="594428"/>
            <a:ext cx="131420" cy="1314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6072427" y="1181108"/>
            <a:ext cx="120978" cy="12097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6836795" y="1170916"/>
            <a:ext cx="71311" cy="7131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6097510" y="559527"/>
            <a:ext cx="129134" cy="12913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6079884" y="1629830"/>
            <a:ext cx="110050" cy="11005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6887059" y="1720159"/>
            <a:ext cx="129884" cy="1298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6660104" y="1320649"/>
            <a:ext cx="68039" cy="6803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6386250" y="1336005"/>
            <a:ext cx="80078" cy="8007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5940448" y="1389285"/>
            <a:ext cx="99974" cy="9997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6701905" y="709158"/>
            <a:ext cx="167644" cy="1676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7078436" y="997631"/>
            <a:ext cx="79890" cy="7989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6339006" y="943838"/>
            <a:ext cx="106573" cy="10657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5905592" y="725745"/>
            <a:ext cx="158851" cy="15885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7150915" y="1329623"/>
            <a:ext cx="78753" cy="7875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7390635" y="2986469"/>
            <a:ext cx="136913" cy="13691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8046717" y="2626766"/>
            <a:ext cx="163390" cy="16339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7455707" y="3224192"/>
            <a:ext cx="141816" cy="1418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7933938" y="2559714"/>
            <a:ext cx="122912" cy="122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7743998" y="3327712"/>
            <a:ext cx="159739" cy="15973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8161463" y="2967967"/>
            <a:ext cx="91788" cy="917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8363451" y="3236891"/>
            <a:ext cx="84549" cy="8454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7744237" y="3450820"/>
            <a:ext cx="120784" cy="1207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7614954" y="3088305"/>
            <a:ext cx="136177" cy="13617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8223363" y="3373356"/>
            <a:ext cx="104320" cy="10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7490562" y="2516774"/>
            <a:ext cx="103311" cy="10331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8175457" y="2746896"/>
            <a:ext cx="119996" cy="1199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7751147" y="2465565"/>
            <a:ext cx="107732" cy="10773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8148868" y="3425411"/>
            <a:ext cx="166543" cy="16654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7733130" y="3321275"/>
            <a:ext cx="136446" cy="13644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7831840" y="3326768"/>
            <a:ext cx="76976" cy="7697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5861366" y="3798039"/>
            <a:ext cx="146159" cy="14615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6299313" y="3458175"/>
            <a:ext cx="158253" cy="15825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5289089" y="3692906"/>
            <a:ext cx="153989" cy="15398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5843336" y="3686831"/>
            <a:ext cx="156413" cy="15641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5747338" y="3261394"/>
            <a:ext cx="147366" cy="14736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6502548" y="3117486"/>
            <a:ext cx="105996" cy="10599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5775587" y="3864516"/>
            <a:ext cx="71895" cy="7189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6637505" y="3654328"/>
            <a:ext cx="173565" cy="17356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6310114" y="2923040"/>
            <a:ext cx="132140" cy="1321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5981808" y="2934729"/>
            <a:ext cx="166346" cy="16634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344042" y="3979240"/>
            <a:ext cx="112887" cy="11288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5880400" y="2914842"/>
            <a:ext cx="171119" cy="17111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6060910" y="3584815"/>
            <a:ext cx="158774" cy="15877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5945402" y="3992509"/>
            <a:ext cx="123188" cy="1231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5865470" y="3485941"/>
            <a:ext cx="80740" cy="807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5997847" y="3243708"/>
            <a:ext cx="137238" cy="13723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7534967" y="705797"/>
            <a:ext cx="103147" cy="10314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8391397" y="747146"/>
            <a:ext cx="77451" cy="7745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772012" y="1115773"/>
            <a:ext cx="73705" cy="7370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7967130" y="1040633"/>
            <a:ext cx="92396" cy="923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8153856" y="1497859"/>
            <a:ext cx="138430" cy="13843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8107193" y="1249600"/>
            <a:ext cx="132191" cy="13219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7890246" y="730777"/>
            <a:ext cx="159873" cy="15987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7847674" y="549899"/>
            <a:ext cx="107719" cy="10771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8582533" y="1388682"/>
            <a:ext cx="81128" cy="811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7975872" y="1032586"/>
            <a:ext cx="127113" cy="12711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7941790" y="301038"/>
            <a:ext cx="106020" cy="1060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8333032" y="819122"/>
            <a:ext cx="91287" cy="9128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7736786" y="1322716"/>
            <a:ext cx="113553" cy="11355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8504159" y="310562"/>
            <a:ext cx="125062" cy="12506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7937268" y="589588"/>
            <a:ext cx="149157" cy="14915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8240333" y="1356584"/>
            <a:ext cx="144424" cy="1444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6822467" y="2576644"/>
            <a:ext cx="114440" cy="114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6581949" y="1552448"/>
            <a:ext cx="171202" cy="17120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7459434" y="1997620"/>
            <a:ext cx="131935" cy="13193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6621687" y="2556742"/>
            <a:ext cx="125882" cy="12588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7063514" y="2911218"/>
            <a:ext cx="91125" cy="9112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6411287" y="2250809"/>
            <a:ext cx="141245" cy="14124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6554544" y="2584004"/>
            <a:ext cx="73664" cy="736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7572044" y="2497918"/>
            <a:ext cx="79146" cy="7914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6885960" y="1856805"/>
            <a:ext cx="122733" cy="12273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7327041" y="2078515"/>
            <a:ext cx="137788" cy="1377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7310932" y="1934927"/>
            <a:ext cx="138450" cy="13845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6988108" y="2568882"/>
            <a:ext cx="84216" cy="842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6680279" y="2830431"/>
            <a:ext cx="90092" cy="900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6930047" y="2771823"/>
            <a:ext cx="153257" cy="15325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6998416" y="2863587"/>
            <a:ext cx="131504" cy="1315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6685304" y="2611580"/>
            <a:ext cx="122658" cy="12265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Dados, Distâncias e Pré-processamento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algoritmo, arrume a casa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dados como uma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exemplos × atributos</a:t>
            </a:r>
            <a:endParaRPr lang="en-US" sz="22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distâncias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escolher a certa</a:t>
            </a:r>
            <a:endParaRPr lang="en-US" sz="22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por que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decisivo</a:t>
            </a:r>
            <a:endParaRPr lang="en-US" sz="22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codificar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</a:t>
            </a:r>
            <a:endParaRPr lang="en-US" sz="22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a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maldição da dimensionalidade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antes do fogão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cozinheiro começa a cozinhar sem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lavar e cortar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ingredientes. Com dados é igual: o pré-processamento é a mise en place.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Cozinha bagunçada, prato ruim.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são uma tabela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2_matriz" descr="f2_matriz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88720"/>
            <a:ext cx="7086600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= exemplos. Colunas = atributos.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atributos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Cuidado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Idade, renda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Cidade, cor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ordem: one-hot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Satisfação 1–5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 importa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Binário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 cartão? sim/não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/ Hamming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pede um tratamento.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Semelhança = proximidade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vizinhos de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prédio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moram perto. Dois clientes de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parecido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estão perto no espaço dos atributos.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está perto, é parecido.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família de distâncias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2_distancias" descr="f2_distanci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167" y="1188720"/>
            <a:ext cx="3591666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Régua, quarteirão e rei do xadrez.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distâncias clássicas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2590800" cy="2834640"/>
          </a:xfrm>
          <a:prstGeom prst="roundRect">
            <a:avLst>
              <a:gd name="adj" fmla="val 3529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25908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Euclidiana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222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reta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mais usada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3276600" y="1188720"/>
            <a:ext cx="2590800" cy="2834640"/>
          </a:xfrm>
          <a:prstGeom prst="roundRect">
            <a:avLst>
              <a:gd name="adj" fmla="val 352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3276600" y="1188720"/>
            <a:ext cx="25908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3368040" y="11887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3459480" y="1783080"/>
            <a:ext cx="222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quarteirão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dos eixos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Robusta a extremos</a:t>
            </a:r>
            <a:endParaRPr lang="en-US" sz="1800" dirty="0"/>
          </a:p>
        </p:txBody>
      </p:sp>
      <p:sp>
        <p:nvSpPr>
          <p:cNvPr id="13" name="coluna-3"/>
          <p:cNvSpPr/>
          <p:nvPr/>
        </p:nvSpPr>
        <p:spPr>
          <a:xfrm>
            <a:off x="6096000" y="1188720"/>
            <a:ext cx="2590800" cy="2834640"/>
          </a:xfrm>
          <a:prstGeom prst="roundRect">
            <a:avLst>
              <a:gd name="adj" fmla="val 352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abeca-3"/>
          <p:cNvSpPr/>
          <p:nvPr/>
        </p:nvSpPr>
        <p:spPr>
          <a:xfrm>
            <a:off x="6096000" y="1188720"/>
            <a:ext cx="25908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itulo-coluna-3"/>
          <p:cNvSpPr txBox="1"/>
          <p:nvPr/>
        </p:nvSpPr>
        <p:spPr>
          <a:xfrm>
            <a:off x="6187440" y="11887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Chebyshev</a:t>
            </a:r>
            <a:endParaRPr lang="en-US" sz="1600" dirty="0"/>
          </a:p>
        </p:txBody>
      </p:sp>
      <p:sp>
        <p:nvSpPr>
          <p:cNvPr id="16" name="itens-3"/>
          <p:cNvSpPr txBox="1"/>
          <p:nvPr/>
        </p:nvSpPr>
        <p:spPr>
          <a:xfrm>
            <a:off x="6278880" y="1783080"/>
            <a:ext cx="222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xadrez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diferença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eixo domina</a:t>
            </a:r>
            <a:endParaRPr lang="en-US" sz="1800" dirty="0"/>
          </a:p>
        </p:txBody>
      </p:sp>
      <p:sp>
        <p:nvSpPr>
          <p:cNvPr id="1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régua que combina com o problema.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Minkowski: a mãe de todas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formula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869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ormula"/>
          <p:cNvSpPr txBox="1"/>
          <p:nvPr/>
        </p:nvSpPr>
        <p:spPr>
          <a:xfrm>
            <a:off x="640080" y="11887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( Σ |xᵢ − yᵢ|ᵖ )^(1/p)</a:t>
            </a:r>
            <a:endParaRPr lang="en-US" sz="2600" dirty="0"/>
          </a:p>
        </p:txBody>
      </p:sp>
      <p:sp>
        <p:nvSpPr>
          <p:cNvPr id="7" name="explicacao"/>
          <p:cNvSpPr txBox="1"/>
          <p:nvPr/>
        </p:nvSpPr>
        <p:spPr>
          <a:xfrm>
            <a:off x="457200" y="242316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1: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Manhattan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2: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Euclidiana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∞: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Chebyshev</a:t>
            </a:r>
            <a:endParaRPr lang="en-US" sz="20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parâmetro, três distâncias.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Bolas de cada distância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2_bolas" descr="f2_bol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17507"/>
            <a:ext cx="7498080" cy="2777067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distância desenha uma 'bola' diferente.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Cosseno: o ângulo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ontos"/>
          <p:cNvSpPr txBox="1"/>
          <p:nvPr/>
        </p:nvSpPr>
        <p:spPr>
          <a:xfrm>
            <a:off x="457200" y="1234440"/>
            <a:ext cx="4114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o tamanho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para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documentos: um longo, um curto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assunto → ângulo pequeno</a:t>
            </a:r>
            <a:endParaRPr lang="en-US" sz="2000" dirty="0"/>
          </a:p>
        </p:txBody>
      </p:sp>
      <p:sp>
        <p:nvSpPr>
          <p:cNvPr id="6" name="moldura-figura"/>
          <p:cNvSpPr/>
          <p:nvPr/>
        </p:nvSpPr>
        <p:spPr>
          <a:xfrm>
            <a:off x="4754880" y="1234440"/>
            <a:ext cx="393192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2_cosseno" descr="f2_cosse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28" y="1234440"/>
            <a:ext cx="3518624" cy="2788920"/>
          </a:xfrm>
          <a:prstGeom prst="rect">
            <a:avLst/>
          </a:prstGeom>
        </p:spPr>
      </p:pic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para onde aponta, não o comprimento.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Jaccard e Gower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comum ÷ total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Cestas de compras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Gower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dados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numérico e categórico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entre 0 e 1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diferentes pedem distâncias diferentes.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Distâncias no Python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1385570"/>
          </a:xfrm>
          <a:prstGeom prst="roundRect">
            <a:avLst>
              <a:gd name="adj" fmla="val 52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202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pairwise_distances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pairwise_distances(X, metric="euclidean")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outras: "manhattan", "cosine", "chebyshev"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print(D.shape)  # (n, n)</a:t>
            </a:r>
            <a:endParaRPr lang="en-US" sz="14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`pairwise_distances`: todos os pares de uma vez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`metric`: escolhe a régua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simétrica, diagonal zero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linha, todas as distâncias.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Metros contra quilômetros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uma medida está em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outra em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quilômetros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primeira grita e a segunda sussurra. A distância só 'ouve' quem grita.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2_escala" descr="f2_esca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3643"/>
            <a:ext cx="3840480" cy="1639033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escala, quem tem número grande manda.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escalonadores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1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31089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Padronização (z)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0, desvio 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Escolha padrão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Coloca em [0, 1]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fixa, sem outliers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mediana e IQR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 outliers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dúvida, padronize.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poder da escala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estatistica-1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0,37</a:t>
            </a:r>
            <a:endParaRPr lang="en-US" sz="4800" dirty="0"/>
          </a:p>
        </p:txBody>
      </p:sp>
      <p:sp>
        <p:nvSpPr>
          <p:cNvPr id="7" name="rotulo-1"/>
          <p:cNvSpPr txBox="1"/>
          <p:nvPr/>
        </p:nvSpPr>
        <p:spPr>
          <a:xfrm>
            <a:off x="64008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do vinho sem escala</a:t>
            </a:r>
            <a:endParaRPr lang="en-US" sz="1500" dirty="0"/>
          </a:p>
        </p:txBody>
      </p:sp>
      <p:sp>
        <p:nvSpPr>
          <p:cNvPr id="8" name="estatistica-2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338328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0,90</a:t>
            </a:r>
            <a:endParaRPr lang="en-US" sz="4800" dirty="0"/>
          </a:p>
        </p:txBody>
      </p:sp>
      <p:sp>
        <p:nvSpPr>
          <p:cNvPr id="10" name="rotulo-2"/>
          <p:cNvSpPr txBox="1"/>
          <p:nvPr/>
        </p:nvSpPr>
        <p:spPr>
          <a:xfrm>
            <a:off x="347472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com padronização</a:t>
            </a:r>
            <a:endParaRPr lang="en-US" sz="1500" dirty="0"/>
          </a:p>
        </p:txBody>
      </p:sp>
      <p:sp>
        <p:nvSpPr>
          <p:cNvPr id="11" name="estatistica-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621792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1x</a:t>
            </a:r>
            <a:endParaRPr lang="en-US" sz="4800" dirty="0"/>
          </a:p>
        </p:txBody>
      </p:sp>
      <p:sp>
        <p:nvSpPr>
          <p:cNvPr id="13" name="rotulo-3"/>
          <p:cNvSpPr txBox="1"/>
          <p:nvPr/>
        </p:nvSpPr>
        <p:spPr>
          <a:xfrm>
            <a:off x="630936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de código resolve</a:t>
            </a:r>
            <a:endParaRPr lang="en-US" sz="1500" dirty="0"/>
          </a:p>
        </p:txBody>
      </p:sp>
      <p:sp>
        <p:nvSpPr>
          <p:cNvPr id="14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6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errar e acertar.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ausentes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4127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4127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 são poucos e aleatórios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228142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22814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20574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média, mediana ou vizinhos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315010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3150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9260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criar coluna 'faltava?'</a:t>
            </a:r>
            <a:endParaRPr lang="en-US" sz="2000" dirty="0"/>
          </a:p>
        </p:txBody>
      </p:sp>
      <p:sp>
        <p:nvSpPr>
          <p:cNvPr id="14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6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também pode ser informação.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Codificar categorias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coluna por categoria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ordem implícita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Cidade, cor, marca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respeitando a ordem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 &lt; médio &lt; grande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satisfação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invente ordem que não existe.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Selecionar e criar atributos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ontos"/>
          <p:cNvSpPr txBox="1"/>
          <p:nvPr/>
        </p:nvSpPr>
        <p:spPr>
          <a:xfrm>
            <a:off x="457200" y="1234440"/>
            <a:ext cx="4114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 atributos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inúteis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redundantes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(correlação alta)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razões e diferenças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ruído, mais sinal</a:t>
            </a:r>
            <a:endParaRPr lang="en-US" sz="2000" dirty="0"/>
          </a:p>
        </p:txBody>
      </p:sp>
      <p:sp>
        <p:nvSpPr>
          <p:cNvPr id="6" name="moldura-figura"/>
          <p:cNvSpPr/>
          <p:nvPr/>
        </p:nvSpPr>
        <p:spPr>
          <a:xfrm>
            <a:off x="4754880" y="1234440"/>
            <a:ext cx="393192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2_correlacao" descr="f2_correlac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275" y="1234440"/>
            <a:ext cx="3431129" cy="2788920"/>
          </a:xfrm>
          <a:prstGeom prst="rect">
            <a:avLst/>
          </a:prstGeom>
        </p:spPr>
      </p:pic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é mais, quando é o certo.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Procurando num prédio gigante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alguém numa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fácil. Num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prédio de 100 andares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espaço explode e todos parecem distantes.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2_maldicao" descr="f2_maldic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199"/>
            <a:ext cx="3840480" cy="1555921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dimensões, mais vazio.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maldição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espaço fica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vazio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distâncias ficam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parecidas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Vizinho 'mais próximo' perde sentido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Remédio: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selecionar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alta dimensão, todo mundo é igualmente longe.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pipeline limpo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2338070"/>
          </a:xfrm>
          <a:prstGeom prst="roundRect">
            <a:avLst>
              <a:gd name="adj" fmla="val 31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2155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("imp", SimpleImputer(strategy="median")),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("esc", StandardScaler()),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("km",  KMeans(3, n_init=10)),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fila: imputar, escalar, agrupar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 passos em dados novos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esquecer etapas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receita que ninguém esquece.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= exemplos; colunas = atributos.</a:t>
            </a:r>
            <a:endParaRPr lang="en-US" sz="14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Semelhança?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proximidade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espaço.</a:t>
            </a:r>
            <a:endParaRPr lang="en-US" sz="14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para escalar?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(z-score).</a:t>
            </a:r>
            <a:endParaRPr lang="en-US" sz="14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sem ordem?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Cosseno mede?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ângulo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Maldição?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Distâncias </a:t>
            </a: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parecem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distância é a 'régua' em linha reta?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Chebyshev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Euclidiana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escalar os dados antes do K-means?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deixar o código bonito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números grandes não dominem a distância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remover outliers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reduzir dimensões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 textos de tamanhos diferentes, o ideal é: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de Manhattan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do cosseno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Chebyshev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distâncias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10 clientes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StandardScaler, MinMax e Robust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um outlier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Imputar por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por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distâncias em 2, 10 e 100 dimensões</a:t>
            </a:r>
            <a:endParaRPr lang="en-US" sz="20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das distâncias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escalonadores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da maldição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= matriz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distância certa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 sempre (padronização)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alta dimensão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3: K-means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2 — Dados, Distâncias e Pré-processamento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2026-10-26T18:42:49Z</dcterms:created>
  <dcterms:modified xsi:type="dcterms:W3CDTF">2026-10-26T18:42:49Z</dcterms:modified>
</cp:coreProperties>
</file>