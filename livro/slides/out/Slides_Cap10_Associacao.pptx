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67e2897-513d-62c3-da5d-5ed39f849e37}">
          <p14:sldIdLst>
            <p14:sldId id="256"/>
            <p14:sldId id="257"/>
          </p14:sldIdLst>
        </p14:section>
        <p14:section name="Ideia" id="{f901095d-5ead-23a1-1fab-c379219f1c88}">
          <p14:sldIdLst>
            <p14:sldId id="258"/>
            <p14:sldId id="259"/>
            <p14:sldId id="260"/>
          </p14:sldIdLst>
        </p14:section>
        <p14:section name="Medidas" id="{d77353b3-be5e-532e-b6eb-7b2d404ab769}">
          <p14:sldIdLst>
            <p14:sldId id="261"/>
            <p14:sldId id="262"/>
            <p14:sldId id="263"/>
            <p14:sldId id="264"/>
          </p14:sldIdLst>
        </p14:section>
        <p14:section name="Algoritmos" id="{0e3bff87-3179-b69e-5c9e-92de7a8ea3fd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Uso e cuidados" id="{83b65ae9-c13c-09d3-6b28-1d25392a3c65}">
          <p14:sldIdLst>
            <p14:sldId id="271"/>
            <p14:sldId id="272"/>
            <p14:sldId id="273"/>
          </p14:sldIdLst>
        </p14:section>
        <p14:section name="Fixação" id="{8a6b1ab6-bf22-80f3-fb7a-fcb8027a601c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Ocorrem juntos exatamente tanto quanto o acaso preveria.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Anti-monotonicidade: se um subconjunto é raro, qualquer superconjunto é raro.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Se B é muito comum, a confiança é alta por acaso.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cesta de supermercado: encontrando regras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6911276" y="1134430"/>
            <a:ext cx="147405" cy="14740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910539" y="652028"/>
            <a:ext cx="90000" cy="90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524088" y="1531839"/>
            <a:ext cx="146125" cy="14612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756939" y="439417"/>
            <a:ext cx="128341" cy="12834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906039" y="510939"/>
            <a:ext cx="124664" cy="1246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308416" y="533218"/>
            <a:ext cx="126259" cy="12625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7021984" y="766542"/>
            <a:ext cx="106661" cy="10666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7105154" y="1536018"/>
            <a:ext cx="131938" cy="13193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673740" y="428407"/>
            <a:ext cx="108062" cy="1080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764258" y="475147"/>
            <a:ext cx="93673" cy="9367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699661" y="805960"/>
            <a:ext cx="172781" cy="17278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213248" y="659642"/>
            <a:ext cx="135797" cy="13579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945786" y="783694"/>
            <a:ext cx="84829" cy="8482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970329" y="1592693"/>
            <a:ext cx="156940" cy="1569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143804" y="1515221"/>
            <a:ext cx="112591" cy="11259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5855907" y="1333333"/>
            <a:ext cx="137208" cy="1372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8457951" y="3194924"/>
            <a:ext cx="114962" cy="11496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337473" y="2481324"/>
            <a:ext cx="89621" cy="8962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8148753" y="3383396"/>
            <a:ext cx="91066" cy="9106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298684" y="3249899"/>
            <a:ext cx="122683" cy="12268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696777" y="3569256"/>
            <a:ext cx="120518" cy="12051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272839" y="2429687"/>
            <a:ext cx="127549" cy="12754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563388" y="2639717"/>
            <a:ext cx="135579" cy="13557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475321" y="2870000"/>
            <a:ext cx="131132" cy="1311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522484" y="3134486"/>
            <a:ext cx="145392" cy="1453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129520" y="2656166"/>
            <a:ext cx="89526" cy="8952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569437" y="2751512"/>
            <a:ext cx="145690" cy="14569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846817" y="3415706"/>
            <a:ext cx="146475" cy="14647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124300" y="2910287"/>
            <a:ext cx="141772" cy="1417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8244366" y="3109315"/>
            <a:ext cx="115195" cy="11519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859346" y="3136979"/>
            <a:ext cx="69274" cy="6927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621330" y="2805877"/>
            <a:ext cx="129831" cy="12983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257204" y="3644701"/>
            <a:ext cx="145084" cy="1450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800209" y="3742804"/>
            <a:ext cx="169651" cy="16965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805949" y="3877439"/>
            <a:ext cx="75720" cy="757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565788" y="3259203"/>
            <a:ext cx="117977" cy="11797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5959353" y="3570135"/>
            <a:ext cx="77134" cy="7713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710327" y="3375809"/>
            <a:ext cx="129290" cy="12929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090501" y="4147593"/>
            <a:ext cx="69656" cy="696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354180" y="3932620"/>
            <a:ext cx="87051" cy="8705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5293058" y="3726068"/>
            <a:ext cx="168097" cy="16809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960937" y="3966598"/>
            <a:ext cx="146596" cy="1465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596520" y="3294968"/>
            <a:ext cx="154059" cy="15405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6390255" y="4022743"/>
            <a:ext cx="170849" cy="17084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6106156" y="2891829"/>
            <a:ext cx="92082" cy="9208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6243030" y="3803124"/>
            <a:ext cx="66745" cy="6674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6091392" y="3844464"/>
            <a:ext cx="72431" cy="7243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271817" y="4026686"/>
            <a:ext cx="133464" cy="13346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522773" y="509423"/>
            <a:ext cx="108869" cy="10886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7905972" y="1514347"/>
            <a:ext cx="87029" cy="8702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456782" y="1328983"/>
            <a:ext cx="161477" cy="16147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7647717" y="1358681"/>
            <a:ext cx="126726" cy="12672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7810621" y="767337"/>
            <a:ext cx="71277" cy="7127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7578438" y="1141156"/>
            <a:ext cx="100488" cy="100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7839342" y="218585"/>
            <a:ext cx="161974" cy="16197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7868465" y="1149727"/>
            <a:ext cx="130577" cy="13057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7744614" y="1121810"/>
            <a:ext cx="169163" cy="1691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605396" y="545875"/>
            <a:ext cx="112417" cy="11241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225883" y="634406"/>
            <a:ext cx="146895" cy="14689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331490" y="232007"/>
            <a:ext cx="126230" cy="12623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598377" y="589396"/>
            <a:ext cx="85134" cy="8513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357204" y="377115"/>
            <a:ext cx="128656" cy="1286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544641" y="957072"/>
            <a:ext cx="159851" cy="15985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143534" y="1224900"/>
            <a:ext cx="102920" cy="1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7092413" y="2749061"/>
            <a:ext cx="173099" cy="17309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619338" y="2410546"/>
            <a:ext cx="171776" cy="17177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7291407" y="1779406"/>
            <a:ext cx="93441" cy="9344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854104" y="2681756"/>
            <a:ext cx="84840" cy="84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7038774" y="1797594"/>
            <a:ext cx="95775" cy="9577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639177" y="1641692"/>
            <a:ext cx="172639" cy="17263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394972" y="1911680"/>
            <a:ext cx="125236" cy="1252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612689" y="2655154"/>
            <a:ext cx="116284" cy="1162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7323783" y="2580843"/>
            <a:ext cx="75719" cy="7571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994398" y="1535124"/>
            <a:ext cx="70879" cy="7087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699398" y="2308783"/>
            <a:ext cx="96284" cy="962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6607626" y="1921439"/>
            <a:ext cx="113856" cy="1138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995096" y="2385990"/>
            <a:ext cx="81857" cy="8185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7339842" y="1813162"/>
            <a:ext cx="154938" cy="1549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676084" y="1703169"/>
            <a:ext cx="159245" cy="15924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455574" y="2364115"/>
            <a:ext cx="163888" cy="1638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Associação: o que Costuma Aparecer Junto?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lenda da fralda e da cerveja ao Apriori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cesta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compras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itemset, suporte, confiança e lift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evitar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Fralda e cerveja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a lenda: pais que passavam na loja para comprar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fraldas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também levavam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cerveja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Vendas subiram ao colocar os dois perto.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0_cesta" descr="f10_ce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76363"/>
            <a:ext cx="3840480" cy="1693593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costuma vir junto?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A → B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(antecedente),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(consequente)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'Quem leva A costuma levar B'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coocorrência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causa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não é causalidade.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Vocabulário essencial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produto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Itemset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itens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cesta/compra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palavras, o resto é conta.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medidas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0_metricas" descr="f10_metric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55" y="1188720"/>
            <a:ext cx="6155091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confiança e lift.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medida diz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 frequência?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e B)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regras raras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32766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32766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33680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34594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Quão confiável?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enganar</a:t>
            </a:r>
            <a:endParaRPr lang="en-US" sz="1800" dirty="0"/>
          </a:p>
        </p:txBody>
      </p:sp>
      <p:sp>
        <p:nvSpPr>
          <p:cNvPr id="13" name="coluna-3"/>
          <p:cNvSpPr/>
          <p:nvPr/>
        </p:nvSpPr>
        <p:spPr>
          <a:xfrm>
            <a:off x="60960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abeca-3"/>
          <p:cNvSpPr/>
          <p:nvPr/>
        </p:nvSpPr>
        <p:spPr>
          <a:xfrm>
            <a:off x="60960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itulo-coluna-3"/>
          <p:cNvSpPr txBox="1"/>
          <p:nvPr/>
        </p:nvSpPr>
        <p:spPr>
          <a:xfrm>
            <a:off x="61874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600" dirty="0"/>
          </a:p>
        </p:txBody>
      </p:sp>
      <p:sp>
        <p:nvSpPr>
          <p:cNvPr id="16" name="itens-3"/>
          <p:cNvSpPr txBox="1"/>
          <p:nvPr/>
        </p:nvSpPr>
        <p:spPr>
          <a:xfrm>
            <a:off x="62788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o acaso?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1: associação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1: independente</a:t>
            </a:r>
            <a:endParaRPr lang="en-US" sz="18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é o detector de coincidência.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fórmulas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formula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ormula"/>
          <p:cNvSpPr txBox="1"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= P(A e B) / ( P(A) · P(B) )</a:t>
            </a:r>
            <a:endParaRPr lang="en-US" sz="2600" dirty="0"/>
          </a:p>
        </p:txBody>
      </p:sp>
      <p:sp>
        <p:nvSpPr>
          <p:cNvPr id="7" name="explicacao"/>
          <p:cNvSpPr txBox="1"/>
          <p:nvPr/>
        </p:nvSpPr>
        <p:spPr>
          <a:xfrm>
            <a:off x="457200" y="24231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nº com A e B ÷ total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suporte(A,B) ÷ suporte(A)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aumenta a chance de B</a:t>
            </a:r>
            <a:endParaRPr lang="en-US" sz="20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Frequência, confiança e surpresa.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de leitura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estatistica-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800" dirty="0"/>
          </a:p>
        </p:txBody>
      </p:sp>
      <p:sp>
        <p:nvSpPr>
          <p:cNvPr id="7" name="rotulo-1"/>
          <p:cNvSpPr txBox="1"/>
          <p:nvPr/>
        </p:nvSpPr>
        <p:spPr>
          <a:xfrm>
            <a:off x="64008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cestas com A e B</a:t>
            </a:r>
            <a:endParaRPr lang="en-US" sz="1500" dirty="0"/>
          </a:p>
        </p:txBody>
      </p:sp>
      <p:sp>
        <p:nvSpPr>
          <p:cNvPr id="8" name="estatistica-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800" dirty="0"/>
          </a:p>
        </p:txBody>
      </p:sp>
      <p:sp>
        <p:nvSpPr>
          <p:cNvPr id="10" name="rotulo-2"/>
          <p:cNvSpPr txBox="1"/>
          <p:nvPr/>
        </p:nvSpPr>
        <p:spPr>
          <a:xfrm>
            <a:off x="347472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de A → B</a:t>
            </a:r>
            <a:endParaRPr lang="en-US" sz="1500" dirty="0"/>
          </a:p>
        </p:txBody>
      </p:sp>
      <p:sp>
        <p:nvSpPr>
          <p:cNvPr id="11" name="estatistica-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62179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</a:t>
            </a:r>
            <a:endParaRPr lang="en-US" sz="4800" dirty="0"/>
          </a:p>
        </p:txBody>
      </p:sp>
      <p:sp>
        <p:nvSpPr>
          <p:cNvPr id="13" name="rotulo-3"/>
          <p:cNvSpPr txBox="1"/>
          <p:nvPr/>
        </p:nvSpPr>
        <p:spPr>
          <a:xfrm>
            <a:off x="630936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60% acima do acaso</a:t>
            </a:r>
            <a:endParaRPr lang="en-US" sz="15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alta com lift 1 = regra inútil.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Explosão combinatória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itens =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2¹⁰⁰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conjuntos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testar todos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podar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mínimo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 inteligente evita a explosão.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reticulado de itemsets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0_reticulado" descr="f10_reticul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81" y="1188720"/>
            <a:ext cx="4955238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conjunto é raro, seus super-conjuntos também são.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em 4 passos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frequentes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suporte ≥ mínimo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pares, trios, ... candidatos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descarte quem tem subconjunto raro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regras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partir dos conjuntos frequentes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um nível por vez, poda no caminho.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FP-Growth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dados numa árvore (FP-tree)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gerar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geral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regras do Apriori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0_fptree" descr="f10_fp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6558"/>
            <a:ext cx="3931920" cy="2144684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testa muito; FP-Growth comprime.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mlxtend em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2052320"/>
          </a:xfrm>
          <a:prstGeom prst="roundRect">
            <a:avLst>
              <a:gd name="adj" fmla="val 3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mlxtend.frequent_patterns import 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fpgrowth, association_rules)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= fpgrowth(df, min_support=0.05,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use_colnames=True)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 = association_rules(freq,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metric="lift", min_threshold=1.2)</a:t>
            </a:r>
            <a:endParaRPr lang="en-US" sz="16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`df`: tabela booleana (one-hot)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`min_support`: poda inicial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 por `lift`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carrinho às regras em 2 chamadas.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de regras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0_rede" descr="f10_re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794" y="1188720"/>
            <a:ext cx="2970411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como nós, regras como setas.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Filtrando regras úteis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associação real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razoável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regra aplicável a muita gente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triviais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óbvio não vende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teste A/B no negócio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boa é rara, forte e acionável.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Armadilhas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≠ causa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triviais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redundantes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Paradoxo de Simpson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Coincidência com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suporte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regra é uma boa ideia.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comprou isto também comprou aquilo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é uma regra de associação trabalhando numa loja virtual.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Associação vira recomendação.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conjunto.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 | A)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acaso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candidatos 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compacta.</a:t>
            </a:r>
            <a:endParaRPr lang="en-US" sz="20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Coocorrência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≠ causa.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1 significa que: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é perfeita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B são independentes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 B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suporte é zero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usada pelo Apriori para podar é: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subconjunto de um conjunto frequente é frequente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conjunto frequente é grande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é simétrica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é monotônico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alta e lift próximo de 1 indicam: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excelente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Provável regra enganosa, pois B é muito comum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cálculo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mais itens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confiança e lift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unha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e FP-Growth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tempo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mínimo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conte as regras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produtos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regras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suporte × nº de regras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recomendações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A → B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Suporte, confiança, lift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poda; FP-Growth comprime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coincidências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11: Detecção de anomalias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10 — Regras de Associação: o que Costuma Aparecer Junto?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2026-10-26T18:44:03Z</dcterms:created>
  <dcterms:modified xsi:type="dcterms:W3CDTF">2026-10-26T18:44:03Z</dcterms:modified>
</cp:coreProperties>
</file>